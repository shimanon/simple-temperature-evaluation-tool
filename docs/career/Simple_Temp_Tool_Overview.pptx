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38912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2468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438912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228600"/>
            <a:ext cx="1280160" cy="38404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28600"/>
            <a:ext cx="1280160" cy="384048"/>
          </a:xfrm>
          <a:prstGeom prst="rect">
            <a:avLst/>
          </a:prstGeom>
          <a:noFill/>
        </p:spPr>
        <p:txBody>
          <a:bodyPr wrap="square">
            <a:spAutoFit/>
          </a:bodyPr>
          <a:lstStyle/>
          <a:p>
            <a:pPr algn="ctr"/>
            <a:r>
              <a:rPr sz="1400" b="1" i="0">
                <a:solidFill>
                  <a:srgbClr val="FFFFFF"/>
                </a:solidFill>
                <a:latin typeface="游ゴシック"/>
              </a:rPr>
              <a:t>v1.0.0</a:t>
            </a:r>
          </a:p>
        </p:txBody>
      </p:sp>
      <p:sp>
        <p:nvSpPr>
          <p:cNvPr id="7" name="TextBox 6"/>
          <p:cNvSpPr txBox="1"/>
          <p:nvPr/>
        </p:nvSpPr>
        <p:spPr>
          <a:xfrm>
            <a:off x="320040" y="777240"/>
            <a:ext cx="11521440" cy="914400"/>
          </a:xfrm>
          <a:prstGeom prst="rect">
            <a:avLst/>
          </a:prstGeom>
          <a:noFill/>
        </p:spPr>
        <p:txBody>
          <a:bodyPr wrap="square">
            <a:spAutoFit/>
          </a:bodyPr>
          <a:lstStyle/>
          <a:p>
            <a:pPr algn="l"/>
            <a:r>
              <a:rPr sz="5200" b="1" i="0">
                <a:solidFill>
                  <a:srgbClr val="FFFFFF"/>
                </a:solidFill>
                <a:latin typeface="游ゴシック"/>
              </a:rPr>
              <a:t>Simple Temperature</a:t>
            </a:r>
          </a:p>
        </p:txBody>
      </p:sp>
      <p:sp>
        <p:nvSpPr>
          <p:cNvPr id="8" name="TextBox 7"/>
          <p:cNvSpPr txBox="1"/>
          <p:nvPr/>
        </p:nvSpPr>
        <p:spPr>
          <a:xfrm>
            <a:off x="320040" y="1600200"/>
            <a:ext cx="11521440" cy="914400"/>
          </a:xfrm>
          <a:prstGeom prst="rect">
            <a:avLst/>
          </a:prstGeom>
          <a:noFill/>
        </p:spPr>
        <p:txBody>
          <a:bodyPr wrap="square">
            <a:spAutoFit/>
          </a:bodyPr>
          <a:lstStyle/>
          <a:p>
            <a:pPr algn="l"/>
            <a:r>
              <a:rPr sz="5200" b="1" i="0">
                <a:solidFill>
                  <a:srgbClr val="E8621A"/>
                </a:solidFill>
                <a:latin typeface="游ゴシック"/>
              </a:rPr>
              <a:t>Evaluation Tool</a:t>
            </a:r>
          </a:p>
        </p:txBody>
      </p:sp>
      <p:sp>
        <p:nvSpPr>
          <p:cNvPr id="9" name="TextBox 8"/>
          <p:cNvSpPr txBox="1"/>
          <p:nvPr/>
        </p:nvSpPr>
        <p:spPr>
          <a:xfrm>
            <a:off x="320040" y="2606040"/>
            <a:ext cx="11521440" cy="548640"/>
          </a:xfrm>
          <a:prstGeom prst="rect">
            <a:avLst/>
          </a:prstGeom>
          <a:noFill/>
        </p:spPr>
        <p:txBody>
          <a:bodyPr wrap="square">
            <a:spAutoFit/>
          </a:bodyPr>
          <a:lstStyle/>
          <a:p>
            <a:pPr algn="l"/>
            <a:r>
              <a:rPr sz="2200" b="0" i="0">
                <a:solidFill>
                  <a:srgbClr val="E8EEF4"/>
                </a:solidFill>
                <a:latin typeface="游ゴシック"/>
              </a:rPr>
              <a:t>概要 ・ 操作マニュアル</a:t>
            </a:r>
          </a:p>
        </p:txBody>
      </p:sp>
      <p:sp>
        <p:nvSpPr>
          <p:cNvPr id="10" name="Rectangle 9"/>
          <p:cNvSpPr/>
          <p:nvPr/>
        </p:nvSpPr>
        <p:spPr>
          <a:xfrm>
            <a:off x="320040" y="3273552"/>
            <a:ext cx="11521440" cy="27432"/>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572000"/>
            <a:ext cx="9144000" cy="457200"/>
          </a:xfrm>
          <a:prstGeom prst="rect">
            <a:avLst/>
          </a:prstGeom>
          <a:noFill/>
        </p:spPr>
        <p:txBody>
          <a:bodyPr wrap="square">
            <a:spAutoFit/>
          </a:bodyPr>
          <a:lstStyle/>
          <a:p>
            <a:pPr algn="l"/>
            <a:r>
              <a:rPr sz="1800" b="1" i="0">
                <a:solidFill>
                  <a:srgbClr val="0D2B45"/>
                </a:solidFill>
                <a:latin typeface="游ゴシック"/>
              </a:rPr>
              <a:t>ESP32（M5Stack）を使用した温度計測・評価ツール</a:t>
            </a:r>
          </a:p>
        </p:txBody>
      </p:sp>
      <p:sp>
        <p:nvSpPr>
          <p:cNvPr id="12" name="TextBox 11"/>
          <p:cNvSpPr txBox="1"/>
          <p:nvPr/>
        </p:nvSpPr>
        <p:spPr>
          <a:xfrm>
            <a:off x="457200" y="5029200"/>
            <a:ext cx="11247120" cy="411480"/>
          </a:xfrm>
          <a:prstGeom prst="rect">
            <a:avLst/>
          </a:prstGeom>
          <a:noFill/>
        </p:spPr>
        <p:txBody>
          <a:bodyPr wrap="square">
            <a:spAutoFit/>
          </a:bodyPr>
          <a:lstStyle/>
          <a:p>
            <a:pPr algn="l"/>
            <a:r>
              <a:rPr sz="1400" b="0" i="0">
                <a:solidFill>
                  <a:srgbClr val="1A1A2E"/>
                </a:solidFill>
                <a:latin typeface="游ゴシック"/>
              </a:rPr>
              <a:t>K型熱電対による高精度計測・MicroSD自動記録・リアルタイム統計演算を実現</a:t>
            </a:r>
          </a:p>
        </p:txBody>
      </p:sp>
      <p:sp>
        <p:nvSpPr>
          <p:cNvPr id="13" name="TextBox 12"/>
          <p:cNvSpPr txBox="1"/>
          <p:nvPr/>
        </p:nvSpPr>
        <p:spPr>
          <a:xfrm>
            <a:off x="457200" y="5623560"/>
            <a:ext cx="3657600" cy="365760"/>
          </a:xfrm>
          <a:prstGeom prst="rect">
            <a:avLst/>
          </a:prstGeom>
          <a:noFill/>
        </p:spPr>
        <p:txBody>
          <a:bodyPr wrap="square">
            <a:spAutoFit/>
          </a:bodyPr>
          <a:lstStyle/>
          <a:p>
            <a:pPr algn="l"/>
            <a:r>
              <a:rPr sz="1300" b="0" i="0">
                <a:solidFill>
                  <a:srgbClr val="8899AA"/>
                </a:solidFill>
                <a:latin typeface="游ゴシック"/>
              </a:rPr>
              <a:t>2026年3月</a:t>
            </a:r>
          </a:p>
        </p:txBody>
      </p:sp>
      <p:sp>
        <p:nvSpPr>
          <p:cNvPr id="14" name="Rectangle 13"/>
          <p:cNvSpPr/>
          <p:nvPr/>
        </p:nvSpPr>
        <p:spPr>
          <a:xfrm>
            <a:off x="0" y="6537960"/>
            <a:ext cx="12188952" cy="320040"/>
          </a:xfrm>
          <a:prstGeom prst="rect">
            <a:avLst/>
          </a:prstGeom>
          <a:solidFill>
            <a:srgbClr val="0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目次</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本資料の構成</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2 / 17</a:t>
            </a:r>
          </a:p>
        </p:txBody>
      </p:sp>
      <p:sp>
        <p:nvSpPr>
          <p:cNvPr id="10" name="Rectangle 9"/>
          <p:cNvSpPr/>
          <p:nvPr/>
        </p:nvSpPr>
        <p:spPr>
          <a:xfrm>
            <a:off x="365760" y="1234440"/>
            <a:ext cx="5623560" cy="210312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91440" cy="210312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325880"/>
            <a:ext cx="5349240" cy="347472"/>
          </a:xfrm>
          <a:prstGeom prst="rect">
            <a:avLst/>
          </a:prstGeom>
          <a:noFill/>
        </p:spPr>
        <p:txBody>
          <a:bodyPr wrap="square">
            <a:spAutoFit/>
          </a:bodyPr>
          <a:lstStyle/>
          <a:p>
            <a:pPr algn="l"/>
            <a:r>
              <a:rPr sz="1200" b="1" i="0">
                <a:solidFill>
                  <a:srgbClr val="E8621A"/>
                </a:solidFill>
                <a:latin typeface="游ゴシック"/>
              </a:rPr>
              <a:t>Section 1</a:t>
            </a:r>
          </a:p>
        </p:txBody>
      </p:sp>
      <p:sp>
        <p:nvSpPr>
          <p:cNvPr id="13" name="TextBox 12"/>
          <p:cNvSpPr txBox="1"/>
          <p:nvPr/>
        </p:nvSpPr>
        <p:spPr>
          <a:xfrm>
            <a:off x="548640" y="1618488"/>
            <a:ext cx="5349240" cy="502920"/>
          </a:xfrm>
          <a:prstGeom prst="rect">
            <a:avLst/>
          </a:prstGeom>
          <a:noFill/>
        </p:spPr>
        <p:txBody>
          <a:bodyPr wrap="square">
            <a:spAutoFit/>
          </a:bodyPr>
          <a:lstStyle/>
          <a:p>
            <a:pPr algn="l"/>
            <a:r>
              <a:rPr sz="2000" b="1" i="0">
                <a:solidFill>
                  <a:srgbClr val="0D2B45"/>
                </a:solidFill>
                <a:latin typeface="游ゴシック"/>
              </a:rPr>
              <a:t>プロジェクト概要</a:t>
            </a:r>
          </a:p>
        </p:txBody>
      </p:sp>
      <p:sp>
        <p:nvSpPr>
          <p:cNvPr id="14" name="TextBox 13"/>
          <p:cNvSpPr txBox="1"/>
          <p:nvPr/>
        </p:nvSpPr>
        <p:spPr>
          <a:xfrm>
            <a:off x="548640" y="2121408"/>
            <a:ext cx="5349240" cy="594360"/>
          </a:xfrm>
          <a:prstGeom prst="rect">
            <a:avLst/>
          </a:prstGeom>
          <a:noFill/>
        </p:spPr>
        <p:txBody>
          <a:bodyPr wrap="square">
            <a:spAutoFit/>
          </a:bodyPr>
          <a:lstStyle/>
          <a:p>
            <a:pPr algn="l"/>
            <a:r>
              <a:rPr sz="1300" b="0" i="0">
                <a:solidFill>
                  <a:srgbClr val="1A1A2E"/>
                </a:solidFill>
                <a:latin typeface="游ゴシック"/>
              </a:rPr>
              <a:t>背景・課題 → ハードウェア → 機能一覧</a:t>
            </a:r>
          </a:p>
        </p:txBody>
      </p:sp>
      <p:sp>
        <p:nvSpPr>
          <p:cNvPr id="15" name="TextBox 14"/>
          <p:cNvSpPr txBox="1"/>
          <p:nvPr/>
        </p:nvSpPr>
        <p:spPr>
          <a:xfrm>
            <a:off x="548640" y="2743200"/>
            <a:ext cx="5349240" cy="347472"/>
          </a:xfrm>
          <a:prstGeom prst="rect">
            <a:avLst/>
          </a:prstGeom>
          <a:noFill/>
        </p:spPr>
        <p:txBody>
          <a:bodyPr wrap="square">
            <a:spAutoFit/>
          </a:bodyPr>
          <a:lstStyle/>
          <a:p>
            <a:pPr algn="l"/>
            <a:r>
              <a:rPr sz="1200" b="0" i="0">
                <a:solidFill>
                  <a:srgbClr val="8899AA"/>
                </a:solidFill>
                <a:latin typeface="游ゴシック"/>
              </a:rPr>
              <a:t>p.3〜5</a:t>
            </a:r>
          </a:p>
        </p:txBody>
      </p:sp>
      <p:sp>
        <p:nvSpPr>
          <p:cNvPr id="16" name="Rectangle 15"/>
          <p:cNvSpPr/>
          <p:nvPr/>
        </p:nvSpPr>
        <p:spPr>
          <a:xfrm>
            <a:off x="6263640" y="1234440"/>
            <a:ext cx="5623560" cy="210312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234440"/>
            <a:ext cx="91440" cy="210312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325880"/>
            <a:ext cx="5349240" cy="347472"/>
          </a:xfrm>
          <a:prstGeom prst="rect">
            <a:avLst/>
          </a:prstGeom>
          <a:noFill/>
        </p:spPr>
        <p:txBody>
          <a:bodyPr wrap="square">
            <a:spAutoFit/>
          </a:bodyPr>
          <a:lstStyle/>
          <a:p>
            <a:pPr algn="l"/>
            <a:r>
              <a:rPr sz="1200" b="1" i="0">
                <a:solidFill>
                  <a:srgbClr val="E8621A"/>
                </a:solidFill>
                <a:latin typeface="游ゴシック"/>
              </a:rPr>
              <a:t>Section 2</a:t>
            </a:r>
          </a:p>
        </p:txBody>
      </p:sp>
      <p:sp>
        <p:nvSpPr>
          <p:cNvPr id="19" name="TextBox 18"/>
          <p:cNvSpPr txBox="1"/>
          <p:nvPr/>
        </p:nvSpPr>
        <p:spPr>
          <a:xfrm>
            <a:off x="6446520" y="1618488"/>
            <a:ext cx="5349240" cy="502920"/>
          </a:xfrm>
          <a:prstGeom prst="rect">
            <a:avLst/>
          </a:prstGeom>
          <a:noFill/>
        </p:spPr>
        <p:txBody>
          <a:bodyPr wrap="square">
            <a:spAutoFit/>
          </a:bodyPr>
          <a:lstStyle/>
          <a:p>
            <a:pPr algn="l"/>
            <a:r>
              <a:rPr sz="2000" b="1" i="0">
                <a:solidFill>
                  <a:srgbClr val="0D2B45"/>
                </a:solidFill>
                <a:latin typeface="游ゴシック"/>
              </a:rPr>
              <a:t>操作マニュアル</a:t>
            </a:r>
          </a:p>
        </p:txBody>
      </p:sp>
      <p:sp>
        <p:nvSpPr>
          <p:cNvPr id="20" name="TextBox 19"/>
          <p:cNvSpPr txBox="1"/>
          <p:nvPr/>
        </p:nvSpPr>
        <p:spPr>
          <a:xfrm>
            <a:off x="6446520" y="2121408"/>
            <a:ext cx="5349240" cy="594360"/>
          </a:xfrm>
          <a:prstGeom prst="rect">
            <a:avLst/>
          </a:prstGeom>
          <a:noFill/>
        </p:spPr>
        <p:txBody>
          <a:bodyPr wrap="square">
            <a:spAutoFit/>
          </a:bodyPr>
          <a:lstStyle/>
          <a:p>
            <a:pPr algn="l"/>
            <a:r>
              <a:rPr sz="1300" b="0" i="0">
                <a:solidFill>
                  <a:srgbClr val="1A1A2E"/>
                </a:solidFill>
                <a:latin typeface="游ゴシック"/>
              </a:rPr>
              <a:t>起動 → 計測 → 結果確認 → CSV活用</a:t>
            </a:r>
          </a:p>
        </p:txBody>
      </p:sp>
      <p:sp>
        <p:nvSpPr>
          <p:cNvPr id="21" name="TextBox 20"/>
          <p:cNvSpPr txBox="1"/>
          <p:nvPr/>
        </p:nvSpPr>
        <p:spPr>
          <a:xfrm>
            <a:off x="6446520" y="2743200"/>
            <a:ext cx="5349240" cy="347472"/>
          </a:xfrm>
          <a:prstGeom prst="rect">
            <a:avLst/>
          </a:prstGeom>
          <a:noFill/>
        </p:spPr>
        <p:txBody>
          <a:bodyPr wrap="square">
            <a:spAutoFit/>
          </a:bodyPr>
          <a:lstStyle/>
          <a:p>
            <a:pPr algn="l"/>
            <a:r>
              <a:rPr sz="1200" b="0" i="0">
                <a:solidFill>
                  <a:srgbClr val="8899AA"/>
                </a:solidFill>
                <a:latin typeface="游ゴシック"/>
              </a:rPr>
              <a:t>p.6〜9</a:t>
            </a:r>
          </a:p>
        </p:txBody>
      </p:sp>
      <p:sp>
        <p:nvSpPr>
          <p:cNvPr id="22" name="Rectangle 21"/>
          <p:cNvSpPr/>
          <p:nvPr/>
        </p:nvSpPr>
        <p:spPr>
          <a:xfrm>
            <a:off x="365760" y="3566160"/>
            <a:ext cx="5623560" cy="210312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566160"/>
            <a:ext cx="91440" cy="210312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657600"/>
            <a:ext cx="5349240" cy="347472"/>
          </a:xfrm>
          <a:prstGeom prst="rect">
            <a:avLst/>
          </a:prstGeom>
          <a:noFill/>
        </p:spPr>
        <p:txBody>
          <a:bodyPr wrap="square">
            <a:spAutoFit/>
          </a:bodyPr>
          <a:lstStyle/>
          <a:p>
            <a:pPr algn="l"/>
            <a:r>
              <a:rPr sz="1200" b="1" i="0">
                <a:solidFill>
                  <a:srgbClr val="E8621A"/>
                </a:solidFill>
                <a:latin typeface="游ゴシック"/>
              </a:rPr>
              <a:t>Section 3</a:t>
            </a:r>
          </a:p>
        </p:txBody>
      </p:sp>
      <p:sp>
        <p:nvSpPr>
          <p:cNvPr id="25" name="TextBox 24"/>
          <p:cNvSpPr txBox="1"/>
          <p:nvPr/>
        </p:nvSpPr>
        <p:spPr>
          <a:xfrm>
            <a:off x="548640" y="3950208"/>
            <a:ext cx="5349240" cy="502920"/>
          </a:xfrm>
          <a:prstGeom prst="rect">
            <a:avLst/>
          </a:prstGeom>
          <a:noFill/>
        </p:spPr>
        <p:txBody>
          <a:bodyPr wrap="square">
            <a:spAutoFit/>
          </a:bodyPr>
          <a:lstStyle/>
          <a:p>
            <a:pPr algn="l"/>
            <a:r>
              <a:rPr sz="2000" b="1" i="0">
                <a:solidFill>
                  <a:srgbClr val="0D2B45"/>
                </a:solidFill>
                <a:latin typeface="游ゴシック"/>
              </a:rPr>
              <a:t>技術詳細</a:t>
            </a:r>
          </a:p>
        </p:txBody>
      </p:sp>
      <p:sp>
        <p:nvSpPr>
          <p:cNvPr id="26" name="TextBox 25"/>
          <p:cNvSpPr txBox="1"/>
          <p:nvPr/>
        </p:nvSpPr>
        <p:spPr>
          <a:xfrm>
            <a:off x="548640" y="4453128"/>
            <a:ext cx="5349240" cy="594360"/>
          </a:xfrm>
          <a:prstGeom prst="rect">
            <a:avLst/>
          </a:prstGeom>
          <a:noFill/>
        </p:spPr>
        <p:txBody>
          <a:bodyPr wrap="square">
            <a:spAutoFit/>
          </a:bodyPr>
          <a:lstStyle/>
          <a:p>
            <a:pPr algn="l"/>
            <a:r>
              <a:rPr sz="1300" b="0" i="0">
                <a:solidFill>
                  <a:srgbClr val="1A1A2E"/>
                </a:solidFill>
                <a:latin typeface="游ゴシック"/>
              </a:rPr>
              <a:t>アーキテクチャ → タスク設計 → アルゴリズム</a:t>
            </a:r>
          </a:p>
        </p:txBody>
      </p:sp>
      <p:sp>
        <p:nvSpPr>
          <p:cNvPr id="27" name="TextBox 26"/>
          <p:cNvSpPr txBox="1"/>
          <p:nvPr/>
        </p:nvSpPr>
        <p:spPr>
          <a:xfrm>
            <a:off x="548640" y="5074920"/>
            <a:ext cx="5349240" cy="347472"/>
          </a:xfrm>
          <a:prstGeom prst="rect">
            <a:avLst/>
          </a:prstGeom>
          <a:noFill/>
        </p:spPr>
        <p:txBody>
          <a:bodyPr wrap="square">
            <a:spAutoFit/>
          </a:bodyPr>
          <a:lstStyle/>
          <a:p>
            <a:pPr algn="l"/>
            <a:r>
              <a:rPr sz="1200" b="0" i="0">
                <a:solidFill>
                  <a:srgbClr val="8899AA"/>
                </a:solidFill>
                <a:latin typeface="游ゴシック"/>
              </a:rPr>
              <a:t>p.10〜12</a:t>
            </a:r>
          </a:p>
        </p:txBody>
      </p:sp>
      <p:sp>
        <p:nvSpPr>
          <p:cNvPr id="28" name="Rectangle 27"/>
          <p:cNvSpPr/>
          <p:nvPr/>
        </p:nvSpPr>
        <p:spPr>
          <a:xfrm>
            <a:off x="6263640" y="3566160"/>
            <a:ext cx="5623560" cy="210312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3566160"/>
            <a:ext cx="91440" cy="210312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657600"/>
            <a:ext cx="5349240" cy="347472"/>
          </a:xfrm>
          <a:prstGeom prst="rect">
            <a:avLst/>
          </a:prstGeom>
          <a:noFill/>
        </p:spPr>
        <p:txBody>
          <a:bodyPr wrap="square">
            <a:spAutoFit/>
          </a:bodyPr>
          <a:lstStyle/>
          <a:p>
            <a:pPr algn="l"/>
            <a:r>
              <a:rPr sz="1200" b="1" i="0">
                <a:solidFill>
                  <a:srgbClr val="E8621A"/>
                </a:solidFill>
                <a:latin typeface="游ゴシック"/>
              </a:rPr>
              <a:t>Section 4</a:t>
            </a:r>
          </a:p>
        </p:txBody>
      </p:sp>
      <p:sp>
        <p:nvSpPr>
          <p:cNvPr id="31" name="TextBox 30"/>
          <p:cNvSpPr txBox="1"/>
          <p:nvPr/>
        </p:nvSpPr>
        <p:spPr>
          <a:xfrm>
            <a:off x="6446520" y="3950208"/>
            <a:ext cx="5349240" cy="502920"/>
          </a:xfrm>
          <a:prstGeom prst="rect">
            <a:avLst/>
          </a:prstGeom>
          <a:noFill/>
        </p:spPr>
        <p:txBody>
          <a:bodyPr wrap="square">
            <a:spAutoFit/>
          </a:bodyPr>
          <a:lstStyle/>
          <a:p>
            <a:pPr algn="l"/>
            <a:r>
              <a:rPr sz="2000" b="1" i="0">
                <a:solidFill>
                  <a:srgbClr val="0D2B45"/>
                </a:solidFill>
                <a:latin typeface="游ゴシック"/>
              </a:rPr>
              <a:t>品質・実績・将来計画</a:t>
            </a:r>
          </a:p>
        </p:txBody>
      </p:sp>
      <p:sp>
        <p:nvSpPr>
          <p:cNvPr id="32" name="TextBox 31"/>
          <p:cNvSpPr txBox="1"/>
          <p:nvPr/>
        </p:nvSpPr>
        <p:spPr>
          <a:xfrm>
            <a:off x="6446520" y="4453128"/>
            <a:ext cx="5349240" cy="594360"/>
          </a:xfrm>
          <a:prstGeom prst="rect">
            <a:avLst/>
          </a:prstGeom>
          <a:noFill/>
        </p:spPr>
        <p:txBody>
          <a:bodyPr wrap="square">
            <a:spAutoFit/>
          </a:bodyPr>
          <a:lstStyle/>
          <a:p>
            <a:pPr algn="l"/>
            <a:r>
              <a:rPr sz="1300" b="0" i="0">
                <a:solidFill>
                  <a:srgbClr val="1A1A2E"/>
                </a:solidFill>
                <a:latin typeface="游ゴシック"/>
              </a:rPr>
              <a:t>デバッグ → テスト → コスト → 拡張計画</a:t>
            </a:r>
          </a:p>
        </p:txBody>
      </p:sp>
      <p:sp>
        <p:nvSpPr>
          <p:cNvPr id="33" name="TextBox 32"/>
          <p:cNvSpPr txBox="1"/>
          <p:nvPr/>
        </p:nvSpPr>
        <p:spPr>
          <a:xfrm>
            <a:off x="6446520" y="5074920"/>
            <a:ext cx="5349240" cy="347472"/>
          </a:xfrm>
          <a:prstGeom prst="rect">
            <a:avLst/>
          </a:prstGeom>
          <a:noFill/>
        </p:spPr>
        <p:txBody>
          <a:bodyPr wrap="square">
            <a:spAutoFit/>
          </a:bodyPr>
          <a:lstStyle/>
          <a:p>
            <a:pPr algn="l"/>
            <a:r>
              <a:rPr sz="1200" b="0" i="0">
                <a:solidFill>
                  <a:srgbClr val="8899AA"/>
                </a:solidFill>
                <a:latin typeface="游ゴシック"/>
              </a:rPr>
              <a:t>p.13〜17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背景と課題</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1  プロジェクト概要</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3 / 17</a:t>
            </a:r>
          </a:p>
        </p:txBody>
      </p:sp>
      <p:sp>
        <p:nvSpPr>
          <p:cNvPr id="10" name="TextBox 9"/>
          <p:cNvSpPr txBox="1"/>
          <p:nvPr/>
        </p:nvSpPr>
        <p:spPr>
          <a:xfrm>
            <a:off x="365760" y="1097280"/>
            <a:ext cx="11430000" cy="457200"/>
          </a:xfrm>
          <a:prstGeom prst="rect">
            <a:avLst/>
          </a:prstGeom>
          <a:noFill/>
        </p:spPr>
        <p:txBody>
          <a:bodyPr wrap="square">
            <a:spAutoFit/>
          </a:bodyPr>
          <a:lstStyle/>
          <a:p>
            <a:pPr algn="l"/>
            <a:r>
              <a:rPr sz="1500" b="0" i="0">
                <a:solidFill>
                  <a:srgbClr val="1A1A2E"/>
                </a:solidFill>
                <a:latin typeface="游ゴシック"/>
              </a:rPr>
              <a:t>温度評価作業（ヒートガン・恒温槽・チャンバー使用）において、次の4つの非効率が存在していました。</a:t>
            </a:r>
          </a:p>
        </p:txBody>
      </p:sp>
      <p:sp>
        <p:nvSpPr>
          <p:cNvPr id="11" name="Rectangle 10"/>
          <p:cNvSpPr/>
          <p:nvPr/>
        </p:nvSpPr>
        <p:spPr>
          <a:xfrm>
            <a:off x="365760" y="1691640"/>
            <a:ext cx="5623560" cy="1920240"/>
          </a:xfrm>
          <a:prstGeom prst="rect">
            <a:avLst/>
          </a:prstGeom>
          <a:solidFill>
            <a:srgbClr val="FFFFFF"/>
          </a:solidFill>
          <a:ln w="12700">
            <a:solidFill>
              <a:srgbClr val="CC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691640"/>
            <a:ext cx="562356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801368"/>
            <a:ext cx="5349240" cy="457200"/>
          </a:xfrm>
          <a:prstGeom prst="rect">
            <a:avLst/>
          </a:prstGeom>
          <a:noFill/>
        </p:spPr>
        <p:txBody>
          <a:bodyPr wrap="square">
            <a:spAutoFit/>
          </a:bodyPr>
          <a:lstStyle/>
          <a:p>
            <a:pPr algn="l"/>
            <a:r>
              <a:rPr sz="1700" b="1" i="0">
                <a:solidFill>
                  <a:srgbClr val="0D2B45"/>
                </a:solidFill>
                <a:latin typeface="游ゴシック"/>
              </a:rPr>
              <a:t>📋  手書き記録</a:t>
            </a:r>
          </a:p>
        </p:txBody>
      </p:sp>
      <p:sp>
        <p:nvSpPr>
          <p:cNvPr id="14" name="TextBox 13"/>
          <p:cNvSpPr txBox="1"/>
          <p:nvPr/>
        </p:nvSpPr>
        <p:spPr>
          <a:xfrm>
            <a:off x="502920" y="2286000"/>
            <a:ext cx="5349240" cy="1097280"/>
          </a:xfrm>
          <a:prstGeom prst="rect">
            <a:avLst/>
          </a:prstGeom>
          <a:noFill/>
        </p:spPr>
        <p:txBody>
          <a:bodyPr wrap="square">
            <a:spAutoFit/>
          </a:bodyPr>
          <a:lstStyle/>
          <a:p>
            <a:pPr algn="l"/>
            <a:r>
              <a:rPr sz="1400" b="0" i="0">
                <a:solidFill>
                  <a:srgbClr val="1A1A2E"/>
                </a:solidFill>
                <a:latin typeface="游ゴシック"/>
              </a:rPr>
              <a:t>計測値を逐一手書き
またはExcelへ手入力</a:t>
            </a:r>
          </a:p>
        </p:txBody>
      </p:sp>
      <p:sp>
        <p:nvSpPr>
          <p:cNvPr id="15" name="Rectangle 14"/>
          <p:cNvSpPr/>
          <p:nvPr/>
        </p:nvSpPr>
        <p:spPr>
          <a:xfrm>
            <a:off x="6263640" y="1691640"/>
            <a:ext cx="5623560" cy="1920240"/>
          </a:xfrm>
          <a:prstGeom prst="rect">
            <a:avLst/>
          </a:prstGeom>
          <a:solidFill>
            <a:srgbClr val="FFFFFF"/>
          </a:solidFill>
          <a:ln w="12700">
            <a:solidFill>
              <a:srgbClr val="CC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691640"/>
            <a:ext cx="562356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01368"/>
            <a:ext cx="5349240" cy="457200"/>
          </a:xfrm>
          <a:prstGeom prst="rect">
            <a:avLst/>
          </a:prstGeom>
          <a:noFill/>
        </p:spPr>
        <p:txBody>
          <a:bodyPr wrap="square">
            <a:spAutoFit/>
          </a:bodyPr>
          <a:lstStyle/>
          <a:p>
            <a:pPr algn="l"/>
            <a:r>
              <a:rPr sz="1700" b="1" i="0">
                <a:solidFill>
                  <a:srgbClr val="0D2B45"/>
                </a:solidFill>
                <a:latin typeface="游ゴシック"/>
              </a:rPr>
              <a:t>📊  後処理の工数</a:t>
            </a:r>
          </a:p>
        </p:txBody>
      </p:sp>
      <p:sp>
        <p:nvSpPr>
          <p:cNvPr id="18" name="TextBox 17"/>
          <p:cNvSpPr txBox="1"/>
          <p:nvPr/>
        </p:nvSpPr>
        <p:spPr>
          <a:xfrm>
            <a:off x="6400800" y="2286000"/>
            <a:ext cx="5349240" cy="1097280"/>
          </a:xfrm>
          <a:prstGeom prst="rect">
            <a:avLst/>
          </a:prstGeom>
          <a:noFill/>
        </p:spPr>
        <p:txBody>
          <a:bodyPr wrap="square">
            <a:spAutoFit/>
          </a:bodyPr>
          <a:lstStyle/>
          <a:p>
            <a:pPr algn="l"/>
            <a:r>
              <a:rPr sz="1400" b="0" i="0">
                <a:solidFill>
                  <a:srgbClr val="1A1A2E"/>
                </a:solidFill>
                <a:latin typeface="游ゴシック"/>
              </a:rPr>
              <a:t>平均・標準偏差・最大/最小は
評価終了後に別途計算が必要</a:t>
            </a:r>
          </a:p>
        </p:txBody>
      </p:sp>
      <p:sp>
        <p:nvSpPr>
          <p:cNvPr id="19" name="Rectangle 18"/>
          <p:cNvSpPr/>
          <p:nvPr/>
        </p:nvSpPr>
        <p:spPr>
          <a:xfrm>
            <a:off x="365760" y="3840480"/>
            <a:ext cx="5623560" cy="1920240"/>
          </a:xfrm>
          <a:prstGeom prst="rect">
            <a:avLst/>
          </a:prstGeom>
          <a:solidFill>
            <a:srgbClr val="FFFFFF"/>
          </a:solidFill>
          <a:ln w="12700">
            <a:solidFill>
              <a:srgbClr val="CC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840480"/>
            <a:ext cx="562356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950208"/>
            <a:ext cx="5349240" cy="457200"/>
          </a:xfrm>
          <a:prstGeom prst="rect">
            <a:avLst/>
          </a:prstGeom>
          <a:noFill/>
        </p:spPr>
        <p:txBody>
          <a:bodyPr wrap="square">
            <a:spAutoFit/>
          </a:bodyPr>
          <a:lstStyle/>
          <a:p>
            <a:pPr algn="l"/>
            <a:r>
              <a:rPr sz="1700" b="1" i="0">
                <a:solidFill>
                  <a:srgbClr val="0D2B45"/>
                </a:solidFill>
                <a:latin typeface="游ゴシック"/>
              </a:rPr>
              <a:t>🔔  異常検知の遅れ</a:t>
            </a:r>
          </a:p>
        </p:txBody>
      </p:sp>
      <p:sp>
        <p:nvSpPr>
          <p:cNvPr id="22" name="TextBox 21"/>
          <p:cNvSpPr txBox="1"/>
          <p:nvPr/>
        </p:nvSpPr>
        <p:spPr>
          <a:xfrm>
            <a:off x="502920" y="4434840"/>
            <a:ext cx="5349240" cy="1097280"/>
          </a:xfrm>
          <a:prstGeom prst="rect">
            <a:avLst/>
          </a:prstGeom>
          <a:noFill/>
        </p:spPr>
        <p:txBody>
          <a:bodyPr wrap="square">
            <a:spAutoFit/>
          </a:bodyPr>
          <a:lstStyle/>
          <a:p>
            <a:pPr algn="l"/>
            <a:r>
              <a:rPr sz="1400" b="0" i="0">
                <a:solidFill>
                  <a:srgbClr val="1A1A2E"/>
                </a:solidFill>
                <a:latin typeface="游ゴシック"/>
              </a:rPr>
              <a:t>上限・下限超過の瞬間に
気づく手段がなかった</a:t>
            </a:r>
          </a:p>
        </p:txBody>
      </p:sp>
      <p:sp>
        <p:nvSpPr>
          <p:cNvPr id="23" name="Rectangle 22"/>
          <p:cNvSpPr/>
          <p:nvPr/>
        </p:nvSpPr>
        <p:spPr>
          <a:xfrm>
            <a:off x="6263640" y="3840480"/>
            <a:ext cx="5623560" cy="1920240"/>
          </a:xfrm>
          <a:prstGeom prst="rect">
            <a:avLst/>
          </a:prstGeom>
          <a:solidFill>
            <a:srgbClr val="FFFFFF"/>
          </a:solidFill>
          <a:ln w="12700">
            <a:solidFill>
              <a:srgbClr val="CCD5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840480"/>
            <a:ext cx="562356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950208"/>
            <a:ext cx="5349240" cy="457200"/>
          </a:xfrm>
          <a:prstGeom prst="rect">
            <a:avLst/>
          </a:prstGeom>
          <a:noFill/>
        </p:spPr>
        <p:txBody>
          <a:bodyPr wrap="square">
            <a:spAutoFit/>
          </a:bodyPr>
          <a:lstStyle/>
          <a:p>
            <a:pPr algn="l"/>
            <a:r>
              <a:rPr sz="1700" b="1" i="0">
                <a:solidFill>
                  <a:srgbClr val="0D2B45"/>
                </a:solidFill>
                <a:latin typeface="游ゴシック"/>
              </a:rPr>
              <a:t>📁  記録の不統一</a:t>
            </a:r>
          </a:p>
        </p:txBody>
      </p:sp>
      <p:sp>
        <p:nvSpPr>
          <p:cNvPr id="26" name="TextBox 25"/>
          <p:cNvSpPr txBox="1"/>
          <p:nvPr/>
        </p:nvSpPr>
        <p:spPr>
          <a:xfrm>
            <a:off x="6400800" y="4434840"/>
            <a:ext cx="5349240" cy="1097280"/>
          </a:xfrm>
          <a:prstGeom prst="rect">
            <a:avLst/>
          </a:prstGeom>
          <a:noFill/>
        </p:spPr>
        <p:txBody>
          <a:bodyPr wrap="square">
            <a:spAutoFit/>
          </a:bodyPr>
          <a:lstStyle/>
          <a:p>
            <a:pPr algn="l"/>
            <a:r>
              <a:rPr sz="1400" b="0" i="0">
                <a:solidFill>
                  <a:srgbClr val="1A1A2E"/>
                </a:solidFill>
                <a:latin typeface="游ゴシック"/>
              </a:rPr>
              <a:t>担当者・回によって
記録フォーマットがばらつく</a:t>
            </a:r>
          </a:p>
        </p:txBody>
      </p:sp>
      <p:sp>
        <p:nvSpPr>
          <p:cNvPr id="27" name="Rectangle 26"/>
          <p:cNvSpPr/>
          <p:nvPr/>
        </p:nvSpPr>
        <p:spPr>
          <a:xfrm>
            <a:off x="365760" y="5989320"/>
            <a:ext cx="11430000" cy="5486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989320"/>
            <a:ext cx="10972800" cy="548640"/>
          </a:xfrm>
          <a:prstGeom prst="rect">
            <a:avLst/>
          </a:prstGeom>
          <a:noFill/>
        </p:spPr>
        <p:txBody>
          <a:bodyPr wrap="square">
            <a:spAutoFit/>
          </a:bodyPr>
          <a:lstStyle/>
          <a:p>
            <a:pPr algn="l"/>
            <a:r>
              <a:rPr sz="1300" b="0" i="0">
                <a:solidFill>
                  <a:srgbClr val="FFFFFF"/>
                </a:solidFill>
                <a:latin typeface="游ゴシック"/>
              </a:rPr>
              <a:t>「記録ミスのリスク」「評価1件あたりの工数」「データ品質の安定性」に直結する課題  →  専用ツールで解決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ハードウェア構成</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1  プロジェクト概要</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4 / 17</a:t>
            </a:r>
          </a:p>
        </p:txBody>
      </p:sp>
      <p:sp>
        <p:nvSpPr>
          <p:cNvPr id="10" name="Rectangle 9"/>
          <p:cNvSpPr/>
          <p:nvPr/>
        </p:nvSpPr>
        <p:spPr>
          <a:xfrm>
            <a:off x="8961120" y="1188720"/>
            <a:ext cx="2834640" cy="914400"/>
          </a:xfrm>
          <a:prstGeom prst="rect">
            <a:avLst/>
          </a:prstGeom>
          <a:solidFill>
            <a:srgbClr val="FFFFFF"/>
          </a:solidFill>
          <a:ln w="19050">
            <a:solidFill>
              <a:srgbClr val="E862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961120" y="1188720"/>
            <a:ext cx="283464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298448"/>
            <a:ext cx="2560320" cy="320040"/>
          </a:xfrm>
          <a:prstGeom prst="rect">
            <a:avLst/>
          </a:prstGeom>
          <a:noFill/>
        </p:spPr>
        <p:txBody>
          <a:bodyPr wrap="square">
            <a:spAutoFit/>
          </a:bodyPr>
          <a:lstStyle/>
          <a:p>
            <a:pPr algn="l"/>
            <a:r>
              <a:rPr sz="1200" b="0" i="0">
                <a:solidFill>
                  <a:srgbClr val="8899AA"/>
                </a:solidFill>
                <a:latin typeface="游ゴシック"/>
              </a:rPr>
              <a:t>総コスト</a:t>
            </a:r>
          </a:p>
        </p:txBody>
      </p:sp>
      <p:sp>
        <p:nvSpPr>
          <p:cNvPr id="13" name="TextBox 12"/>
          <p:cNvSpPr txBox="1"/>
          <p:nvPr/>
        </p:nvSpPr>
        <p:spPr>
          <a:xfrm>
            <a:off x="9052560" y="1554480"/>
            <a:ext cx="2651760" cy="457200"/>
          </a:xfrm>
          <a:prstGeom prst="rect">
            <a:avLst/>
          </a:prstGeom>
          <a:noFill/>
        </p:spPr>
        <p:txBody>
          <a:bodyPr wrap="square">
            <a:spAutoFit/>
          </a:bodyPr>
          <a:lstStyle/>
          <a:p>
            <a:pPr algn="l"/>
            <a:r>
              <a:rPr sz="2400" b="1" i="0">
                <a:solidFill>
                  <a:srgbClr val="E8621A"/>
                </a:solidFill>
                <a:latin typeface="游ゴシック"/>
              </a:rPr>
              <a:t>16,082 円</a:t>
            </a:r>
          </a:p>
        </p:txBody>
      </p:sp>
      <p:sp>
        <p:nvSpPr>
          <p:cNvPr id="14" name="Rectangle 13"/>
          <p:cNvSpPr/>
          <p:nvPr/>
        </p:nvSpPr>
        <p:spPr>
          <a:xfrm>
            <a:off x="8961120" y="2240280"/>
            <a:ext cx="2834640" cy="91440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61120" y="2240280"/>
            <a:ext cx="2834640" cy="64008"/>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350008"/>
            <a:ext cx="2560320" cy="320040"/>
          </a:xfrm>
          <a:prstGeom prst="rect">
            <a:avLst/>
          </a:prstGeom>
          <a:noFill/>
        </p:spPr>
        <p:txBody>
          <a:bodyPr wrap="square">
            <a:spAutoFit/>
          </a:bodyPr>
          <a:lstStyle/>
          <a:p>
            <a:pPr algn="l"/>
            <a:r>
              <a:rPr sz="1200" b="0" i="0">
                <a:solidFill>
                  <a:srgbClr val="8899AA"/>
                </a:solidFill>
                <a:latin typeface="游ゴシック"/>
              </a:rPr>
              <a:t>部品点数</a:t>
            </a:r>
          </a:p>
        </p:txBody>
      </p:sp>
      <p:sp>
        <p:nvSpPr>
          <p:cNvPr id="17" name="TextBox 16"/>
          <p:cNvSpPr txBox="1"/>
          <p:nvPr/>
        </p:nvSpPr>
        <p:spPr>
          <a:xfrm>
            <a:off x="9052560" y="2606040"/>
            <a:ext cx="2651760" cy="457200"/>
          </a:xfrm>
          <a:prstGeom prst="rect">
            <a:avLst/>
          </a:prstGeom>
          <a:noFill/>
        </p:spPr>
        <p:txBody>
          <a:bodyPr wrap="square">
            <a:spAutoFit/>
          </a:bodyPr>
          <a:lstStyle/>
          <a:p>
            <a:pPr algn="l"/>
            <a:r>
              <a:rPr sz="2400" b="1" i="0">
                <a:solidFill>
                  <a:srgbClr val="0D2B45"/>
                </a:solidFill>
                <a:latin typeface="游ゴシック"/>
              </a:rPr>
              <a:t>5 部品</a:t>
            </a:r>
          </a:p>
        </p:txBody>
      </p:sp>
      <p:sp>
        <p:nvSpPr>
          <p:cNvPr id="18" name="Rectangle 17"/>
          <p:cNvSpPr/>
          <p:nvPr/>
        </p:nvSpPr>
        <p:spPr>
          <a:xfrm>
            <a:off x="8961120" y="3291840"/>
            <a:ext cx="2834640" cy="914400"/>
          </a:xfrm>
          <a:prstGeom prst="rect">
            <a:avLst/>
          </a:prstGeom>
          <a:solidFill>
            <a:srgbClr val="FFFFFF"/>
          </a:solidFill>
          <a:ln w="19050">
            <a:solidFill>
              <a:srgbClr val="00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3291840"/>
            <a:ext cx="2834640" cy="640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3401568"/>
            <a:ext cx="2560320" cy="320040"/>
          </a:xfrm>
          <a:prstGeom prst="rect">
            <a:avLst/>
          </a:prstGeom>
          <a:noFill/>
        </p:spPr>
        <p:txBody>
          <a:bodyPr wrap="square">
            <a:spAutoFit/>
          </a:bodyPr>
          <a:lstStyle/>
          <a:p>
            <a:pPr algn="l"/>
            <a:r>
              <a:rPr sz="1200" b="0" i="0">
                <a:solidFill>
                  <a:srgbClr val="8899AA"/>
                </a:solidFill>
                <a:latin typeface="游ゴシック"/>
              </a:rPr>
              <a:t>組み立て時間</a:t>
            </a:r>
          </a:p>
        </p:txBody>
      </p:sp>
      <p:sp>
        <p:nvSpPr>
          <p:cNvPr id="21" name="TextBox 20"/>
          <p:cNvSpPr txBox="1"/>
          <p:nvPr/>
        </p:nvSpPr>
        <p:spPr>
          <a:xfrm>
            <a:off x="9052560" y="3657600"/>
            <a:ext cx="2651760" cy="457200"/>
          </a:xfrm>
          <a:prstGeom prst="rect">
            <a:avLst/>
          </a:prstGeom>
          <a:noFill/>
        </p:spPr>
        <p:txBody>
          <a:bodyPr wrap="square">
            <a:spAutoFit/>
          </a:bodyPr>
          <a:lstStyle/>
          <a:p>
            <a:pPr algn="l"/>
            <a:r>
              <a:rPr sz="2400" b="1" i="0">
                <a:solidFill>
                  <a:srgbClr val="00A8E8"/>
                </a:solidFill>
                <a:latin typeface="游ゴシック"/>
              </a:rPr>
              <a:t>約 15 分</a:t>
            </a:r>
          </a:p>
        </p:txBody>
      </p:sp>
      <p:sp>
        <p:nvSpPr>
          <p:cNvPr id="22" name="Rectangle 21"/>
          <p:cNvSpPr/>
          <p:nvPr/>
        </p:nvSpPr>
        <p:spPr>
          <a:xfrm>
            <a:off x="8961120" y="4343400"/>
            <a:ext cx="2834640" cy="91440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4343400"/>
            <a:ext cx="283464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4453128"/>
            <a:ext cx="2560320" cy="320040"/>
          </a:xfrm>
          <a:prstGeom prst="rect">
            <a:avLst/>
          </a:prstGeom>
          <a:noFill/>
        </p:spPr>
        <p:txBody>
          <a:bodyPr wrap="square">
            <a:spAutoFit/>
          </a:bodyPr>
          <a:lstStyle/>
          <a:p>
            <a:pPr algn="l"/>
            <a:r>
              <a:rPr sz="1200" b="0" i="0">
                <a:solidFill>
                  <a:srgbClr val="8899AA"/>
                </a:solidFill>
                <a:latin typeface="游ゴシック"/>
              </a:rPr>
              <a:t>ハンダ付け</a:t>
            </a:r>
          </a:p>
        </p:txBody>
      </p:sp>
      <p:sp>
        <p:nvSpPr>
          <p:cNvPr id="25" name="TextBox 24"/>
          <p:cNvSpPr txBox="1"/>
          <p:nvPr/>
        </p:nvSpPr>
        <p:spPr>
          <a:xfrm>
            <a:off x="9052560" y="4709160"/>
            <a:ext cx="2651760" cy="457200"/>
          </a:xfrm>
          <a:prstGeom prst="rect">
            <a:avLst/>
          </a:prstGeom>
          <a:noFill/>
        </p:spPr>
        <p:txBody>
          <a:bodyPr wrap="square">
            <a:spAutoFit/>
          </a:bodyPr>
          <a:lstStyle/>
          <a:p>
            <a:pPr algn="l"/>
            <a:r>
              <a:rPr sz="2400" b="1" i="0">
                <a:solidFill>
                  <a:srgbClr val="27AE60"/>
                </a:solidFill>
                <a:latin typeface="游ゴシック"/>
              </a:rPr>
              <a:t>不 要</a:t>
            </a:r>
          </a:p>
        </p:txBody>
      </p:sp>
      <p:graphicFrame>
        <p:nvGraphicFramePr>
          <p:cNvPr id="26" name="Table 25"/>
          <p:cNvGraphicFramePr>
            <a:graphicFrameLocks noGrp="1"/>
          </p:cNvGraphicFramePr>
          <p:nvPr/>
        </p:nvGraphicFramePr>
        <p:xfrm>
          <a:off x="320040" y="1188720"/>
          <a:ext cx="8412480" cy="2304288"/>
        </p:xfrm>
        <a:graphic>
          <a:graphicData uri="http://schemas.openxmlformats.org/drawingml/2006/table">
            <a:tbl>
              <a:tblPr firstRow="1" bandRow="1">
                <a:tableStyleId>{5C22544A-7EE6-4342-B048-85BDC9FD1C3A}</a:tableStyleId>
              </a:tblPr>
              <a:tblGrid>
                <a:gridCol w="2286000"/>
                <a:gridCol w="2194560"/>
                <a:gridCol w="2377440"/>
                <a:gridCol w="1554480"/>
              </a:tblGrid>
              <a:tr h="384048">
                <a:tc>
                  <a:txBody>
                    <a:bodyPr wrap="square"/>
                    <a:lstStyle/>
                    <a:p>
                      <a:pPr algn="l"/>
                      <a:r>
                        <a:rPr sz="1300" b="1">
                          <a:solidFill>
                            <a:srgbClr val="FFFFFF"/>
                          </a:solidFill>
                          <a:latin typeface="游ゴシック"/>
                        </a:rPr>
                        <a:t>部品名</a:t>
                      </a:r>
                    </a:p>
                  </a:txBody>
                  <a:tcPr>
                    <a:solidFill>
                      <a:srgbClr val="0D2B45"/>
                    </a:solidFill>
                  </a:tcPr>
                </a:tc>
                <a:tc>
                  <a:txBody>
                    <a:bodyPr wrap="square"/>
                    <a:lstStyle/>
                    <a:p>
                      <a:pPr algn="l"/>
                      <a:r>
                        <a:rPr sz="1300" b="1">
                          <a:solidFill>
                            <a:srgbClr val="FFFFFF"/>
                          </a:solidFill>
                          <a:latin typeface="游ゴシック"/>
                        </a:rPr>
                        <a:t>型番 / 規格</a:t>
                      </a:r>
                    </a:p>
                  </a:txBody>
                  <a:tcPr>
                    <a:solidFill>
                      <a:srgbClr val="0D2B45"/>
                    </a:solidFill>
                  </a:tcPr>
                </a:tc>
                <a:tc>
                  <a:txBody>
                    <a:bodyPr wrap="square"/>
                    <a:lstStyle/>
                    <a:p>
                      <a:pPr algn="l"/>
                      <a:r>
                        <a:rPr sz="1300" b="1">
                          <a:solidFill>
                            <a:srgbClr val="FFFFFF"/>
                          </a:solidFill>
                          <a:latin typeface="游ゴシック"/>
                        </a:rPr>
                        <a:t>役割</a:t>
                      </a:r>
                    </a:p>
                  </a:txBody>
                  <a:tcPr>
                    <a:solidFill>
                      <a:srgbClr val="0D2B45"/>
                    </a:solidFill>
                  </a:tcPr>
                </a:tc>
                <a:tc>
                  <a:txBody>
                    <a:bodyPr wrap="square"/>
                    <a:lstStyle/>
                    <a:p>
                      <a:pPr algn="l"/>
                      <a:r>
                        <a:rPr sz="1300" b="1">
                          <a:solidFill>
                            <a:srgbClr val="FFFFFF"/>
                          </a:solidFill>
                          <a:latin typeface="游ゴシック"/>
                        </a:rPr>
                        <a:t>単価</a:t>
                      </a:r>
                    </a:p>
                  </a:txBody>
                  <a:tcPr>
                    <a:solidFill>
                      <a:srgbClr val="0D2B45"/>
                    </a:solidFill>
                  </a:tcPr>
                </a:tc>
              </a:tr>
              <a:tr h="384048">
                <a:tc>
                  <a:txBody>
                    <a:bodyPr wrap="square"/>
                    <a:lstStyle/>
                    <a:p>
                      <a:pPr algn="l"/>
                      <a:r>
                        <a:rPr sz="1300" b="0">
                          <a:solidFill>
                            <a:srgbClr val="1A1A2E"/>
                          </a:solidFill>
                          <a:latin typeface="游ゴシック"/>
                        </a:rPr>
                        <a:t>M5Stack Core2</a:t>
                      </a:r>
                    </a:p>
                  </a:txBody>
                  <a:tcPr>
                    <a:solidFill>
                      <a:srgbClr val="FFFFFF"/>
                    </a:solidFill>
                  </a:tcPr>
                </a:tc>
                <a:tc>
                  <a:txBody>
                    <a:bodyPr wrap="square"/>
                    <a:lstStyle/>
                    <a:p>
                      <a:pPr algn="l"/>
                      <a:r>
                        <a:rPr sz="1300" b="0">
                          <a:solidFill>
                            <a:srgbClr val="1A1A2E"/>
                          </a:solidFill>
                          <a:latin typeface="游ゴシック"/>
                        </a:rPr>
                        <a:t>ESP32-D0WDQ6-V3</a:t>
                      </a:r>
                    </a:p>
                  </a:txBody>
                  <a:tcPr>
                    <a:solidFill>
                      <a:srgbClr val="FFFFFF"/>
                    </a:solidFill>
                  </a:tcPr>
                </a:tc>
                <a:tc>
                  <a:txBody>
                    <a:bodyPr wrap="square"/>
                    <a:lstStyle/>
                    <a:p>
                      <a:pPr algn="l"/>
                      <a:r>
                        <a:rPr sz="1300" b="0">
                          <a:solidFill>
                            <a:srgbClr val="1A1A2E"/>
                          </a:solidFill>
                          <a:latin typeface="游ゴシック"/>
                        </a:rPr>
                        <a:t>マイコン本体・LCD・ボタン</a:t>
                      </a:r>
                    </a:p>
                  </a:txBody>
                  <a:tcPr>
                    <a:solidFill>
                      <a:srgbClr val="FFFFFF"/>
                    </a:solidFill>
                  </a:tcPr>
                </a:tc>
                <a:tc>
                  <a:txBody>
                    <a:bodyPr wrap="square"/>
                    <a:lstStyle/>
                    <a:p>
                      <a:pPr algn="l"/>
                      <a:r>
                        <a:rPr sz="1300" b="0">
                          <a:solidFill>
                            <a:srgbClr val="1A1A2E"/>
                          </a:solidFill>
                          <a:latin typeface="游ゴシック"/>
                        </a:rPr>
                        <a:t>¥6,050</a:t>
                      </a:r>
                    </a:p>
                  </a:txBody>
                  <a:tcPr>
                    <a:solidFill>
                      <a:srgbClr val="FFFFFF"/>
                    </a:solidFill>
                  </a:tcPr>
                </a:tc>
              </a:tr>
              <a:tr h="384048">
                <a:tc>
                  <a:txBody>
                    <a:bodyPr wrap="square"/>
                    <a:lstStyle/>
                    <a:p>
                      <a:pPr algn="l"/>
                      <a:r>
                        <a:rPr sz="1300" b="0">
                          <a:solidFill>
                            <a:srgbClr val="1A1A2E"/>
                          </a:solidFill>
                          <a:latin typeface="游ゴシック"/>
                        </a:rPr>
                        <a:t>K型熱電対センサ</a:t>
                      </a:r>
                    </a:p>
                  </a:txBody>
                  <a:tcPr>
                    <a:solidFill>
                      <a:srgbClr val="E8EEF4"/>
                    </a:solidFill>
                  </a:tcPr>
                </a:tc>
                <a:tc>
                  <a:txBody>
                    <a:bodyPr wrap="square"/>
                    <a:lstStyle/>
                    <a:p>
                      <a:pPr algn="l"/>
                      <a:r>
                        <a:rPr sz="1300" b="0">
                          <a:solidFill>
                            <a:srgbClr val="1A1A2E"/>
                          </a:solidFill>
                          <a:latin typeface="游ゴシック"/>
                        </a:rPr>
                        <a:t>Type-K / −200〜1350℃</a:t>
                      </a:r>
                    </a:p>
                  </a:txBody>
                  <a:tcPr>
                    <a:solidFill>
                      <a:srgbClr val="E8EEF4"/>
                    </a:solidFill>
                  </a:tcPr>
                </a:tc>
                <a:tc>
                  <a:txBody>
                    <a:bodyPr wrap="square"/>
                    <a:lstStyle/>
                    <a:p>
                      <a:pPr algn="l"/>
                      <a:r>
                        <a:rPr sz="1300" b="0">
                          <a:solidFill>
                            <a:srgbClr val="1A1A2E"/>
                          </a:solidFill>
                          <a:latin typeface="游ゴシック"/>
                        </a:rPr>
                        <a:t>温度計測</a:t>
                      </a:r>
                    </a:p>
                  </a:txBody>
                  <a:tcPr>
                    <a:solidFill>
                      <a:srgbClr val="E8EEF4"/>
                    </a:solidFill>
                  </a:tcPr>
                </a:tc>
                <a:tc>
                  <a:txBody>
                    <a:bodyPr wrap="square"/>
                    <a:lstStyle/>
                    <a:p>
                      <a:pPr algn="l"/>
                      <a:r>
                        <a:rPr sz="1300" b="0">
                          <a:solidFill>
                            <a:srgbClr val="1A1A2E"/>
                          </a:solidFill>
                          <a:latin typeface="游ゴシック"/>
                        </a:rPr>
                        <a:t>¥3,080</a:t>
                      </a:r>
                    </a:p>
                  </a:txBody>
                  <a:tcPr>
                    <a:solidFill>
                      <a:srgbClr val="E8EEF4"/>
                    </a:solidFill>
                  </a:tcPr>
                </a:tc>
              </a:tr>
              <a:tr h="384048">
                <a:tc>
                  <a:txBody>
                    <a:bodyPr wrap="square"/>
                    <a:lstStyle/>
                    <a:p>
                      <a:pPr algn="l"/>
                      <a:r>
                        <a:rPr sz="1300" b="0">
                          <a:solidFill>
                            <a:srgbClr val="1A1A2E"/>
                          </a:solidFill>
                          <a:latin typeface="游ゴシック"/>
                        </a:rPr>
                        <a:t>MAX31855 アンプ基板</a:t>
                      </a:r>
                    </a:p>
                  </a:txBody>
                  <a:tcPr>
                    <a:solidFill>
                      <a:srgbClr val="FFFFFF"/>
                    </a:solidFill>
                  </a:tcPr>
                </a:tc>
                <a:tc>
                  <a:txBody>
                    <a:bodyPr wrap="square"/>
                    <a:lstStyle/>
                    <a:p>
                      <a:pPr algn="l"/>
                      <a:r>
                        <a:rPr sz="1300" b="0">
                          <a:solidFill>
                            <a:srgbClr val="1A1A2E"/>
                          </a:solidFill>
                          <a:latin typeface="游ゴシック"/>
                        </a:rPr>
                        <a:t>Adafruit #3263</a:t>
                      </a:r>
                    </a:p>
                  </a:txBody>
                  <a:tcPr>
                    <a:solidFill>
                      <a:srgbClr val="FFFFFF"/>
                    </a:solidFill>
                  </a:tcPr>
                </a:tc>
                <a:tc>
                  <a:txBody>
                    <a:bodyPr wrap="square"/>
                    <a:lstStyle/>
                    <a:p>
                      <a:pPr algn="l"/>
                      <a:r>
                        <a:rPr sz="1300" b="0">
                          <a:solidFill>
                            <a:srgbClr val="1A1A2E"/>
                          </a:solidFill>
                          <a:latin typeface="游ゴシック"/>
                        </a:rPr>
                        <a:t>熱電対→SPIデジタル変換</a:t>
                      </a:r>
                    </a:p>
                  </a:txBody>
                  <a:tcPr>
                    <a:solidFill>
                      <a:srgbClr val="FFFFFF"/>
                    </a:solidFill>
                  </a:tcPr>
                </a:tc>
                <a:tc>
                  <a:txBody>
                    <a:bodyPr wrap="square"/>
                    <a:lstStyle/>
                    <a:p>
                      <a:pPr algn="l"/>
                      <a:r>
                        <a:rPr sz="1300" b="0">
                          <a:solidFill>
                            <a:srgbClr val="1A1A2E"/>
                          </a:solidFill>
                          <a:latin typeface="游ゴシック"/>
                        </a:rPr>
                        <a:t>¥2,970</a:t>
                      </a:r>
                    </a:p>
                  </a:txBody>
                  <a:tcPr>
                    <a:solidFill>
                      <a:srgbClr val="FFFFFF"/>
                    </a:solidFill>
                  </a:tcPr>
                </a:tc>
              </a:tr>
              <a:tr h="384048">
                <a:tc>
                  <a:txBody>
                    <a:bodyPr wrap="square"/>
                    <a:lstStyle/>
                    <a:p>
                      <a:pPr algn="l"/>
                      <a:r>
                        <a:rPr sz="1300" b="0">
                          <a:solidFill>
                            <a:srgbClr val="1A1A2E"/>
                          </a:solidFill>
                          <a:latin typeface="游ゴシック"/>
                        </a:rPr>
                        <a:t>MicroSD カード</a:t>
                      </a:r>
                    </a:p>
                  </a:txBody>
                  <a:tcPr>
                    <a:solidFill>
                      <a:srgbClr val="E8EEF4"/>
                    </a:solidFill>
                  </a:tcPr>
                </a:tc>
                <a:tc>
                  <a:txBody>
                    <a:bodyPr wrap="square"/>
                    <a:lstStyle/>
                    <a:p>
                      <a:pPr algn="l"/>
                      <a:r>
                        <a:rPr sz="1300" b="0">
                          <a:solidFill>
                            <a:srgbClr val="1A1A2E"/>
                          </a:solidFill>
                          <a:latin typeface="游ゴシック"/>
                        </a:rPr>
                        <a:t>FAT32 / 16GB</a:t>
                      </a:r>
                    </a:p>
                  </a:txBody>
                  <a:tcPr>
                    <a:solidFill>
                      <a:srgbClr val="E8EEF4"/>
                    </a:solidFill>
                  </a:tcPr>
                </a:tc>
                <a:tc>
                  <a:txBody>
                    <a:bodyPr wrap="square"/>
                    <a:lstStyle/>
                    <a:p>
                      <a:pPr algn="l"/>
                      <a:r>
                        <a:rPr sz="1300" b="0">
                          <a:solidFill>
                            <a:srgbClr val="1A1A2E"/>
                          </a:solidFill>
                          <a:latin typeface="游ゴシック"/>
                        </a:rPr>
                        <a:t>CSV自動保存</a:t>
                      </a:r>
                    </a:p>
                  </a:txBody>
                  <a:tcPr>
                    <a:solidFill>
                      <a:srgbClr val="E8EEF4"/>
                    </a:solidFill>
                  </a:tcPr>
                </a:tc>
                <a:tc>
                  <a:txBody>
                    <a:bodyPr wrap="square"/>
                    <a:lstStyle/>
                    <a:p>
                      <a:pPr algn="l"/>
                      <a:r>
                        <a:rPr sz="1300" b="0">
                          <a:solidFill>
                            <a:srgbClr val="1A1A2E"/>
                          </a:solidFill>
                          <a:latin typeface="游ゴシック"/>
                        </a:rPr>
                        <a:t>¥1,500</a:t>
                      </a:r>
                    </a:p>
                  </a:txBody>
                  <a:tcPr>
                    <a:solidFill>
                      <a:srgbClr val="E8EEF4"/>
                    </a:solidFill>
                  </a:tcPr>
                </a:tc>
              </a:tr>
              <a:tr h="384048">
                <a:tc>
                  <a:txBody>
                    <a:bodyPr wrap="square"/>
                    <a:lstStyle/>
                    <a:p>
                      <a:pPr algn="l"/>
                      <a:r>
                        <a:rPr sz="1300" b="0">
                          <a:solidFill>
                            <a:srgbClr val="1A1A2E"/>
                          </a:solidFill>
                          <a:latin typeface="游ゴシック"/>
                        </a:rPr>
                        <a:t>USB-C ケーブル</a:t>
                      </a:r>
                    </a:p>
                  </a:txBody>
                  <a:tcPr>
                    <a:solidFill>
                      <a:srgbClr val="FFFFFF"/>
                    </a:solidFill>
                  </a:tcPr>
                </a:tc>
                <a:tc>
                  <a:txBody>
                    <a:bodyPr wrap="square"/>
                    <a:lstStyle/>
                    <a:p>
                      <a:pPr algn="l"/>
                      <a:r>
                        <a:rPr sz="1300" b="0">
                          <a:solidFill>
                            <a:srgbClr val="1A1A2E"/>
                          </a:solidFill>
                          <a:latin typeface="游ゴシック"/>
                        </a:rPr>
                        <a:t>給電用</a:t>
                      </a:r>
                    </a:p>
                  </a:txBody>
                  <a:tcPr>
                    <a:solidFill>
                      <a:srgbClr val="FFFFFF"/>
                    </a:solidFill>
                  </a:tcPr>
                </a:tc>
                <a:tc>
                  <a:txBody>
                    <a:bodyPr wrap="square"/>
                    <a:lstStyle/>
                    <a:p>
                      <a:pPr algn="l"/>
                      <a:r>
                        <a:rPr sz="1300" b="0">
                          <a:solidFill>
                            <a:srgbClr val="1A1A2E"/>
                          </a:solidFill>
                          <a:latin typeface="游ゴシック"/>
                        </a:rPr>
                        <a:t>電源供給</a:t>
                      </a:r>
                    </a:p>
                  </a:txBody>
                  <a:tcPr>
                    <a:solidFill>
                      <a:srgbClr val="FFFFFF"/>
                    </a:solidFill>
                  </a:tcPr>
                </a:tc>
                <a:tc>
                  <a:txBody>
                    <a:bodyPr wrap="square"/>
                    <a:lstStyle/>
                    <a:p>
                      <a:pPr algn="l"/>
                      <a:r>
                        <a:rPr sz="1300" b="0">
                          <a:solidFill>
                            <a:srgbClr val="1A1A2E"/>
                          </a:solidFill>
                          <a:latin typeface="游ゴシック"/>
                        </a:rPr>
                        <a:t>¥2,482</a:t>
                      </a:r>
                    </a:p>
                  </a:txBody>
                  <a:tcPr>
                    <a:solidFill>
                      <a:srgbClr val="FFFFFF"/>
                    </a:solidFill>
                  </a:tcPr>
                </a:tc>
              </a:tr>
            </a:tbl>
          </a:graphicData>
        </a:graphic>
      </p:graphicFrame>
      <p:sp>
        <p:nvSpPr>
          <p:cNvPr id="27" name="TextBox 26"/>
          <p:cNvSpPr txBox="1"/>
          <p:nvPr/>
        </p:nvSpPr>
        <p:spPr>
          <a:xfrm>
            <a:off x="320040" y="5166360"/>
            <a:ext cx="8412480" cy="365760"/>
          </a:xfrm>
          <a:prstGeom prst="rect">
            <a:avLst/>
          </a:prstGeom>
          <a:noFill/>
        </p:spPr>
        <p:txBody>
          <a:bodyPr wrap="square">
            <a:spAutoFit/>
          </a:bodyPr>
          <a:lstStyle/>
          <a:p>
            <a:pPr algn="l"/>
            <a:r>
              <a:rPr sz="1200" b="0" i="0">
                <a:solidFill>
                  <a:srgbClr val="8899AA"/>
                </a:solidFill>
                <a:latin typeface="游ゴシック"/>
              </a:rPr>
              <a:t>接続方式：MAX31855 → SPI（GPIO 5/18/19/23）　EEPROM → I2C（GPIO 21/22）</a:t>
            </a:r>
          </a:p>
        </p:txBody>
      </p:sp>
      <p:sp>
        <p:nvSpPr>
          <p:cNvPr id="28" name="Rectangle 27"/>
          <p:cNvSpPr/>
          <p:nvPr/>
        </p:nvSpPr>
        <p:spPr>
          <a:xfrm>
            <a:off x="320040" y="5577840"/>
            <a:ext cx="8412480" cy="4114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5577840"/>
            <a:ext cx="8229600" cy="411480"/>
          </a:xfrm>
          <a:prstGeom prst="rect">
            <a:avLst/>
          </a:prstGeom>
          <a:noFill/>
        </p:spPr>
        <p:txBody>
          <a:bodyPr wrap="square">
            <a:spAutoFit/>
          </a:bodyPr>
          <a:lstStyle/>
          <a:p>
            <a:pPr algn="l"/>
            <a:r>
              <a:rPr sz="1300" b="1" i="0">
                <a:solidFill>
                  <a:srgbClr val="FFFFFF"/>
                </a:solidFill>
                <a:latin typeface="游ゴシック"/>
              </a:rPr>
              <a:t>合計：16,082円（部品実費のみ・外注費 0円）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主要機能</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1  プロジェクト概要</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5 / 17</a:t>
            </a:r>
          </a:p>
        </p:txBody>
      </p:sp>
      <p:sp>
        <p:nvSpPr>
          <p:cNvPr id="10" name="Rectangle 9"/>
          <p:cNvSpPr/>
          <p:nvPr/>
        </p:nvSpPr>
        <p:spPr>
          <a:xfrm>
            <a:off x="320040" y="1188720"/>
            <a:ext cx="3749039" cy="214884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188720"/>
            <a:ext cx="3749039"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298448"/>
            <a:ext cx="3529583" cy="457200"/>
          </a:xfrm>
          <a:prstGeom prst="rect">
            <a:avLst/>
          </a:prstGeom>
          <a:noFill/>
        </p:spPr>
        <p:txBody>
          <a:bodyPr wrap="square">
            <a:spAutoFit/>
          </a:bodyPr>
          <a:lstStyle/>
          <a:p>
            <a:pPr algn="l"/>
            <a:r>
              <a:rPr sz="1400" b="1" i="0">
                <a:solidFill>
                  <a:srgbClr val="0D2B45"/>
                </a:solidFill>
                <a:latin typeface="游ゴシック"/>
              </a:rPr>
              <a:t>① リアルタイム温度計測</a:t>
            </a:r>
          </a:p>
        </p:txBody>
      </p:sp>
      <p:sp>
        <p:nvSpPr>
          <p:cNvPr id="13" name="TextBox 12"/>
          <p:cNvSpPr txBox="1"/>
          <p:nvPr/>
        </p:nvSpPr>
        <p:spPr>
          <a:xfrm>
            <a:off x="429768" y="1810512"/>
            <a:ext cx="3529583" cy="1417320"/>
          </a:xfrm>
          <a:prstGeom prst="rect">
            <a:avLst/>
          </a:prstGeom>
          <a:noFill/>
        </p:spPr>
        <p:txBody>
          <a:bodyPr wrap="square">
            <a:spAutoFit/>
          </a:bodyPr>
          <a:lstStyle/>
          <a:p>
            <a:pPr algn="l"/>
            <a:r>
              <a:rPr sz="1200" b="0" i="0">
                <a:solidFill>
                  <a:srgbClr val="1A1A2E"/>
                </a:solidFill>
                <a:latin typeface="游ゴシック"/>
              </a:rPr>
              <a:t>K型熱電対 + MAX31855 使用
計測範囲：−200〜1350℃  精度：±1℃
500ms間隔でセンサ読取、LPF（α=0.1）でノイズ除去</a:t>
            </a:r>
          </a:p>
        </p:txBody>
      </p:sp>
      <p:sp>
        <p:nvSpPr>
          <p:cNvPr id="14" name="Rectangle 13"/>
          <p:cNvSpPr/>
          <p:nvPr/>
        </p:nvSpPr>
        <p:spPr>
          <a:xfrm>
            <a:off x="4279392" y="1188720"/>
            <a:ext cx="3749039" cy="214884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1188720"/>
            <a:ext cx="3749039"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298448"/>
            <a:ext cx="3529583" cy="457200"/>
          </a:xfrm>
          <a:prstGeom prst="rect">
            <a:avLst/>
          </a:prstGeom>
          <a:noFill/>
        </p:spPr>
        <p:txBody>
          <a:bodyPr wrap="square">
            <a:spAutoFit/>
          </a:bodyPr>
          <a:lstStyle/>
          <a:p>
            <a:pPr algn="l"/>
            <a:r>
              <a:rPr sz="1400" b="1" i="0">
                <a:solidFill>
                  <a:srgbClr val="0D2B45"/>
                </a:solidFill>
                <a:latin typeface="游ゴシック"/>
              </a:rPr>
              <a:t>② 統計値の自動計算・表示</a:t>
            </a:r>
          </a:p>
        </p:txBody>
      </p:sp>
      <p:sp>
        <p:nvSpPr>
          <p:cNvPr id="17" name="TextBox 16"/>
          <p:cNvSpPr txBox="1"/>
          <p:nvPr/>
        </p:nvSpPr>
        <p:spPr>
          <a:xfrm>
            <a:off x="4389120" y="1810512"/>
            <a:ext cx="3529583" cy="1417320"/>
          </a:xfrm>
          <a:prstGeom prst="rect">
            <a:avLst/>
          </a:prstGeom>
          <a:noFill/>
        </p:spPr>
        <p:txBody>
          <a:bodyPr wrap="square">
            <a:spAutoFit/>
          </a:bodyPr>
          <a:lstStyle/>
          <a:p>
            <a:pPr algn="l"/>
            <a:r>
              <a:rPr sz="1200" b="0" i="0">
                <a:solidFill>
                  <a:srgbClr val="1A1A2E"/>
                </a:solidFill>
                <a:latin typeface="游ゴシック"/>
              </a:rPr>
              <a:t>計測中に 平均・標準偏差・最大・最小 を自動更新
Welford法（逐次更新）でRAMを消費せず処理
計測終了時に最終統計値をページ表示</a:t>
            </a:r>
          </a:p>
        </p:txBody>
      </p:sp>
      <p:sp>
        <p:nvSpPr>
          <p:cNvPr id="18" name="Rectangle 17"/>
          <p:cNvSpPr/>
          <p:nvPr/>
        </p:nvSpPr>
        <p:spPr>
          <a:xfrm>
            <a:off x="8238744" y="1188720"/>
            <a:ext cx="3749039" cy="214884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38744" y="1188720"/>
            <a:ext cx="3749039"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2" y="1298448"/>
            <a:ext cx="3529583" cy="457200"/>
          </a:xfrm>
          <a:prstGeom prst="rect">
            <a:avLst/>
          </a:prstGeom>
          <a:noFill/>
        </p:spPr>
        <p:txBody>
          <a:bodyPr wrap="square">
            <a:spAutoFit/>
          </a:bodyPr>
          <a:lstStyle/>
          <a:p>
            <a:pPr algn="l"/>
            <a:r>
              <a:rPr sz="1400" b="1" i="0">
                <a:solidFill>
                  <a:srgbClr val="0D2B45"/>
                </a:solidFill>
                <a:latin typeface="游ゴシック"/>
              </a:rPr>
              <a:t>③ CSVファイル自動保存</a:t>
            </a:r>
          </a:p>
        </p:txBody>
      </p:sp>
      <p:sp>
        <p:nvSpPr>
          <p:cNvPr id="21" name="TextBox 20"/>
          <p:cNvSpPr txBox="1"/>
          <p:nvPr/>
        </p:nvSpPr>
        <p:spPr>
          <a:xfrm>
            <a:off x="8348472" y="1810512"/>
            <a:ext cx="3529583" cy="1417320"/>
          </a:xfrm>
          <a:prstGeom prst="rect">
            <a:avLst/>
          </a:prstGeom>
          <a:noFill/>
        </p:spPr>
        <p:txBody>
          <a:bodyPr wrap="square">
            <a:spAutoFit/>
          </a:bodyPr>
          <a:lstStyle/>
          <a:p>
            <a:pPr algn="l"/>
            <a:r>
              <a:rPr sz="1200" b="0" i="0">
                <a:solidFill>
                  <a:srgbClr val="1A1A2E"/>
                </a:solidFill>
                <a:latin typeface="游ゴシック"/>
              </a:rPr>
              <a:t>MicroSDカードに DATA_0000.csv 形式で自動記録
10列フォーマット（経過時間・温度・統計・アラームフラグ等）
計測ごとに連番で自動採番</a:t>
            </a:r>
          </a:p>
        </p:txBody>
      </p:sp>
      <p:sp>
        <p:nvSpPr>
          <p:cNvPr id="22" name="Rectangle 21"/>
          <p:cNvSpPr/>
          <p:nvPr/>
        </p:nvSpPr>
        <p:spPr>
          <a:xfrm>
            <a:off x="320040" y="3520440"/>
            <a:ext cx="5669280" cy="214884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520440"/>
            <a:ext cx="566928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 y="3630168"/>
            <a:ext cx="5449824" cy="457200"/>
          </a:xfrm>
          <a:prstGeom prst="rect">
            <a:avLst/>
          </a:prstGeom>
          <a:noFill/>
        </p:spPr>
        <p:txBody>
          <a:bodyPr wrap="square">
            <a:spAutoFit/>
          </a:bodyPr>
          <a:lstStyle/>
          <a:p>
            <a:pPr algn="l"/>
            <a:r>
              <a:rPr sz="1400" b="1" i="0">
                <a:solidFill>
                  <a:srgbClr val="0D2B45"/>
                </a:solidFill>
                <a:latin typeface="游ゴシック"/>
              </a:rPr>
              <a:t>④ アラーム機能</a:t>
            </a:r>
          </a:p>
        </p:txBody>
      </p:sp>
      <p:sp>
        <p:nvSpPr>
          <p:cNvPr id="25" name="TextBox 24"/>
          <p:cNvSpPr txBox="1"/>
          <p:nvPr/>
        </p:nvSpPr>
        <p:spPr>
          <a:xfrm>
            <a:off x="429768" y="4142232"/>
            <a:ext cx="5449824" cy="1417320"/>
          </a:xfrm>
          <a:prstGeom prst="rect">
            <a:avLst/>
          </a:prstGeom>
          <a:noFill/>
        </p:spPr>
        <p:txBody>
          <a:bodyPr wrap="square">
            <a:spAutoFit/>
          </a:bodyPr>
          <a:lstStyle/>
          <a:p>
            <a:pPr algn="l"/>
            <a:r>
              <a:rPr sz="1200" b="0" i="0">
                <a:solidFill>
                  <a:srgbClr val="1A1A2E"/>
                </a:solidFill>
                <a:latin typeface="游ゴシック"/>
              </a:rPr>
              <a:t>上限（HI）・下限（LO）温度を EEPROM に設定・保存
超過の瞬間にビープ音 + 画面でリアルタイム通知
ヒステリシス（±5℃）でチラつき防止</a:t>
            </a:r>
          </a:p>
        </p:txBody>
      </p:sp>
      <p:sp>
        <p:nvSpPr>
          <p:cNvPr id="26" name="Rectangle 25"/>
          <p:cNvSpPr/>
          <p:nvPr/>
        </p:nvSpPr>
        <p:spPr>
          <a:xfrm>
            <a:off x="6217920" y="3520440"/>
            <a:ext cx="5669280" cy="2148840"/>
          </a:xfrm>
          <a:prstGeom prst="rect">
            <a:avLst/>
          </a:prstGeom>
          <a:solidFill>
            <a:srgbClr val="FFFFFF"/>
          </a:solidFill>
          <a:ln w="1270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520440"/>
            <a:ext cx="566928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3630168"/>
            <a:ext cx="5449824" cy="457200"/>
          </a:xfrm>
          <a:prstGeom prst="rect">
            <a:avLst/>
          </a:prstGeom>
          <a:noFill/>
        </p:spPr>
        <p:txBody>
          <a:bodyPr wrap="square">
            <a:spAutoFit/>
          </a:bodyPr>
          <a:lstStyle/>
          <a:p>
            <a:pPr algn="l"/>
            <a:r>
              <a:rPr sz="1400" b="1" i="0">
                <a:solidFill>
                  <a:srgbClr val="0D2B45"/>
                </a:solidFill>
                <a:latin typeface="游ゴシック"/>
              </a:rPr>
              <a:t>⑤ 3ボタン操作</a:t>
            </a:r>
          </a:p>
        </p:txBody>
      </p:sp>
      <p:sp>
        <p:nvSpPr>
          <p:cNvPr id="29" name="TextBox 28"/>
          <p:cNvSpPr txBox="1"/>
          <p:nvPr/>
        </p:nvSpPr>
        <p:spPr>
          <a:xfrm>
            <a:off x="6327648" y="4142232"/>
            <a:ext cx="5449824" cy="1417320"/>
          </a:xfrm>
          <a:prstGeom prst="rect">
            <a:avLst/>
          </a:prstGeom>
          <a:noFill/>
        </p:spPr>
        <p:txBody>
          <a:bodyPr wrap="square">
            <a:spAutoFit/>
          </a:bodyPr>
          <a:lstStyle/>
          <a:p>
            <a:pPr algn="l"/>
            <a:r>
              <a:rPr sz="1200" b="0" i="0">
                <a:solidFill>
                  <a:srgbClr val="1A1A2E"/>
                </a:solidFill>
                <a:latin typeface="游ゴシック"/>
              </a:rPr>
              <a:t>BtnA：計測開始/終了/画面遷移
BtnB：アラーム設定モード進入/設定値+5℃
BtnC：設定値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操作マニュアル ① — 起動と待機（IDLE）</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2  操作マニュアル</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6 / 17</a:t>
            </a:r>
          </a:p>
        </p:txBody>
      </p:sp>
      <p:sp>
        <p:nvSpPr>
          <p:cNvPr id="10" name="TextBox 9"/>
          <p:cNvSpPr txBox="1"/>
          <p:nvPr/>
        </p:nvSpPr>
        <p:spPr>
          <a:xfrm>
            <a:off x="320040" y="1097280"/>
            <a:ext cx="11430000" cy="502920"/>
          </a:xfrm>
          <a:prstGeom prst="rect">
            <a:avLst/>
          </a:prstGeom>
          <a:noFill/>
        </p:spPr>
        <p:txBody>
          <a:bodyPr wrap="square">
            <a:spAutoFit/>
          </a:bodyPr>
          <a:lstStyle/>
          <a:p>
            <a:pPr algn="l"/>
            <a:r>
              <a:rPr sz="2200" b="1" i="0">
                <a:solidFill>
                  <a:srgbClr val="0D2B45"/>
                </a:solidFill>
                <a:latin typeface="游ゴシック"/>
              </a:rPr>
              <a:t>Step 1  :  電源を入れる</a:t>
            </a:r>
          </a:p>
        </p:txBody>
      </p:sp>
      <p:graphicFrame>
        <p:nvGraphicFramePr>
          <p:cNvPr id="11" name="Table 10"/>
          <p:cNvGraphicFramePr>
            <a:graphicFrameLocks noGrp="1"/>
          </p:cNvGraphicFramePr>
          <p:nvPr/>
        </p:nvGraphicFramePr>
        <p:xfrm>
          <a:off x="320040" y="1737360"/>
          <a:ext cx="11521440" cy="3200400"/>
        </p:xfrm>
        <a:graphic>
          <a:graphicData uri="http://schemas.openxmlformats.org/drawingml/2006/table">
            <a:tbl>
              <a:tblPr firstRow="1" bandRow="1">
                <a:tableStyleId>{5C22544A-7EE6-4342-B048-85BDC9FD1C3A}</a:tableStyleId>
              </a:tblPr>
              <a:tblGrid>
                <a:gridCol w="2011680"/>
                <a:gridCol w="5669280"/>
                <a:gridCol w="3840480"/>
              </a:tblGrid>
              <a:tr h="457200">
                <a:tc>
                  <a:txBody>
                    <a:bodyPr wrap="square"/>
                    <a:lstStyle/>
                    <a:p>
                      <a:pPr algn="l"/>
                      <a:r>
                        <a:rPr sz="1300" b="1">
                          <a:solidFill>
                            <a:srgbClr val="FFFFFF"/>
                          </a:solidFill>
                          <a:latin typeface="游ゴシック"/>
                        </a:rPr>
                        <a:t>確認項目</a:t>
                      </a:r>
                    </a:p>
                  </a:txBody>
                  <a:tcPr>
                    <a:solidFill>
                      <a:srgbClr val="0D2B45"/>
                    </a:solidFill>
                  </a:tcPr>
                </a:tc>
                <a:tc>
                  <a:txBody>
                    <a:bodyPr wrap="square"/>
                    <a:lstStyle/>
                    <a:p>
                      <a:pPr algn="l"/>
                      <a:r>
                        <a:rPr sz="1300" b="1">
                          <a:solidFill>
                            <a:srgbClr val="FFFFFF"/>
                          </a:solidFill>
                          <a:latin typeface="游ゴシック"/>
                        </a:rPr>
                        <a:t>表示・動作</a:t>
                      </a:r>
                    </a:p>
                  </a:txBody>
                  <a:tcPr>
                    <a:solidFill>
                      <a:srgbClr val="0D2B45"/>
                    </a:solidFill>
                  </a:tcPr>
                </a:tc>
                <a:tc>
                  <a:txBody>
                    <a:bodyPr wrap="square"/>
                    <a:lstStyle/>
                    <a:p>
                      <a:pPr algn="l"/>
                      <a:r>
                        <a:rPr sz="1300" b="1">
                          <a:solidFill>
                            <a:srgbClr val="FFFFFF"/>
                          </a:solidFill>
                          <a:latin typeface="游ゴシック"/>
                        </a:rPr>
                        <a:t>補足</a:t>
                      </a:r>
                    </a:p>
                  </a:txBody>
                  <a:tcPr>
                    <a:solidFill>
                      <a:srgbClr val="0D2B45"/>
                    </a:solidFill>
                  </a:tcPr>
                </a:tc>
              </a:tr>
              <a:tr h="457200">
                <a:tc>
                  <a:txBody>
                    <a:bodyPr wrap="square"/>
                    <a:lstStyle/>
                    <a:p>
                      <a:pPr algn="l"/>
                      <a:r>
                        <a:rPr sz="1300" b="0">
                          <a:solidFill>
                            <a:srgbClr val="1A1A2E"/>
                          </a:solidFill>
                          <a:latin typeface="游ゴシック"/>
                        </a:rPr>
                        <a:t>起動画面</a:t>
                      </a:r>
                    </a:p>
                  </a:txBody>
                  <a:tcPr>
                    <a:solidFill>
                      <a:srgbClr val="FFFFFF"/>
                    </a:solidFill>
                  </a:tcPr>
                </a:tc>
                <a:tc>
                  <a:txBody>
                    <a:bodyPr wrap="square"/>
                    <a:lstStyle/>
                    <a:p>
                      <a:pPr algn="l"/>
                      <a:r>
                        <a:rPr sz="1300" b="0">
                          <a:solidFill>
                            <a:srgbClr val="1A1A2E"/>
                          </a:solidFill>
                          <a:latin typeface="游ゴシック"/>
                        </a:rPr>
                        <a:t>"Temperature Eval Tool  Refactored Version" が数秒表示</a:t>
                      </a:r>
                    </a:p>
                  </a:txBody>
                  <a:tcPr>
                    <a:solidFill>
                      <a:srgbClr val="FFFFFF"/>
                    </a:solidFill>
                  </a:tcPr>
                </a:tc>
                <a:tc>
                  <a:txBody>
                    <a:bodyPr wrap="square"/>
                    <a:lstStyle/>
                    <a:p>
                      <a:pPr algn="l"/>
                      <a:r>
                        <a:rPr sz="1300" b="0">
                          <a:solidFill>
                            <a:srgbClr val="1A1A2E"/>
                          </a:solidFill>
                          <a:latin typeface="游ゴシック"/>
                        </a:rPr>
                        <a:t>自動的にIDLE画面へ遷移</a:t>
                      </a:r>
                    </a:p>
                  </a:txBody>
                  <a:tcPr>
                    <a:solidFill>
                      <a:srgbClr val="FFFFFF"/>
                    </a:solidFill>
                  </a:tcPr>
                </a:tc>
              </a:tr>
              <a:tr h="457200">
                <a:tc>
                  <a:txBody>
                    <a:bodyPr wrap="square"/>
                    <a:lstStyle/>
                    <a:p>
                      <a:pPr algn="l"/>
                      <a:r>
                        <a:rPr sz="1300" b="0">
                          <a:solidFill>
                            <a:srgbClr val="1A1A2E"/>
                          </a:solidFill>
                          <a:latin typeface="游ゴシック"/>
                        </a:rPr>
                        <a:t>温度表示</a:t>
                      </a:r>
                    </a:p>
                  </a:txBody>
                  <a:tcPr>
                    <a:solidFill>
                      <a:srgbClr val="E8EEF4"/>
                    </a:solidFill>
                  </a:tcPr>
                </a:tc>
                <a:tc>
                  <a:txBody>
                    <a:bodyPr wrap="square"/>
                    <a:lstStyle/>
                    <a:p>
                      <a:pPr algn="l"/>
                      <a:r>
                        <a:rPr sz="1300" b="0">
                          <a:solidFill>
                            <a:srgbClr val="1A1A2E"/>
                          </a:solidFill>
                          <a:latin typeface="游ゴシック"/>
                        </a:rPr>
                        <a:t>現在の温度（℃）がリアルタイム表示（500ms更新）</a:t>
                      </a:r>
                    </a:p>
                  </a:txBody>
                  <a:tcPr>
                    <a:solidFill>
                      <a:srgbClr val="E8EEF4"/>
                    </a:solidFill>
                  </a:tcPr>
                </a:tc>
                <a:tc>
                  <a:txBody>
                    <a:bodyPr wrap="square"/>
                    <a:lstStyle/>
                    <a:p>
                      <a:pPr algn="l"/>
                      <a:r>
                        <a:rPr sz="1300" b="0">
                          <a:solidFill>
                            <a:srgbClr val="1A1A2E"/>
                          </a:solidFill>
                          <a:latin typeface="游ゴシック"/>
                        </a:rPr>
                        <a:t>センサ未接続時は "---.- C" 表示</a:t>
                      </a:r>
                    </a:p>
                  </a:txBody>
                  <a:tcPr>
                    <a:solidFill>
                      <a:srgbClr val="E8EEF4"/>
                    </a:solidFill>
                  </a:tcPr>
                </a:tc>
              </a:tr>
              <a:tr h="457200">
                <a:tc>
                  <a:txBody>
                    <a:bodyPr wrap="square"/>
                    <a:lstStyle/>
                    <a:p>
                      <a:pPr algn="l"/>
                      <a:r>
                        <a:rPr sz="1300" b="0">
                          <a:solidFill>
                            <a:srgbClr val="1A1A2E"/>
                          </a:solidFill>
                          <a:latin typeface="游ゴシック"/>
                        </a:rPr>
                        <a:t>ボタンガイド</a:t>
                      </a:r>
                    </a:p>
                  </a:txBody>
                  <a:tcPr>
                    <a:solidFill>
                      <a:srgbClr val="FFFFFF"/>
                    </a:solidFill>
                  </a:tcPr>
                </a:tc>
                <a:tc>
                  <a:txBody>
                    <a:bodyPr wrap="square"/>
                    <a:lstStyle/>
                    <a:p>
                      <a:pPr algn="l"/>
                      <a:r>
                        <a:rPr sz="1300" b="0">
                          <a:solidFill>
                            <a:srgbClr val="1A1A2E"/>
                          </a:solidFill>
                          <a:latin typeface="游ゴシック"/>
                        </a:rPr>
                        <a:t>画面下部に [BtnA] Start  [BtnB] Setting を表示</a:t>
                      </a:r>
                    </a:p>
                  </a:txBody>
                  <a:tcPr>
                    <a:solidFill>
                      <a:srgbClr val="FFFFFF"/>
                    </a:solidFill>
                  </a:tcPr>
                </a:tc>
                <a:tc>
                  <a:txBody>
                    <a:bodyPr wrap="square"/>
                    <a:lstStyle/>
                    <a:p>
                      <a:pPr algn="l"/>
                      <a:r>
                        <a:rPr sz="1300" b="0">
                          <a:solidFill>
                            <a:srgbClr val="1A1A2E"/>
                          </a:solidFill>
                          <a:latin typeface="游ゴシック"/>
                        </a:rPr>
                        <a:t>常時表示</a:t>
                      </a:r>
                    </a:p>
                  </a:txBody>
                  <a:tcPr>
                    <a:solidFill>
                      <a:srgbClr val="FFFFFF"/>
                    </a:solidFill>
                  </a:tcPr>
                </a:tc>
              </a:tr>
              <a:tr h="457200">
                <a:tc>
                  <a:txBody>
                    <a:bodyPr wrap="square"/>
                    <a:lstStyle/>
                    <a:p>
                      <a:pPr algn="l"/>
                      <a:r>
                        <a:rPr sz="1300" b="0">
                          <a:solidFill>
                            <a:srgbClr val="1A1A2E"/>
                          </a:solidFill>
                          <a:latin typeface="游ゴシック"/>
                        </a:rPr>
                        <a:t>SDカード状態</a:t>
                      </a:r>
                    </a:p>
                  </a:txBody>
                  <a:tcPr>
                    <a:solidFill>
                      <a:srgbClr val="E8EEF4"/>
                    </a:solidFill>
                  </a:tcPr>
                </a:tc>
                <a:tc>
                  <a:txBody>
                    <a:bodyPr wrap="square"/>
                    <a:lstStyle/>
                    <a:p>
                      <a:pPr algn="l"/>
                      <a:r>
                        <a:rPr sz="1300" b="0">
                          <a:solidFill>
                            <a:srgbClr val="1A1A2E"/>
                          </a:solidFill>
                          <a:latin typeface="游ゴシック"/>
                        </a:rPr>
                        <a:t>SDReady または SD Error が画面に表示される</a:t>
                      </a:r>
                    </a:p>
                  </a:txBody>
                  <a:tcPr>
                    <a:solidFill>
                      <a:srgbClr val="E8EEF4"/>
                    </a:solidFill>
                  </a:tcPr>
                </a:tc>
                <a:tc>
                  <a:txBody>
                    <a:bodyPr wrap="square"/>
                    <a:lstStyle/>
                    <a:p>
                      <a:pPr algn="l"/>
                      <a:r>
                        <a:rPr sz="1300" b="0">
                          <a:solidFill>
                            <a:srgbClr val="1A1A2E"/>
                          </a:solidFill>
                          <a:latin typeface="游ゴシック"/>
                        </a:rPr>
                        <a:t>初期化失敗時はシリアルにも出力</a:t>
                      </a:r>
                    </a:p>
                  </a:txBody>
                  <a:tcPr>
                    <a:solidFill>
                      <a:srgbClr val="E8EEF4"/>
                    </a:solidFill>
                  </a:tcPr>
                </a:tc>
              </a:tr>
              <a:tr h="457200">
                <a:tc>
                  <a:txBody>
                    <a:bodyPr wrap="square"/>
                    <a:lstStyle/>
                    <a:p>
                      <a:pPr algn="l"/>
                      <a:r>
                        <a:rPr sz="1300" b="0">
                          <a:solidFill>
                            <a:srgbClr val="1A1A2E"/>
                          </a:solidFill>
                          <a:latin typeface="游ゴシック"/>
                        </a:rPr>
                        <a:t>センサ初期化</a:t>
                      </a:r>
                    </a:p>
                  </a:txBody>
                  <a:tcPr>
                    <a:solidFill>
                      <a:srgbClr val="FFFFFF"/>
                    </a:solidFill>
                  </a:tcPr>
                </a:tc>
                <a:tc>
                  <a:txBody>
                    <a:bodyPr wrap="square"/>
                    <a:lstStyle/>
                    <a:p>
                      <a:pPr algn="l"/>
                      <a:r>
                        <a:rPr sz="1300" b="0">
                          <a:solidFill>
                            <a:srgbClr val="1A1A2E"/>
                          </a:solidFill>
                          <a:latin typeface="游ゴシック"/>
                        </a:rPr>
                        <a:t>起動時に最大5回リトライ（間隔500ms）</a:t>
                      </a:r>
                    </a:p>
                  </a:txBody>
                  <a:tcPr>
                    <a:solidFill>
                      <a:srgbClr val="FFFFFF"/>
                    </a:solidFill>
                  </a:tcPr>
                </a:tc>
                <a:tc>
                  <a:txBody>
                    <a:bodyPr wrap="square"/>
                    <a:lstStyle/>
                    <a:p>
                      <a:pPr algn="l"/>
                      <a:r>
                        <a:rPr sz="1300" b="0">
                          <a:solidFill>
                            <a:srgbClr val="1A1A2E"/>
                          </a:solidFill>
                          <a:latin typeface="游ゴシック"/>
                        </a:rPr>
                        <a:t>失敗しても起動継続（---.- C表示）</a:t>
                      </a:r>
                    </a:p>
                  </a:txBody>
                  <a:tcPr>
                    <a:solidFill>
                      <a:srgbClr val="FFFFFF"/>
                    </a:solidFill>
                  </a:tcPr>
                </a:tc>
              </a:tr>
              <a:tr h="457200">
                <a:tc>
                  <a:txBody>
                    <a:bodyPr wrap="square"/>
                    <a:lstStyle/>
                    <a:p>
                      <a:pPr algn="l"/>
                      <a:r>
                        <a:rPr sz="1300" b="0">
                          <a:solidFill>
                            <a:srgbClr val="1A1A2E"/>
                          </a:solidFill>
                          <a:latin typeface="游ゴシック"/>
                        </a:rPr>
                        <a:t>センサ異常</a:t>
                      </a:r>
                    </a:p>
                  </a:txBody>
                  <a:tcPr>
                    <a:solidFill>
                      <a:srgbClr val="E8EEF4"/>
                    </a:solidFill>
                  </a:tcPr>
                </a:tc>
                <a:tc>
                  <a:txBody>
                    <a:bodyPr wrap="square"/>
                    <a:lstStyle/>
                    <a:p>
                      <a:pPr algn="l"/>
                      <a:r>
                        <a:rPr sz="1300" b="0">
                          <a:solidFill>
                            <a:srgbClr val="1A1A2E"/>
                          </a:solidFill>
                          <a:latin typeface="游ゴシック"/>
                        </a:rPr>
                        <a:t>"SENSOR ERROR" が表示される場合</a:t>
                      </a:r>
                    </a:p>
                  </a:txBody>
                  <a:tcPr>
                    <a:solidFill>
                      <a:srgbClr val="E8EEF4"/>
                    </a:solidFill>
                  </a:tcPr>
                </a:tc>
                <a:tc>
                  <a:txBody>
                    <a:bodyPr wrap="square"/>
                    <a:lstStyle/>
                    <a:p>
                      <a:pPr algn="l"/>
                      <a:r>
                        <a:rPr sz="1300" b="0">
                          <a:solidFill>
                            <a:srgbClr val="1A1A2E"/>
                          </a:solidFill>
                          <a:latin typeface="游ゴシック"/>
                        </a:rPr>
                        <a:t>接続・コネクタを確認して再起動</a:t>
                      </a:r>
                    </a:p>
                  </a:txBody>
                  <a:tcPr>
                    <a:solidFill>
                      <a:srgbClr val="E8EEF4"/>
                    </a:solidFill>
                  </a:tcPr>
                </a:tc>
              </a:tr>
            </a:tbl>
          </a:graphicData>
        </a:graphic>
      </p:graphicFrame>
      <p:sp>
        <p:nvSpPr>
          <p:cNvPr id="12" name="TextBox 11"/>
          <p:cNvSpPr txBox="1"/>
          <p:nvPr/>
        </p:nvSpPr>
        <p:spPr>
          <a:xfrm>
            <a:off x="320040" y="5897880"/>
            <a:ext cx="11430000" cy="594360"/>
          </a:xfrm>
          <a:prstGeom prst="rect">
            <a:avLst/>
          </a:prstGeom>
          <a:noFill/>
        </p:spPr>
        <p:txBody>
          <a:bodyPr wrap="square">
            <a:spAutoFit/>
          </a:bodyPr>
          <a:lstStyle/>
          <a:p>
            <a:pPr algn="l"/>
            <a:r>
              <a:rPr sz="1300" b="0" i="0">
                <a:solidFill>
                  <a:srgbClr val="0D2B45"/>
                </a:solidFill>
                <a:latin typeface="游ゴシック"/>
              </a:rPr>
              <a:t>💡  センサが正常接続されていれば起動後すぐに温度表示が始まります。BtnA を押すまで計測データは記録されません。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操作マニュアル ② — 状態遷移と計測操作</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2  操作マニュアル</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7 / 17</a:t>
            </a:r>
          </a:p>
        </p:txBody>
      </p:sp>
      <p:sp>
        <p:nvSpPr>
          <p:cNvPr id="10" name="Rectangle 9"/>
          <p:cNvSpPr/>
          <p:nvPr/>
        </p:nvSpPr>
        <p:spPr>
          <a:xfrm>
            <a:off x="320040" y="1188720"/>
            <a:ext cx="2743200" cy="292608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280160"/>
            <a:ext cx="2523744" cy="777240"/>
          </a:xfrm>
          <a:prstGeom prst="rect">
            <a:avLst/>
          </a:prstGeom>
          <a:noFill/>
        </p:spPr>
        <p:txBody>
          <a:bodyPr wrap="square">
            <a:spAutoFit/>
          </a:bodyPr>
          <a:lstStyle/>
          <a:p>
            <a:pPr algn="ctr"/>
            <a:r>
              <a:rPr sz="1900" b="1" i="0">
                <a:solidFill>
                  <a:srgbClr val="FFFFFF"/>
                </a:solidFill>
                <a:latin typeface="游ゴシック"/>
              </a:rPr>
              <a:t>IDLE</a:t>
            </a:r>
          </a:p>
        </p:txBody>
      </p:sp>
      <p:sp>
        <p:nvSpPr>
          <p:cNvPr id="12" name="TextBox 11"/>
          <p:cNvSpPr txBox="1"/>
          <p:nvPr/>
        </p:nvSpPr>
        <p:spPr>
          <a:xfrm>
            <a:off x="429768" y="2057400"/>
            <a:ext cx="2523744" cy="731520"/>
          </a:xfrm>
          <a:prstGeom prst="rect">
            <a:avLst/>
          </a:prstGeom>
          <a:noFill/>
        </p:spPr>
        <p:txBody>
          <a:bodyPr wrap="square">
            <a:spAutoFit/>
          </a:bodyPr>
          <a:lstStyle/>
          <a:p>
            <a:pPr algn="ctr"/>
            <a:r>
              <a:rPr sz="1200" b="0" i="0">
                <a:solidFill>
                  <a:srgbClr val="FFFFFF"/>
                </a:solidFill>
                <a:latin typeface="游ゴシック"/>
              </a:rPr>
              <a:t>待機中
温度リアルタイム表示</a:t>
            </a:r>
          </a:p>
        </p:txBody>
      </p:sp>
      <p:sp>
        <p:nvSpPr>
          <p:cNvPr id="13" name="Rectangle 12"/>
          <p:cNvSpPr/>
          <p:nvPr/>
        </p:nvSpPr>
        <p:spPr>
          <a:xfrm>
            <a:off x="429768" y="2816352"/>
            <a:ext cx="2523744"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2880360"/>
            <a:ext cx="2523744" cy="1143000"/>
          </a:xfrm>
          <a:prstGeom prst="rect">
            <a:avLst/>
          </a:prstGeom>
          <a:noFill/>
        </p:spPr>
        <p:txBody>
          <a:bodyPr wrap="square">
            <a:spAutoFit/>
          </a:bodyPr>
          <a:lstStyle/>
          <a:p>
            <a:pPr algn="l"/>
            <a:r>
              <a:rPr sz="1100" b="0" i="0">
                <a:solidFill>
                  <a:srgbClr val="FFFFFF"/>
                </a:solidFill>
                <a:latin typeface="游ゴシック"/>
              </a:rPr>
              <a:t>BtnA → RUN
BtnB → ALARM_SETTING</a:t>
            </a:r>
          </a:p>
        </p:txBody>
      </p:sp>
      <p:sp>
        <p:nvSpPr>
          <p:cNvPr id="15" name="TextBox 14"/>
          <p:cNvSpPr txBox="1"/>
          <p:nvPr/>
        </p:nvSpPr>
        <p:spPr>
          <a:xfrm>
            <a:off x="3136392" y="2286000"/>
            <a:ext cx="137160" cy="731520"/>
          </a:xfrm>
          <a:prstGeom prst="rect">
            <a:avLst/>
          </a:prstGeom>
          <a:noFill/>
        </p:spPr>
        <p:txBody>
          <a:bodyPr wrap="square">
            <a:spAutoFit/>
          </a:bodyPr>
          <a:lstStyle/>
          <a:p>
            <a:pPr algn="ctr"/>
            <a:r>
              <a:rPr sz="2000" b="0" i="0">
                <a:solidFill>
                  <a:srgbClr val="8899AA"/>
                </a:solidFill>
                <a:latin typeface="游ゴシック"/>
              </a:rPr>
              <a:t>▶</a:t>
            </a:r>
          </a:p>
        </p:txBody>
      </p:sp>
      <p:sp>
        <p:nvSpPr>
          <p:cNvPr id="16" name="Rectangle 15"/>
          <p:cNvSpPr/>
          <p:nvPr/>
        </p:nvSpPr>
        <p:spPr>
          <a:xfrm>
            <a:off x="3291840" y="1188720"/>
            <a:ext cx="2743200" cy="2926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1568" y="1280160"/>
            <a:ext cx="2523744" cy="777240"/>
          </a:xfrm>
          <a:prstGeom prst="rect">
            <a:avLst/>
          </a:prstGeom>
          <a:noFill/>
        </p:spPr>
        <p:txBody>
          <a:bodyPr wrap="square">
            <a:spAutoFit/>
          </a:bodyPr>
          <a:lstStyle/>
          <a:p>
            <a:pPr algn="ctr"/>
            <a:r>
              <a:rPr sz="1900" b="1" i="0">
                <a:solidFill>
                  <a:srgbClr val="FFFFFF"/>
                </a:solidFill>
                <a:latin typeface="游ゴシック"/>
              </a:rPr>
              <a:t>RUN</a:t>
            </a:r>
          </a:p>
        </p:txBody>
      </p:sp>
      <p:sp>
        <p:nvSpPr>
          <p:cNvPr id="18" name="TextBox 17"/>
          <p:cNvSpPr txBox="1"/>
          <p:nvPr/>
        </p:nvSpPr>
        <p:spPr>
          <a:xfrm>
            <a:off x="3401568" y="2057400"/>
            <a:ext cx="2523744" cy="731520"/>
          </a:xfrm>
          <a:prstGeom prst="rect">
            <a:avLst/>
          </a:prstGeom>
          <a:noFill/>
        </p:spPr>
        <p:txBody>
          <a:bodyPr wrap="square">
            <a:spAutoFit/>
          </a:bodyPr>
          <a:lstStyle/>
          <a:p>
            <a:pPr algn="ctr"/>
            <a:r>
              <a:rPr sz="1200" b="0" i="0">
                <a:solidFill>
                  <a:srgbClr val="FFFFFF"/>
                </a:solidFill>
                <a:latin typeface="游ゴシック"/>
              </a:rPr>
              <a:t>計測中
CSV自動記録・統計更新</a:t>
            </a:r>
          </a:p>
        </p:txBody>
      </p:sp>
      <p:sp>
        <p:nvSpPr>
          <p:cNvPr id="19" name="Rectangle 18"/>
          <p:cNvSpPr/>
          <p:nvPr/>
        </p:nvSpPr>
        <p:spPr>
          <a:xfrm>
            <a:off x="3401568" y="2816352"/>
            <a:ext cx="2523744"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2880360"/>
            <a:ext cx="2523744" cy="1143000"/>
          </a:xfrm>
          <a:prstGeom prst="rect">
            <a:avLst/>
          </a:prstGeom>
          <a:noFill/>
        </p:spPr>
        <p:txBody>
          <a:bodyPr wrap="square">
            <a:spAutoFit/>
          </a:bodyPr>
          <a:lstStyle/>
          <a:p>
            <a:pPr algn="l"/>
            <a:r>
              <a:rPr sz="1100" b="0" i="0">
                <a:solidFill>
                  <a:srgbClr val="FFFFFF"/>
                </a:solidFill>
                <a:latin typeface="游ゴシック"/>
              </a:rPr>
              <a:t>BtnA → RESULT</a:t>
            </a:r>
          </a:p>
        </p:txBody>
      </p:sp>
      <p:sp>
        <p:nvSpPr>
          <p:cNvPr id="21" name="TextBox 20"/>
          <p:cNvSpPr txBox="1"/>
          <p:nvPr/>
        </p:nvSpPr>
        <p:spPr>
          <a:xfrm>
            <a:off x="6108192" y="2286000"/>
            <a:ext cx="137160" cy="731520"/>
          </a:xfrm>
          <a:prstGeom prst="rect">
            <a:avLst/>
          </a:prstGeom>
          <a:noFill/>
        </p:spPr>
        <p:txBody>
          <a:bodyPr wrap="square">
            <a:spAutoFit/>
          </a:bodyPr>
          <a:lstStyle/>
          <a:p>
            <a:pPr algn="ctr"/>
            <a:r>
              <a:rPr sz="2000" b="0" i="0">
                <a:solidFill>
                  <a:srgbClr val="8899AA"/>
                </a:solidFill>
                <a:latin typeface="游ゴシック"/>
              </a:rPr>
              <a:t>▶</a:t>
            </a:r>
          </a:p>
        </p:txBody>
      </p:sp>
      <p:sp>
        <p:nvSpPr>
          <p:cNvPr id="22" name="Rectangle 21"/>
          <p:cNvSpPr/>
          <p:nvPr/>
        </p:nvSpPr>
        <p:spPr>
          <a:xfrm>
            <a:off x="6263640" y="1188720"/>
            <a:ext cx="2743200" cy="29260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3368" y="1280160"/>
            <a:ext cx="2523744" cy="777240"/>
          </a:xfrm>
          <a:prstGeom prst="rect">
            <a:avLst/>
          </a:prstGeom>
          <a:noFill/>
        </p:spPr>
        <p:txBody>
          <a:bodyPr wrap="square">
            <a:spAutoFit/>
          </a:bodyPr>
          <a:lstStyle/>
          <a:p>
            <a:pPr algn="ctr"/>
            <a:r>
              <a:rPr sz="1900" b="1" i="0">
                <a:solidFill>
                  <a:srgbClr val="FFFFFF"/>
                </a:solidFill>
                <a:latin typeface="游ゴシック"/>
              </a:rPr>
              <a:t>RESULT</a:t>
            </a:r>
          </a:p>
        </p:txBody>
      </p:sp>
      <p:sp>
        <p:nvSpPr>
          <p:cNvPr id="24" name="TextBox 23"/>
          <p:cNvSpPr txBox="1"/>
          <p:nvPr/>
        </p:nvSpPr>
        <p:spPr>
          <a:xfrm>
            <a:off x="6373368" y="2057400"/>
            <a:ext cx="2523744" cy="731520"/>
          </a:xfrm>
          <a:prstGeom prst="rect">
            <a:avLst/>
          </a:prstGeom>
          <a:noFill/>
        </p:spPr>
        <p:txBody>
          <a:bodyPr wrap="square">
            <a:spAutoFit/>
          </a:bodyPr>
          <a:lstStyle/>
          <a:p>
            <a:pPr algn="ctr"/>
            <a:r>
              <a:rPr sz="1200" b="0" i="0">
                <a:solidFill>
                  <a:srgbClr val="FFFFFF"/>
                </a:solidFill>
                <a:latin typeface="游ゴシック"/>
              </a:rPr>
              <a:t>結果表示
統計値を2ページ表示</a:t>
            </a:r>
          </a:p>
        </p:txBody>
      </p:sp>
      <p:sp>
        <p:nvSpPr>
          <p:cNvPr id="25" name="Rectangle 24"/>
          <p:cNvSpPr/>
          <p:nvPr/>
        </p:nvSpPr>
        <p:spPr>
          <a:xfrm>
            <a:off x="6373368" y="2816352"/>
            <a:ext cx="2523744"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8" y="2880360"/>
            <a:ext cx="2523744" cy="1143000"/>
          </a:xfrm>
          <a:prstGeom prst="rect">
            <a:avLst/>
          </a:prstGeom>
          <a:noFill/>
        </p:spPr>
        <p:txBody>
          <a:bodyPr wrap="square">
            <a:spAutoFit/>
          </a:bodyPr>
          <a:lstStyle/>
          <a:p>
            <a:pPr algn="l"/>
            <a:r>
              <a:rPr sz="1100" b="0" i="0">
                <a:solidFill>
                  <a:srgbClr val="FFFFFF"/>
                </a:solidFill>
                <a:latin typeface="游ゴシック"/>
              </a:rPr>
              <a:t>BtnA → IDLE
BtnB → ページ切替</a:t>
            </a:r>
          </a:p>
        </p:txBody>
      </p:sp>
      <p:sp>
        <p:nvSpPr>
          <p:cNvPr id="27" name="TextBox 26"/>
          <p:cNvSpPr txBox="1"/>
          <p:nvPr/>
        </p:nvSpPr>
        <p:spPr>
          <a:xfrm>
            <a:off x="9079992" y="2286000"/>
            <a:ext cx="137160" cy="731520"/>
          </a:xfrm>
          <a:prstGeom prst="rect">
            <a:avLst/>
          </a:prstGeom>
          <a:noFill/>
        </p:spPr>
        <p:txBody>
          <a:bodyPr wrap="square">
            <a:spAutoFit/>
          </a:bodyPr>
          <a:lstStyle/>
          <a:p>
            <a:pPr algn="ctr"/>
            <a:r>
              <a:rPr sz="2000" b="0" i="0">
                <a:solidFill>
                  <a:srgbClr val="8899AA"/>
                </a:solidFill>
                <a:latin typeface="游ゴシック"/>
              </a:rPr>
              <a:t>▶</a:t>
            </a:r>
          </a:p>
        </p:txBody>
      </p:sp>
      <p:sp>
        <p:nvSpPr>
          <p:cNvPr id="28" name="Rectangle 27"/>
          <p:cNvSpPr/>
          <p:nvPr/>
        </p:nvSpPr>
        <p:spPr>
          <a:xfrm>
            <a:off x="9235440" y="1188720"/>
            <a:ext cx="2743200" cy="2926080"/>
          </a:xfrm>
          <a:prstGeom prst="rect">
            <a:avLst/>
          </a:prstGeom>
          <a:solidFill>
            <a:srgbClr val="7B2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45168" y="1280160"/>
            <a:ext cx="2523744" cy="777240"/>
          </a:xfrm>
          <a:prstGeom prst="rect">
            <a:avLst/>
          </a:prstGeom>
          <a:noFill/>
        </p:spPr>
        <p:txBody>
          <a:bodyPr wrap="square">
            <a:spAutoFit/>
          </a:bodyPr>
          <a:lstStyle/>
          <a:p>
            <a:pPr algn="ctr"/>
            <a:r>
              <a:rPr sz="1900" b="1" i="0">
                <a:solidFill>
                  <a:srgbClr val="FFFFFF"/>
                </a:solidFill>
                <a:latin typeface="游ゴシック"/>
              </a:rPr>
              <a:t>ALARM
SETTING</a:t>
            </a:r>
          </a:p>
        </p:txBody>
      </p:sp>
      <p:sp>
        <p:nvSpPr>
          <p:cNvPr id="30" name="TextBox 29"/>
          <p:cNvSpPr txBox="1"/>
          <p:nvPr/>
        </p:nvSpPr>
        <p:spPr>
          <a:xfrm>
            <a:off x="9345168" y="2057400"/>
            <a:ext cx="2523744" cy="731520"/>
          </a:xfrm>
          <a:prstGeom prst="rect">
            <a:avLst/>
          </a:prstGeom>
          <a:noFill/>
        </p:spPr>
        <p:txBody>
          <a:bodyPr wrap="square">
            <a:spAutoFit/>
          </a:bodyPr>
          <a:lstStyle/>
          <a:p>
            <a:pPr algn="ctr"/>
            <a:r>
              <a:rPr sz="1200" b="0" i="0">
                <a:solidFill>
                  <a:srgbClr val="FFFFFF"/>
                </a:solidFill>
                <a:latin typeface="游ゴシック"/>
              </a:rPr>
              <a:t>アラーム設定中
HI/LO値を調整</a:t>
            </a:r>
          </a:p>
        </p:txBody>
      </p:sp>
      <p:sp>
        <p:nvSpPr>
          <p:cNvPr id="31" name="Rectangle 30"/>
          <p:cNvSpPr/>
          <p:nvPr/>
        </p:nvSpPr>
        <p:spPr>
          <a:xfrm>
            <a:off x="9345168" y="2816352"/>
            <a:ext cx="2523744"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2880360"/>
            <a:ext cx="2523744" cy="1143000"/>
          </a:xfrm>
          <a:prstGeom prst="rect">
            <a:avLst/>
          </a:prstGeom>
          <a:noFill/>
        </p:spPr>
        <p:txBody>
          <a:bodyPr wrap="square">
            <a:spAutoFit/>
          </a:bodyPr>
          <a:lstStyle/>
          <a:p>
            <a:pPr algn="l"/>
            <a:r>
              <a:rPr sz="1100" b="0" i="0">
                <a:solidFill>
                  <a:srgbClr val="FFFFFF"/>
                </a:solidFill>
                <a:latin typeface="游ゴシック"/>
              </a:rPr>
              <a:t>BtnA → 項目切替 / 保存→IDLE
BtnB → +5℃  BtnC → −5℃</a:t>
            </a:r>
          </a:p>
        </p:txBody>
      </p:sp>
      <p:graphicFrame>
        <p:nvGraphicFramePr>
          <p:cNvPr id="33" name="Table 32"/>
          <p:cNvGraphicFramePr>
            <a:graphicFrameLocks noGrp="1"/>
          </p:cNvGraphicFramePr>
          <p:nvPr/>
        </p:nvGraphicFramePr>
        <p:xfrm>
          <a:off x="320040" y="4297680"/>
          <a:ext cx="11521440" cy="2011680"/>
        </p:xfrm>
        <a:graphic>
          <a:graphicData uri="http://schemas.openxmlformats.org/drawingml/2006/table">
            <a:tbl>
              <a:tblPr firstRow="1" bandRow="1">
                <a:tableStyleId>{5C22544A-7EE6-4342-B048-85BDC9FD1C3A}</a:tableStyleId>
              </a:tblPr>
              <a:tblGrid>
                <a:gridCol w="1920240"/>
                <a:gridCol w="2286000"/>
                <a:gridCol w="2468880"/>
                <a:gridCol w="1463040"/>
                <a:gridCol w="1463040"/>
                <a:gridCol w="1920240"/>
              </a:tblGrid>
              <a:tr h="402336">
                <a:tc>
                  <a:txBody>
                    <a:bodyPr wrap="square"/>
                    <a:lstStyle/>
                    <a:p>
                      <a:pPr algn="l"/>
                      <a:r>
                        <a:rPr sz="1200" b="1">
                          <a:solidFill>
                            <a:srgbClr val="FFFFFF"/>
                          </a:solidFill>
                          <a:latin typeface="游ゴシック"/>
                        </a:rPr>
                        <a:t>状態</a:t>
                      </a:r>
                    </a:p>
                  </a:txBody>
                  <a:tcPr>
                    <a:solidFill>
                      <a:srgbClr val="0D2B45"/>
                    </a:solidFill>
                  </a:tcPr>
                </a:tc>
                <a:tc>
                  <a:txBody>
                    <a:bodyPr wrap="square"/>
                    <a:lstStyle/>
                    <a:p>
                      <a:pPr algn="l"/>
                      <a:r>
                        <a:rPr sz="1200" b="1">
                          <a:solidFill>
                            <a:srgbClr val="FFFFFF"/>
                          </a:solidFill>
                          <a:latin typeface="游ゴシック"/>
                        </a:rPr>
                        <a:t>BtnA</a:t>
                      </a:r>
                    </a:p>
                  </a:txBody>
                  <a:tcPr>
                    <a:solidFill>
                      <a:srgbClr val="0D2B45"/>
                    </a:solidFill>
                  </a:tcPr>
                </a:tc>
                <a:tc>
                  <a:txBody>
                    <a:bodyPr wrap="square"/>
                    <a:lstStyle/>
                    <a:p>
                      <a:pPr algn="l"/>
                      <a:r>
                        <a:rPr sz="1200" b="1">
                          <a:solidFill>
                            <a:srgbClr val="FFFFFF"/>
                          </a:solidFill>
                          <a:latin typeface="游ゴシック"/>
                        </a:rPr>
                        <a:t>BtnB</a:t>
                      </a:r>
                    </a:p>
                  </a:txBody>
                  <a:tcPr>
                    <a:solidFill>
                      <a:srgbClr val="0D2B45"/>
                    </a:solidFill>
                  </a:tcPr>
                </a:tc>
                <a:tc>
                  <a:txBody>
                    <a:bodyPr wrap="square"/>
                    <a:lstStyle/>
                    <a:p>
                      <a:pPr algn="l"/>
                      <a:r>
                        <a:rPr sz="1200" b="1">
                          <a:solidFill>
                            <a:srgbClr val="FFFFFF"/>
                          </a:solidFill>
                          <a:latin typeface="游ゴシック"/>
                        </a:rPr>
                        <a:t>BtnC</a:t>
                      </a:r>
                    </a:p>
                  </a:txBody>
                  <a:tcPr>
                    <a:solidFill>
                      <a:srgbClr val="0D2B45"/>
                    </a:solidFill>
                  </a:tcPr>
                </a:tc>
                <a:tc>
                  <a:txBody>
                    <a:bodyPr wrap="square"/>
                    <a:lstStyle/>
                    <a:p>
                      <a:pPr algn="l"/>
                      <a:r>
                        <a:rPr sz="1200" b="1">
                          <a:solidFill>
                            <a:srgbClr val="FFFFFF"/>
                          </a:solidFill>
                          <a:latin typeface="游ゴシック"/>
                        </a:rPr>
                        <a:t>CSV記録</a:t>
                      </a:r>
                    </a:p>
                  </a:txBody>
                  <a:tcPr>
                    <a:solidFill>
                      <a:srgbClr val="0D2B45"/>
                    </a:solidFill>
                  </a:tcPr>
                </a:tc>
                <a:tc>
                  <a:txBody>
                    <a:bodyPr wrap="square"/>
                    <a:lstStyle/>
                    <a:p>
                      <a:pPr algn="l"/>
                      <a:r>
                        <a:rPr sz="1200" b="1">
                          <a:solidFill>
                            <a:srgbClr val="FFFFFF"/>
                          </a:solidFill>
                          <a:latin typeface="游ゴシック"/>
                        </a:rPr>
                        <a:t>統計更新</a:t>
                      </a:r>
                    </a:p>
                  </a:txBody>
                  <a:tcPr>
                    <a:solidFill>
                      <a:srgbClr val="0D2B45"/>
                    </a:solidFill>
                  </a:tcPr>
                </a:tc>
              </a:tr>
              <a:tr h="402336">
                <a:tc>
                  <a:txBody>
                    <a:bodyPr wrap="square"/>
                    <a:lstStyle/>
                    <a:p>
                      <a:pPr algn="l"/>
                      <a:r>
                        <a:rPr sz="1200" b="0">
                          <a:solidFill>
                            <a:srgbClr val="1A1A2E"/>
                          </a:solidFill>
                          <a:latin typeface="游ゴシック"/>
                        </a:rPr>
                        <a:t>IDLE</a:t>
                      </a:r>
                    </a:p>
                  </a:txBody>
                  <a:tcPr>
                    <a:solidFill>
                      <a:srgbClr val="FFFFFF"/>
                    </a:solidFill>
                  </a:tcPr>
                </a:tc>
                <a:tc>
                  <a:txBody>
                    <a:bodyPr wrap="square"/>
                    <a:lstStyle/>
                    <a:p>
                      <a:pPr algn="l"/>
                      <a:r>
                        <a:rPr sz="1200" b="0">
                          <a:solidFill>
                            <a:srgbClr val="1A1A2E"/>
                          </a:solidFill>
                          <a:latin typeface="游ゴシック"/>
                        </a:rPr>
                        <a:t>→ RUN（計測開始）</a:t>
                      </a:r>
                    </a:p>
                  </a:txBody>
                  <a:tcPr>
                    <a:solidFill>
                      <a:srgbClr val="FFFFFF"/>
                    </a:solidFill>
                  </a:tcPr>
                </a:tc>
                <a:tc>
                  <a:txBody>
                    <a:bodyPr wrap="square"/>
                    <a:lstStyle/>
                    <a:p>
                      <a:pPr algn="l"/>
                      <a:r>
                        <a:rPr sz="1200" b="0">
                          <a:solidFill>
                            <a:srgbClr val="1A1A2E"/>
                          </a:solidFill>
                          <a:latin typeface="游ゴシック"/>
                        </a:rPr>
                        <a:t>→ ALARM_SETTING進入</a:t>
                      </a:r>
                    </a:p>
                  </a:txBody>
                  <a:tcPr>
                    <a:solidFill>
                      <a:srgbClr val="FFFFFF"/>
                    </a:solidFill>
                  </a:tcPr>
                </a:tc>
                <a:tc>
                  <a:txBody>
                    <a:bodyPr wrap="square"/>
                    <a:lstStyle/>
                    <a:p>
                      <a:pPr algn="l"/>
                      <a:r>
                        <a:rPr sz="1200" b="0">
                          <a:solidFill>
                            <a:srgbClr val="1A1A2E"/>
                          </a:solidFill>
                          <a:latin typeface="游ゴシック"/>
                        </a:rPr>
                        <a:t>なし</a:t>
                      </a:r>
                    </a:p>
                  </a:txBody>
                  <a:tcPr>
                    <a:solidFill>
                      <a:srgbClr val="FFFFFF"/>
                    </a:solidFill>
                  </a:tcPr>
                </a:tc>
                <a:tc>
                  <a:txBody>
                    <a:bodyPr wrap="square"/>
                    <a:lstStyle/>
                    <a:p>
                      <a:pPr algn="l"/>
                      <a:r>
                        <a:rPr sz="1200" b="0">
                          <a:solidFill>
                            <a:srgbClr val="1A1A2E"/>
                          </a:solidFill>
                          <a:latin typeface="游ゴシック"/>
                        </a:rPr>
                        <a:t>なし</a:t>
                      </a:r>
                    </a:p>
                  </a:txBody>
                  <a:tcPr>
                    <a:solidFill>
                      <a:srgbClr val="FFFFFF"/>
                    </a:solidFill>
                  </a:tcPr>
                </a:tc>
                <a:tc>
                  <a:txBody>
                    <a:bodyPr wrap="square"/>
                    <a:lstStyle/>
                    <a:p>
                      <a:pPr algn="l"/>
                      <a:r>
                        <a:rPr sz="1200" b="0">
                          <a:solidFill>
                            <a:srgbClr val="1A1A2E"/>
                          </a:solidFill>
                          <a:latin typeface="游ゴシック"/>
                        </a:rPr>
                        <a:t>なし</a:t>
                      </a:r>
                    </a:p>
                  </a:txBody>
                  <a:tcPr>
                    <a:solidFill>
                      <a:srgbClr val="FFFFFF"/>
                    </a:solidFill>
                  </a:tcPr>
                </a:tc>
              </a:tr>
              <a:tr h="402336">
                <a:tc>
                  <a:txBody>
                    <a:bodyPr wrap="square"/>
                    <a:lstStyle/>
                    <a:p>
                      <a:pPr algn="l"/>
                      <a:r>
                        <a:rPr sz="1200" b="0">
                          <a:solidFill>
                            <a:srgbClr val="1A1A2E"/>
                          </a:solidFill>
                          <a:latin typeface="游ゴシック"/>
                        </a:rPr>
                        <a:t>RUN</a:t>
                      </a:r>
                    </a:p>
                  </a:txBody>
                  <a:tcPr>
                    <a:solidFill>
                      <a:srgbClr val="E8EEF4"/>
                    </a:solidFill>
                  </a:tcPr>
                </a:tc>
                <a:tc>
                  <a:txBody>
                    <a:bodyPr wrap="square"/>
                    <a:lstStyle/>
                    <a:p>
                      <a:pPr algn="l"/>
                      <a:r>
                        <a:rPr sz="1200" b="0">
                          <a:solidFill>
                            <a:srgbClr val="1A1A2E"/>
                          </a:solidFill>
                          <a:latin typeface="游ゴシック"/>
                        </a:rPr>
                        <a:t>→ RESULT（終了）</a:t>
                      </a:r>
                    </a:p>
                  </a:txBody>
                  <a:tcPr>
                    <a:solidFill>
                      <a:srgbClr val="E8EEF4"/>
                    </a:solidFill>
                  </a:tcPr>
                </a:tc>
                <a:tc>
                  <a:txBody>
                    <a:bodyPr wrap="square"/>
                    <a:lstStyle/>
                    <a:p>
                      <a:pPr algn="l"/>
                      <a:r>
                        <a:rPr sz="1200" b="0">
                          <a:solidFill>
                            <a:srgbClr val="1A1A2E"/>
                          </a:solidFill>
                          <a:latin typeface="游ゴシック"/>
                        </a:rPr>
                        <a:t>なし</a:t>
                      </a:r>
                    </a:p>
                  </a:txBody>
                  <a:tcPr>
                    <a:solidFill>
                      <a:srgbClr val="E8EEF4"/>
                    </a:solidFill>
                  </a:tcPr>
                </a:tc>
                <a:tc>
                  <a:txBody>
                    <a:bodyPr wrap="square"/>
                    <a:lstStyle/>
                    <a:p>
                      <a:pPr algn="l"/>
                      <a:r>
                        <a:rPr sz="1200" b="0">
                          <a:solidFill>
                            <a:srgbClr val="1A1A2E"/>
                          </a:solidFill>
                          <a:latin typeface="游ゴシック"/>
                        </a:rPr>
                        <a:t>なし</a:t>
                      </a:r>
                    </a:p>
                  </a:txBody>
                  <a:tcPr>
                    <a:solidFill>
                      <a:srgbClr val="E8EEF4"/>
                    </a:solidFill>
                  </a:tcPr>
                </a:tc>
                <a:tc>
                  <a:txBody>
                    <a:bodyPr wrap="square"/>
                    <a:lstStyle/>
                    <a:p>
                      <a:pPr algn="l"/>
                      <a:r>
                        <a:rPr sz="1200" b="0">
                          <a:solidFill>
                            <a:srgbClr val="1A1A2E"/>
                          </a:solidFill>
                          <a:latin typeface="游ゴシック"/>
                        </a:rPr>
                        <a:t>10行毎</a:t>
                      </a:r>
                    </a:p>
                  </a:txBody>
                  <a:tcPr>
                    <a:solidFill>
                      <a:srgbClr val="E8EEF4"/>
                    </a:solidFill>
                  </a:tcPr>
                </a:tc>
                <a:tc>
                  <a:txBody>
                    <a:bodyPr wrap="square"/>
                    <a:lstStyle/>
                    <a:p>
                      <a:pPr algn="l"/>
                      <a:r>
                        <a:rPr sz="1200" b="0">
                          <a:solidFill>
                            <a:srgbClr val="1A1A2E"/>
                          </a:solidFill>
                          <a:latin typeface="游ゴシック"/>
                        </a:rPr>
                        <a:t>50ms毎</a:t>
                      </a:r>
                    </a:p>
                  </a:txBody>
                  <a:tcPr>
                    <a:solidFill>
                      <a:srgbClr val="E8EEF4"/>
                    </a:solidFill>
                  </a:tcPr>
                </a:tc>
              </a:tr>
              <a:tr h="402336">
                <a:tc>
                  <a:txBody>
                    <a:bodyPr wrap="square"/>
                    <a:lstStyle/>
                    <a:p>
                      <a:pPr algn="l"/>
                      <a:r>
                        <a:rPr sz="1200" b="0">
                          <a:solidFill>
                            <a:srgbClr val="1A1A2E"/>
                          </a:solidFill>
                          <a:latin typeface="游ゴシック"/>
                        </a:rPr>
                        <a:t>RESULT</a:t>
                      </a:r>
                    </a:p>
                  </a:txBody>
                  <a:tcPr>
                    <a:solidFill>
                      <a:srgbClr val="FFFFFF"/>
                    </a:solidFill>
                  </a:tcPr>
                </a:tc>
                <a:tc>
                  <a:txBody>
                    <a:bodyPr wrap="square"/>
                    <a:lstStyle/>
                    <a:p>
                      <a:pPr algn="l"/>
                      <a:r>
                        <a:rPr sz="1200" b="0">
                          <a:solidFill>
                            <a:srgbClr val="1A1A2E"/>
                          </a:solidFill>
                          <a:latin typeface="游ゴシック"/>
                        </a:rPr>
                        <a:t>→ IDLE（リセット）</a:t>
                      </a:r>
                    </a:p>
                  </a:txBody>
                  <a:tcPr>
                    <a:solidFill>
                      <a:srgbClr val="FFFFFF"/>
                    </a:solidFill>
                  </a:tcPr>
                </a:tc>
                <a:tc>
                  <a:txBody>
                    <a:bodyPr wrap="square"/>
                    <a:lstStyle/>
                    <a:p>
                      <a:pPr algn="l"/>
                      <a:r>
                        <a:rPr sz="1200" b="0">
                          <a:solidFill>
                            <a:srgbClr val="1A1A2E"/>
                          </a:solidFill>
                          <a:latin typeface="游ゴシック"/>
                        </a:rPr>
                        <a:t>ページ切替（0↔1）</a:t>
                      </a:r>
                    </a:p>
                  </a:txBody>
                  <a:tcPr>
                    <a:solidFill>
                      <a:srgbClr val="FFFFFF"/>
                    </a:solidFill>
                  </a:tcPr>
                </a:tc>
                <a:tc>
                  <a:txBody>
                    <a:bodyPr wrap="square"/>
                    <a:lstStyle/>
                    <a:p>
                      <a:pPr algn="l"/>
                      <a:r>
                        <a:rPr sz="1200" b="0">
                          <a:solidFill>
                            <a:srgbClr val="1A1A2E"/>
                          </a:solidFill>
                          <a:latin typeface="游ゴシック"/>
                        </a:rPr>
                        <a:t>なし</a:t>
                      </a:r>
                    </a:p>
                  </a:txBody>
                  <a:tcPr>
                    <a:solidFill>
                      <a:srgbClr val="FFFFFF"/>
                    </a:solidFill>
                  </a:tcPr>
                </a:tc>
                <a:tc>
                  <a:txBody>
                    <a:bodyPr wrap="square"/>
                    <a:lstStyle/>
                    <a:p>
                      <a:pPr algn="l"/>
                      <a:r>
                        <a:rPr sz="1200" b="0">
                          <a:solidFill>
                            <a:srgbClr val="1A1A2E"/>
                          </a:solidFill>
                          <a:latin typeface="游ゴシック"/>
                        </a:rPr>
                        <a:t>完了済</a:t>
                      </a:r>
                    </a:p>
                  </a:txBody>
                  <a:tcPr>
                    <a:solidFill>
                      <a:srgbClr val="FFFFFF"/>
                    </a:solidFill>
                  </a:tcPr>
                </a:tc>
                <a:tc>
                  <a:txBody>
                    <a:bodyPr wrap="square"/>
                    <a:lstStyle/>
                    <a:p>
                      <a:pPr algn="l"/>
                      <a:r>
                        <a:rPr sz="1200" b="0">
                          <a:solidFill>
                            <a:srgbClr val="1A1A2E"/>
                          </a:solidFill>
                          <a:latin typeface="游ゴシック"/>
                        </a:rPr>
                        <a:t>固定</a:t>
                      </a:r>
                    </a:p>
                  </a:txBody>
                  <a:tcPr>
                    <a:solidFill>
                      <a:srgbClr val="FFFFFF"/>
                    </a:solidFill>
                  </a:tcPr>
                </a:tc>
              </a:tr>
              <a:tr h="402336">
                <a:tc>
                  <a:txBody>
                    <a:bodyPr wrap="square"/>
                    <a:lstStyle/>
                    <a:p>
                      <a:pPr algn="l"/>
                      <a:r>
                        <a:rPr sz="1200" b="0">
                          <a:solidFill>
                            <a:srgbClr val="1A1A2E"/>
                          </a:solidFill>
                          <a:latin typeface="游ゴシック"/>
                        </a:rPr>
                        <a:t>ALARM_SETTING</a:t>
                      </a:r>
                    </a:p>
                  </a:txBody>
                  <a:tcPr>
                    <a:solidFill>
                      <a:srgbClr val="E8EEF4"/>
                    </a:solidFill>
                  </a:tcPr>
                </a:tc>
                <a:tc>
                  <a:txBody>
                    <a:bodyPr wrap="square"/>
                    <a:lstStyle/>
                    <a:p>
                      <a:pPr algn="l"/>
                      <a:r>
                        <a:rPr sz="1200" b="0">
                          <a:solidFill>
                            <a:srgbClr val="1A1A2E"/>
                          </a:solidFill>
                          <a:latin typeface="游ゴシック"/>
                        </a:rPr>
                        <a:t>HI→LO / LO保存→IDLE</a:t>
                      </a:r>
                    </a:p>
                  </a:txBody>
                  <a:tcPr>
                    <a:solidFill>
                      <a:srgbClr val="E8EEF4"/>
                    </a:solidFill>
                  </a:tcPr>
                </a:tc>
                <a:tc>
                  <a:txBody>
                    <a:bodyPr wrap="square"/>
                    <a:lstStyle/>
                    <a:p>
                      <a:pPr algn="l"/>
                      <a:r>
                        <a:rPr sz="1200" b="0">
                          <a:solidFill>
                            <a:srgbClr val="1A1A2E"/>
                          </a:solidFill>
                          <a:latin typeface="游ゴシック"/>
                        </a:rPr>
                        <a:t>+5℃ 調整</a:t>
                      </a:r>
                    </a:p>
                  </a:txBody>
                  <a:tcPr>
                    <a:solidFill>
                      <a:srgbClr val="E8EEF4"/>
                    </a:solidFill>
                  </a:tcPr>
                </a:tc>
                <a:tc>
                  <a:txBody>
                    <a:bodyPr wrap="square"/>
                    <a:lstStyle/>
                    <a:p>
                      <a:pPr algn="l"/>
                      <a:r>
                        <a:rPr sz="1200" b="0">
                          <a:solidFill>
                            <a:srgbClr val="1A1A2E"/>
                          </a:solidFill>
                          <a:latin typeface="游ゴシック"/>
                        </a:rPr>
                        <a:t>−5℃ 調整</a:t>
                      </a:r>
                    </a:p>
                  </a:txBody>
                  <a:tcPr>
                    <a:solidFill>
                      <a:srgbClr val="E8EEF4"/>
                    </a:solidFill>
                  </a:tcPr>
                </a:tc>
                <a:tc>
                  <a:txBody>
                    <a:bodyPr wrap="square"/>
                    <a:lstStyle/>
                    <a:p>
                      <a:pPr algn="l"/>
                      <a:r>
                        <a:rPr sz="1200" b="0">
                          <a:solidFill>
                            <a:srgbClr val="1A1A2E"/>
                          </a:solidFill>
                          <a:latin typeface="游ゴシック"/>
                        </a:rPr>
                        <a:t>なし</a:t>
                      </a:r>
                    </a:p>
                  </a:txBody>
                  <a:tcPr>
                    <a:solidFill>
                      <a:srgbClr val="E8EEF4"/>
                    </a:solidFill>
                  </a:tcPr>
                </a:tc>
                <a:tc>
                  <a:txBody>
                    <a:bodyPr wrap="square"/>
                    <a:lstStyle/>
                    <a:p>
                      <a:pPr algn="l"/>
                      <a:r>
                        <a:rPr sz="1200" b="0">
                          <a:solidFill>
                            <a:srgbClr val="1A1A2E"/>
                          </a:solidFill>
                          <a:latin typeface="游ゴシック"/>
                        </a:rPr>
                        <a:t>なし</a:t>
                      </a:r>
                    </a:p>
                  </a:txBody>
                  <a:tcPr>
                    <a:solidFill>
                      <a:srgbClr val="E8EEF4"/>
                    </a:solidFill>
                  </a:tcPr>
                </a:tc>
              </a:tr>
            </a:tbl>
          </a:graphicData>
        </a:graphic>
      </p:graphicFrame>
      <p:sp>
        <p:nvSpPr>
          <p:cNvPr id="34" name="TextBox 33"/>
          <p:cNvSpPr txBox="1"/>
          <p:nvPr/>
        </p:nvSpPr>
        <p:spPr>
          <a:xfrm>
            <a:off x="320040" y="5925312"/>
            <a:ext cx="11430000" cy="457200"/>
          </a:xfrm>
          <a:prstGeom prst="rect">
            <a:avLst/>
          </a:prstGeom>
          <a:noFill/>
        </p:spPr>
        <p:txBody>
          <a:bodyPr wrap="square">
            <a:spAutoFit/>
          </a:bodyPr>
          <a:lstStyle/>
          <a:p>
            <a:pPr algn="l"/>
            <a:r>
              <a:rPr sz="1300" b="1" i="0">
                <a:solidFill>
                  <a:srgbClr val="C0392B"/>
                </a:solidFill>
                <a:latin typeface="游ゴシック"/>
              </a:rPr>
              <a:t>⚠️  RUN → IDLE への直接遷移はなし。必ず RESULT を経由します。ALARM_SETTING はIDLE起点のみ進入可能。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操作マニュアル ③ — アラーム設定（ALARM_SETTING）</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2  操作マニュアル</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8 / 17</a:t>
            </a:r>
          </a:p>
        </p:txBody>
      </p:sp>
      <p:sp>
        <p:nvSpPr>
          <p:cNvPr id="10" name="TextBox 9"/>
          <p:cNvSpPr txBox="1"/>
          <p:nvPr/>
        </p:nvSpPr>
        <p:spPr>
          <a:xfrm>
            <a:off x="320040" y="1097280"/>
            <a:ext cx="11430000" cy="475488"/>
          </a:xfrm>
          <a:prstGeom prst="rect">
            <a:avLst/>
          </a:prstGeom>
          <a:noFill/>
        </p:spPr>
        <p:txBody>
          <a:bodyPr wrap="square">
            <a:spAutoFit/>
          </a:bodyPr>
          <a:lstStyle/>
          <a:p>
            <a:pPr algn="l"/>
            <a:r>
              <a:rPr sz="1400" b="0" i="0">
                <a:solidFill>
                  <a:srgbClr val="1A1A2E"/>
                </a:solidFill>
                <a:latin typeface="游ゴシック"/>
              </a:rPr>
              <a:t>IDLE状態から BtnB を押すとアラーム設定モード（ALARM_SETTING）に遷移します。設定値は EEPROM に保存され電源OFF後も保持されます。</a:t>
            </a:r>
          </a:p>
        </p:txBody>
      </p:sp>
      <p:graphicFrame>
        <p:nvGraphicFramePr>
          <p:cNvPr id="11" name="Table 10"/>
          <p:cNvGraphicFramePr>
            <a:graphicFrameLocks noGrp="1"/>
          </p:cNvGraphicFramePr>
          <p:nvPr/>
        </p:nvGraphicFramePr>
        <p:xfrm>
          <a:off x="320040" y="1664208"/>
          <a:ext cx="11521439" cy="2852928"/>
        </p:xfrm>
        <a:graphic>
          <a:graphicData uri="http://schemas.openxmlformats.org/drawingml/2006/table">
            <a:tbl>
              <a:tblPr firstRow="1" bandRow="1">
                <a:tableStyleId>{5C22544A-7EE6-4342-B048-85BDC9FD1C3A}</a:tableStyleId>
              </a:tblPr>
              <a:tblGrid>
                <a:gridCol w="2377440"/>
                <a:gridCol w="1188720"/>
                <a:gridCol w="7955279"/>
              </a:tblGrid>
              <a:tr h="475488">
                <a:tc>
                  <a:txBody>
                    <a:bodyPr wrap="square"/>
                    <a:lstStyle/>
                    <a:p>
                      <a:pPr algn="l"/>
                      <a:r>
                        <a:rPr sz="1300" b="1">
                          <a:solidFill>
                            <a:srgbClr val="FFFFFF"/>
                          </a:solidFill>
                          <a:latin typeface="游ゴシック"/>
                        </a:rPr>
                        <a:t>操作ステップ</a:t>
                      </a:r>
                    </a:p>
                  </a:txBody>
                  <a:tcPr>
                    <a:solidFill>
                      <a:srgbClr val="0D2B45"/>
                    </a:solidFill>
                  </a:tcPr>
                </a:tc>
                <a:tc>
                  <a:txBody>
                    <a:bodyPr wrap="square"/>
                    <a:lstStyle/>
                    <a:p>
                      <a:pPr algn="l"/>
                      <a:r>
                        <a:rPr sz="1300" b="1">
                          <a:solidFill>
                            <a:srgbClr val="FFFFFF"/>
                          </a:solidFill>
                          <a:latin typeface="游ゴシック"/>
                        </a:rPr>
                        <a:t>ボタン</a:t>
                      </a:r>
                    </a:p>
                  </a:txBody>
                  <a:tcPr>
                    <a:solidFill>
                      <a:srgbClr val="0D2B45"/>
                    </a:solidFill>
                  </a:tcPr>
                </a:tc>
                <a:tc>
                  <a:txBody>
                    <a:bodyPr wrap="square"/>
                    <a:lstStyle/>
                    <a:p>
                      <a:pPr algn="l"/>
                      <a:r>
                        <a:rPr sz="1300" b="1">
                          <a:solidFill>
                            <a:srgbClr val="FFFFFF"/>
                          </a:solidFill>
                          <a:latin typeface="游ゴシック"/>
                        </a:rPr>
                        <a:t>手順の詳細</a:t>
                      </a:r>
                    </a:p>
                  </a:txBody>
                  <a:tcPr>
                    <a:solidFill>
                      <a:srgbClr val="0D2B45"/>
                    </a:solidFill>
                  </a:tcPr>
                </a:tc>
              </a:tr>
              <a:tr h="475488">
                <a:tc>
                  <a:txBody>
                    <a:bodyPr wrap="square"/>
                    <a:lstStyle/>
                    <a:p>
                      <a:pPr algn="l"/>
                      <a:r>
                        <a:rPr sz="1300" b="0">
                          <a:solidFill>
                            <a:srgbClr val="1A1A2E"/>
                          </a:solidFill>
                          <a:latin typeface="游ゴシック"/>
                        </a:rPr>
                        <a:t>① 設定モードへ進入</a:t>
                      </a:r>
                    </a:p>
                  </a:txBody>
                  <a:tcPr>
                    <a:solidFill>
                      <a:srgbClr val="FFFFFF"/>
                    </a:solidFill>
                  </a:tcPr>
                </a:tc>
                <a:tc>
                  <a:txBody>
                    <a:bodyPr wrap="square"/>
                    <a:lstStyle/>
                    <a:p>
                      <a:pPr algn="l"/>
                      <a:r>
                        <a:rPr sz="1300" b="0">
                          <a:solidFill>
                            <a:srgbClr val="1A1A2E"/>
                          </a:solidFill>
                          <a:latin typeface="游ゴシック"/>
                        </a:rPr>
                        <a:t>BtnB</a:t>
                      </a:r>
                    </a:p>
                  </a:txBody>
                  <a:tcPr>
                    <a:solidFill>
                      <a:srgbClr val="FFFFFF"/>
                    </a:solidFill>
                  </a:tcPr>
                </a:tc>
                <a:tc>
                  <a:txBody>
                    <a:bodyPr wrap="square"/>
                    <a:lstStyle/>
                    <a:p>
                      <a:pPr algn="l"/>
                      <a:r>
                        <a:rPr sz="1300" b="0">
                          <a:solidFill>
                            <a:srgbClr val="1A1A2E"/>
                          </a:solidFill>
                          <a:latin typeface="游ゴシック"/>
                        </a:rPr>
                        <a:t>IDLE状態で BtnB を押す → ALARM_SETTING画面に遷移（HI設定から開始）</a:t>
                      </a:r>
                    </a:p>
                  </a:txBody>
                  <a:tcPr>
                    <a:solidFill>
                      <a:srgbClr val="FFFFFF"/>
                    </a:solidFill>
                  </a:tcPr>
                </a:tc>
              </a:tr>
              <a:tr h="475488">
                <a:tc>
                  <a:txBody>
                    <a:bodyPr wrap="square"/>
                    <a:lstStyle/>
                    <a:p>
                      <a:pPr algn="l"/>
                      <a:r>
                        <a:rPr sz="1300" b="0">
                          <a:solidFill>
                            <a:srgbClr val="1A1A2E"/>
                          </a:solidFill>
                          <a:latin typeface="游ゴシック"/>
                        </a:rPr>
                        <a:t>② HI温度を調整</a:t>
                      </a:r>
                    </a:p>
                  </a:txBody>
                  <a:tcPr>
                    <a:solidFill>
                      <a:srgbClr val="E8EEF4"/>
                    </a:solidFill>
                  </a:tcPr>
                </a:tc>
                <a:tc>
                  <a:txBody>
                    <a:bodyPr wrap="square"/>
                    <a:lstStyle/>
                    <a:p>
                      <a:pPr algn="l"/>
                      <a:r>
                        <a:rPr sz="1300" b="0">
                          <a:solidFill>
                            <a:srgbClr val="1A1A2E"/>
                          </a:solidFill>
                          <a:latin typeface="游ゴシック"/>
                        </a:rPr>
                        <a:t>BtnB/C</a:t>
                      </a:r>
                    </a:p>
                  </a:txBody>
                  <a:tcPr>
                    <a:solidFill>
                      <a:srgbClr val="E8EEF4"/>
                    </a:solidFill>
                  </a:tcPr>
                </a:tc>
                <a:tc>
                  <a:txBody>
                    <a:bodyPr wrap="square"/>
                    <a:lstStyle/>
                    <a:p>
                      <a:pPr algn="l"/>
                      <a:r>
                        <a:rPr sz="1300" b="0">
                          <a:solidFill>
                            <a:srgbClr val="1A1A2E"/>
                          </a:solidFill>
                          <a:latin typeface="游ゴシック"/>
                        </a:rPr>
                        <a:t>BtnB : HI設定値を +5℃  /  BtnC : HI設定値を −5℃</a:t>
                      </a:r>
                    </a:p>
                  </a:txBody>
                  <a:tcPr>
                    <a:solidFill>
                      <a:srgbClr val="E8EEF4"/>
                    </a:solidFill>
                  </a:tcPr>
                </a:tc>
              </a:tr>
              <a:tr h="475488">
                <a:tc>
                  <a:txBody>
                    <a:bodyPr wrap="square"/>
                    <a:lstStyle/>
                    <a:p>
                      <a:pPr algn="l"/>
                      <a:r>
                        <a:rPr sz="1300" b="0">
                          <a:solidFill>
                            <a:srgbClr val="1A1A2E"/>
                          </a:solidFill>
                          <a:latin typeface="游ゴシック"/>
                        </a:rPr>
                        <a:t>③ LO設定へ切替</a:t>
                      </a:r>
                    </a:p>
                  </a:txBody>
                  <a:tcPr>
                    <a:solidFill>
                      <a:srgbClr val="FFFFFF"/>
                    </a:solidFill>
                  </a:tcPr>
                </a:tc>
                <a:tc>
                  <a:txBody>
                    <a:bodyPr wrap="square"/>
                    <a:lstStyle/>
                    <a:p>
                      <a:pPr algn="l"/>
                      <a:r>
                        <a:rPr sz="1300" b="0">
                          <a:solidFill>
                            <a:srgbClr val="1A1A2E"/>
                          </a:solidFill>
                          <a:latin typeface="游ゴシック"/>
                        </a:rPr>
                        <a:t>BtnA</a:t>
                      </a:r>
                    </a:p>
                  </a:txBody>
                  <a:tcPr>
                    <a:solidFill>
                      <a:srgbClr val="FFFFFF"/>
                    </a:solidFill>
                  </a:tcPr>
                </a:tc>
                <a:tc>
                  <a:txBody>
                    <a:bodyPr wrap="square"/>
                    <a:lstStyle/>
                    <a:p>
                      <a:pPr algn="l"/>
                      <a:r>
                        <a:rPr sz="1300" b="0">
                          <a:solidFill>
                            <a:srgbClr val="1A1A2E"/>
                          </a:solidFill>
                          <a:latin typeface="游ゴシック"/>
                        </a:rPr>
                        <a:t>HI設定中に BtnA → LO設定に切替（HI値確定）</a:t>
                      </a:r>
                    </a:p>
                  </a:txBody>
                  <a:tcPr>
                    <a:solidFill>
                      <a:srgbClr val="FFFFFF"/>
                    </a:solidFill>
                  </a:tcPr>
                </a:tc>
              </a:tr>
              <a:tr h="475488">
                <a:tc>
                  <a:txBody>
                    <a:bodyPr wrap="square"/>
                    <a:lstStyle/>
                    <a:p>
                      <a:pPr algn="l"/>
                      <a:r>
                        <a:rPr sz="1300" b="0">
                          <a:solidFill>
                            <a:srgbClr val="1A1A2E"/>
                          </a:solidFill>
                          <a:latin typeface="游ゴシック"/>
                        </a:rPr>
                        <a:t>④ LO温度を調整</a:t>
                      </a:r>
                    </a:p>
                  </a:txBody>
                  <a:tcPr>
                    <a:solidFill>
                      <a:srgbClr val="E8EEF4"/>
                    </a:solidFill>
                  </a:tcPr>
                </a:tc>
                <a:tc>
                  <a:txBody>
                    <a:bodyPr wrap="square"/>
                    <a:lstStyle/>
                    <a:p>
                      <a:pPr algn="l"/>
                      <a:r>
                        <a:rPr sz="1300" b="0">
                          <a:solidFill>
                            <a:srgbClr val="1A1A2E"/>
                          </a:solidFill>
                          <a:latin typeface="游ゴシック"/>
                        </a:rPr>
                        <a:t>BtnB/C</a:t>
                      </a:r>
                    </a:p>
                  </a:txBody>
                  <a:tcPr>
                    <a:solidFill>
                      <a:srgbClr val="E8EEF4"/>
                    </a:solidFill>
                  </a:tcPr>
                </a:tc>
                <a:tc>
                  <a:txBody>
                    <a:bodyPr wrap="square"/>
                    <a:lstStyle/>
                    <a:p>
                      <a:pPr algn="l"/>
                      <a:r>
                        <a:rPr sz="1300" b="0">
                          <a:solidFill>
                            <a:srgbClr val="1A1A2E"/>
                          </a:solidFill>
                          <a:latin typeface="游ゴシック"/>
                        </a:rPr>
                        <a:t>BtnB : LO設定値を +5℃  /  BtnC : LO設定値を −5℃</a:t>
                      </a:r>
                    </a:p>
                  </a:txBody>
                  <a:tcPr>
                    <a:solidFill>
                      <a:srgbClr val="E8EEF4"/>
                    </a:solidFill>
                  </a:tcPr>
                </a:tc>
              </a:tr>
              <a:tr h="475488">
                <a:tc>
                  <a:txBody>
                    <a:bodyPr wrap="square"/>
                    <a:lstStyle/>
                    <a:p>
                      <a:pPr algn="l"/>
                      <a:r>
                        <a:rPr sz="1300" b="0">
                          <a:solidFill>
                            <a:srgbClr val="1A1A2E"/>
                          </a:solidFill>
                          <a:latin typeface="游ゴシック"/>
                        </a:rPr>
                        <a:t>⑤ 保存・終了</a:t>
                      </a:r>
                    </a:p>
                  </a:txBody>
                  <a:tcPr>
                    <a:solidFill>
                      <a:srgbClr val="FFFFFF"/>
                    </a:solidFill>
                  </a:tcPr>
                </a:tc>
                <a:tc>
                  <a:txBody>
                    <a:bodyPr wrap="square"/>
                    <a:lstStyle/>
                    <a:p>
                      <a:pPr algn="l"/>
                      <a:r>
                        <a:rPr sz="1300" b="0">
                          <a:solidFill>
                            <a:srgbClr val="1A1A2E"/>
                          </a:solidFill>
                          <a:latin typeface="游ゴシック"/>
                        </a:rPr>
                        <a:t>BtnA</a:t>
                      </a:r>
                    </a:p>
                  </a:txBody>
                  <a:tcPr>
                    <a:solidFill>
                      <a:srgbClr val="FFFFFF"/>
                    </a:solidFill>
                  </a:tcPr>
                </a:tc>
                <a:tc>
                  <a:txBody>
                    <a:bodyPr wrap="square"/>
                    <a:lstStyle/>
                    <a:p>
                      <a:pPr algn="l"/>
                      <a:r>
                        <a:rPr sz="1300" b="0">
                          <a:solidFill>
                            <a:srgbClr val="1A1A2E"/>
                          </a:solidFill>
                          <a:latin typeface="游ゴシック"/>
                        </a:rPr>
                        <a:t>LO設定中に BtnA → EEPROM保存 → アラームフラグリセット → IDLE に戻る</a:t>
                      </a:r>
                    </a:p>
                  </a:txBody>
                  <a:tcPr>
                    <a:solidFill>
                      <a:srgbClr val="FFFFFF"/>
                    </a:solidFill>
                  </a:tcPr>
                </a:tc>
              </a:tr>
            </a:tbl>
          </a:graphicData>
        </a:graphic>
      </p:graphicFrame>
      <p:sp>
        <p:nvSpPr>
          <p:cNvPr id="12" name="TextBox 11"/>
          <p:cNvSpPr txBox="1"/>
          <p:nvPr/>
        </p:nvSpPr>
        <p:spPr>
          <a:xfrm>
            <a:off x="320040" y="4434840"/>
            <a:ext cx="10972800" cy="384048"/>
          </a:xfrm>
          <a:prstGeom prst="rect">
            <a:avLst/>
          </a:prstGeom>
          <a:noFill/>
        </p:spPr>
        <p:txBody>
          <a:bodyPr wrap="square">
            <a:spAutoFit/>
          </a:bodyPr>
          <a:lstStyle/>
          <a:p>
            <a:pPr algn="l"/>
            <a:r>
              <a:rPr sz="1600" b="1" i="0">
                <a:solidFill>
                  <a:srgbClr val="0D2B45"/>
                </a:solidFill>
                <a:latin typeface="游ゴシック"/>
              </a:rPr>
              <a:t>アラーム発報時の動作</a:t>
            </a:r>
          </a:p>
        </p:txBody>
      </p:sp>
      <p:graphicFrame>
        <p:nvGraphicFramePr>
          <p:cNvPr id="13" name="Table 12"/>
          <p:cNvGraphicFramePr>
            <a:graphicFrameLocks noGrp="1"/>
          </p:cNvGraphicFramePr>
          <p:nvPr/>
        </p:nvGraphicFramePr>
        <p:xfrm>
          <a:off x="320040" y="4892040"/>
          <a:ext cx="11521440" cy="2011680"/>
        </p:xfrm>
        <a:graphic>
          <a:graphicData uri="http://schemas.openxmlformats.org/drawingml/2006/table">
            <a:tbl>
              <a:tblPr firstRow="1" bandRow="1">
                <a:tableStyleId>{5C22544A-7EE6-4342-B048-85BDC9FD1C3A}</a:tableStyleId>
              </a:tblPr>
              <a:tblGrid>
                <a:gridCol w="2468880"/>
                <a:gridCol w="2560320"/>
                <a:gridCol w="2651760"/>
                <a:gridCol w="3840480"/>
              </a:tblGrid>
              <a:tr h="402336">
                <a:tc>
                  <a:txBody>
                    <a:bodyPr wrap="square"/>
                    <a:lstStyle/>
                    <a:p>
                      <a:pPr algn="l"/>
                      <a:r>
                        <a:rPr sz="1200" b="1">
                          <a:solidFill>
                            <a:srgbClr val="FFFFFF"/>
                          </a:solidFill>
                          <a:latin typeface="游ゴシック"/>
                        </a:rPr>
                        <a:t>状態</a:t>
                      </a:r>
                    </a:p>
                  </a:txBody>
                  <a:tcPr>
                    <a:solidFill>
                      <a:srgbClr val="0D2B45"/>
                    </a:solidFill>
                  </a:tcPr>
                </a:tc>
                <a:tc>
                  <a:txBody>
                    <a:bodyPr wrap="square"/>
                    <a:lstStyle/>
                    <a:p>
                      <a:pPr algn="l"/>
                      <a:r>
                        <a:rPr sz="1200" b="1">
                          <a:solidFill>
                            <a:srgbClr val="FFFFFF"/>
                          </a:solidFill>
                          <a:latin typeface="游ゴシック"/>
                        </a:rPr>
                        <a:t>画面表示</a:t>
                      </a:r>
                    </a:p>
                  </a:txBody>
                  <a:tcPr>
                    <a:solidFill>
                      <a:srgbClr val="0D2B45"/>
                    </a:solidFill>
                  </a:tcPr>
                </a:tc>
                <a:tc>
                  <a:txBody>
                    <a:bodyPr wrap="square"/>
                    <a:lstStyle/>
                    <a:p>
                      <a:pPr algn="l"/>
                      <a:r>
                        <a:rPr sz="1200" b="1">
                          <a:solidFill>
                            <a:srgbClr val="FFFFFF"/>
                          </a:solidFill>
                          <a:latin typeface="游ゴシック"/>
                        </a:rPr>
                        <a:t>スピーカー</a:t>
                      </a:r>
                    </a:p>
                  </a:txBody>
                  <a:tcPr>
                    <a:solidFill>
                      <a:srgbClr val="0D2B45"/>
                    </a:solidFill>
                  </a:tcPr>
                </a:tc>
                <a:tc>
                  <a:txBody>
                    <a:bodyPr wrap="square"/>
                    <a:lstStyle/>
                    <a:p>
                      <a:pPr algn="l"/>
                      <a:r>
                        <a:rPr sz="1200" b="1">
                          <a:solidFill>
                            <a:srgbClr val="FFFFFF"/>
                          </a:solidFill>
                          <a:latin typeface="游ゴシック"/>
                        </a:rPr>
                        <a:t>CSVへの記録</a:t>
                      </a:r>
                    </a:p>
                  </a:txBody>
                  <a:tcPr>
                    <a:solidFill>
                      <a:srgbClr val="0D2B45"/>
                    </a:solidFill>
                  </a:tcPr>
                </a:tc>
              </a:tr>
              <a:tr h="402336">
                <a:tc>
                  <a:txBody>
                    <a:bodyPr wrap="square"/>
                    <a:lstStyle/>
                    <a:p>
                      <a:pPr algn="l"/>
                      <a:r>
                        <a:rPr sz="1200" b="0">
                          <a:solidFill>
                            <a:srgbClr val="1A1A2E"/>
                          </a:solidFill>
                          <a:latin typeface="游ゴシック"/>
                        </a:rPr>
                        <a:t>温度 ≥ HI設定値</a:t>
                      </a:r>
                    </a:p>
                  </a:txBody>
                  <a:tcPr>
                    <a:solidFill>
                      <a:srgbClr val="FFFFFF"/>
                    </a:solidFill>
                  </a:tcPr>
                </a:tc>
                <a:tc>
                  <a:txBody>
                    <a:bodyPr wrap="square"/>
                    <a:lstStyle/>
                    <a:p>
                      <a:pPr algn="l"/>
                      <a:r>
                        <a:rPr sz="1200" b="0">
                          <a:solidFill>
                            <a:srgbClr val="1A1A2E"/>
                          </a:solidFill>
                          <a:latin typeface="游ゴシック"/>
                        </a:rPr>
                        <a:t>温度を赤色（RED）で表示</a:t>
                      </a:r>
                    </a:p>
                  </a:txBody>
                  <a:tcPr>
                    <a:solidFill>
                      <a:srgbClr val="FFFFFF"/>
                    </a:solidFill>
                  </a:tcPr>
                </a:tc>
                <a:tc>
                  <a:txBody>
                    <a:bodyPr wrap="square"/>
                    <a:lstStyle/>
                    <a:p>
                      <a:pPr algn="l"/>
                      <a:r>
                        <a:rPr sz="1200" b="0">
                          <a:solidFill>
                            <a:srgbClr val="1A1A2E"/>
                          </a:solidFill>
                          <a:latin typeface="游ゴシック"/>
                        </a:rPr>
                        <a:t>2kHz ビープ音（500ms）</a:t>
                      </a:r>
                    </a:p>
                  </a:txBody>
                  <a:tcPr>
                    <a:solidFill>
                      <a:srgbClr val="FFFFFF"/>
                    </a:solidFill>
                  </a:tcPr>
                </a:tc>
                <a:tc>
                  <a:txBody>
                    <a:bodyPr wrap="square"/>
                    <a:lstStyle/>
                    <a:p>
                      <a:pPr algn="l"/>
                      <a:r>
                        <a:rPr sz="1200" b="0">
                          <a:solidFill>
                            <a:srgbClr val="1A1A2E"/>
                          </a:solidFill>
                          <a:latin typeface="游ゴシック"/>
                        </a:rPr>
                        <a:t>HI_ALARM 列が 1（true）</a:t>
                      </a:r>
                    </a:p>
                  </a:txBody>
                  <a:tcPr>
                    <a:solidFill>
                      <a:srgbClr val="FFFFFF"/>
                    </a:solidFill>
                  </a:tcPr>
                </a:tc>
              </a:tr>
              <a:tr h="402336">
                <a:tc>
                  <a:txBody>
                    <a:bodyPr wrap="square"/>
                    <a:lstStyle/>
                    <a:p>
                      <a:pPr algn="l"/>
                      <a:r>
                        <a:rPr sz="1200" b="0">
                          <a:solidFill>
                            <a:srgbClr val="1A1A2E"/>
                          </a:solidFill>
                          <a:latin typeface="游ゴシック"/>
                        </a:rPr>
                        <a:t>温度 ≤ LO設定値</a:t>
                      </a:r>
                    </a:p>
                  </a:txBody>
                  <a:tcPr>
                    <a:solidFill>
                      <a:srgbClr val="E8EEF4"/>
                    </a:solidFill>
                  </a:tcPr>
                </a:tc>
                <a:tc>
                  <a:txBody>
                    <a:bodyPr wrap="square"/>
                    <a:lstStyle/>
                    <a:p>
                      <a:pPr algn="l"/>
                      <a:r>
                        <a:rPr sz="1200" b="0">
                          <a:solidFill>
                            <a:srgbClr val="1A1A2E"/>
                          </a:solidFill>
                          <a:latin typeface="游ゴシック"/>
                        </a:rPr>
                        <a:t>温度を赤色（RED）で表示</a:t>
                      </a:r>
                    </a:p>
                  </a:txBody>
                  <a:tcPr>
                    <a:solidFill>
                      <a:srgbClr val="E8EEF4"/>
                    </a:solidFill>
                  </a:tcPr>
                </a:tc>
                <a:tc>
                  <a:txBody>
                    <a:bodyPr wrap="square"/>
                    <a:lstStyle/>
                    <a:p>
                      <a:pPr algn="l"/>
                      <a:r>
                        <a:rPr sz="1200" b="0">
                          <a:solidFill>
                            <a:srgbClr val="1A1A2E"/>
                          </a:solidFill>
                          <a:latin typeface="游ゴシック"/>
                        </a:rPr>
                        <a:t>1kHz ビープ音（500ms）</a:t>
                      </a:r>
                    </a:p>
                  </a:txBody>
                  <a:tcPr>
                    <a:solidFill>
                      <a:srgbClr val="E8EEF4"/>
                    </a:solidFill>
                  </a:tcPr>
                </a:tc>
                <a:tc>
                  <a:txBody>
                    <a:bodyPr wrap="square"/>
                    <a:lstStyle/>
                    <a:p>
                      <a:pPr algn="l"/>
                      <a:r>
                        <a:rPr sz="1200" b="0">
                          <a:solidFill>
                            <a:srgbClr val="1A1A2E"/>
                          </a:solidFill>
                          <a:latin typeface="游ゴシック"/>
                        </a:rPr>
                        <a:t>LO_ALARM 列が 1（true）</a:t>
                      </a:r>
                    </a:p>
                  </a:txBody>
                  <a:tcPr>
                    <a:solidFill>
                      <a:srgbClr val="E8EEF4"/>
                    </a:solidFill>
                  </a:tcPr>
                </a:tc>
              </a:tr>
              <a:tr h="402336">
                <a:tc>
                  <a:txBody>
                    <a:bodyPr wrap="square"/>
                    <a:lstStyle/>
                    <a:p>
                      <a:pPr algn="l"/>
                      <a:r>
                        <a:rPr sz="1200" b="0">
                          <a:solidFill>
                            <a:srgbClr val="1A1A2E"/>
                          </a:solidFill>
                          <a:latin typeface="游ゴシック"/>
                        </a:rPr>
                        <a:t>閾値に近い（ヒステリシス内）</a:t>
                      </a:r>
                    </a:p>
                  </a:txBody>
                  <a:tcPr>
                    <a:solidFill>
                      <a:srgbClr val="FFFFFF"/>
                    </a:solidFill>
                  </a:tcPr>
                </a:tc>
                <a:tc>
                  <a:txBody>
                    <a:bodyPr wrap="square"/>
                    <a:lstStyle/>
                    <a:p>
                      <a:pPr algn="l"/>
                      <a:r>
                        <a:rPr sz="1200" b="0">
                          <a:solidFill>
                            <a:srgbClr val="1A1A2E"/>
                          </a:solidFill>
                          <a:latin typeface="游ゴシック"/>
                        </a:rPr>
                        <a:t>赤色のまま（クリアされない）</a:t>
                      </a:r>
                    </a:p>
                  </a:txBody>
                  <a:tcPr>
                    <a:solidFill>
                      <a:srgbClr val="FFFFFF"/>
                    </a:solidFill>
                  </a:tcPr>
                </a:tc>
                <a:tc>
                  <a:txBody>
                    <a:bodyPr wrap="square"/>
                    <a:lstStyle/>
                    <a:p>
                      <a:pPr algn="l"/>
                      <a:r>
                        <a:rPr sz="1200" b="0">
                          <a:solidFill>
                            <a:srgbClr val="1A1A2E"/>
                          </a:solidFill>
                          <a:latin typeface="游ゴシック"/>
                        </a:rPr>
                        <a:t>発報なし（継続監視）</a:t>
                      </a:r>
                    </a:p>
                  </a:txBody>
                  <a:tcPr>
                    <a:solidFill>
                      <a:srgbClr val="FFFFFF"/>
                    </a:solidFill>
                  </a:tcPr>
                </a:tc>
                <a:tc>
                  <a:txBody>
                    <a:bodyPr wrap="square"/>
                    <a:lstStyle/>
                    <a:p>
                      <a:pPr algn="l"/>
                      <a:r>
                        <a:rPr sz="1200" b="0">
                          <a:solidFill>
                            <a:srgbClr val="1A1A2E"/>
                          </a:solidFill>
                          <a:latin typeface="游ゴシック"/>
                        </a:rPr>
                        <a:t>フラグ継続</a:t>
                      </a:r>
                    </a:p>
                  </a:txBody>
                  <a:tcPr>
                    <a:solidFill>
                      <a:srgbClr val="FFFFFF"/>
                    </a:solidFill>
                  </a:tcPr>
                </a:tc>
              </a:tr>
              <a:tr h="402336">
                <a:tc>
                  <a:txBody>
                    <a:bodyPr wrap="square"/>
                    <a:lstStyle/>
                    <a:p>
                      <a:pPr algn="l"/>
                      <a:r>
                        <a:rPr sz="1200" b="0">
                          <a:solidFill>
                            <a:srgbClr val="1A1A2E"/>
                          </a:solidFill>
                          <a:latin typeface="游ゴシック"/>
                        </a:rPr>
                        <a:t>通常範囲</a:t>
                      </a:r>
                    </a:p>
                  </a:txBody>
                  <a:tcPr>
                    <a:solidFill>
                      <a:srgbClr val="E8EEF4"/>
                    </a:solidFill>
                  </a:tcPr>
                </a:tc>
                <a:tc>
                  <a:txBody>
                    <a:bodyPr wrap="square"/>
                    <a:lstStyle/>
                    <a:p>
                      <a:pPr algn="l"/>
                      <a:r>
                        <a:rPr sz="1200" b="0">
                          <a:solidFill>
                            <a:srgbClr val="1A1A2E"/>
                          </a:solidFill>
                          <a:latin typeface="游ゴシック"/>
                        </a:rPr>
                        <a:t>白色（WHITE）で表示</a:t>
                      </a:r>
                    </a:p>
                  </a:txBody>
                  <a:tcPr>
                    <a:solidFill>
                      <a:srgbClr val="E8EEF4"/>
                    </a:solidFill>
                  </a:tcPr>
                </a:tc>
                <a:tc>
                  <a:txBody>
                    <a:bodyPr wrap="square"/>
                    <a:lstStyle/>
                    <a:p>
                      <a:pPr algn="l"/>
                      <a:r>
                        <a:rPr sz="1200" b="0">
                          <a:solidFill>
                            <a:srgbClr val="1A1A2E"/>
                          </a:solidFill>
                          <a:latin typeface="游ゴシック"/>
                        </a:rPr>
                        <a:t>なし</a:t>
                      </a:r>
                    </a:p>
                  </a:txBody>
                  <a:tcPr>
                    <a:solidFill>
                      <a:srgbClr val="E8EEF4"/>
                    </a:solidFill>
                  </a:tcPr>
                </a:tc>
                <a:tc>
                  <a:txBody>
                    <a:bodyPr wrap="square"/>
                    <a:lstStyle/>
                    <a:p>
                      <a:pPr algn="l"/>
                      <a:r>
                        <a:rPr sz="1200" b="0">
                          <a:solidFill>
                            <a:srgbClr val="1A1A2E"/>
                          </a:solidFill>
                          <a:latin typeface="游ゴシック"/>
                        </a:rPr>
                        <a:t>HI_ALARM / LO_ALARM = 0</a:t>
                      </a:r>
                    </a:p>
                  </a:txBody>
                  <a:tcPr>
                    <a:solidFill>
                      <a:srgbClr val="E8EEF4"/>
                    </a:solidFill>
                  </a:tcPr>
                </a:tc>
              </a:tr>
            </a:tbl>
          </a:graphicData>
        </a:graphic>
      </p:graphicFrame>
      <p:sp>
        <p:nvSpPr>
          <p:cNvPr id="14" name="TextBox 13"/>
          <p:cNvSpPr txBox="1"/>
          <p:nvPr/>
        </p:nvSpPr>
        <p:spPr>
          <a:xfrm>
            <a:off x="320040" y="6446520"/>
            <a:ext cx="11430000" cy="384048"/>
          </a:xfrm>
          <a:prstGeom prst="rect">
            <a:avLst/>
          </a:prstGeom>
          <a:noFill/>
        </p:spPr>
        <p:txBody>
          <a:bodyPr wrap="square">
            <a:spAutoFit/>
          </a:bodyPr>
          <a:lstStyle/>
          <a:p>
            <a:pPr algn="l"/>
            <a:r>
              <a:rPr sz="1300" b="0" i="0">
                <a:solidFill>
                  <a:srgbClr val="0D2B45"/>
                </a:solidFill>
                <a:latin typeface="游ゴシック"/>
              </a:rPr>
              <a:t>💡  デフォルト設定 HI = 600℃ / LO = 400℃  /  ヒステリシス幅 = ±5℃（チラつき防止）</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操作マニュアル ④ — CSV出力とExcel活用</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2  操作マニュアル</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9 / 17</a:t>
            </a:r>
          </a:p>
        </p:txBody>
      </p:sp>
      <p:sp>
        <p:nvSpPr>
          <p:cNvPr id="10" name="TextBox 9"/>
          <p:cNvSpPr txBox="1"/>
          <p:nvPr/>
        </p:nvSpPr>
        <p:spPr>
          <a:xfrm>
            <a:off x="320040" y="1097280"/>
            <a:ext cx="11430000" cy="384048"/>
          </a:xfrm>
          <a:prstGeom prst="rect">
            <a:avLst/>
          </a:prstGeom>
          <a:noFill/>
        </p:spPr>
        <p:txBody>
          <a:bodyPr wrap="square">
            <a:spAutoFit/>
          </a:bodyPr>
          <a:lstStyle/>
          <a:p>
            <a:pPr algn="l"/>
            <a:r>
              <a:rPr sz="1700" b="1" i="0">
                <a:solidFill>
                  <a:srgbClr val="0D2B45"/>
                </a:solidFill>
                <a:latin typeface="游ゴシック"/>
              </a:rPr>
              <a:t>CSV ファイルのフォーマット（全10列）</a:t>
            </a:r>
          </a:p>
        </p:txBody>
      </p:sp>
      <p:sp>
        <p:nvSpPr>
          <p:cNvPr id="11" name="TextBox 10"/>
          <p:cNvSpPr txBox="1"/>
          <p:nvPr/>
        </p:nvSpPr>
        <p:spPr>
          <a:xfrm>
            <a:off x="320040" y="1508760"/>
            <a:ext cx="11430000" cy="320040"/>
          </a:xfrm>
          <a:prstGeom prst="rect">
            <a:avLst/>
          </a:prstGeom>
          <a:noFill/>
        </p:spPr>
        <p:txBody>
          <a:bodyPr wrap="square">
            <a:spAutoFit/>
          </a:bodyPr>
          <a:lstStyle/>
          <a:p>
            <a:pPr algn="l"/>
            <a:r>
              <a:rPr sz="1100" b="0" i="1">
                <a:solidFill>
                  <a:srgbClr val="8899AA"/>
                </a:solidFill>
                <a:latin typeface="游ゴシック"/>
              </a:rPr>
              <a:t>ヘッダ行:  ElapsedSec, Temp_C, State, Samples, Average_C, StdDev_C, Max_C, Min_C, HI_ALARM, LO_ALARM</a:t>
            </a:r>
          </a:p>
        </p:txBody>
      </p:sp>
      <p:graphicFrame>
        <p:nvGraphicFramePr>
          <p:cNvPr id="12" name="Table 11"/>
          <p:cNvGraphicFramePr>
            <a:graphicFrameLocks noGrp="1"/>
          </p:cNvGraphicFramePr>
          <p:nvPr/>
        </p:nvGraphicFramePr>
        <p:xfrm>
          <a:off x="320040" y="1920240"/>
          <a:ext cx="7132320" cy="4425696"/>
        </p:xfrm>
        <a:graphic>
          <a:graphicData uri="http://schemas.openxmlformats.org/drawingml/2006/table">
            <a:tbl>
              <a:tblPr firstRow="1" bandRow="1">
                <a:tableStyleId>{5C22544A-7EE6-4342-B048-85BDC9FD1C3A}</a:tableStyleId>
              </a:tblPr>
              <a:tblGrid>
                <a:gridCol w="1737360"/>
                <a:gridCol w="3474720"/>
                <a:gridCol w="1920240"/>
              </a:tblGrid>
              <a:tr h="402336">
                <a:tc>
                  <a:txBody>
                    <a:bodyPr wrap="square"/>
                    <a:lstStyle/>
                    <a:p>
                      <a:pPr algn="l"/>
                      <a:r>
                        <a:rPr sz="1200" b="1">
                          <a:solidFill>
                            <a:srgbClr val="FFFFFF"/>
                          </a:solidFill>
                          <a:latin typeface="游ゴシック"/>
                        </a:rPr>
                        <a:t>列名</a:t>
                      </a:r>
                    </a:p>
                  </a:txBody>
                  <a:tcPr>
                    <a:solidFill>
                      <a:srgbClr val="0D2B45"/>
                    </a:solidFill>
                  </a:tcPr>
                </a:tc>
                <a:tc>
                  <a:txBody>
                    <a:bodyPr wrap="square"/>
                    <a:lstStyle/>
                    <a:p>
                      <a:pPr algn="l"/>
                      <a:r>
                        <a:rPr sz="1200" b="1">
                          <a:solidFill>
                            <a:srgbClr val="FFFFFF"/>
                          </a:solidFill>
                          <a:latin typeface="游ゴシック"/>
                        </a:rPr>
                        <a:t>内容</a:t>
                      </a:r>
                    </a:p>
                  </a:txBody>
                  <a:tcPr>
                    <a:solidFill>
                      <a:srgbClr val="0D2B45"/>
                    </a:solidFill>
                  </a:tcPr>
                </a:tc>
                <a:tc>
                  <a:txBody>
                    <a:bodyPr wrap="square"/>
                    <a:lstStyle/>
                    <a:p>
                      <a:pPr algn="l"/>
                      <a:r>
                        <a:rPr sz="1200" b="1">
                          <a:solidFill>
                            <a:srgbClr val="FFFFFF"/>
                          </a:solidFill>
                          <a:latin typeface="游ゴシック"/>
                        </a:rPr>
                        <a:t>例</a:t>
                      </a:r>
                    </a:p>
                  </a:txBody>
                  <a:tcPr>
                    <a:solidFill>
                      <a:srgbClr val="0D2B45"/>
                    </a:solidFill>
                  </a:tcPr>
                </a:tc>
              </a:tr>
              <a:tr h="402336">
                <a:tc>
                  <a:txBody>
                    <a:bodyPr wrap="square"/>
                    <a:lstStyle/>
                    <a:p>
                      <a:pPr algn="l"/>
                      <a:r>
                        <a:rPr sz="1200" b="0">
                          <a:solidFill>
                            <a:srgbClr val="1A1A2E"/>
                          </a:solidFill>
                          <a:latin typeface="游ゴシック"/>
                        </a:rPr>
                        <a:t>ElapsedSec</a:t>
                      </a:r>
                    </a:p>
                  </a:txBody>
                  <a:tcPr>
                    <a:solidFill>
                      <a:srgbClr val="FFFFFF"/>
                    </a:solidFill>
                  </a:tcPr>
                </a:tc>
                <a:tc>
                  <a:txBody>
                    <a:bodyPr wrap="square"/>
                    <a:lstStyle/>
                    <a:p>
                      <a:pPr algn="l"/>
                      <a:r>
                        <a:rPr sz="1200" b="0">
                          <a:solidFill>
                            <a:srgbClr val="1A1A2E"/>
                          </a:solidFill>
                          <a:latin typeface="游ゴシック"/>
                        </a:rPr>
                        <a:t>RUN開始からの経過時間（秒）</a:t>
                      </a:r>
                    </a:p>
                  </a:txBody>
                  <a:tcPr>
                    <a:solidFill>
                      <a:srgbClr val="FFFFFF"/>
                    </a:solidFill>
                  </a:tcPr>
                </a:tc>
                <a:tc>
                  <a:txBody>
                    <a:bodyPr wrap="square"/>
                    <a:lstStyle/>
                    <a:p>
                      <a:pPr algn="l"/>
                      <a:r>
                        <a:rPr sz="1200" b="0">
                          <a:solidFill>
                            <a:srgbClr val="1A1A2E"/>
                          </a:solidFill>
                          <a:latin typeface="游ゴシック"/>
                        </a:rPr>
                        <a:t>0, 10, 20 …</a:t>
                      </a:r>
                    </a:p>
                  </a:txBody>
                  <a:tcPr>
                    <a:solidFill>
                      <a:srgbClr val="FFFFFF"/>
                    </a:solidFill>
                  </a:tcPr>
                </a:tc>
              </a:tr>
              <a:tr h="402336">
                <a:tc>
                  <a:txBody>
                    <a:bodyPr wrap="square"/>
                    <a:lstStyle/>
                    <a:p>
                      <a:pPr algn="l"/>
                      <a:r>
                        <a:rPr sz="1200" b="0">
                          <a:solidFill>
                            <a:srgbClr val="1A1A2E"/>
                          </a:solidFill>
                          <a:latin typeface="游ゴシック"/>
                        </a:rPr>
                        <a:t>Temp_C</a:t>
                      </a:r>
                    </a:p>
                  </a:txBody>
                  <a:tcPr>
                    <a:solidFill>
                      <a:srgbClr val="E8EEF4"/>
                    </a:solidFill>
                  </a:tcPr>
                </a:tc>
                <a:tc>
                  <a:txBody>
                    <a:bodyPr wrap="square"/>
                    <a:lstStyle/>
                    <a:p>
                      <a:pPr algn="l"/>
                      <a:r>
                        <a:rPr sz="1200" b="0">
                          <a:solidFill>
                            <a:srgbClr val="1A1A2E"/>
                          </a:solidFill>
                          <a:latin typeface="游ゴシック"/>
                        </a:rPr>
                        <a:t>LPFフィルタ後の計測温度（℃）</a:t>
                      </a:r>
                    </a:p>
                  </a:txBody>
                  <a:tcPr>
                    <a:solidFill>
                      <a:srgbClr val="E8EEF4"/>
                    </a:solidFill>
                  </a:tcPr>
                </a:tc>
                <a:tc>
                  <a:txBody>
                    <a:bodyPr wrap="square"/>
                    <a:lstStyle/>
                    <a:p>
                      <a:pPr algn="l"/>
                      <a:r>
                        <a:rPr sz="1200" b="0">
                          <a:solidFill>
                            <a:srgbClr val="1A1A2E"/>
                          </a:solidFill>
                          <a:latin typeface="游ゴシック"/>
                        </a:rPr>
                        <a:t>125.3</a:t>
                      </a:r>
                    </a:p>
                  </a:txBody>
                  <a:tcPr>
                    <a:solidFill>
                      <a:srgbClr val="E8EEF4"/>
                    </a:solidFill>
                  </a:tcPr>
                </a:tc>
              </a:tr>
              <a:tr h="402336">
                <a:tc>
                  <a:txBody>
                    <a:bodyPr wrap="square"/>
                    <a:lstStyle/>
                    <a:p>
                      <a:pPr algn="l"/>
                      <a:r>
                        <a:rPr sz="1200" b="0">
                          <a:solidFill>
                            <a:srgbClr val="1A1A2E"/>
                          </a:solidFill>
                          <a:latin typeface="游ゴシック"/>
                        </a:rPr>
                        <a:t>State</a:t>
                      </a:r>
                    </a:p>
                  </a:txBody>
                  <a:tcPr>
                    <a:solidFill>
                      <a:srgbClr val="FFFFFF"/>
                    </a:solidFill>
                  </a:tcPr>
                </a:tc>
                <a:tc>
                  <a:txBody>
                    <a:bodyPr wrap="square"/>
                    <a:lstStyle/>
                    <a:p>
                      <a:pPr algn="l"/>
                      <a:r>
                        <a:rPr sz="1200" b="0">
                          <a:solidFill>
                            <a:srgbClr val="1A1A2E"/>
                          </a:solidFill>
                          <a:latin typeface="游ゴシック"/>
                        </a:rPr>
                        <a:t>計測中の状態名</a:t>
                      </a:r>
                    </a:p>
                  </a:txBody>
                  <a:tcPr>
                    <a:solidFill>
                      <a:srgbClr val="FFFFFF"/>
                    </a:solidFill>
                  </a:tcPr>
                </a:tc>
                <a:tc>
                  <a:txBody>
                    <a:bodyPr wrap="square"/>
                    <a:lstStyle/>
                    <a:p>
                      <a:pPr algn="l"/>
                      <a:r>
                        <a:rPr sz="1200" b="0">
                          <a:solidFill>
                            <a:srgbClr val="1A1A2E"/>
                          </a:solidFill>
                          <a:latin typeface="游ゴシック"/>
                        </a:rPr>
                        <a:t>RUN</a:t>
                      </a:r>
                    </a:p>
                  </a:txBody>
                  <a:tcPr>
                    <a:solidFill>
                      <a:srgbClr val="FFFFFF"/>
                    </a:solidFill>
                  </a:tcPr>
                </a:tc>
              </a:tr>
              <a:tr h="402336">
                <a:tc>
                  <a:txBody>
                    <a:bodyPr wrap="square"/>
                    <a:lstStyle/>
                    <a:p>
                      <a:pPr algn="l"/>
                      <a:r>
                        <a:rPr sz="1200" b="0">
                          <a:solidFill>
                            <a:srgbClr val="1A1A2E"/>
                          </a:solidFill>
                          <a:latin typeface="游ゴシック"/>
                        </a:rPr>
                        <a:t>Samples</a:t>
                      </a:r>
                    </a:p>
                  </a:txBody>
                  <a:tcPr>
                    <a:solidFill>
                      <a:srgbClr val="E8EEF4"/>
                    </a:solidFill>
                  </a:tcPr>
                </a:tc>
                <a:tc>
                  <a:txBody>
                    <a:bodyPr wrap="square"/>
                    <a:lstStyle/>
                    <a:p>
                      <a:pPr algn="l"/>
                      <a:r>
                        <a:rPr sz="1200" b="0">
                          <a:solidFill>
                            <a:srgbClr val="1A1A2E"/>
                          </a:solidFill>
                          <a:latin typeface="游ゴシック"/>
                        </a:rPr>
                        <a:t>累積サンプル数（Welford のカウント）</a:t>
                      </a:r>
                    </a:p>
                  </a:txBody>
                  <a:tcPr>
                    <a:solidFill>
                      <a:srgbClr val="E8EEF4"/>
                    </a:solidFill>
                  </a:tcPr>
                </a:tc>
                <a:tc>
                  <a:txBody>
                    <a:bodyPr wrap="square"/>
                    <a:lstStyle/>
                    <a:p>
                      <a:pPr algn="l"/>
                      <a:r>
                        <a:rPr sz="1200" b="0">
                          <a:solidFill>
                            <a:srgbClr val="1A1A2E"/>
                          </a:solidFill>
                          <a:latin typeface="游ゴシック"/>
                        </a:rPr>
                        <a:t>14</a:t>
                      </a:r>
                    </a:p>
                  </a:txBody>
                  <a:tcPr>
                    <a:solidFill>
                      <a:srgbClr val="E8EEF4"/>
                    </a:solidFill>
                  </a:tcPr>
                </a:tc>
              </a:tr>
              <a:tr h="402336">
                <a:tc>
                  <a:txBody>
                    <a:bodyPr wrap="square"/>
                    <a:lstStyle/>
                    <a:p>
                      <a:pPr algn="l"/>
                      <a:r>
                        <a:rPr sz="1200" b="0">
                          <a:solidFill>
                            <a:srgbClr val="1A1A2E"/>
                          </a:solidFill>
                          <a:latin typeface="游ゴシック"/>
                        </a:rPr>
                        <a:t>Average_C</a:t>
                      </a:r>
                    </a:p>
                  </a:txBody>
                  <a:tcPr>
                    <a:solidFill>
                      <a:srgbClr val="FFFFFF"/>
                    </a:solidFill>
                  </a:tcPr>
                </a:tc>
                <a:tc>
                  <a:txBody>
                    <a:bodyPr wrap="square"/>
                    <a:lstStyle/>
                    <a:p>
                      <a:pPr algn="l"/>
                      <a:r>
                        <a:rPr sz="1200" b="0">
                          <a:solidFill>
                            <a:srgbClr val="1A1A2E"/>
                          </a:solidFill>
                          <a:latin typeface="游ゴシック"/>
                        </a:rPr>
                        <a:t>その時点の累積平均（℃）</a:t>
                      </a:r>
                    </a:p>
                  </a:txBody>
                  <a:tcPr>
                    <a:solidFill>
                      <a:srgbClr val="FFFFFF"/>
                    </a:solidFill>
                  </a:tcPr>
                </a:tc>
                <a:tc>
                  <a:txBody>
                    <a:bodyPr wrap="square"/>
                    <a:lstStyle/>
                    <a:p>
                      <a:pPr algn="l"/>
                      <a:r>
                        <a:rPr sz="1200" b="0">
                          <a:solidFill>
                            <a:srgbClr val="1A1A2E"/>
                          </a:solidFill>
                          <a:latin typeface="游ゴシック"/>
                        </a:rPr>
                        <a:t>124.8</a:t>
                      </a:r>
                    </a:p>
                  </a:txBody>
                  <a:tcPr>
                    <a:solidFill>
                      <a:srgbClr val="FFFFFF"/>
                    </a:solidFill>
                  </a:tcPr>
                </a:tc>
              </a:tr>
              <a:tr h="402336">
                <a:tc>
                  <a:txBody>
                    <a:bodyPr wrap="square"/>
                    <a:lstStyle/>
                    <a:p>
                      <a:pPr algn="l"/>
                      <a:r>
                        <a:rPr sz="1200" b="0">
                          <a:solidFill>
                            <a:srgbClr val="1A1A2E"/>
                          </a:solidFill>
                          <a:latin typeface="游ゴシック"/>
                        </a:rPr>
                        <a:t>StdDev_C</a:t>
                      </a:r>
                    </a:p>
                  </a:txBody>
                  <a:tcPr>
                    <a:solidFill>
                      <a:srgbClr val="E8EEF4"/>
                    </a:solidFill>
                  </a:tcPr>
                </a:tc>
                <a:tc>
                  <a:txBody>
                    <a:bodyPr wrap="square"/>
                    <a:lstStyle/>
                    <a:p>
                      <a:pPr algn="l"/>
                      <a:r>
                        <a:rPr sz="1200" b="0">
                          <a:solidFill>
                            <a:srgbClr val="1A1A2E"/>
                          </a:solidFill>
                          <a:latin typeface="游ゴシック"/>
                        </a:rPr>
                        <a:t>その時点の標準偏差（℃）</a:t>
                      </a:r>
                    </a:p>
                  </a:txBody>
                  <a:tcPr>
                    <a:solidFill>
                      <a:srgbClr val="E8EEF4"/>
                    </a:solidFill>
                  </a:tcPr>
                </a:tc>
                <a:tc>
                  <a:txBody>
                    <a:bodyPr wrap="square"/>
                    <a:lstStyle/>
                    <a:p>
                      <a:pPr algn="l"/>
                      <a:r>
                        <a:rPr sz="1200" b="0">
                          <a:solidFill>
                            <a:srgbClr val="1A1A2E"/>
                          </a:solidFill>
                          <a:latin typeface="游ゴシック"/>
                        </a:rPr>
                        <a:t>0.42</a:t>
                      </a:r>
                    </a:p>
                  </a:txBody>
                  <a:tcPr>
                    <a:solidFill>
                      <a:srgbClr val="E8EEF4"/>
                    </a:solidFill>
                  </a:tcPr>
                </a:tc>
              </a:tr>
              <a:tr h="402336">
                <a:tc>
                  <a:txBody>
                    <a:bodyPr wrap="square"/>
                    <a:lstStyle/>
                    <a:p>
                      <a:pPr algn="l"/>
                      <a:r>
                        <a:rPr sz="1200" b="0">
                          <a:solidFill>
                            <a:srgbClr val="1A1A2E"/>
                          </a:solidFill>
                          <a:latin typeface="游ゴシック"/>
                        </a:rPr>
                        <a:t>Max_C</a:t>
                      </a:r>
                    </a:p>
                  </a:txBody>
                  <a:tcPr>
                    <a:solidFill>
                      <a:srgbClr val="FFFFFF"/>
                    </a:solidFill>
                  </a:tcPr>
                </a:tc>
                <a:tc>
                  <a:txBody>
                    <a:bodyPr wrap="square"/>
                    <a:lstStyle/>
                    <a:p>
                      <a:pPr algn="l"/>
                      <a:r>
                        <a:rPr sz="1200" b="0">
                          <a:solidFill>
                            <a:srgbClr val="1A1A2E"/>
                          </a:solidFill>
                          <a:latin typeface="游ゴシック"/>
                        </a:rPr>
                        <a:t>計測開始からの最大値（℃）</a:t>
                      </a:r>
                    </a:p>
                  </a:txBody>
                  <a:tcPr>
                    <a:solidFill>
                      <a:srgbClr val="FFFFFF"/>
                    </a:solidFill>
                  </a:tcPr>
                </a:tc>
                <a:tc>
                  <a:txBody>
                    <a:bodyPr wrap="square"/>
                    <a:lstStyle/>
                    <a:p>
                      <a:pPr algn="l"/>
                      <a:r>
                        <a:rPr sz="1200" b="0">
                          <a:solidFill>
                            <a:srgbClr val="1A1A2E"/>
                          </a:solidFill>
                          <a:latin typeface="游ゴシック"/>
                        </a:rPr>
                        <a:t>128.0</a:t>
                      </a:r>
                    </a:p>
                  </a:txBody>
                  <a:tcPr>
                    <a:solidFill>
                      <a:srgbClr val="FFFFFF"/>
                    </a:solidFill>
                  </a:tcPr>
                </a:tc>
              </a:tr>
              <a:tr h="402336">
                <a:tc>
                  <a:txBody>
                    <a:bodyPr wrap="square"/>
                    <a:lstStyle/>
                    <a:p>
                      <a:pPr algn="l"/>
                      <a:r>
                        <a:rPr sz="1200" b="0">
                          <a:solidFill>
                            <a:srgbClr val="1A1A2E"/>
                          </a:solidFill>
                          <a:latin typeface="游ゴシック"/>
                        </a:rPr>
                        <a:t>Min_C</a:t>
                      </a:r>
                    </a:p>
                  </a:txBody>
                  <a:tcPr>
                    <a:solidFill>
                      <a:srgbClr val="E8EEF4"/>
                    </a:solidFill>
                  </a:tcPr>
                </a:tc>
                <a:tc>
                  <a:txBody>
                    <a:bodyPr wrap="square"/>
                    <a:lstStyle/>
                    <a:p>
                      <a:pPr algn="l"/>
                      <a:r>
                        <a:rPr sz="1200" b="0">
                          <a:solidFill>
                            <a:srgbClr val="1A1A2E"/>
                          </a:solidFill>
                          <a:latin typeface="游ゴシック"/>
                        </a:rPr>
                        <a:t>計測開始からの最小値（℃）</a:t>
                      </a:r>
                    </a:p>
                  </a:txBody>
                  <a:tcPr>
                    <a:solidFill>
                      <a:srgbClr val="E8EEF4"/>
                    </a:solidFill>
                  </a:tcPr>
                </a:tc>
                <a:tc>
                  <a:txBody>
                    <a:bodyPr wrap="square"/>
                    <a:lstStyle/>
                    <a:p>
                      <a:pPr algn="l"/>
                      <a:r>
                        <a:rPr sz="1200" b="0">
                          <a:solidFill>
                            <a:srgbClr val="1A1A2E"/>
                          </a:solidFill>
                          <a:latin typeface="游ゴシック"/>
                        </a:rPr>
                        <a:t>121.5</a:t>
                      </a:r>
                    </a:p>
                  </a:txBody>
                  <a:tcPr>
                    <a:solidFill>
                      <a:srgbClr val="E8EEF4"/>
                    </a:solidFill>
                  </a:tcPr>
                </a:tc>
              </a:tr>
              <a:tr h="402336">
                <a:tc>
                  <a:txBody>
                    <a:bodyPr wrap="square"/>
                    <a:lstStyle/>
                    <a:p>
                      <a:pPr algn="l"/>
                      <a:r>
                        <a:rPr sz="1200" b="0">
                          <a:solidFill>
                            <a:srgbClr val="1A1A2E"/>
                          </a:solidFill>
                          <a:latin typeface="游ゴシック"/>
                        </a:rPr>
                        <a:t>HI_ALARM</a:t>
                      </a:r>
                    </a:p>
                  </a:txBody>
                  <a:tcPr>
                    <a:solidFill>
                      <a:srgbClr val="FFFFFF"/>
                    </a:solidFill>
                  </a:tcPr>
                </a:tc>
                <a:tc>
                  <a:txBody>
                    <a:bodyPr wrap="square"/>
                    <a:lstStyle/>
                    <a:p>
                      <a:pPr algn="l"/>
                      <a:r>
                        <a:rPr sz="1200" b="0">
                          <a:solidFill>
                            <a:srgbClr val="1A1A2E"/>
                          </a:solidFill>
                          <a:latin typeface="游ゴシック"/>
                        </a:rPr>
                        <a:t>上限アラーム発報フラグ</a:t>
                      </a:r>
                    </a:p>
                  </a:txBody>
                  <a:tcPr>
                    <a:solidFill>
                      <a:srgbClr val="FFFFFF"/>
                    </a:solidFill>
                  </a:tcPr>
                </a:tc>
                <a:tc>
                  <a:txBody>
                    <a:bodyPr wrap="square"/>
                    <a:lstStyle/>
                    <a:p>
                      <a:pPr algn="l"/>
                      <a:r>
                        <a:rPr sz="1200" b="0">
                          <a:solidFill>
                            <a:srgbClr val="1A1A2E"/>
                          </a:solidFill>
                          <a:latin typeface="游ゴシック"/>
                        </a:rPr>
                        <a:t>0 / 1</a:t>
                      </a:r>
                    </a:p>
                  </a:txBody>
                  <a:tcPr>
                    <a:solidFill>
                      <a:srgbClr val="FFFFFF"/>
                    </a:solidFill>
                  </a:tcPr>
                </a:tc>
              </a:tr>
              <a:tr h="402336">
                <a:tc>
                  <a:txBody>
                    <a:bodyPr wrap="square"/>
                    <a:lstStyle/>
                    <a:p>
                      <a:pPr algn="l"/>
                      <a:r>
                        <a:rPr sz="1200" b="0">
                          <a:solidFill>
                            <a:srgbClr val="1A1A2E"/>
                          </a:solidFill>
                          <a:latin typeface="游ゴシック"/>
                        </a:rPr>
                        <a:t>LO_ALARM</a:t>
                      </a:r>
                    </a:p>
                  </a:txBody>
                  <a:tcPr>
                    <a:solidFill>
                      <a:srgbClr val="E8EEF4"/>
                    </a:solidFill>
                  </a:tcPr>
                </a:tc>
                <a:tc>
                  <a:txBody>
                    <a:bodyPr wrap="square"/>
                    <a:lstStyle/>
                    <a:p>
                      <a:pPr algn="l"/>
                      <a:r>
                        <a:rPr sz="1200" b="0">
                          <a:solidFill>
                            <a:srgbClr val="1A1A2E"/>
                          </a:solidFill>
                          <a:latin typeface="游ゴシック"/>
                        </a:rPr>
                        <a:t>下限アラーム発報フラグ</a:t>
                      </a:r>
                    </a:p>
                  </a:txBody>
                  <a:tcPr>
                    <a:solidFill>
                      <a:srgbClr val="E8EEF4"/>
                    </a:solidFill>
                  </a:tcPr>
                </a:tc>
                <a:tc>
                  <a:txBody>
                    <a:bodyPr wrap="square"/>
                    <a:lstStyle/>
                    <a:p>
                      <a:pPr algn="l"/>
                      <a:r>
                        <a:rPr sz="1200" b="0">
                          <a:solidFill>
                            <a:srgbClr val="1A1A2E"/>
                          </a:solidFill>
                          <a:latin typeface="游ゴシック"/>
                        </a:rPr>
                        <a:t>0 / 1</a:t>
                      </a:r>
                    </a:p>
                  </a:txBody>
                  <a:tcPr>
                    <a:solidFill>
                      <a:srgbClr val="E8EEF4"/>
                    </a:solidFill>
                  </a:tcPr>
                </a:tc>
              </a:tr>
            </a:tbl>
          </a:graphicData>
        </a:graphic>
      </p:graphicFrame>
      <p:sp>
        <p:nvSpPr>
          <p:cNvPr id="13" name="TextBox 12"/>
          <p:cNvSpPr txBox="1"/>
          <p:nvPr/>
        </p:nvSpPr>
        <p:spPr>
          <a:xfrm>
            <a:off x="7635240" y="1097280"/>
            <a:ext cx="4389120" cy="384048"/>
          </a:xfrm>
          <a:prstGeom prst="rect">
            <a:avLst/>
          </a:prstGeom>
          <a:noFill/>
        </p:spPr>
        <p:txBody>
          <a:bodyPr wrap="square">
            <a:spAutoFit/>
          </a:bodyPr>
          <a:lstStyle/>
          <a:p>
            <a:pPr algn="l"/>
            <a:r>
              <a:rPr sz="1600" b="1" i="0">
                <a:solidFill>
                  <a:srgbClr val="0D2B45"/>
                </a:solidFill>
                <a:latin typeface="游ゴシック"/>
              </a:rPr>
              <a:t>PCでの読み込み手順（Excel）</a:t>
            </a:r>
          </a:p>
        </p:txBody>
      </p:sp>
      <p:sp>
        <p:nvSpPr>
          <p:cNvPr id="14" name="TextBox 13"/>
          <p:cNvSpPr txBox="1"/>
          <p:nvPr/>
        </p:nvSpPr>
        <p:spPr>
          <a:xfrm>
            <a:off x="7635240" y="1572768"/>
            <a:ext cx="4389120" cy="594360"/>
          </a:xfrm>
          <a:prstGeom prst="rect">
            <a:avLst/>
          </a:prstGeom>
          <a:noFill/>
        </p:spPr>
        <p:txBody>
          <a:bodyPr wrap="square">
            <a:spAutoFit/>
          </a:bodyPr>
          <a:lstStyle/>
          <a:p>
            <a:pPr algn="l"/>
            <a:r>
              <a:rPr sz="1300" b="0" i="0">
                <a:solidFill>
                  <a:srgbClr val="1A1A2E"/>
                </a:solidFill>
                <a:latin typeface="游ゴシック"/>
              </a:rPr>
              <a:t>① BtnA で計測終了（RESULT画面）</a:t>
            </a:r>
          </a:p>
        </p:txBody>
      </p:sp>
      <p:sp>
        <p:nvSpPr>
          <p:cNvPr id="15" name="TextBox 14"/>
          <p:cNvSpPr txBox="1"/>
          <p:nvPr/>
        </p:nvSpPr>
        <p:spPr>
          <a:xfrm>
            <a:off x="7635240" y="2231136"/>
            <a:ext cx="4389120" cy="594360"/>
          </a:xfrm>
          <a:prstGeom prst="rect">
            <a:avLst/>
          </a:prstGeom>
          <a:noFill/>
        </p:spPr>
        <p:txBody>
          <a:bodyPr wrap="square">
            <a:spAutoFit/>
          </a:bodyPr>
          <a:lstStyle/>
          <a:p>
            <a:pPr algn="l"/>
            <a:r>
              <a:rPr sz="1300" b="0" i="0">
                <a:solidFill>
                  <a:srgbClr val="1A1A2E"/>
                </a:solidFill>
                <a:latin typeface="游ゴシック"/>
              </a:rPr>
              <a:t>② MicroSDカードをPCに挿入</a:t>
            </a:r>
          </a:p>
        </p:txBody>
      </p:sp>
      <p:sp>
        <p:nvSpPr>
          <p:cNvPr id="16" name="TextBox 15"/>
          <p:cNvSpPr txBox="1"/>
          <p:nvPr/>
        </p:nvSpPr>
        <p:spPr>
          <a:xfrm>
            <a:off x="7635240" y="2889504"/>
            <a:ext cx="4389120" cy="594360"/>
          </a:xfrm>
          <a:prstGeom prst="rect">
            <a:avLst/>
          </a:prstGeom>
          <a:noFill/>
        </p:spPr>
        <p:txBody>
          <a:bodyPr wrap="square">
            <a:spAutoFit/>
          </a:bodyPr>
          <a:lstStyle/>
          <a:p>
            <a:pPr algn="l"/>
            <a:r>
              <a:rPr sz="1300" b="0" i="0">
                <a:solidFill>
                  <a:srgbClr val="1A1A2E"/>
                </a:solidFill>
                <a:latin typeface="游ゴシック"/>
              </a:rPr>
              <a:t>③ DATA_0000.csv を開く（連番で採番）</a:t>
            </a:r>
          </a:p>
        </p:txBody>
      </p:sp>
      <p:sp>
        <p:nvSpPr>
          <p:cNvPr id="17" name="TextBox 16"/>
          <p:cNvSpPr txBox="1"/>
          <p:nvPr/>
        </p:nvSpPr>
        <p:spPr>
          <a:xfrm>
            <a:off x="7635240" y="3547872"/>
            <a:ext cx="4389120" cy="594360"/>
          </a:xfrm>
          <a:prstGeom prst="rect">
            <a:avLst/>
          </a:prstGeom>
          <a:noFill/>
        </p:spPr>
        <p:txBody>
          <a:bodyPr wrap="square">
            <a:spAutoFit/>
          </a:bodyPr>
          <a:lstStyle/>
          <a:p>
            <a:pPr algn="l"/>
            <a:r>
              <a:rPr sz="1300" b="0" i="0">
                <a:solidFill>
                  <a:srgbClr val="1A1A2E"/>
                </a:solidFill>
                <a:latin typeface="游ゴシック"/>
              </a:rPr>
              <a:t>④ Excelが列を自動認識して読込み</a:t>
            </a:r>
          </a:p>
        </p:txBody>
      </p:sp>
      <p:sp>
        <p:nvSpPr>
          <p:cNvPr id="18" name="TextBox 17"/>
          <p:cNvSpPr txBox="1"/>
          <p:nvPr/>
        </p:nvSpPr>
        <p:spPr>
          <a:xfrm>
            <a:off x="7635240" y="4206240"/>
            <a:ext cx="4389120" cy="594360"/>
          </a:xfrm>
          <a:prstGeom prst="rect">
            <a:avLst/>
          </a:prstGeom>
          <a:noFill/>
        </p:spPr>
        <p:txBody>
          <a:bodyPr wrap="square">
            <a:spAutoFit/>
          </a:bodyPr>
          <a:lstStyle/>
          <a:p>
            <a:pPr algn="l"/>
            <a:r>
              <a:rPr sz="1300" b="0" i="0">
                <a:solidFill>
                  <a:srgbClr val="1A1A2E"/>
                </a:solidFill>
                <a:latin typeface="游ゴシック"/>
              </a:rPr>
              <a:t>⑤ ElapsedSec を横軸にグラフ挿入</a:t>
            </a:r>
          </a:p>
        </p:txBody>
      </p:sp>
      <p:sp>
        <p:nvSpPr>
          <p:cNvPr id="19" name="TextBox 18"/>
          <p:cNvSpPr txBox="1"/>
          <p:nvPr/>
        </p:nvSpPr>
        <p:spPr>
          <a:xfrm>
            <a:off x="7635240" y="4864607"/>
            <a:ext cx="4389120" cy="594360"/>
          </a:xfrm>
          <a:prstGeom prst="rect">
            <a:avLst/>
          </a:prstGeom>
          <a:noFill/>
        </p:spPr>
        <p:txBody>
          <a:bodyPr wrap="square">
            <a:spAutoFit/>
          </a:bodyPr>
          <a:lstStyle/>
          <a:p>
            <a:pPr algn="l"/>
            <a:r>
              <a:rPr sz="1300" b="0" i="0">
                <a:solidFill>
                  <a:srgbClr val="1A1A2E"/>
                </a:solidFill>
                <a:latin typeface="游ゴシック"/>
              </a:rPr>
              <a:t>⑥ HI_ALARM/LO_ALARM列で
　フィルタをかけて異常点を確認</a:t>
            </a:r>
          </a:p>
        </p:txBody>
      </p:sp>
      <p:sp>
        <p:nvSpPr>
          <p:cNvPr id="20" name="Rectangle 19"/>
          <p:cNvSpPr/>
          <p:nvPr/>
        </p:nvSpPr>
        <p:spPr>
          <a:xfrm>
            <a:off x="320040" y="5925312"/>
            <a:ext cx="11521440" cy="50292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961888"/>
            <a:ext cx="11155680" cy="438912"/>
          </a:xfrm>
          <a:prstGeom prst="rect">
            <a:avLst/>
          </a:prstGeom>
          <a:noFill/>
        </p:spPr>
        <p:txBody>
          <a:bodyPr wrap="square">
            <a:spAutoFit/>
          </a:bodyPr>
          <a:lstStyle/>
          <a:p>
            <a:pPr algn="l"/>
            <a:r>
              <a:rPr sz="1300" b="0" i="0">
                <a:solidFill>
                  <a:srgbClr val="1A1A2E"/>
                </a:solidFill>
                <a:latin typeface="游ゴシック"/>
              </a:rPr>
              <a:t>📁  ファイル名は DATA_0000.csv から自動採番（起動後に /DATA_0000, /DATA_0001 … と増加）。同名上書きなし。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ソフトウェアアーキテクチャ</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3  技術詳細</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10 / 17</a:t>
            </a:r>
          </a:p>
        </p:txBody>
      </p:sp>
      <p:sp>
        <p:nvSpPr>
          <p:cNvPr id="10" name="TextBox 9"/>
          <p:cNvSpPr txBox="1"/>
          <p:nvPr/>
        </p:nvSpPr>
        <p:spPr>
          <a:xfrm>
            <a:off x="320040" y="1097280"/>
            <a:ext cx="11430000" cy="457200"/>
          </a:xfrm>
          <a:prstGeom prst="rect">
            <a:avLst/>
          </a:prstGeom>
          <a:noFill/>
        </p:spPr>
        <p:txBody>
          <a:bodyPr wrap="square">
            <a:spAutoFit/>
          </a:bodyPr>
          <a:lstStyle/>
          <a:p>
            <a:pPr algn="l"/>
            <a:r>
              <a:rPr sz="1700" b="1" i="0">
                <a:solidFill>
                  <a:srgbClr val="0D2B45"/>
                </a:solidFill>
                <a:latin typeface="游ゴシック"/>
              </a:rPr>
              <a:t>PLC 設計経験 → C++ 組み込み開発への体系的転用</a:t>
            </a:r>
          </a:p>
        </p:txBody>
      </p:sp>
      <p:graphicFrame>
        <p:nvGraphicFramePr>
          <p:cNvPr id="11" name="Table 10"/>
          <p:cNvGraphicFramePr>
            <a:graphicFrameLocks noGrp="1"/>
          </p:cNvGraphicFramePr>
          <p:nvPr/>
        </p:nvGraphicFramePr>
        <p:xfrm>
          <a:off x="320040" y="1645920"/>
          <a:ext cx="11521440" cy="2834640"/>
        </p:xfrm>
        <a:graphic>
          <a:graphicData uri="http://schemas.openxmlformats.org/drawingml/2006/table">
            <a:tbl>
              <a:tblPr firstRow="1" bandRow="1">
                <a:tableStyleId>{5C22544A-7EE6-4342-B048-85BDC9FD1C3A}</a:tableStyleId>
              </a:tblPr>
              <a:tblGrid>
                <a:gridCol w="2834640"/>
                <a:gridCol w="4297680"/>
                <a:gridCol w="4389120"/>
              </a:tblGrid>
              <a:tr h="566928">
                <a:tc>
                  <a:txBody>
                    <a:bodyPr wrap="square"/>
                    <a:lstStyle/>
                    <a:p>
                      <a:pPr algn="l"/>
                      <a:r>
                        <a:rPr sz="1300" b="1">
                          <a:solidFill>
                            <a:srgbClr val="FFFFFF"/>
                          </a:solidFill>
                          <a:latin typeface="游ゴシック"/>
                        </a:rPr>
                        <a:t>PLC の設計手法</a:t>
                      </a:r>
                    </a:p>
                  </a:txBody>
                  <a:tcPr>
                    <a:solidFill>
                      <a:srgbClr val="0D2B45"/>
                    </a:solidFill>
                  </a:tcPr>
                </a:tc>
                <a:tc>
                  <a:txBody>
                    <a:bodyPr wrap="square"/>
                    <a:lstStyle/>
                    <a:p>
                      <a:pPr algn="l"/>
                      <a:r>
                        <a:rPr sz="1300" b="1">
                          <a:solidFill>
                            <a:srgbClr val="FFFFFF"/>
                          </a:solidFill>
                          <a:latin typeface="游ゴシック"/>
                        </a:rPr>
                        <a:t>C++ での実装</a:t>
                      </a:r>
                    </a:p>
                  </a:txBody>
                  <a:tcPr>
                    <a:solidFill>
                      <a:srgbClr val="0D2B45"/>
                    </a:solidFill>
                  </a:tcPr>
                </a:tc>
                <a:tc>
                  <a:txBody>
                    <a:bodyPr wrap="square"/>
                    <a:lstStyle/>
                    <a:p>
                      <a:pPr algn="l"/>
                      <a:r>
                        <a:rPr sz="1300" b="1">
                          <a:solidFill>
                            <a:srgbClr val="FFFFFF"/>
                          </a:solidFill>
                          <a:latin typeface="游ゴシック"/>
                        </a:rPr>
                        <a:t>目的・効果</a:t>
                      </a:r>
                    </a:p>
                  </a:txBody>
                  <a:tcPr>
                    <a:solidFill>
                      <a:srgbClr val="0D2B45"/>
                    </a:solidFill>
                  </a:tcPr>
                </a:tc>
              </a:tr>
              <a:tr h="566928">
                <a:tc>
                  <a:txBody>
                    <a:bodyPr wrap="square"/>
                    <a:lstStyle/>
                    <a:p>
                      <a:pPr algn="l"/>
                      <a:r>
                        <a:rPr sz="1300" b="0">
                          <a:solidFill>
                            <a:srgbClr val="1A1A2E"/>
                          </a:solidFill>
                          <a:latin typeface="游ゴシック"/>
                        </a:rPr>
                        <a:t>スキャン周期（固定周期）</a:t>
                      </a:r>
                    </a:p>
                  </a:txBody>
                  <a:tcPr>
                    <a:solidFill>
                      <a:srgbClr val="FFFFFF"/>
                    </a:solidFill>
                  </a:tcPr>
                </a:tc>
                <a:tc>
                  <a:txBody>
                    <a:bodyPr wrap="square"/>
                    <a:lstStyle/>
                    <a:p>
                      <a:pPr algn="l"/>
                      <a:r>
                        <a:rPr sz="1300" b="0">
                          <a:solidFill>
                            <a:srgbClr val="1A1A2E"/>
                          </a:solidFill>
                          <a:latin typeface="游ゴシック"/>
                        </a:rPr>
                        <a:t>millis() による3タスク時分割</a:t>
                      </a:r>
                    </a:p>
                    <a:p>
                      <a:pPr algn="l"/>
                      <a:r>
                        <a:rPr sz="1300" b="0">
                          <a:solidFill>
                            <a:srgbClr val="1A1A2E"/>
                          </a:solidFill>
                          <a:latin typeface="游ゴシック"/>
                        </a:rPr>
                        <a:t>IO:10ms / Logic:50ms / UI:200ms</a:t>
                      </a:r>
                    </a:p>
                  </a:txBody>
                  <a:tcPr>
                    <a:solidFill>
                      <a:srgbClr val="FFFFFF"/>
                    </a:solidFill>
                  </a:tcPr>
                </a:tc>
                <a:tc>
                  <a:txBody>
                    <a:bodyPr wrap="square"/>
                    <a:lstStyle/>
                    <a:p>
                      <a:pPr algn="l"/>
                      <a:r>
                        <a:rPr sz="1300" b="0">
                          <a:solidFill>
                            <a:srgbClr val="1A1A2E"/>
                          </a:solidFill>
                          <a:latin typeface="游ゴシック"/>
                        </a:rPr>
                        <a:t>センサ読取と画面描画の干渉を防止</a:t>
                      </a:r>
                    </a:p>
                  </a:txBody>
                  <a:tcPr>
                    <a:solidFill>
                      <a:srgbClr val="FFFFFF"/>
                    </a:solidFill>
                  </a:tcPr>
                </a:tc>
              </a:tr>
              <a:tr h="566928">
                <a:tc>
                  <a:txBody>
                    <a:bodyPr wrap="square"/>
                    <a:lstStyle/>
                    <a:p>
                      <a:pPr algn="l"/>
                      <a:r>
                        <a:rPr sz="1300" b="0">
                          <a:solidFill>
                            <a:srgbClr val="1A1A2E"/>
                          </a:solidFill>
                          <a:latin typeface="游ゴシック"/>
                        </a:rPr>
                        <a:t>グローバルラベル</a:t>
                      </a:r>
                    </a:p>
                    <a:p>
                      <a:pPr algn="l"/>
                      <a:r>
                        <a:rPr sz="1300" b="0">
                          <a:solidFill>
                            <a:srgbClr val="1A1A2E"/>
                          </a:solidFill>
                          <a:latin typeface="游ゴシック"/>
                        </a:rPr>
                        <a:t>（全局共有変数）</a:t>
                      </a:r>
                    </a:p>
                  </a:txBody>
                  <a:tcPr>
                    <a:solidFill>
                      <a:srgbClr val="E8EEF4"/>
                    </a:solidFill>
                  </a:tcPr>
                </a:tc>
                <a:tc>
                  <a:txBody>
                    <a:bodyPr wrap="square"/>
                    <a:lstStyle/>
                    <a:p>
                      <a:pPr algn="l"/>
                      <a:r>
                        <a:rPr sz="1300" b="0">
                          <a:solidFill>
                            <a:srgbClr val="1A1A2E"/>
                          </a:solidFill>
                          <a:latin typeface="游ゴシック"/>
                        </a:rPr>
                        <a:t>struct G { … } による</a:t>
                      </a:r>
                    </a:p>
                    <a:p>
                      <a:pPr algn="l"/>
                      <a:r>
                        <a:rPr sz="1300" b="0">
                          <a:solidFill>
                            <a:srgbClr val="1A1A2E"/>
                          </a:solidFill>
                          <a:latin typeface="游ゴシック"/>
                        </a:rPr>
                        <a:t>全変数の一元管理</a:t>
                      </a:r>
                    </a:p>
                  </a:txBody>
                  <a:tcPr>
                    <a:solidFill>
                      <a:srgbClr val="E8EEF4"/>
                    </a:solidFill>
                  </a:tcPr>
                </a:tc>
                <a:tc>
                  <a:txBody>
                    <a:bodyPr wrap="square"/>
                    <a:lstStyle/>
                    <a:p>
                      <a:pPr algn="l"/>
                      <a:r>
                        <a:rPr sz="1300" b="0">
                          <a:solidFill>
                            <a:srgbClr val="1A1A2E"/>
                          </a:solidFill>
                          <a:latin typeface="游ゴシック"/>
                        </a:rPr>
                        <a:t>モジュール間の変数参照を一箇所に集約</a:t>
                      </a:r>
                    </a:p>
                  </a:txBody>
                  <a:tcPr>
                    <a:solidFill>
                      <a:srgbClr val="E8EEF4"/>
                    </a:solidFill>
                  </a:tcPr>
                </a:tc>
              </a:tr>
              <a:tr h="566928">
                <a:tc>
                  <a:txBody>
                    <a:bodyPr wrap="square"/>
                    <a:lstStyle/>
                    <a:p>
                      <a:pPr algn="l"/>
                      <a:r>
                        <a:rPr sz="1300" b="0">
                          <a:solidFill>
                            <a:srgbClr val="1A1A2E"/>
                          </a:solidFill>
                          <a:latin typeface="游ゴシック"/>
                        </a:rPr>
                        <a:t>工程歩進（S0→S1→S2）</a:t>
                      </a:r>
                    </a:p>
                  </a:txBody>
                  <a:tcPr>
                    <a:solidFill>
                      <a:srgbClr val="FFFFFF"/>
                    </a:solidFill>
                  </a:tcPr>
                </a:tc>
                <a:tc>
                  <a:txBody>
                    <a:bodyPr wrap="square"/>
                    <a:lstStyle/>
                    <a:p>
                      <a:pPr algn="l"/>
                      <a:r>
                        <a:rPr sz="1300" b="0">
                          <a:solidFill>
                            <a:srgbClr val="1A1A2E"/>
                          </a:solidFill>
                          <a:latin typeface="游ゴシック"/>
                        </a:rPr>
                        <a:t>State Machine</a:t>
                      </a:r>
                    </a:p>
                    <a:p>
                      <a:pPr algn="l"/>
                      <a:r>
                        <a:rPr sz="1300" b="0">
                          <a:solidFill>
                            <a:srgbClr val="1A1A2E"/>
                          </a:solidFill>
                          <a:latin typeface="游ゴシック"/>
                        </a:rPr>
                        <a:t>IDLE→RUN→RESULT→IDLE</a:t>
                      </a:r>
                    </a:p>
                  </a:txBody>
                  <a:tcPr>
                    <a:solidFill>
                      <a:srgbClr val="FFFFFF"/>
                    </a:solidFill>
                  </a:tcPr>
                </a:tc>
                <a:tc>
                  <a:txBody>
                    <a:bodyPr wrap="square"/>
                    <a:lstStyle/>
                    <a:p>
                      <a:pPr algn="l"/>
                      <a:r>
                        <a:rPr sz="1300" b="0">
                          <a:solidFill>
                            <a:srgbClr val="1A1A2E"/>
                          </a:solidFill>
                          <a:latin typeface="游ゴシック"/>
                        </a:rPr>
                        <a:t>状態に応じた処理切替・誤動作防止</a:t>
                      </a:r>
                    </a:p>
                  </a:txBody>
                  <a:tcPr>
                    <a:solidFill>
                      <a:srgbClr val="FFFFFF"/>
                    </a:solidFill>
                  </a:tcPr>
                </a:tc>
              </a:tr>
              <a:tr h="566928">
                <a:tc>
                  <a:txBody>
                    <a:bodyPr wrap="square"/>
                    <a:lstStyle/>
                    <a:p>
                      <a:pPr algn="l"/>
                      <a:r>
                        <a:rPr sz="1300" b="0">
                          <a:solidFill>
                            <a:srgbClr val="1A1A2E"/>
                          </a:solidFill>
                          <a:latin typeface="游ゴシック"/>
                        </a:rPr>
                        <a:t>インターロック条件</a:t>
                      </a:r>
                    </a:p>
                  </a:txBody>
                  <a:tcPr>
                    <a:solidFill>
                      <a:srgbClr val="E8EEF4"/>
                    </a:solidFill>
                  </a:tcPr>
                </a:tc>
                <a:tc>
                  <a:txBody>
                    <a:bodyPr wrap="square"/>
                    <a:lstStyle/>
                    <a:p>
                      <a:pPr algn="l"/>
                      <a:r>
                        <a:rPr sz="1300" b="0">
                          <a:solidFill>
                            <a:srgbClr val="1A1A2E"/>
                          </a:solidFill>
                          <a:latin typeface="游ゴシック"/>
                        </a:rPr>
                        <a:t>HI/LO アラーム判定ロジック</a:t>
                      </a:r>
                    </a:p>
                  </a:txBody>
                  <a:tcPr>
                    <a:solidFill>
                      <a:srgbClr val="E8EEF4"/>
                    </a:solidFill>
                  </a:tcPr>
                </a:tc>
                <a:tc>
                  <a:txBody>
                    <a:bodyPr wrap="square"/>
                    <a:lstStyle/>
                    <a:p>
                      <a:pPr algn="l"/>
                      <a:r>
                        <a:rPr sz="1300" b="0">
                          <a:solidFill>
                            <a:srgbClr val="1A1A2E"/>
                          </a:solidFill>
                          <a:latin typeface="游ゴシック"/>
                        </a:rPr>
                        <a:t>設定温度超過のリアルタイム検知</a:t>
                      </a:r>
                    </a:p>
                  </a:txBody>
                  <a:tcPr>
                    <a:solidFill>
                      <a:srgbClr val="E8EEF4"/>
                    </a:solidFill>
                  </a:tcPr>
                </a:tc>
              </a:tr>
            </a:tbl>
          </a:graphicData>
        </a:graphic>
      </p:graphicFrame>
      <p:sp>
        <p:nvSpPr>
          <p:cNvPr id="12" name="TextBox 11"/>
          <p:cNvSpPr txBox="1"/>
          <p:nvPr/>
        </p:nvSpPr>
        <p:spPr>
          <a:xfrm>
            <a:off x="320040" y="5833872"/>
            <a:ext cx="11430000" cy="594360"/>
          </a:xfrm>
          <a:prstGeom prst="rect">
            <a:avLst/>
          </a:prstGeom>
          <a:noFill/>
        </p:spPr>
        <p:txBody>
          <a:bodyPr wrap="square">
            <a:spAutoFit/>
          </a:bodyPr>
          <a:lstStyle/>
          <a:p>
            <a:pPr algn="l"/>
            <a:r>
              <a:rPr sz="1300" b="0" i="0">
                <a:solidFill>
                  <a:srgbClr val="0D2B45"/>
                </a:solidFill>
                <a:latin typeface="游ゴシック"/>
              </a:rPr>
              <a:t>💡  特定の言語・ツールへの依存ではなく「制御の本質」として理解することで、異なる技術環境でも同様の設計が適用可能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タスク設計（3タスク・マルチレート）</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3  技術詳細</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11 / 17</a:t>
            </a:r>
          </a:p>
        </p:txBody>
      </p:sp>
      <p:sp>
        <p:nvSpPr>
          <p:cNvPr id="10" name="TextBox 9"/>
          <p:cNvSpPr txBox="1"/>
          <p:nvPr/>
        </p:nvSpPr>
        <p:spPr>
          <a:xfrm>
            <a:off x="320040" y="1097280"/>
            <a:ext cx="11430000" cy="457200"/>
          </a:xfrm>
          <a:prstGeom prst="rect">
            <a:avLst/>
          </a:prstGeom>
          <a:noFill/>
        </p:spPr>
        <p:txBody>
          <a:bodyPr wrap="square">
            <a:spAutoFit/>
          </a:bodyPr>
          <a:lstStyle/>
          <a:p>
            <a:pPr algn="l"/>
            <a:r>
              <a:rPr sz="1500" b="0" i="0">
                <a:solidFill>
                  <a:srgbClr val="1A1A2E"/>
                </a:solidFill>
                <a:latin typeface="游ゴシック"/>
              </a:rPr>
              <a:t>単一 loop() を使わず、周期の異なる3タスクを millis() で時分割実行することで処理干渉を防止</a:t>
            </a:r>
          </a:p>
        </p:txBody>
      </p:sp>
      <p:sp>
        <p:nvSpPr>
          <p:cNvPr id="11" name="Rectangle 10"/>
          <p:cNvSpPr/>
          <p:nvPr/>
        </p:nvSpPr>
        <p:spPr>
          <a:xfrm>
            <a:off x="320040" y="1691640"/>
            <a:ext cx="3749039" cy="370332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691640"/>
            <a:ext cx="3749039" cy="73152"/>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01368"/>
            <a:ext cx="3474719" cy="502920"/>
          </a:xfrm>
          <a:prstGeom prst="rect">
            <a:avLst/>
          </a:prstGeom>
          <a:noFill/>
        </p:spPr>
        <p:txBody>
          <a:bodyPr wrap="square">
            <a:spAutoFit/>
          </a:bodyPr>
          <a:lstStyle/>
          <a:p>
            <a:pPr algn="l"/>
            <a:r>
              <a:rPr sz="1800" b="1" i="0">
                <a:solidFill>
                  <a:srgbClr val="0D2B45"/>
                </a:solidFill>
                <a:latin typeface="游ゴシック"/>
              </a:rPr>
              <a:t>IO_Task</a:t>
            </a:r>
          </a:p>
        </p:txBody>
      </p:sp>
      <p:sp>
        <p:nvSpPr>
          <p:cNvPr id="14" name="TextBox 13"/>
          <p:cNvSpPr txBox="1"/>
          <p:nvPr/>
        </p:nvSpPr>
        <p:spPr>
          <a:xfrm>
            <a:off x="457200" y="2313432"/>
            <a:ext cx="3474719" cy="365760"/>
          </a:xfrm>
          <a:prstGeom prst="rect">
            <a:avLst/>
          </a:prstGeom>
          <a:noFill/>
        </p:spPr>
        <p:txBody>
          <a:bodyPr wrap="square">
            <a:spAutoFit/>
          </a:bodyPr>
          <a:lstStyle/>
          <a:p>
            <a:pPr algn="l"/>
            <a:r>
              <a:rPr sz="1400" b="1" i="0">
                <a:solidFill>
                  <a:srgbClr val="E8621A"/>
                </a:solidFill>
                <a:latin typeface="游ゴシック"/>
              </a:rPr>
              <a:t>周期：10 ms</a:t>
            </a:r>
          </a:p>
        </p:txBody>
      </p:sp>
      <p:sp>
        <p:nvSpPr>
          <p:cNvPr id="15" name="TextBox 14"/>
          <p:cNvSpPr txBox="1"/>
          <p:nvPr/>
        </p:nvSpPr>
        <p:spPr>
          <a:xfrm>
            <a:off x="457200" y="2651760"/>
            <a:ext cx="3474719" cy="365760"/>
          </a:xfrm>
          <a:prstGeom prst="rect">
            <a:avLst/>
          </a:prstGeom>
          <a:noFill/>
        </p:spPr>
        <p:txBody>
          <a:bodyPr wrap="square">
            <a:spAutoFit/>
          </a:bodyPr>
          <a:lstStyle/>
          <a:p>
            <a:pPr algn="l"/>
            <a:r>
              <a:rPr sz="1300" b="0" i="0">
                <a:solidFill>
                  <a:srgbClr val="27AE60"/>
                </a:solidFill>
                <a:latin typeface="游ゴシック"/>
              </a:rPr>
              <a:t>実行余裕率：95%</a:t>
            </a:r>
          </a:p>
        </p:txBody>
      </p:sp>
      <p:sp>
        <p:nvSpPr>
          <p:cNvPr id="16" name="TextBox 15"/>
          <p:cNvSpPr txBox="1"/>
          <p:nvPr/>
        </p:nvSpPr>
        <p:spPr>
          <a:xfrm>
            <a:off x="457200" y="3081528"/>
            <a:ext cx="3474719" cy="2194560"/>
          </a:xfrm>
          <a:prstGeom prst="rect">
            <a:avLst/>
          </a:prstGeom>
          <a:noFill/>
        </p:spPr>
        <p:txBody>
          <a:bodyPr wrap="square">
            <a:spAutoFit/>
          </a:bodyPr>
          <a:lstStyle/>
          <a:p>
            <a:pPr algn="l"/>
            <a:r>
              <a:rPr sz="1200" b="0" i="0">
                <a:solidFill>
                  <a:srgbClr val="1A1A2E"/>
                </a:solidFill>
                <a:latin typeface="游ゴシック"/>
              </a:rPr>
              <a:t>・M5.update()（ボタンエッジ検出）
・センサ読取（MAX31855 / SPI）
　　読取間隔は TC_READ_INTERVAL=500ms
・LPFフィルタ適用（α=0.1）
・アラーム判定（ヒステリシス付き）
・SD書込（10行バッファごと）</a:t>
            </a:r>
          </a:p>
        </p:txBody>
      </p:sp>
      <p:sp>
        <p:nvSpPr>
          <p:cNvPr id="17" name="Rectangle 16"/>
          <p:cNvSpPr/>
          <p:nvPr/>
        </p:nvSpPr>
        <p:spPr>
          <a:xfrm>
            <a:off x="4279392" y="1691640"/>
            <a:ext cx="3749039" cy="370332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79392" y="1691640"/>
            <a:ext cx="3749039" cy="73152"/>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16552" y="1801368"/>
            <a:ext cx="3474719" cy="502920"/>
          </a:xfrm>
          <a:prstGeom prst="rect">
            <a:avLst/>
          </a:prstGeom>
          <a:noFill/>
        </p:spPr>
        <p:txBody>
          <a:bodyPr wrap="square">
            <a:spAutoFit/>
          </a:bodyPr>
          <a:lstStyle/>
          <a:p>
            <a:pPr algn="l"/>
            <a:r>
              <a:rPr sz="1800" b="1" i="0">
                <a:solidFill>
                  <a:srgbClr val="0D2B45"/>
                </a:solidFill>
                <a:latin typeface="游ゴシック"/>
              </a:rPr>
              <a:t>Logic_Task</a:t>
            </a:r>
          </a:p>
        </p:txBody>
      </p:sp>
      <p:sp>
        <p:nvSpPr>
          <p:cNvPr id="20" name="TextBox 19"/>
          <p:cNvSpPr txBox="1"/>
          <p:nvPr/>
        </p:nvSpPr>
        <p:spPr>
          <a:xfrm>
            <a:off x="4416552" y="2313432"/>
            <a:ext cx="3474719" cy="365760"/>
          </a:xfrm>
          <a:prstGeom prst="rect">
            <a:avLst/>
          </a:prstGeom>
          <a:noFill/>
        </p:spPr>
        <p:txBody>
          <a:bodyPr wrap="square">
            <a:spAutoFit/>
          </a:bodyPr>
          <a:lstStyle/>
          <a:p>
            <a:pPr algn="l"/>
            <a:r>
              <a:rPr sz="1400" b="1" i="0">
                <a:solidFill>
                  <a:srgbClr val="E8621A"/>
                </a:solidFill>
                <a:latin typeface="游ゴシック"/>
              </a:rPr>
              <a:t>周期：50 ms</a:t>
            </a:r>
          </a:p>
        </p:txBody>
      </p:sp>
      <p:sp>
        <p:nvSpPr>
          <p:cNvPr id="21" name="TextBox 20"/>
          <p:cNvSpPr txBox="1"/>
          <p:nvPr/>
        </p:nvSpPr>
        <p:spPr>
          <a:xfrm>
            <a:off x="4416552" y="2651760"/>
            <a:ext cx="3474719" cy="365760"/>
          </a:xfrm>
          <a:prstGeom prst="rect">
            <a:avLst/>
          </a:prstGeom>
          <a:noFill/>
        </p:spPr>
        <p:txBody>
          <a:bodyPr wrap="square">
            <a:spAutoFit/>
          </a:bodyPr>
          <a:lstStyle/>
          <a:p>
            <a:pPr algn="l"/>
            <a:r>
              <a:rPr sz="1300" b="0" i="0">
                <a:solidFill>
                  <a:srgbClr val="27AE60"/>
                </a:solidFill>
                <a:latin typeface="游ゴシック"/>
              </a:rPr>
              <a:t>実行余裕率：98%</a:t>
            </a:r>
          </a:p>
        </p:txBody>
      </p:sp>
      <p:sp>
        <p:nvSpPr>
          <p:cNvPr id="22" name="TextBox 21"/>
          <p:cNvSpPr txBox="1"/>
          <p:nvPr/>
        </p:nvSpPr>
        <p:spPr>
          <a:xfrm>
            <a:off x="4416552" y="3081528"/>
            <a:ext cx="3474719" cy="2194560"/>
          </a:xfrm>
          <a:prstGeom prst="rect">
            <a:avLst/>
          </a:prstGeom>
          <a:noFill/>
        </p:spPr>
        <p:txBody>
          <a:bodyPr wrap="square">
            <a:spAutoFit/>
          </a:bodyPr>
          <a:lstStyle/>
          <a:p>
            <a:pPr algn="l"/>
            <a:r>
              <a:rPr sz="1200" b="0" i="0">
                <a:solidFill>
                  <a:srgbClr val="1A1A2E"/>
                </a:solidFill>
                <a:latin typeface="游ゴシック"/>
              </a:rPr>
              <a:t>・Welford法による逐次統計更新
　（Average / StdDev / Max / Min）
・ボタンA/B/C イベント処理
・状態遷移制御
・EEPROM保存処理（設定確定時）</a:t>
            </a:r>
          </a:p>
        </p:txBody>
      </p:sp>
      <p:sp>
        <p:nvSpPr>
          <p:cNvPr id="23" name="Rectangle 22"/>
          <p:cNvSpPr/>
          <p:nvPr/>
        </p:nvSpPr>
        <p:spPr>
          <a:xfrm>
            <a:off x="8238744" y="1691640"/>
            <a:ext cx="3749039" cy="370332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38744" y="1691640"/>
            <a:ext cx="3749039" cy="73152"/>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75904" y="1801368"/>
            <a:ext cx="3474719" cy="502920"/>
          </a:xfrm>
          <a:prstGeom prst="rect">
            <a:avLst/>
          </a:prstGeom>
          <a:noFill/>
        </p:spPr>
        <p:txBody>
          <a:bodyPr wrap="square">
            <a:spAutoFit/>
          </a:bodyPr>
          <a:lstStyle/>
          <a:p>
            <a:pPr algn="l"/>
            <a:r>
              <a:rPr sz="1800" b="1" i="0">
                <a:solidFill>
                  <a:srgbClr val="0D2B45"/>
                </a:solidFill>
                <a:latin typeface="游ゴシック"/>
              </a:rPr>
              <a:t>UI_Task</a:t>
            </a:r>
          </a:p>
        </p:txBody>
      </p:sp>
      <p:sp>
        <p:nvSpPr>
          <p:cNvPr id="26" name="TextBox 25"/>
          <p:cNvSpPr txBox="1"/>
          <p:nvPr/>
        </p:nvSpPr>
        <p:spPr>
          <a:xfrm>
            <a:off x="8375904" y="2313432"/>
            <a:ext cx="3474719" cy="365760"/>
          </a:xfrm>
          <a:prstGeom prst="rect">
            <a:avLst/>
          </a:prstGeom>
          <a:noFill/>
        </p:spPr>
        <p:txBody>
          <a:bodyPr wrap="square">
            <a:spAutoFit/>
          </a:bodyPr>
          <a:lstStyle/>
          <a:p>
            <a:pPr algn="l"/>
            <a:r>
              <a:rPr sz="1400" b="1" i="0">
                <a:solidFill>
                  <a:srgbClr val="E8621A"/>
                </a:solidFill>
                <a:latin typeface="游ゴシック"/>
              </a:rPr>
              <a:t>周期：200 ms</a:t>
            </a:r>
          </a:p>
        </p:txBody>
      </p:sp>
      <p:sp>
        <p:nvSpPr>
          <p:cNvPr id="27" name="TextBox 26"/>
          <p:cNvSpPr txBox="1"/>
          <p:nvPr/>
        </p:nvSpPr>
        <p:spPr>
          <a:xfrm>
            <a:off x="8375904" y="2651760"/>
            <a:ext cx="3474719" cy="365760"/>
          </a:xfrm>
          <a:prstGeom prst="rect">
            <a:avLst/>
          </a:prstGeom>
          <a:noFill/>
        </p:spPr>
        <p:txBody>
          <a:bodyPr wrap="square">
            <a:spAutoFit/>
          </a:bodyPr>
          <a:lstStyle/>
          <a:p>
            <a:pPr algn="l"/>
            <a:r>
              <a:rPr sz="1300" b="0" i="0">
                <a:solidFill>
                  <a:srgbClr val="27AE60"/>
                </a:solidFill>
                <a:latin typeface="游ゴシック"/>
              </a:rPr>
              <a:t>実行余裕率：97.5%</a:t>
            </a:r>
          </a:p>
        </p:txBody>
      </p:sp>
      <p:sp>
        <p:nvSpPr>
          <p:cNvPr id="28" name="TextBox 27"/>
          <p:cNvSpPr txBox="1"/>
          <p:nvPr/>
        </p:nvSpPr>
        <p:spPr>
          <a:xfrm>
            <a:off x="8375904" y="3081528"/>
            <a:ext cx="3474719" cy="2194560"/>
          </a:xfrm>
          <a:prstGeom prst="rect">
            <a:avLst/>
          </a:prstGeom>
          <a:noFill/>
        </p:spPr>
        <p:txBody>
          <a:bodyPr wrap="square">
            <a:spAutoFit/>
          </a:bodyPr>
          <a:lstStyle/>
          <a:p>
            <a:pPr algn="l"/>
            <a:r>
              <a:rPr sz="1200" b="0" i="0">
                <a:solidFill>
                  <a:srgbClr val="1A1A2E"/>
                </a:solidFill>
                <a:latin typeface="游ゴシック"/>
              </a:rPr>
              <a:t>・状態別LCD画面描画
　IDLE / RUN / RESULT(2ページ)
　ALARM_SETTING
・センサエラー / SD状態表示
・アラーム時は温度を赤色表示</a:t>
            </a:r>
          </a:p>
        </p:txBody>
      </p:sp>
      <p:sp>
        <p:nvSpPr>
          <p:cNvPr id="29" name="TextBox 28"/>
          <p:cNvSpPr txBox="1"/>
          <p:nvPr/>
        </p:nvSpPr>
        <p:spPr>
          <a:xfrm>
            <a:off x="320040" y="5650992"/>
            <a:ext cx="11430000" cy="347472"/>
          </a:xfrm>
          <a:prstGeom prst="rect">
            <a:avLst/>
          </a:prstGeom>
          <a:noFill/>
        </p:spPr>
        <p:txBody>
          <a:bodyPr wrap="square">
            <a:spAutoFit/>
          </a:bodyPr>
          <a:lstStyle/>
          <a:p>
            <a:pPr algn="l"/>
            <a:r>
              <a:rPr sz="1200" b="0" i="0">
                <a:solidFill>
                  <a:srgbClr val="0D2B45"/>
                </a:solidFill>
                <a:latin typeface="游ゴシック"/>
              </a:rPr>
              <a:t>💡  IO_Taskのセンサ読取は10ms周期だが実際の読取は TC_READ_INTERVAL_MS=500ms ごと（MAX31855変換完了を待つ設計）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主要アルゴリズム</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3  技術詳細</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12 / 17</a:t>
            </a:r>
          </a:p>
        </p:txBody>
      </p:sp>
      <p:sp>
        <p:nvSpPr>
          <p:cNvPr id="10" name="TextBox 9"/>
          <p:cNvSpPr txBox="1"/>
          <p:nvPr/>
        </p:nvSpPr>
        <p:spPr>
          <a:xfrm>
            <a:off x="320040" y="1097280"/>
            <a:ext cx="10972800" cy="411480"/>
          </a:xfrm>
          <a:prstGeom prst="rect">
            <a:avLst/>
          </a:prstGeom>
          <a:noFill/>
        </p:spPr>
        <p:txBody>
          <a:bodyPr wrap="square">
            <a:spAutoFit/>
          </a:bodyPr>
          <a:lstStyle/>
          <a:p>
            <a:pPr algn="l"/>
            <a:r>
              <a:rPr sz="1800" b="1" i="0">
                <a:solidFill>
                  <a:srgbClr val="0D2B45"/>
                </a:solidFill>
                <a:latin typeface="游ゴシック"/>
              </a:rPr>
              <a:t>① Welford 法（オンライン統計計算）</a:t>
            </a:r>
          </a:p>
        </p:txBody>
      </p:sp>
      <p:sp>
        <p:nvSpPr>
          <p:cNvPr id="11" name="Rectangle 10"/>
          <p:cNvSpPr/>
          <p:nvPr/>
        </p:nvSpPr>
        <p:spPr>
          <a:xfrm>
            <a:off x="320040" y="1600200"/>
            <a:ext cx="7680960" cy="2240280"/>
          </a:xfrm>
          <a:prstGeom prst="rect">
            <a:avLst/>
          </a:prstGeom>
          <a:solidFill>
            <a:srgbClr val="FFFFFF"/>
          </a:solidFill>
          <a:ln w="12700">
            <a:solidFill>
              <a:srgbClr val="88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64208"/>
            <a:ext cx="7315200" cy="2103120"/>
          </a:xfrm>
          <a:prstGeom prst="rect">
            <a:avLst/>
          </a:prstGeom>
          <a:noFill/>
        </p:spPr>
        <p:txBody>
          <a:bodyPr wrap="square">
            <a:spAutoFit/>
          </a:bodyPr>
          <a:lstStyle/>
          <a:p>
            <a:pPr algn="l"/>
            <a:r>
              <a:rPr sz="1300" b="0" i="0">
                <a:solidFill>
                  <a:srgbClr val="1A1A2E"/>
                </a:solidFill>
                <a:latin typeface="游ゴシック"/>
              </a:rPr>
              <a:t>計測データを配列に蓄積せず、サンプルが来るたびに逐次的に平均・分散・標準偏差を更新。
double型で計算することで float の丸め誤差を最小化。
  delta  = x[n] − prevMean
  Sum   += x[n]  →  newMean = Sum / Count
  M2    += delta × (x[n] − newMean)
  StdDev = √(M2 / Count)   ← Logic_Task 50ms周期で毎回計算</a:t>
            </a:r>
          </a:p>
        </p:txBody>
      </p:sp>
      <p:sp>
        <p:nvSpPr>
          <p:cNvPr id="13" name="Rectangle 12"/>
          <p:cNvSpPr/>
          <p:nvPr/>
        </p:nvSpPr>
        <p:spPr>
          <a:xfrm>
            <a:off x="8229600" y="1600200"/>
            <a:ext cx="3291840" cy="224028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600200"/>
            <a:ext cx="329184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709928"/>
            <a:ext cx="3017520" cy="320040"/>
          </a:xfrm>
          <a:prstGeom prst="rect">
            <a:avLst/>
          </a:prstGeom>
          <a:noFill/>
        </p:spPr>
        <p:txBody>
          <a:bodyPr wrap="square">
            <a:spAutoFit/>
          </a:bodyPr>
          <a:lstStyle/>
          <a:p>
            <a:pPr algn="l"/>
            <a:r>
              <a:rPr sz="1200" b="0" i="0">
                <a:solidFill>
                  <a:srgbClr val="8899AA"/>
                </a:solidFill>
                <a:latin typeface="游ゴシック"/>
              </a:rPr>
              <a:t>RAM 使用率</a:t>
            </a:r>
          </a:p>
        </p:txBody>
      </p:sp>
      <p:sp>
        <p:nvSpPr>
          <p:cNvPr id="16" name="TextBox 15"/>
          <p:cNvSpPr txBox="1"/>
          <p:nvPr/>
        </p:nvSpPr>
        <p:spPr>
          <a:xfrm>
            <a:off x="8321040" y="1965960"/>
            <a:ext cx="3108960" cy="1783080"/>
          </a:xfrm>
          <a:prstGeom prst="rect">
            <a:avLst/>
          </a:prstGeom>
          <a:noFill/>
        </p:spPr>
        <p:txBody>
          <a:bodyPr wrap="square">
            <a:spAutoFit/>
          </a:bodyPr>
          <a:lstStyle/>
          <a:p>
            <a:pPr algn="l"/>
            <a:r>
              <a:rPr sz="1800" b="1" i="0">
                <a:solidFill>
                  <a:srgbClr val="27AE60"/>
                </a:solidFill>
                <a:latin typeface="游ゴシック"/>
              </a:rPr>
              <a:t>7.2%
（計測時間に
依存しない）</a:t>
            </a:r>
          </a:p>
        </p:txBody>
      </p:sp>
      <p:sp>
        <p:nvSpPr>
          <p:cNvPr id="17" name="TextBox 16"/>
          <p:cNvSpPr txBox="1"/>
          <p:nvPr/>
        </p:nvSpPr>
        <p:spPr>
          <a:xfrm>
            <a:off x="320040" y="3977639"/>
            <a:ext cx="10972800" cy="411480"/>
          </a:xfrm>
          <a:prstGeom prst="rect">
            <a:avLst/>
          </a:prstGeom>
          <a:noFill/>
        </p:spPr>
        <p:txBody>
          <a:bodyPr wrap="square">
            <a:spAutoFit/>
          </a:bodyPr>
          <a:lstStyle/>
          <a:p>
            <a:pPr algn="l"/>
            <a:r>
              <a:rPr sz="1800" b="1" i="0">
                <a:solidFill>
                  <a:srgbClr val="0D2B45"/>
                </a:solidFill>
                <a:latin typeface="游ゴシック"/>
              </a:rPr>
              <a:t>② 一次遅れローパスフィルタ（ノイズ除去）</a:t>
            </a:r>
          </a:p>
        </p:txBody>
      </p:sp>
      <p:sp>
        <p:nvSpPr>
          <p:cNvPr id="18" name="Rectangle 17"/>
          <p:cNvSpPr/>
          <p:nvPr/>
        </p:nvSpPr>
        <p:spPr>
          <a:xfrm>
            <a:off x="320040" y="4480560"/>
            <a:ext cx="7680960" cy="1737360"/>
          </a:xfrm>
          <a:prstGeom prst="rect">
            <a:avLst/>
          </a:prstGeom>
          <a:solidFill>
            <a:srgbClr val="FFFFFF"/>
          </a:solidFill>
          <a:ln w="12700">
            <a:solidFill>
              <a:srgbClr val="88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544568"/>
            <a:ext cx="7315200" cy="1627632"/>
          </a:xfrm>
          <a:prstGeom prst="rect">
            <a:avLst/>
          </a:prstGeom>
          <a:noFill/>
        </p:spPr>
        <p:txBody>
          <a:bodyPr wrap="square">
            <a:spAutoFit/>
          </a:bodyPr>
          <a:lstStyle/>
          <a:p>
            <a:pPr algn="l"/>
            <a:r>
              <a:rPr sz="1300" b="0" i="0">
                <a:solidFill>
                  <a:srgbClr val="1A1A2E"/>
                </a:solidFill>
                <a:latin typeface="游ゴシック"/>
              </a:rPr>
              <a:t>IO_Task（10ms周期）内で TC_READ_INTERVAL_MS=500ms の間隔で適用。
α = FILTER_ALPHA = 0.1f（Global.h 定義）
  filtered[n] = filtered[n-1] × (1 − α)  +  raw[n] × α
初回読取時は raw値をそのまま初期値に設定（NaN収束待ち回避）。</a:t>
            </a:r>
          </a:p>
        </p:txBody>
      </p:sp>
      <p:sp>
        <p:nvSpPr>
          <p:cNvPr id="20" name="Rectangle 19"/>
          <p:cNvSpPr/>
          <p:nvPr/>
        </p:nvSpPr>
        <p:spPr>
          <a:xfrm>
            <a:off x="8229600" y="4480560"/>
            <a:ext cx="3291840" cy="1737360"/>
          </a:xfrm>
          <a:prstGeom prst="rect">
            <a:avLst/>
          </a:prstGeom>
          <a:solidFill>
            <a:srgbClr val="FFFFFF"/>
          </a:solidFill>
          <a:ln w="19050">
            <a:solidFill>
              <a:srgbClr val="E862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4480560"/>
            <a:ext cx="329184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4590288"/>
            <a:ext cx="3017520" cy="320040"/>
          </a:xfrm>
          <a:prstGeom prst="rect">
            <a:avLst/>
          </a:prstGeom>
          <a:noFill/>
        </p:spPr>
        <p:txBody>
          <a:bodyPr wrap="square">
            <a:spAutoFit/>
          </a:bodyPr>
          <a:lstStyle/>
          <a:p>
            <a:pPr algn="l"/>
            <a:r>
              <a:rPr sz="1200" b="0" i="0">
                <a:solidFill>
                  <a:srgbClr val="8899AA"/>
                </a:solidFill>
                <a:latin typeface="游ゴシック"/>
              </a:rPr>
              <a:t>計測精度</a:t>
            </a:r>
          </a:p>
        </p:txBody>
      </p:sp>
      <p:sp>
        <p:nvSpPr>
          <p:cNvPr id="23" name="TextBox 22"/>
          <p:cNvSpPr txBox="1"/>
          <p:nvPr/>
        </p:nvSpPr>
        <p:spPr>
          <a:xfrm>
            <a:off x="8321040" y="4846320"/>
            <a:ext cx="3108960" cy="1280160"/>
          </a:xfrm>
          <a:prstGeom prst="rect">
            <a:avLst/>
          </a:prstGeom>
          <a:noFill/>
        </p:spPr>
        <p:txBody>
          <a:bodyPr wrap="square">
            <a:spAutoFit/>
          </a:bodyPr>
          <a:lstStyle/>
          <a:p>
            <a:pPr algn="l"/>
            <a:r>
              <a:rPr sz="1800" b="1" i="0">
                <a:solidFill>
                  <a:srgbClr val="E8621A"/>
                </a:solidFill>
                <a:latin typeface="游ゴシック"/>
              </a:rPr>
              <a:t>±1℃
（MAX31855
仕様準拠）</a:t>
            </a:r>
          </a:p>
        </p:txBody>
      </p:sp>
      <p:sp>
        <p:nvSpPr>
          <p:cNvPr id="24" name="TextBox 23"/>
          <p:cNvSpPr txBox="1"/>
          <p:nvPr/>
        </p:nvSpPr>
        <p:spPr>
          <a:xfrm>
            <a:off x="320040" y="6355080"/>
            <a:ext cx="10972800" cy="347472"/>
          </a:xfrm>
          <a:prstGeom prst="rect">
            <a:avLst/>
          </a:prstGeom>
          <a:noFill/>
        </p:spPr>
        <p:txBody>
          <a:bodyPr wrap="square">
            <a:spAutoFit/>
          </a:bodyPr>
          <a:lstStyle/>
          <a:p>
            <a:pPr algn="l"/>
            <a:r>
              <a:rPr sz="1500" b="1" i="0">
                <a:solidFill>
                  <a:srgbClr val="0D2B45"/>
                </a:solidFill>
                <a:latin typeface="游ゴシック"/>
              </a:rPr>
              <a:t>③ ヒステリシス付きアラーム判定（updateAlarmFlags）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デバッグ実績（5件）</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4  品質・実績・将来計画</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13 / 17</a:t>
            </a:r>
          </a:p>
        </p:txBody>
      </p:sp>
      <p:sp>
        <p:nvSpPr>
          <p:cNvPr id="10" name="TextBox 9"/>
          <p:cNvSpPr txBox="1"/>
          <p:nvPr/>
        </p:nvSpPr>
        <p:spPr>
          <a:xfrm>
            <a:off x="320040" y="1097280"/>
            <a:ext cx="11430000" cy="411480"/>
          </a:xfrm>
          <a:prstGeom prst="rect">
            <a:avLst/>
          </a:prstGeom>
          <a:noFill/>
        </p:spPr>
        <p:txBody>
          <a:bodyPr wrap="square">
            <a:spAutoFit/>
          </a:bodyPr>
          <a:lstStyle/>
          <a:p>
            <a:pPr algn="l"/>
            <a:r>
              <a:rPr sz="1400" b="0" i="0">
                <a:solidFill>
                  <a:srgbClr val="1A1A2E"/>
                </a:solidFill>
                <a:latin typeface="游ゴシック"/>
              </a:rPr>
              <a:t>ロジックアナライザなし・シリアルモニタ + CSV 目視という環境下で全バグを根本原因まで追跡・修正</a:t>
            </a:r>
          </a:p>
        </p:txBody>
      </p:sp>
      <p:sp>
        <p:nvSpPr>
          <p:cNvPr id="11" name="TextBox 10"/>
          <p:cNvSpPr txBox="1"/>
          <p:nvPr/>
        </p:nvSpPr>
        <p:spPr>
          <a:xfrm>
            <a:off x="320040" y="1600200"/>
            <a:ext cx="10972800" cy="411480"/>
          </a:xfrm>
          <a:prstGeom prst="rect">
            <a:avLst/>
          </a:prstGeom>
          <a:noFill/>
        </p:spPr>
        <p:txBody>
          <a:bodyPr wrap="square">
            <a:spAutoFit/>
          </a:bodyPr>
          <a:lstStyle/>
          <a:p>
            <a:pPr algn="l"/>
            <a:r>
              <a:rPr sz="1600" b="1" i="0">
                <a:solidFill>
                  <a:srgbClr val="0D2B45"/>
                </a:solidFill>
                <a:latin typeface="游ゴシック"/>
              </a:rPr>
              <a:t>代表事例：Bug-01 → Bug-02（複合バグ）</a:t>
            </a:r>
          </a:p>
        </p:txBody>
      </p:sp>
      <p:graphicFrame>
        <p:nvGraphicFramePr>
          <p:cNvPr id="12" name="Table 11"/>
          <p:cNvGraphicFramePr>
            <a:graphicFrameLocks noGrp="1"/>
          </p:cNvGraphicFramePr>
          <p:nvPr/>
        </p:nvGraphicFramePr>
        <p:xfrm>
          <a:off x="320040" y="2103120"/>
          <a:ext cx="11521440" cy="3218688"/>
        </p:xfrm>
        <a:graphic>
          <a:graphicData uri="http://schemas.openxmlformats.org/drawingml/2006/table">
            <a:tbl>
              <a:tblPr firstRow="1" bandRow="1">
                <a:tableStyleId>{5C22544A-7EE6-4342-B048-85BDC9FD1C3A}</a:tableStyleId>
              </a:tblPr>
              <a:tblGrid>
                <a:gridCol w="3200400"/>
                <a:gridCol w="8321040"/>
              </a:tblGrid>
              <a:tr h="402336">
                <a:tc>
                  <a:txBody>
                    <a:bodyPr wrap="square"/>
                    <a:lstStyle/>
                    <a:p>
                      <a:pPr algn="l"/>
                      <a:r>
                        <a:rPr sz="1200" b="1">
                          <a:solidFill>
                            <a:srgbClr val="FFFFFF"/>
                          </a:solidFill>
                          <a:latin typeface="游ゴシック"/>
                        </a:rPr>
                        <a:t>ステップ</a:t>
                      </a:r>
                    </a:p>
                  </a:txBody>
                  <a:tcPr>
                    <a:solidFill>
                      <a:srgbClr val="0D2B45"/>
                    </a:solidFill>
                  </a:tcPr>
                </a:tc>
                <a:tc>
                  <a:txBody>
                    <a:bodyPr wrap="square"/>
                    <a:lstStyle/>
                    <a:p>
                      <a:pPr algn="l"/>
                      <a:r>
                        <a:rPr sz="1200" b="1">
                          <a:solidFill>
                            <a:srgbClr val="FFFFFF"/>
                          </a:solidFill>
                          <a:latin typeface="游ゴシック"/>
                        </a:rPr>
                        <a:t>発見内容・判断</a:t>
                      </a:r>
                    </a:p>
                  </a:txBody>
                  <a:tcPr>
                    <a:solidFill>
                      <a:srgbClr val="0D2B45"/>
                    </a:solidFill>
                  </a:tcPr>
                </a:tc>
              </a:tr>
              <a:tr h="402336">
                <a:tc>
                  <a:txBody>
                    <a:bodyPr wrap="square"/>
                    <a:lstStyle/>
                    <a:p>
                      <a:pPr algn="l"/>
                      <a:r>
                        <a:rPr sz="1200" b="0">
                          <a:solidFill>
                            <a:srgbClr val="1A1A2E"/>
                          </a:solidFill>
                          <a:latin typeface="游ゴシック"/>
                        </a:rPr>
                        <a:t>① 症状の発見</a:t>
                      </a:r>
                    </a:p>
                  </a:txBody>
                  <a:tcPr>
                    <a:solidFill>
                      <a:srgbClr val="FFFFFF"/>
                    </a:solidFill>
                  </a:tcPr>
                </a:tc>
                <a:tc>
                  <a:txBody>
                    <a:bodyPr wrap="square"/>
                    <a:lstStyle/>
                    <a:p>
                      <a:pPr algn="l"/>
                      <a:r>
                        <a:rPr sz="1200" b="0">
                          <a:solidFill>
                            <a:srgbClr val="1A1A2E"/>
                          </a:solidFill>
                          <a:latin typeface="游ゴシック"/>
                        </a:rPr>
                        <a:t>CSV の Average_C 列が全行 0.0 のまま</a:t>
                      </a:r>
                    </a:p>
                  </a:txBody>
                  <a:tcPr>
                    <a:solidFill>
                      <a:srgbClr val="FFFFFF"/>
                    </a:solidFill>
                  </a:tcPr>
                </a:tc>
              </a:tr>
              <a:tr h="402336">
                <a:tc>
                  <a:txBody>
                    <a:bodyPr wrap="square"/>
                    <a:lstStyle/>
                    <a:p>
                      <a:pPr algn="l"/>
                      <a:r>
                        <a:rPr sz="1200" b="0">
                          <a:solidFill>
                            <a:srgbClr val="1A1A2E"/>
                          </a:solidFill>
                          <a:latin typeface="游ゴシック"/>
                        </a:rPr>
                        <a:t>② 仮説立案</a:t>
                      </a:r>
                    </a:p>
                  </a:txBody>
                  <a:tcPr>
                    <a:solidFill>
                      <a:srgbClr val="E8EEF4"/>
                    </a:solidFill>
                  </a:tcPr>
                </a:tc>
                <a:tc>
                  <a:txBody>
                    <a:bodyPr wrap="square"/>
                    <a:lstStyle/>
                    <a:p>
                      <a:pPr algn="l"/>
                      <a:r>
                        <a:rPr sz="1200" b="0">
                          <a:solidFill>
                            <a:srgbClr val="1A1A2E"/>
                          </a:solidFill>
                          <a:latin typeface="游ゴシック"/>
                        </a:rPr>
                        <a:t>「書込み条件が早すぎてWelfordが未実行」と仮説</a:t>
                      </a:r>
                    </a:p>
                  </a:txBody>
                  <a:tcPr>
                    <a:solidFill>
                      <a:srgbClr val="E8EEF4"/>
                    </a:solidFill>
                  </a:tcPr>
                </a:tc>
              </a:tr>
              <a:tr h="402336">
                <a:tc>
                  <a:txBody>
                    <a:bodyPr wrap="square"/>
                    <a:lstStyle/>
                    <a:p>
                      <a:pPr algn="l"/>
                      <a:r>
                        <a:rPr sz="1200" b="0">
                          <a:solidFill>
                            <a:srgbClr val="1A1A2E"/>
                          </a:solidFill>
                          <a:latin typeface="游ゴシック"/>
                        </a:rPr>
                        <a:t>③ 根本原因1（Bug-01）</a:t>
                      </a:r>
                    </a:p>
                  </a:txBody>
                  <a:tcPr>
                    <a:solidFill>
                      <a:srgbClr val="FFFFFF"/>
                    </a:solidFill>
                  </a:tcPr>
                </a:tc>
                <a:tc>
                  <a:txBody>
                    <a:bodyPr wrap="square"/>
                    <a:lstStyle/>
                    <a:p>
                      <a:pPr algn="l"/>
                      <a:r>
                        <a:rPr sz="1200" b="0">
                          <a:solidFill>
                            <a:srgbClr val="1A1A2E"/>
                          </a:solidFill>
                          <a:latin typeface="游ゴシック"/>
                        </a:rPr>
                        <a:t>IO_Task が Logic_Task より先に実行 → 0.0 を書き込んでいた</a:t>
                      </a:r>
                    </a:p>
                  </a:txBody>
                  <a:tcPr>
                    <a:solidFill>
                      <a:srgbClr val="FFFFFF"/>
                    </a:solidFill>
                  </a:tcPr>
                </a:tc>
              </a:tr>
              <a:tr h="402336">
                <a:tc>
                  <a:txBody>
                    <a:bodyPr wrap="square"/>
                    <a:lstStyle/>
                    <a:p>
                      <a:pPr algn="l"/>
                      <a:r>
                        <a:rPr sz="1200" b="0">
                          <a:solidFill>
                            <a:srgbClr val="1A1A2E"/>
                          </a:solidFill>
                          <a:latin typeface="游ゴシック"/>
                        </a:rPr>
                        <a:t>④ 修正1</a:t>
                      </a:r>
                    </a:p>
                  </a:txBody>
                  <a:tcPr>
                    <a:solidFill>
                      <a:srgbClr val="E8EEF4"/>
                    </a:solidFill>
                  </a:tcPr>
                </a:tc>
                <a:tc>
                  <a:txBody>
                    <a:bodyPr wrap="square"/>
                    <a:lstStyle/>
                    <a:p>
                      <a:pPr algn="l"/>
                      <a:r>
                        <a:rPr sz="1200" b="0">
                          <a:solidFill>
                            <a:srgbClr val="1A1A2E"/>
                          </a:solidFill>
                          <a:latin typeface="游ゴシック"/>
                        </a:rPr>
                        <a:t>書込み条件を D_Count ≥ 10（100ms待機）に変更</a:t>
                      </a:r>
                    </a:p>
                  </a:txBody>
                  <a:tcPr>
                    <a:solidFill>
                      <a:srgbClr val="E8EEF4"/>
                    </a:solidFill>
                  </a:tcPr>
                </a:tc>
              </a:tr>
              <a:tr h="402336">
                <a:tc>
                  <a:txBody>
                    <a:bodyPr wrap="square"/>
                    <a:lstStyle/>
                    <a:p>
                      <a:pPr algn="l"/>
                      <a:r>
                        <a:rPr sz="1200" b="0">
                          <a:solidFill>
                            <a:srgbClr val="1A1A2E"/>
                          </a:solidFill>
                          <a:latin typeface="游ゴシック"/>
                        </a:rPr>
                        <a:t>⑤ 再テストで再現</a:t>
                      </a:r>
                    </a:p>
                  </a:txBody>
                  <a:tcPr>
                    <a:solidFill>
                      <a:srgbClr val="FFFFFF"/>
                    </a:solidFill>
                  </a:tcPr>
                </a:tc>
                <a:tc>
                  <a:txBody>
                    <a:bodyPr wrap="square"/>
                    <a:lstStyle/>
                    <a:p>
                      <a:pPr algn="l"/>
                      <a:r>
                        <a:rPr sz="1200" b="0">
                          <a:solidFill>
                            <a:srgbClr val="1A1A2E"/>
                          </a:solidFill>
                          <a:latin typeface="游ゴシック"/>
                        </a:rPr>
                        <a:t>修正後もまだ 0.0 → 別原因が存在すると判断してコード精読</a:t>
                      </a:r>
                    </a:p>
                  </a:txBody>
                  <a:tcPr>
                    <a:solidFill>
                      <a:srgbClr val="FFFFFF"/>
                    </a:solidFill>
                  </a:tcPr>
                </a:tc>
              </a:tr>
              <a:tr h="402336">
                <a:tc>
                  <a:txBody>
                    <a:bodyPr wrap="square"/>
                    <a:lstStyle/>
                    <a:p>
                      <a:pPr algn="l"/>
                      <a:r>
                        <a:rPr sz="1200" b="0">
                          <a:solidFill>
                            <a:srgbClr val="1A1A2E"/>
                          </a:solidFill>
                          <a:latin typeface="游ゴシック"/>
                        </a:rPr>
                        <a:t>⑥ 根本原因2（Bug-02）</a:t>
                      </a:r>
                    </a:p>
                  </a:txBody>
                  <a:tcPr>
                    <a:solidFill>
                      <a:srgbClr val="E8EEF4"/>
                    </a:solidFill>
                  </a:tcPr>
                </a:tc>
                <a:tc>
                  <a:txBody>
                    <a:bodyPr wrap="square"/>
                    <a:lstStyle/>
                    <a:p>
                      <a:pPr algn="l"/>
                      <a:r>
                        <a:rPr sz="1200" b="0">
                          <a:solidFill>
                            <a:srgbClr val="1A1A2E"/>
                          </a:solidFill>
                          <a:latin typeface="游ゴシック"/>
                        </a:rPr>
                        <a:t>Average 計算が RESULT 遷移時のみに実装されていた設計バグ</a:t>
                      </a:r>
                    </a:p>
                  </a:txBody>
                  <a:tcPr>
                    <a:solidFill>
                      <a:srgbClr val="E8EEF4"/>
                    </a:solidFill>
                  </a:tcPr>
                </a:tc>
              </a:tr>
              <a:tr h="402336">
                <a:tc>
                  <a:txBody>
                    <a:bodyPr wrap="square"/>
                    <a:lstStyle/>
                    <a:p>
                      <a:pPr algn="l"/>
                      <a:r>
                        <a:rPr sz="1200" b="0">
                          <a:solidFill>
                            <a:srgbClr val="1A1A2E"/>
                          </a:solidFill>
                          <a:latin typeface="游ゴシック"/>
                        </a:rPr>
                        <a:t>⑦ 修正2・完全解決</a:t>
                      </a:r>
                    </a:p>
                  </a:txBody>
                  <a:tcPr>
                    <a:solidFill>
                      <a:srgbClr val="FFFFFF"/>
                    </a:solidFill>
                  </a:tcPr>
                </a:tc>
                <a:tc>
                  <a:txBody>
                    <a:bodyPr wrap="square"/>
                    <a:lstStyle/>
                    <a:p>
                      <a:pPr algn="l"/>
                      <a:r>
                        <a:rPr sz="1200" b="0">
                          <a:solidFill>
                            <a:srgbClr val="1A1A2E"/>
                          </a:solidFill>
                          <a:latin typeface="游ゴシック"/>
                        </a:rPr>
                        <a:t>Logic_Task（50ms周期）内で毎回計算するよう変更 → 解消</a:t>
                      </a:r>
                    </a:p>
                  </a:txBody>
                  <a:tcPr>
                    <a:solidFill>
                      <a:srgbClr val="FFFFFF"/>
                    </a:solidFill>
                  </a:tcPr>
                </a:tc>
              </a:tr>
            </a:tbl>
          </a:graphicData>
        </a:graphic>
      </p:graphicFrame>
      <p:sp>
        <p:nvSpPr>
          <p:cNvPr id="13" name="TextBox 12"/>
          <p:cNvSpPr txBox="1"/>
          <p:nvPr/>
        </p:nvSpPr>
        <p:spPr>
          <a:xfrm>
            <a:off x="320040" y="5943600"/>
            <a:ext cx="11430000" cy="475488"/>
          </a:xfrm>
          <a:prstGeom prst="rect">
            <a:avLst/>
          </a:prstGeom>
          <a:noFill/>
        </p:spPr>
        <p:txBody>
          <a:bodyPr wrap="square">
            <a:spAutoFit/>
          </a:bodyPr>
          <a:lstStyle/>
          <a:p>
            <a:pPr algn="l"/>
            <a:r>
              <a:rPr sz="1300" b="0" i="0">
                <a:solidFill>
                  <a:srgbClr val="0D2B45"/>
                </a:solidFill>
                <a:latin typeface="游ゴシック"/>
              </a:rPr>
              <a:t>💡 「症状が同じでも根本原因は別かもしれない」という視点で追跡した複合バグ解析の事例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バグ一覧（全5件）</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4  品質・実績・将来計画</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14 / 17</a:t>
            </a:r>
          </a:p>
        </p:txBody>
      </p:sp>
      <p:graphicFrame>
        <p:nvGraphicFramePr>
          <p:cNvPr id="10" name="Table 9"/>
          <p:cNvGraphicFramePr>
            <a:graphicFrameLocks noGrp="1"/>
          </p:cNvGraphicFramePr>
          <p:nvPr/>
        </p:nvGraphicFramePr>
        <p:xfrm>
          <a:off x="320040" y="1188720"/>
          <a:ext cx="11521440" cy="3291840"/>
        </p:xfrm>
        <a:graphic>
          <a:graphicData uri="http://schemas.openxmlformats.org/drawingml/2006/table">
            <a:tbl>
              <a:tblPr firstRow="1" bandRow="1">
                <a:tableStyleId>{5C22544A-7EE6-4342-B048-85BDC9FD1C3A}</a:tableStyleId>
              </a:tblPr>
              <a:tblGrid>
                <a:gridCol w="1188720"/>
                <a:gridCol w="2834640"/>
                <a:gridCol w="4114800"/>
                <a:gridCol w="3383280"/>
              </a:tblGrid>
              <a:tr h="548640">
                <a:tc>
                  <a:txBody>
                    <a:bodyPr wrap="square"/>
                    <a:lstStyle/>
                    <a:p>
                      <a:pPr algn="l"/>
                      <a:r>
                        <a:rPr sz="1300" b="1">
                          <a:solidFill>
                            <a:srgbClr val="FFFFFF"/>
                          </a:solidFill>
                          <a:latin typeface="游ゴシック"/>
                        </a:rPr>
                        <a:t>バグ</a:t>
                      </a:r>
                    </a:p>
                  </a:txBody>
                  <a:tcPr>
                    <a:solidFill>
                      <a:srgbClr val="0D2B45"/>
                    </a:solidFill>
                  </a:tcPr>
                </a:tc>
                <a:tc>
                  <a:txBody>
                    <a:bodyPr wrap="square"/>
                    <a:lstStyle/>
                    <a:p>
                      <a:pPr algn="l"/>
                      <a:r>
                        <a:rPr sz="1300" b="1">
                          <a:solidFill>
                            <a:srgbClr val="FFFFFF"/>
                          </a:solidFill>
                          <a:latin typeface="游ゴシック"/>
                        </a:rPr>
                        <a:t>症状</a:t>
                      </a:r>
                    </a:p>
                  </a:txBody>
                  <a:tcPr>
                    <a:solidFill>
                      <a:srgbClr val="0D2B45"/>
                    </a:solidFill>
                  </a:tcPr>
                </a:tc>
                <a:tc>
                  <a:txBody>
                    <a:bodyPr wrap="square"/>
                    <a:lstStyle/>
                    <a:p>
                      <a:pPr algn="l"/>
                      <a:r>
                        <a:rPr sz="1300" b="1">
                          <a:solidFill>
                            <a:srgbClr val="FFFFFF"/>
                          </a:solidFill>
                          <a:latin typeface="游ゴシック"/>
                        </a:rPr>
                        <a:t>根本原因</a:t>
                      </a:r>
                    </a:p>
                  </a:txBody>
                  <a:tcPr>
                    <a:solidFill>
                      <a:srgbClr val="0D2B45"/>
                    </a:solidFill>
                  </a:tcPr>
                </a:tc>
                <a:tc>
                  <a:txBody>
                    <a:bodyPr wrap="square"/>
                    <a:lstStyle/>
                    <a:p>
                      <a:pPr algn="l"/>
                      <a:r>
                        <a:rPr sz="1300" b="1">
                          <a:solidFill>
                            <a:srgbClr val="FFFFFF"/>
                          </a:solidFill>
                          <a:latin typeface="游ゴシック"/>
                        </a:rPr>
                        <a:t>解決策</a:t>
                      </a:r>
                    </a:p>
                  </a:txBody>
                  <a:tcPr>
                    <a:solidFill>
                      <a:srgbClr val="0D2B45"/>
                    </a:solidFill>
                  </a:tcPr>
                </a:tc>
              </a:tr>
              <a:tr h="548640">
                <a:tc>
                  <a:txBody>
                    <a:bodyPr wrap="square"/>
                    <a:lstStyle/>
                    <a:p>
                      <a:pPr algn="l"/>
                      <a:r>
                        <a:rPr sz="1300" b="0">
                          <a:solidFill>
                            <a:srgbClr val="1A1A2E"/>
                          </a:solidFill>
                          <a:latin typeface="游ゴシック"/>
                        </a:rPr>
                        <a:t>Bug-01</a:t>
                      </a:r>
                    </a:p>
                  </a:txBody>
                  <a:tcPr>
                    <a:solidFill>
                      <a:srgbClr val="FFFFFF"/>
                    </a:solidFill>
                  </a:tcPr>
                </a:tc>
                <a:tc>
                  <a:txBody>
                    <a:bodyPr wrap="square"/>
                    <a:lstStyle/>
                    <a:p>
                      <a:pPr algn="l"/>
                      <a:r>
                        <a:rPr sz="1300" b="0">
                          <a:solidFill>
                            <a:srgbClr val="1A1A2E"/>
                          </a:solidFill>
                          <a:latin typeface="游ゴシック"/>
                        </a:rPr>
                        <a:t>CSV の Average が 0.0</a:t>
                      </a:r>
                    </a:p>
                  </a:txBody>
                  <a:tcPr>
                    <a:solidFill>
                      <a:srgbClr val="FFFFFF"/>
                    </a:solidFill>
                  </a:tcPr>
                </a:tc>
                <a:tc>
                  <a:txBody>
                    <a:bodyPr wrap="square"/>
                    <a:lstStyle/>
                    <a:p>
                      <a:pPr algn="l"/>
                      <a:r>
                        <a:rPr sz="1300" b="0">
                          <a:solidFill>
                            <a:srgbClr val="1A1A2E"/>
                          </a:solidFill>
                          <a:latin typeface="游ゴシック"/>
                        </a:rPr>
                        <a:t>IO_Task が Logic_Task より先に実行</a:t>
                      </a:r>
                    </a:p>
                  </a:txBody>
                  <a:tcPr>
                    <a:solidFill>
                      <a:srgbClr val="FFFFFF"/>
                    </a:solidFill>
                  </a:tcPr>
                </a:tc>
                <a:tc>
                  <a:txBody>
                    <a:bodyPr wrap="square"/>
                    <a:lstStyle/>
                    <a:p>
                      <a:pPr algn="l"/>
                      <a:r>
                        <a:rPr sz="1300" b="0">
                          <a:solidFill>
                            <a:srgbClr val="1A1A2E"/>
                          </a:solidFill>
                          <a:latin typeface="游ゴシック"/>
                        </a:rPr>
                        <a:t>書込み条件を D_Count ≥ 10 に変更</a:t>
                      </a:r>
                    </a:p>
                  </a:txBody>
                  <a:tcPr>
                    <a:solidFill>
                      <a:srgbClr val="FFFFFF"/>
                    </a:solidFill>
                  </a:tcPr>
                </a:tc>
              </a:tr>
              <a:tr h="548640">
                <a:tc>
                  <a:txBody>
                    <a:bodyPr wrap="square"/>
                    <a:lstStyle/>
                    <a:p>
                      <a:pPr algn="l"/>
                      <a:r>
                        <a:rPr sz="1300" b="0">
                          <a:solidFill>
                            <a:srgbClr val="1A1A2E"/>
                          </a:solidFill>
                          <a:latin typeface="游ゴシック"/>
                        </a:rPr>
                        <a:t>Bug-02</a:t>
                      </a:r>
                    </a:p>
                  </a:txBody>
                  <a:tcPr>
                    <a:solidFill>
                      <a:srgbClr val="E8EEF4"/>
                    </a:solidFill>
                  </a:tcPr>
                </a:tc>
                <a:tc>
                  <a:txBody>
                    <a:bodyPr wrap="square"/>
                    <a:lstStyle/>
                    <a:p>
                      <a:pPr algn="l"/>
                      <a:r>
                        <a:rPr sz="1300" b="0">
                          <a:solidFill>
                            <a:srgbClr val="1A1A2E"/>
                          </a:solidFill>
                          <a:latin typeface="游ゴシック"/>
                        </a:rPr>
                        <a:t>同上（修正後も再現）</a:t>
                      </a:r>
                    </a:p>
                  </a:txBody>
                  <a:tcPr>
                    <a:solidFill>
                      <a:srgbClr val="E8EEF4"/>
                    </a:solidFill>
                  </a:tcPr>
                </a:tc>
                <a:tc>
                  <a:txBody>
                    <a:bodyPr wrap="square"/>
                    <a:lstStyle/>
                    <a:p>
                      <a:pPr algn="l"/>
                      <a:r>
                        <a:rPr sz="1300" b="0">
                          <a:solidFill>
                            <a:srgbClr val="1A1A2E"/>
                          </a:solidFill>
                          <a:latin typeface="游ゴシック"/>
                        </a:rPr>
                        <a:t>Average 計算が RESULT 遷移時のみ</a:t>
                      </a:r>
                    </a:p>
                  </a:txBody>
                  <a:tcPr>
                    <a:solidFill>
                      <a:srgbClr val="E8EEF4"/>
                    </a:solidFill>
                  </a:tcPr>
                </a:tc>
                <a:tc>
                  <a:txBody>
                    <a:bodyPr wrap="square"/>
                    <a:lstStyle/>
                    <a:p>
                      <a:pPr algn="l"/>
                      <a:r>
                        <a:rPr sz="1300" b="0">
                          <a:solidFill>
                            <a:srgbClr val="1A1A2E"/>
                          </a:solidFill>
                          <a:latin typeface="游ゴシック"/>
                        </a:rPr>
                        <a:t>Logic_Task 内で毎回計算するよう変更</a:t>
                      </a:r>
                    </a:p>
                  </a:txBody>
                  <a:tcPr>
                    <a:solidFill>
                      <a:srgbClr val="E8EEF4"/>
                    </a:solidFill>
                  </a:tcPr>
                </a:tc>
              </a:tr>
              <a:tr h="548640">
                <a:tc>
                  <a:txBody>
                    <a:bodyPr wrap="square"/>
                    <a:lstStyle/>
                    <a:p>
                      <a:pPr algn="l"/>
                      <a:r>
                        <a:rPr sz="1300" b="0">
                          <a:solidFill>
                            <a:srgbClr val="1A1A2E"/>
                          </a:solidFill>
                          <a:latin typeface="游ゴシック"/>
                        </a:rPr>
                        <a:t>Bug-03</a:t>
                      </a:r>
                    </a:p>
                  </a:txBody>
                  <a:tcPr>
                    <a:solidFill>
                      <a:srgbClr val="FFFFFF"/>
                    </a:solidFill>
                  </a:tcPr>
                </a:tc>
                <a:tc>
                  <a:txBody>
                    <a:bodyPr wrap="square"/>
                    <a:lstStyle/>
                    <a:p>
                      <a:pPr algn="l"/>
                      <a:r>
                        <a:rPr sz="1300" b="0">
                          <a:solidFill>
                            <a:srgbClr val="1A1A2E"/>
                          </a:solidFill>
                          <a:latin typeface="游ゴシック"/>
                        </a:rPr>
                        <a:t>温度読取の瞬間スパイク</a:t>
                      </a:r>
                    </a:p>
                  </a:txBody>
                  <a:tcPr>
                    <a:solidFill>
                      <a:srgbClr val="FFFFFF"/>
                    </a:solidFill>
                  </a:tcPr>
                </a:tc>
                <a:tc>
                  <a:txBody>
                    <a:bodyPr wrap="square"/>
                    <a:lstStyle/>
                    <a:p>
                      <a:pPr algn="l"/>
                      <a:r>
                        <a:rPr sz="1300" b="0">
                          <a:solidFill>
                            <a:srgbClr val="1A1A2E"/>
                          </a:solidFill>
                          <a:latin typeface="游ゴシック"/>
                        </a:rPr>
                        <a:t>SPI 通信の一時的乱れ</a:t>
                      </a:r>
                    </a:p>
                  </a:txBody>
                  <a:tcPr>
                    <a:solidFill>
                      <a:srgbClr val="FFFFFF"/>
                    </a:solidFill>
                  </a:tcPr>
                </a:tc>
                <a:tc>
                  <a:txBody>
                    <a:bodyPr wrap="square"/>
                    <a:lstStyle/>
                    <a:p>
                      <a:pPr algn="l"/>
                      <a:r>
                        <a:rPr sz="1300" b="0">
                          <a:solidFill>
                            <a:srgbClr val="1A1A2E"/>
                          </a:solidFill>
                          <a:latin typeface="游ゴシック"/>
                        </a:rPr>
                        <a:t>最大3回リトライ処理を実装</a:t>
                      </a:r>
                    </a:p>
                  </a:txBody>
                  <a:tcPr>
                    <a:solidFill>
                      <a:srgbClr val="FFFFFF"/>
                    </a:solidFill>
                  </a:tcPr>
                </a:tc>
              </a:tr>
              <a:tr h="548640">
                <a:tc>
                  <a:txBody>
                    <a:bodyPr wrap="square"/>
                    <a:lstStyle/>
                    <a:p>
                      <a:pPr algn="l"/>
                      <a:r>
                        <a:rPr sz="1300" b="0">
                          <a:solidFill>
                            <a:srgbClr val="1A1A2E"/>
                          </a:solidFill>
                          <a:latin typeface="游ゴシック"/>
                        </a:rPr>
                        <a:t>Bug-04</a:t>
                      </a:r>
                    </a:p>
                  </a:txBody>
                  <a:tcPr>
                    <a:solidFill>
                      <a:srgbClr val="E8EEF4"/>
                    </a:solidFill>
                  </a:tcPr>
                </a:tc>
                <a:tc>
                  <a:txBody>
                    <a:bodyPr wrap="square"/>
                    <a:lstStyle/>
                    <a:p>
                      <a:pPr algn="l"/>
                      <a:r>
                        <a:rPr sz="1300" b="0">
                          <a:solidFill>
                            <a:srgbClr val="1A1A2E"/>
                          </a:solidFill>
                          <a:latin typeface="游ゴシック"/>
                        </a:rPr>
                        <a:t>SD 書込み後の読取値不定</a:t>
                      </a:r>
                    </a:p>
                  </a:txBody>
                  <a:tcPr>
                    <a:solidFill>
                      <a:srgbClr val="E8EEF4"/>
                    </a:solidFill>
                  </a:tcPr>
                </a:tc>
                <a:tc>
                  <a:txBody>
                    <a:bodyPr wrap="square"/>
                    <a:lstStyle/>
                    <a:p>
                      <a:pPr algn="l"/>
                      <a:r>
                        <a:rPr sz="1300" b="0">
                          <a:solidFill>
                            <a:srgbClr val="1A1A2E"/>
                          </a:solidFill>
                          <a:latin typeface="游ゴシック"/>
                        </a:rPr>
                        <a:t>SPI 共用バスの状態不定</a:t>
                      </a:r>
                    </a:p>
                  </a:txBody>
                  <a:tcPr>
                    <a:solidFill>
                      <a:srgbClr val="E8EEF4"/>
                    </a:solidFill>
                  </a:tcPr>
                </a:tc>
                <a:tc>
                  <a:txBody>
                    <a:bodyPr wrap="square"/>
                    <a:lstStyle/>
                    <a:p>
                      <a:pPr algn="l"/>
                      <a:r>
                        <a:rPr sz="1300" b="0">
                          <a:solidFill>
                            <a:srgbClr val="1A1A2E"/>
                          </a:solidFill>
                          <a:latin typeface="游ゴシック"/>
                        </a:rPr>
                        <a:t>SPI.end(); SPI.begin(); でバスリセット</a:t>
                      </a:r>
                    </a:p>
                  </a:txBody>
                  <a:tcPr>
                    <a:solidFill>
                      <a:srgbClr val="E8EEF4"/>
                    </a:solidFill>
                  </a:tcPr>
                </a:tc>
              </a:tr>
              <a:tr h="548640">
                <a:tc>
                  <a:txBody>
                    <a:bodyPr wrap="square"/>
                    <a:lstStyle/>
                    <a:p>
                      <a:pPr algn="l"/>
                      <a:r>
                        <a:rPr sz="1300" b="0">
                          <a:solidFill>
                            <a:srgbClr val="1A1A2E"/>
                          </a:solidFill>
                          <a:latin typeface="游ゴシック"/>
                        </a:rPr>
                        <a:t>Bug-05</a:t>
                      </a:r>
                    </a:p>
                  </a:txBody>
                  <a:tcPr>
                    <a:solidFill>
                      <a:srgbClr val="FFFFFF"/>
                    </a:solidFill>
                  </a:tcPr>
                </a:tc>
                <a:tc>
                  <a:txBody>
                    <a:bodyPr wrap="square"/>
                    <a:lstStyle/>
                    <a:p>
                      <a:pPr algn="l"/>
                      <a:r>
                        <a:rPr sz="1300" b="0">
                          <a:solidFill>
                            <a:srgbClr val="1A1A2E"/>
                          </a:solidFill>
                          <a:latin typeface="游ゴシック"/>
                        </a:rPr>
                        <a:t>MicroSD 初期化失敗</a:t>
                      </a:r>
                    </a:p>
                  </a:txBody>
                  <a:tcPr>
                    <a:solidFill>
                      <a:srgbClr val="FFFFFF"/>
                    </a:solidFill>
                  </a:tcPr>
                </a:tc>
                <a:tc>
                  <a:txBody>
                    <a:bodyPr wrap="square"/>
                    <a:lstStyle/>
                    <a:p>
                      <a:pPr algn="l"/>
                      <a:r>
                        <a:rPr sz="1300" b="0">
                          <a:solidFill>
                            <a:srgbClr val="1A1A2E"/>
                          </a:solidFill>
                          <a:latin typeface="游ゴシック"/>
                        </a:rPr>
                        <a:t>CS ピン未指定（GPIO4 が明示されていない）</a:t>
                      </a:r>
                    </a:p>
                  </a:txBody>
                  <a:tcPr>
                    <a:solidFill>
                      <a:srgbClr val="FFFFFF"/>
                    </a:solidFill>
                  </a:tcPr>
                </a:tc>
                <a:tc>
                  <a:txBody>
                    <a:bodyPr wrap="square"/>
                    <a:lstStyle/>
                    <a:p>
                      <a:pPr algn="l"/>
                      <a:r>
                        <a:rPr sz="1300" b="0">
                          <a:solidFill>
                            <a:srgbClr val="1A1A2E"/>
                          </a:solidFill>
                          <a:latin typeface="游ゴシック"/>
                        </a:rPr>
                        <a:t>SD.begin(4) で GPIO4 に明示化</a:t>
                      </a:r>
                    </a:p>
                  </a:txBody>
                  <a:tcPr>
                    <a:solidFill>
                      <a:srgbClr val="FFFFFF"/>
                    </a:solidFill>
                  </a:tcPr>
                </a:tc>
              </a:tr>
            </a:tbl>
          </a:graphicData>
        </a:graphic>
      </p:graphicFrame>
      <p:sp>
        <p:nvSpPr>
          <p:cNvPr id="11" name="Rectangle 10"/>
          <p:cNvSpPr/>
          <p:nvPr/>
        </p:nvSpPr>
        <p:spPr>
          <a:xfrm>
            <a:off x="365760" y="5166360"/>
            <a:ext cx="3657600" cy="100584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5166360"/>
            <a:ext cx="365760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276088"/>
            <a:ext cx="3383280" cy="320040"/>
          </a:xfrm>
          <a:prstGeom prst="rect">
            <a:avLst/>
          </a:prstGeom>
          <a:noFill/>
        </p:spPr>
        <p:txBody>
          <a:bodyPr wrap="square">
            <a:spAutoFit/>
          </a:bodyPr>
          <a:lstStyle/>
          <a:p>
            <a:pPr algn="l"/>
            <a:r>
              <a:rPr sz="1200" b="0" i="0">
                <a:solidFill>
                  <a:srgbClr val="8899AA"/>
                </a:solidFill>
                <a:latin typeface="游ゴシック"/>
              </a:rPr>
              <a:t>解決バグ数</a:t>
            </a:r>
          </a:p>
        </p:txBody>
      </p:sp>
      <p:sp>
        <p:nvSpPr>
          <p:cNvPr id="14" name="TextBox 13"/>
          <p:cNvSpPr txBox="1"/>
          <p:nvPr/>
        </p:nvSpPr>
        <p:spPr>
          <a:xfrm>
            <a:off x="457200" y="5532120"/>
            <a:ext cx="3474720" cy="548640"/>
          </a:xfrm>
          <a:prstGeom prst="rect">
            <a:avLst/>
          </a:prstGeom>
          <a:noFill/>
        </p:spPr>
        <p:txBody>
          <a:bodyPr wrap="square">
            <a:spAutoFit/>
          </a:bodyPr>
          <a:lstStyle/>
          <a:p>
            <a:pPr algn="l"/>
            <a:r>
              <a:rPr sz="2200" b="1" i="0">
                <a:solidFill>
                  <a:srgbClr val="27AE60"/>
                </a:solidFill>
                <a:latin typeface="游ゴシック"/>
              </a:rPr>
              <a:t>5 / 5 件（100%）</a:t>
            </a:r>
          </a:p>
        </p:txBody>
      </p:sp>
      <p:sp>
        <p:nvSpPr>
          <p:cNvPr id="15" name="Rectangle 14"/>
          <p:cNvSpPr/>
          <p:nvPr/>
        </p:nvSpPr>
        <p:spPr>
          <a:xfrm>
            <a:off x="4160520" y="5166360"/>
            <a:ext cx="3657600" cy="100584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60520" y="5166360"/>
            <a:ext cx="3657600" cy="64008"/>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5276088"/>
            <a:ext cx="3383280" cy="320040"/>
          </a:xfrm>
          <a:prstGeom prst="rect">
            <a:avLst/>
          </a:prstGeom>
          <a:noFill/>
        </p:spPr>
        <p:txBody>
          <a:bodyPr wrap="square">
            <a:spAutoFit/>
          </a:bodyPr>
          <a:lstStyle/>
          <a:p>
            <a:pPr algn="l"/>
            <a:r>
              <a:rPr sz="1200" b="0" i="0">
                <a:solidFill>
                  <a:srgbClr val="8899AA"/>
                </a:solidFill>
                <a:latin typeface="游ゴシック"/>
              </a:rPr>
              <a:t>デバッグ手法</a:t>
            </a:r>
          </a:p>
        </p:txBody>
      </p:sp>
      <p:sp>
        <p:nvSpPr>
          <p:cNvPr id="18" name="TextBox 17"/>
          <p:cNvSpPr txBox="1"/>
          <p:nvPr/>
        </p:nvSpPr>
        <p:spPr>
          <a:xfrm>
            <a:off x="4251960" y="5532120"/>
            <a:ext cx="3474720" cy="548640"/>
          </a:xfrm>
          <a:prstGeom prst="rect">
            <a:avLst/>
          </a:prstGeom>
          <a:noFill/>
        </p:spPr>
        <p:txBody>
          <a:bodyPr wrap="square">
            <a:spAutoFit/>
          </a:bodyPr>
          <a:lstStyle/>
          <a:p>
            <a:pPr algn="l"/>
            <a:r>
              <a:rPr sz="1400" b="1" i="0">
                <a:solidFill>
                  <a:srgbClr val="0D2B45"/>
                </a:solidFill>
                <a:latin typeface="游ゴシック"/>
              </a:rPr>
              <a:t>シリアルモニタ + CSV 目視</a:t>
            </a:r>
          </a:p>
        </p:txBody>
      </p:sp>
      <p:sp>
        <p:nvSpPr>
          <p:cNvPr id="19" name="Rectangle 18"/>
          <p:cNvSpPr/>
          <p:nvPr/>
        </p:nvSpPr>
        <p:spPr>
          <a:xfrm>
            <a:off x="7955279" y="5166360"/>
            <a:ext cx="3931920" cy="1005840"/>
          </a:xfrm>
          <a:prstGeom prst="rect">
            <a:avLst/>
          </a:prstGeom>
          <a:solidFill>
            <a:srgbClr val="FFFFFF"/>
          </a:solidFill>
          <a:ln w="19050">
            <a:solidFill>
              <a:srgbClr val="E862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5166360"/>
            <a:ext cx="393192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39" y="5276088"/>
            <a:ext cx="3657600" cy="320040"/>
          </a:xfrm>
          <a:prstGeom prst="rect">
            <a:avLst/>
          </a:prstGeom>
          <a:noFill/>
        </p:spPr>
        <p:txBody>
          <a:bodyPr wrap="square">
            <a:spAutoFit/>
          </a:bodyPr>
          <a:lstStyle/>
          <a:p>
            <a:pPr algn="l"/>
            <a:r>
              <a:rPr sz="1200" b="0" i="0">
                <a:solidFill>
                  <a:srgbClr val="8899AA"/>
                </a:solidFill>
                <a:latin typeface="游ゴシック"/>
              </a:rPr>
              <a:t>ドキュメント</a:t>
            </a:r>
          </a:p>
        </p:txBody>
      </p:sp>
      <p:sp>
        <p:nvSpPr>
          <p:cNvPr id="22" name="TextBox 21"/>
          <p:cNvSpPr txBox="1"/>
          <p:nvPr/>
        </p:nvSpPr>
        <p:spPr>
          <a:xfrm>
            <a:off x="8046719" y="5532120"/>
            <a:ext cx="3749040" cy="548640"/>
          </a:xfrm>
          <a:prstGeom prst="rect">
            <a:avLst/>
          </a:prstGeom>
          <a:noFill/>
        </p:spPr>
        <p:txBody>
          <a:bodyPr wrap="square">
            <a:spAutoFit/>
          </a:bodyPr>
          <a:lstStyle/>
          <a:p>
            <a:pPr algn="l"/>
            <a:r>
              <a:rPr sz="1400" b="1" i="0">
                <a:solidFill>
                  <a:srgbClr val="E8621A"/>
                </a:solidFill>
                <a:latin typeface="游ゴシック"/>
              </a:rPr>
              <a:t>TROUBLESHOOTING.md 722行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テスト実績</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4  品質・実績・将来計画</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15 / 17</a:t>
            </a:r>
          </a:p>
        </p:txBody>
      </p:sp>
      <p:sp>
        <p:nvSpPr>
          <p:cNvPr id="10" name="TextBox 9"/>
          <p:cNvSpPr txBox="1"/>
          <p:nvPr/>
        </p:nvSpPr>
        <p:spPr>
          <a:xfrm>
            <a:off x="320040" y="1097280"/>
            <a:ext cx="11430000" cy="411480"/>
          </a:xfrm>
          <a:prstGeom prst="rect">
            <a:avLst/>
          </a:prstGeom>
          <a:noFill/>
        </p:spPr>
        <p:txBody>
          <a:bodyPr wrap="square">
            <a:spAutoFit/>
          </a:bodyPr>
          <a:lstStyle/>
          <a:p>
            <a:pPr algn="l"/>
            <a:r>
              <a:rPr sz="1500" b="0" i="0">
                <a:solidFill>
                  <a:srgbClr val="1A1A2E"/>
                </a:solidFill>
                <a:latin typeface="游ゴシック"/>
              </a:rPr>
              <a:t>7カテゴリ 33ケース の統合テストを全て手動実機テストで実施</a:t>
            </a:r>
          </a:p>
        </p:txBody>
      </p:sp>
      <p:graphicFrame>
        <p:nvGraphicFramePr>
          <p:cNvPr id="11" name="Table 10"/>
          <p:cNvGraphicFramePr>
            <a:graphicFrameLocks noGrp="1"/>
          </p:cNvGraphicFramePr>
          <p:nvPr/>
        </p:nvGraphicFramePr>
        <p:xfrm>
          <a:off x="320040" y="1645920"/>
          <a:ext cx="6858000" cy="4114800"/>
        </p:xfrm>
        <a:graphic>
          <a:graphicData uri="http://schemas.openxmlformats.org/drawingml/2006/table">
            <a:tbl>
              <a:tblPr firstRow="1" bandRow="1">
                <a:tableStyleId>{5C22544A-7EE6-4342-B048-85BDC9FD1C3A}</a:tableStyleId>
              </a:tblPr>
              <a:tblGrid>
                <a:gridCol w="2743200"/>
                <a:gridCol w="1554480"/>
                <a:gridCol w="1371600"/>
                <a:gridCol w="1188720"/>
              </a:tblGrid>
              <a:tr h="457200">
                <a:tc>
                  <a:txBody>
                    <a:bodyPr wrap="square"/>
                    <a:lstStyle/>
                    <a:p>
                      <a:pPr algn="l"/>
                      <a:r>
                        <a:rPr sz="1400" b="1">
                          <a:solidFill>
                            <a:srgbClr val="FFFFFF"/>
                          </a:solidFill>
                          <a:latin typeface="游ゴシック"/>
                        </a:rPr>
                        <a:t>カテゴリ</a:t>
                      </a:r>
                    </a:p>
                  </a:txBody>
                  <a:tcPr>
                    <a:solidFill>
                      <a:srgbClr val="0D2B45"/>
                    </a:solidFill>
                  </a:tcPr>
                </a:tc>
                <a:tc>
                  <a:txBody>
                    <a:bodyPr wrap="square"/>
                    <a:lstStyle/>
                    <a:p>
                      <a:pPr algn="l"/>
                      <a:r>
                        <a:rPr sz="1400" b="1">
                          <a:solidFill>
                            <a:srgbClr val="FFFFFF"/>
                          </a:solidFill>
                          <a:latin typeface="游ゴシック"/>
                        </a:rPr>
                        <a:t>テストケース数</a:t>
                      </a:r>
                    </a:p>
                  </a:txBody>
                  <a:tcPr>
                    <a:solidFill>
                      <a:srgbClr val="0D2B45"/>
                    </a:solidFill>
                  </a:tcPr>
                </a:tc>
                <a:tc>
                  <a:txBody>
                    <a:bodyPr wrap="square"/>
                    <a:lstStyle/>
                    <a:p>
                      <a:pPr algn="l"/>
                      <a:r>
                        <a:rPr sz="1400" b="1">
                          <a:solidFill>
                            <a:srgbClr val="FFFFFF"/>
                          </a:solidFill>
                          <a:latin typeface="游ゴシック"/>
                        </a:rPr>
                        <a:t>合格数</a:t>
                      </a:r>
                    </a:p>
                  </a:txBody>
                  <a:tcPr>
                    <a:solidFill>
                      <a:srgbClr val="0D2B45"/>
                    </a:solidFill>
                  </a:tcPr>
                </a:tc>
                <a:tc>
                  <a:txBody>
                    <a:bodyPr wrap="square"/>
                    <a:lstStyle/>
                    <a:p>
                      <a:pPr algn="l"/>
                      <a:r>
                        <a:rPr sz="1400" b="1">
                          <a:solidFill>
                            <a:srgbClr val="FFFFFF"/>
                          </a:solidFill>
                          <a:latin typeface="游ゴシック"/>
                        </a:rPr>
                        <a:t>合格率</a:t>
                      </a:r>
                    </a:p>
                  </a:txBody>
                  <a:tcPr>
                    <a:solidFill>
                      <a:srgbClr val="0D2B45"/>
                    </a:solidFill>
                  </a:tcPr>
                </a:tc>
              </a:tr>
              <a:tr h="457200">
                <a:tc>
                  <a:txBody>
                    <a:bodyPr wrap="square"/>
                    <a:lstStyle/>
                    <a:p>
                      <a:pPr algn="l"/>
                      <a:r>
                        <a:rPr sz="1400" b="0">
                          <a:solidFill>
                            <a:srgbClr val="1A1A2E"/>
                          </a:solidFill>
                          <a:latin typeface="游ゴシック"/>
                        </a:rPr>
                        <a:t>① 起動・初期化</a:t>
                      </a:r>
                    </a:p>
                  </a:txBody>
                  <a:tcPr>
                    <a:solidFill>
                      <a:srgbClr val="FFFFFF"/>
                    </a:solidFill>
                  </a:tcPr>
                </a:tc>
                <a:tc>
                  <a:txBody>
                    <a:bodyPr wrap="square"/>
                    <a:lstStyle/>
                    <a:p>
                      <a:pPr algn="l"/>
                      <a:r>
                        <a:rPr sz="1400" b="0">
                          <a:solidFill>
                            <a:srgbClr val="1A1A2E"/>
                          </a:solidFill>
                          <a:latin typeface="游ゴシック"/>
                        </a:rPr>
                        <a:t>4</a:t>
                      </a:r>
                    </a:p>
                  </a:txBody>
                  <a:tcPr>
                    <a:solidFill>
                      <a:srgbClr val="FFFFFF"/>
                    </a:solidFill>
                  </a:tcPr>
                </a:tc>
                <a:tc>
                  <a:txBody>
                    <a:bodyPr wrap="square"/>
                    <a:lstStyle/>
                    <a:p>
                      <a:pPr algn="l"/>
                      <a:r>
                        <a:rPr sz="1400" b="0">
                          <a:solidFill>
                            <a:srgbClr val="1A1A2E"/>
                          </a:solidFill>
                          <a:latin typeface="游ゴシック"/>
                        </a:rPr>
                        <a:t>4</a:t>
                      </a:r>
                    </a:p>
                  </a:txBody>
                  <a:tcPr>
                    <a:solidFill>
                      <a:srgbClr val="FFFFFF"/>
                    </a:solidFill>
                  </a:tcPr>
                </a:tc>
                <a:tc>
                  <a:txBody>
                    <a:bodyPr wrap="square"/>
                    <a:lstStyle/>
                    <a:p>
                      <a:pPr algn="l"/>
                      <a:r>
                        <a:rPr sz="1400" b="0">
                          <a:solidFill>
                            <a:srgbClr val="1A1A2E"/>
                          </a:solidFill>
                          <a:latin typeface="游ゴシック"/>
                        </a:rPr>
                        <a:t>100%</a:t>
                      </a:r>
                    </a:p>
                  </a:txBody>
                  <a:tcPr>
                    <a:solidFill>
                      <a:srgbClr val="FFFFFF"/>
                    </a:solidFill>
                  </a:tcPr>
                </a:tc>
              </a:tr>
              <a:tr h="457200">
                <a:tc>
                  <a:txBody>
                    <a:bodyPr wrap="square"/>
                    <a:lstStyle/>
                    <a:p>
                      <a:pPr algn="l"/>
                      <a:r>
                        <a:rPr sz="1400" b="0">
                          <a:solidFill>
                            <a:srgbClr val="1A1A2E"/>
                          </a:solidFill>
                          <a:latin typeface="游ゴシック"/>
                        </a:rPr>
                        <a:t>② 温度計測</a:t>
                      </a:r>
                    </a:p>
                  </a:txBody>
                  <a:tcPr>
                    <a:solidFill>
                      <a:srgbClr val="E8EEF4"/>
                    </a:solidFill>
                  </a:tcPr>
                </a:tc>
                <a:tc>
                  <a:txBody>
                    <a:bodyPr wrap="square"/>
                    <a:lstStyle/>
                    <a:p>
                      <a:pPr algn="l"/>
                      <a:r>
                        <a:rPr sz="1400" b="0">
                          <a:solidFill>
                            <a:srgbClr val="1A1A2E"/>
                          </a:solidFill>
                          <a:latin typeface="游ゴシック"/>
                        </a:rPr>
                        <a:t>5</a:t>
                      </a:r>
                    </a:p>
                  </a:txBody>
                  <a:tcPr>
                    <a:solidFill>
                      <a:srgbClr val="E8EEF4"/>
                    </a:solidFill>
                  </a:tcPr>
                </a:tc>
                <a:tc>
                  <a:txBody>
                    <a:bodyPr wrap="square"/>
                    <a:lstStyle/>
                    <a:p>
                      <a:pPr algn="l"/>
                      <a:r>
                        <a:rPr sz="1400" b="0">
                          <a:solidFill>
                            <a:srgbClr val="1A1A2E"/>
                          </a:solidFill>
                          <a:latin typeface="游ゴシック"/>
                        </a:rPr>
                        <a:t>5</a:t>
                      </a:r>
                    </a:p>
                  </a:txBody>
                  <a:tcPr>
                    <a:solidFill>
                      <a:srgbClr val="E8EEF4"/>
                    </a:solidFill>
                  </a:tcPr>
                </a:tc>
                <a:tc>
                  <a:txBody>
                    <a:bodyPr wrap="square"/>
                    <a:lstStyle/>
                    <a:p>
                      <a:pPr algn="l"/>
                      <a:r>
                        <a:rPr sz="1400" b="0">
                          <a:solidFill>
                            <a:srgbClr val="1A1A2E"/>
                          </a:solidFill>
                          <a:latin typeface="游ゴシック"/>
                        </a:rPr>
                        <a:t>100%</a:t>
                      </a:r>
                    </a:p>
                  </a:txBody>
                  <a:tcPr>
                    <a:solidFill>
                      <a:srgbClr val="E8EEF4"/>
                    </a:solidFill>
                  </a:tcPr>
                </a:tc>
              </a:tr>
              <a:tr h="457200">
                <a:tc>
                  <a:txBody>
                    <a:bodyPr wrap="square"/>
                    <a:lstStyle/>
                    <a:p>
                      <a:pPr algn="l"/>
                      <a:r>
                        <a:rPr sz="1400" b="0">
                          <a:solidFill>
                            <a:srgbClr val="1A1A2E"/>
                          </a:solidFill>
                          <a:latin typeface="游ゴシック"/>
                        </a:rPr>
                        <a:t>③ CSV自動保存</a:t>
                      </a:r>
                    </a:p>
                  </a:txBody>
                  <a:tcPr>
                    <a:solidFill>
                      <a:srgbClr val="FFFFFF"/>
                    </a:solidFill>
                  </a:tcPr>
                </a:tc>
                <a:tc>
                  <a:txBody>
                    <a:bodyPr wrap="square"/>
                    <a:lstStyle/>
                    <a:p>
                      <a:pPr algn="l"/>
                      <a:r>
                        <a:rPr sz="1400" b="0">
                          <a:solidFill>
                            <a:srgbClr val="1A1A2E"/>
                          </a:solidFill>
                          <a:latin typeface="游ゴシック"/>
                        </a:rPr>
                        <a:t>6</a:t>
                      </a:r>
                    </a:p>
                  </a:txBody>
                  <a:tcPr>
                    <a:solidFill>
                      <a:srgbClr val="FFFFFF"/>
                    </a:solidFill>
                  </a:tcPr>
                </a:tc>
                <a:tc>
                  <a:txBody>
                    <a:bodyPr wrap="square"/>
                    <a:lstStyle/>
                    <a:p>
                      <a:pPr algn="l"/>
                      <a:r>
                        <a:rPr sz="1400" b="0">
                          <a:solidFill>
                            <a:srgbClr val="1A1A2E"/>
                          </a:solidFill>
                          <a:latin typeface="游ゴシック"/>
                        </a:rPr>
                        <a:t>6</a:t>
                      </a:r>
                    </a:p>
                  </a:txBody>
                  <a:tcPr>
                    <a:solidFill>
                      <a:srgbClr val="FFFFFF"/>
                    </a:solidFill>
                  </a:tcPr>
                </a:tc>
                <a:tc>
                  <a:txBody>
                    <a:bodyPr wrap="square"/>
                    <a:lstStyle/>
                    <a:p>
                      <a:pPr algn="l"/>
                      <a:r>
                        <a:rPr sz="1400" b="0">
                          <a:solidFill>
                            <a:srgbClr val="1A1A2E"/>
                          </a:solidFill>
                          <a:latin typeface="游ゴシック"/>
                        </a:rPr>
                        <a:t>100%</a:t>
                      </a:r>
                    </a:p>
                  </a:txBody>
                  <a:tcPr>
                    <a:solidFill>
                      <a:srgbClr val="FFFFFF"/>
                    </a:solidFill>
                  </a:tcPr>
                </a:tc>
              </a:tr>
              <a:tr h="457200">
                <a:tc>
                  <a:txBody>
                    <a:bodyPr wrap="square"/>
                    <a:lstStyle/>
                    <a:p>
                      <a:pPr algn="l"/>
                      <a:r>
                        <a:rPr sz="1400" b="0">
                          <a:solidFill>
                            <a:srgbClr val="1A1A2E"/>
                          </a:solidFill>
                          <a:latin typeface="游ゴシック"/>
                        </a:rPr>
                        <a:t>④ 統計計算</a:t>
                      </a:r>
                    </a:p>
                  </a:txBody>
                  <a:tcPr>
                    <a:solidFill>
                      <a:srgbClr val="E8EEF4"/>
                    </a:solidFill>
                  </a:tcPr>
                </a:tc>
                <a:tc>
                  <a:txBody>
                    <a:bodyPr wrap="square"/>
                    <a:lstStyle/>
                    <a:p>
                      <a:pPr algn="l"/>
                      <a:r>
                        <a:rPr sz="1400" b="0">
                          <a:solidFill>
                            <a:srgbClr val="1A1A2E"/>
                          </a:solidFill>
                          <a:latin typeface="游ゴシック"/>
                        </a:rPr>
                        <a:t>5</a:t>
                      </a:r>
                    </a:p>
                  </a:txBody>
                  <a:tcPr>
                    <a:solidFill>
                      <a:srgbClr val="E8EEF4"/>
                    </a:solidFill>
                  </a:tcPr>
                </a:tc>
                <a:tc>
                  <a:txBody>
                    <a:bodyPr wrap="square"/>
                    <a:lstStyle/>
                    <a:p>
                      <a:pPr algn="l"/>
                      <a:r>
                        <a:rPr sz="1400" b="0">
                          <a:solidFill>
                            <a:srgbClr val="1A1A2E"/>
                          </a:solidFill>
                          <a:latin typeface="游ゴシック"/>
                        </a:rPr>
                        <a:t>5</a:t>
                      </a:r>
                    </a:p>
                  </a:txBody>
                  <a:tcPr>
                    <a:solidFill>
                      <a:srgbClr val="E8EEF4"/>
                    </a:solidFill>
                  </a:tcPr>
                </a:tc>
                <a:tc>
                  <a:txBody>
                    <a:bodyPr wrap="square"/>
                    <a:lstStyle/>
                    <a:p>
                      <a:pPr algn="l"/>
                      <a:r>
                        <a:rPr sz="1400" b="0">
                          <a:solidFill>
                            <a:srgbClr val="1A1A2E"/>
                          </a:solidFill>
                          <a:latin typeface="游ゴシック"/>
                        </a:rPr>
                        <a:t>100%</a:t>
                      </a:r>
                    </a:p>
                  </a:txBody>
                  <a:tcPr>
                    <a:solidFill>
                      <a:srgbClr val="E8EEF4"/>
                    </a:solidFill>
                  </a:tcPr>
                </a:tc>
              </a:tr>
              <a:tr h="457200">
                <a:tc>
                  <a:txBody>
                    <a:bodyPr wrap="square"/>
                    <a:lstStyle/>
                    <a:p>
                      <a:pPr algn="l"/>
                      <a:r>
                        <a:rPr sz="1400" b="0">
                          <a:solidFill>
                            <a:srgbClr val="1A1A2E"/>
                          </a:solidFill>
                          <a:latin typeface="游ゴシック"/>
                        </a:rPr>
                        <a:t>⑤ アラーム機能</a:t>
                      </a:r>
                    </a:p>
                  </a:txBody>
                  <a:tcPr>
                    <a:solidFill>
                      <a:srgbClr val="FFFFFF"/>
                    </a:solidFill>
                  </a:tcPr>
                </a:tc>
                <a:tc>
                  <a:txBody>
                    <a:bodyPr wrap="square"/>
                    <a:lstStyle/>
                    <a:p>
                      <a:pPr algn="l"/>
                      <a:r>
                        <a:rPr sz="1400" b="0">
                          <a:solidFill>
                            <a:srgbClr val="1A1A2E"/>
                          </a:solidFill>
                          <a:latin typeface="游ゴシック"/>
                        </a:rPr>
                        <a:t>5</a:t>
                      </a:r>
                    </a:p>
                  </a:txBody>
                  <a:tcPr>
                    <a:solidFill>
                      <a:srgbClr val="FFFFFF"/>
                    </a:solidFill>
                  </a:tcPr>
                </a:tc>
                <a:tc>
                  <a:txBody>
                    <a:bodyPr wrap="square"/>
                    <a:lstStyle/>
                    <a:p>
                      <a:pPr algn="l"/>
                      <a:r>
                        <a:rPr sz="1400" b="0">
                          <a:solidFill>
                            <a:srgbClr val="1A1A2E"/>
                          </a:solidFill>
                          <a:latin typeface="游ゴシック"/>
                        </a:rPr>
                        <a:t>5</a:t>
                      </a:r>
                    </a:p>
                  </a:txBody>
                  <a:tcPr>
                    <a:solidFill>
                      <a:srgbClr val="FFFFFF"/>
                    </a:solidFill>
                  </a:tcPr>
                </a:tc>
                <a:tc>
                  <a:txBody>
                    <a:bodyPr wrap="square"/>
                    <a:lstStyle/>
                    <a:p>
                      <a:pPr algn="l"/>
                      <a:r>
                        <a:rPr sz="1400" b="0">
                          <a:solidFill>
                            <a:srgbClr val="1A1A2E"/>
                          </a:solidFill>
                          <a:latin typeface="游ゴシック"/>
                        </a:rPr>
                        <a:t>100%</a:t>
                      </a:r>
                    </a:p>
                  </a:txBody>
                  <a:tcPr>
                    <a:solidFill>
                      <a:srgbClr val="FFFFFF"/>
                    </a:solidFill>
                  </a:tcPr>
                </a:tc>
              </a:tr>
              <a:tr h="457200">
                <a:tc>
                  <a:txBody>
                    <a:bodyPr wrap="square"/>
                    <a:lstStyle/>
                    <a:p>
                      <a:pPr algn="l"/>
                      <a:r>
                        <a:rPr sz="1400" b="0">
                          <a:solidFill>
                            <a:srgbClr val="1A1A2E"/>
                          </a:solidFill>
                          <a:latin typeface="游ゴシック"/>
                        </a:rPr>
                        <a:t>⑥ 状態遷移</a:t>
                      </a:r>
                    </a:p>
                  </a:txBody>
                  <a:tcPr>
                    <a:solidFill>
                      <a:srgbClr val="E8EEF4"/>
                    </a:solidFill>
                  </a:tcPr>
                </a:tc>
                <a:tc>
                  <a:txBody>
                    <a:bodyPr wrap="square"/>
                    <a:lstStyle/>
                    <a:p>
                      <a:pPr algn="l"/>
                      <a:r>
                        <a:rPr sz="1400" b="0">
                          <a:solidFill>
                            <a:srgbClr val="1A1A2E"/>
                          </a:solidFill>
                          <a:latin typeface="游ゴシック"/>
                        </a:rPr>
                        <a:t>4</a:t>
                      </a:r>
                    </a:p>
                  </a:txBody>
                  <a:tcPr>
                    <a:solidFill>
                      <a:srgbClr val="E8EEF4"/>
                    </a:solidFill>
                  </a:tcPr>
                </a:tc>
                <a:tc>
                  <a:txBody>
                    <a:bodyPr wrap="square"/>
                    <a:lstStyle/>
                    <a:p>
                      <a:pPr algn="l"/>
                      <a:r>
                        <a:rPr sz="1400" b="0">
                          <a:solidFill>
                            <a:srgbClr val="1A1A2E"/>
                          </a:solidFill>
                          <a:latin typeface="游ゴシック"/>
                        </a:rPr>
                        <a:t>4</a:t>
                      </a:r>
                    </a:p>
                  </a:txBody>
                  <a:tcPr>
                    <a:solidFill>
                      <a:srgbClr val="E8EEF4"/>
                    </a:solidFill>
                  </a:tcPr>
                </a:tc>
                <a:tc>
                  <a:txBody>
                    <a:bodyPr wrap="square"/>
                    <a:lstStyle/>
                    <a:p>
                      <a:pPr algn="l"/>
                      <a:r>
                        <a:rPr sz="1400" b="0">
                          <a:solidFill>
                            <a:srgbClr val="1A1A2E"/>
                          </a:solidFill>
                          <a:latin typeface="游ゴシック"/>
                        </a:rPr>
                        <a:t>100%</a:t>
                      </a:r>
                    </a:p>
                  </a:txBody>
                  <a:tcPr>
                    <a:solidFill>
                      <a:srgbClr val="E8EEF4"/>
                    </a:solidFill>
                  </a:tcPr>
                </a:tc>
              </a:tr>
              <a:tr h="457200">
                <a:tc>
                  <a:txBody>
                    <a:bodyPr wrap="square"/>
                    <a:lstStyle/>
                    <a:p>
                      <a:pPr algn="l"/>
                      <a:r>
                        <a:rPr sz="1400" b="0">
                          <a:solidFill>
                            <a:srgbClr val="1A1A2E"/>
                          </a:solidFill>
                          <a:latin typeface="游ゴシック"/>
                        </a:rPr>
                        <a:t>⑦ エラー対応</a:t>
                      </a:r>
                    </a:p>
                  </a:txBody>
                  <a:tcPr>
                    <a:solidFill>
                      <a:srgbClr val="FFFFFF"/>
                    </a:solidFill>
                  </a:tcPr>
                </a:tc>
                <a:tc>
                  <a:txBody>
                    <a:bodyPr wrap="square"/>
                    <a:lstStyle/>
                    <a:p>
                      <a:pPr algn="l"/>
                      <a:r>
                        <a:rPr sz="1400" b="0">
                          <a:solidFill>
                            <a:srgbClr val="1A1A2E"/>
                          </a:solidFill>
                          <a:latin typeface="游ゴシック"/>
                        </a:rPr>
                        <a:t>4</a:t>
                      </a:r>
                    </a:p>
                  </a:txBody>
                  <a:tcPr>
                    <a:solidFill>
                      <a:srgbClr val="FFFFFF"/>
                    </a:solidFill>
                  </a:tcPr>
                </a:tc>
                <a:tc>
                  <a:txBody>
                    <a:bodyPr wrap="square"/>
                    <a:lstStyle/>
                    <a:p>
                      <a:pPr algn="l"/>
                      <a:r>
                        <a:rPr sz="1400" b="0">
                          <a:solidFill>
                            <a:srgbClr val="1A1A2E"/>
                          </a:solidFill>
                          <a:latin typeface="游ゴシック"/>
                        </a:rPr>
                        <a:t>4</a:t>
                      </a:r>
                    </a:p>
                  </a:txBody>
                  <a:tcPr>
                    <a:solidFill>
                      <a:srgbClr val="FFFFFF"/>
                    </a:solidFill>
                  </a:tcPr>
                </a:tc>
                <a:tc>
                  <a:txBody>
                    <a:bodyPr wrap="square"/>
                    <a:lstStyle/>
                    <a:p>
                      <a:pPr algn="l"/>
                      <a:r>
                        <a:rPr sz="1400" b="0">
                          <a:solidFill>
                            <a:srgbClr val="1A1A2E"/>
                          </a:solidFill>
                          <a:latin typeface="游ゴシック"/>
                        </a:rPr>
                        <a:t>100%</a:t>
                      </a:r>
                    </a:p>
                  </a:txBody>
                  <a:tcPr>
                    <a:solidFill>
                      <a:srgbClr val="FFFFFF"/>
                    </a:solidFill>
                  </a:tcPr>
                </a:tc>
              </a:tr>
              <a:tr h="457200">
                <a:tc>
                  <a:txBody>
                    <a:bodyPr wrap="square"/>
                    <a:lstStyle/>
                    <a:p>
                      <a:pPr algn="l"/>
                      <a:r>
                        <a:rPr sz="1400" b="0">
                          <a:solidFill>
                            <a:srgbClr val="1A1A2E"/>
                          </a:solidFill>
                          <a:latin typeface="游ゴシック"/>
                        </a:rPr>
                        <a:t>合計</a:t>
                      </a:r>
                    </a:p>
                  </a:txBody>
                  <a:tcPr>
                    <a:solidFill>
                      <a:srgbClr val="E8EEF4"/>
                    </a:solidFill>
                  </a:tcPr>
                </a:tc>
                <a:tc>
                  <a:txBody>
                    <a:bodyPr wrap="square"/>
                    <a:lstStyle/>
                    <a:p>
                      <a:pPr algn="l"/>
                      <a:r>
                        <a:rPr sz="1400" b="0">
                          <a:solidFill>
                            <a:srgbClr val="1A1A2E"/>
                          </a:solidFill>
                          <a:latin typeface="游ゴシック"/>
                        </a:rPr>
                        <a:t>33</a:t>
                      </a:r>
                    </a:p>
                  </a:txBody>
                  <a:tcPr>
                    <a:solidFill>
                      <a:srgbClr val="E8EEF4"/>
                    </a:solidFill>
                  </a:tcPr>
                </a:tc>
                <a:tc>
                  <a:txBody>
                    <a:bodyPr wrap="square"/>
                    <a:lstStyle/>
                    <a:p>
                      <a:pPr algn="l"/>
                      <a:r>
                        <a:rPr sz="1400" b="0">
                          <a:solidFill>
                            <a:srgbClr val="1A1A2E"/>
                          </a:solidFill>
                          <a:latin typeface="游ゴシック"/>
                        </a:rPr>
                        <a:t>33</a:t>
                      </a:r>
                    </a:p>
                  </a:txBody>
                  <a:tcPr>
                    <a:solidFill>
                      <a:srgbClr val="E8EEF4"/>
                    </a:solidFill>
                  </a:tcPr>
                </a:tc>
                <a:tc>
                  <a:txBody>
                    <a:bodyPr wrap="square"/>
                    <a:lstStyle/>
                    <a:p>
                      <a:pPr algn="l"/>
                      <a:r>
                        <a:rPr sz="1400" b="0">
                          <a:solidFill>
                            <a:srgbClr val="1A1A2E"/>
                          </a:solidFill>
                          <a:latin typeface="游ゴシック"/>
                        </a:rPr>
                        <a:t>100%</a:t>
                      </a:r>
                    </a:p>
                  </a:txBody>
                  <a:tcPr>
                    <a:solidFill>
                      <a:srgbClr val="E8EEF4"/>
                    </a:solidFill>
                  </a:tcPr>
                </a:tc>
              </a:tr>
            </a:tbl>
          </a:graphicData>
        </a:graphic>
      </p:graphicFrame>
      <p:sp>
        <p:nvSpPr>
          <p:cNvPr id="12" name="Rectangle 11"/>
          <p:cNvSpPr/>
          <p:nvPr/>
        </p:nvSpPr>
        <p:spPr>
          <a:xfrm>
            <a:off x="7406640" y="1645920"/>
            <a:ext cx="4389120" cy="128016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645920"/>
            <a:ext cx="4389120"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755648"/>
            <a:ext cx="4114800" cy="320040"/>
          </a:xfrm>
          <a:prstGeom prst="rect">
            <a:avLst/>
          </a:prstGeom>
          <a:noFill/>
        </p:spPr>
        <p:txBody>
          <a:bodyPr wrap="square">
            <a:spAutoFit/>
          </a:bodyPr>
          <a:lstStyle/>
          <a:p>
            <a:pPr algn="l"/>
            <a:r>
              <a:rPr sz="1200" b="0" i="0">
                <a:solidFill>
                  <a:srgbClr val="8899AA"/>
                </a:solidFill>
                <a:latin typeface="游ゴシック"/>
              </a:rPr>
              <a:t>テスト合格率</a:t>
            </a:r>
          </a:p>
        </p:txBody>
      </p:sp>
      <p:sp>
        <p:nvSpPr>
          <p:cNvPr id="15" name="TextBox 14"/>
          <p:cNvSpPr txBox="1"/>
          <p:nvPr/>
        </p:nvSpPr>
        <p:spPr>
          <a:xfrm>
            <a:off x="7498080" y="2011680"/>
            <a:ext cx="4206240" cy="822960"/>
          </a:xfrm>
          <a:prstGeom prst="rect">
            <a:avLst/>
          </a:prstGeom>
          <a:noFill/>
        </p:spPr>
        <p:txBody>
          <a:bodyPr wrap="square">
            <a:spAutoFit/>
          </a:bodyPr>
          <a:lstStyle/>
          <a:p>
            <a:pPr algn="l"/>
            <a:r>
              <a:rPr sz="2200" b="1" i="0">
                <a:solidFill>
                  <a:srgbClr val="27AE60"/>
                </a:solidFill>
                <a:latin typeface="游ゴシック"/>
              </a:rPr>
              <a:t>33 / 33  ✓  100%</a:t>
            </a:r>
          </a:p>
        </p:txBody>
      </p:sp>
      <p:sp>
        <p:nvSpPr>
          <p:cNvPr id="16" name="Rectangle 15"/>
          <p:cNvSpPr/>
          <p:nvPr/>
        </p:nvSpPr>
        <p:spPr>
          <a:xfrm>
            <a:off x="7406640" y="3108960"/>
            <a:ext cx="4389120" cy="1005840"/>
          </a:xfrm>
          <a:prstGeom prst="rect">
            <a:avLst/>
          </a:prstGeom>
          <a:solidFill>
            <a:srgbClr val="FFFFFF"/>
          </a:solidFill>
          <a:ln w="19050">
            <a:solidFill>
              <a:srgbClr val="0D2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06640" y="3108960"/>
            <a:ext cx="4389120" cy="64008"/>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43800" y="3218688"/>
            <a:ext cx="4114800" cy="320040"/>
          </a:xfrm>
          <a:prstGeom prst="rect">
            <a:avLst/>
          </a:prstGeom>
          <a:noFill/>
        </p:spPr>
        <p:txBody>
          <a:bodyPr wrap="square">
            <a:spAutoFit/>
          </a:bodyPr>
          <a:lstStyle/>
          <a:p>
            <a:pPr algn="l"/>
            <a:r>
              <a:rPr sz="1200" b="0" i="0">
                <a:solidFill>
                  <a:srgbClr val="8899AA"/>
                </a:solidFill>
                <a:latin typeface="游ゴシック"/>
              </a:rPr>
              <a:t>Flash 使用率</a:t>
            </a:r>
          </a:p>
        </p:txBody>
      </p:sp>
      <p:sp>
        <p:nvSpPr>
          <p:cNvPr id="19" name="TextBox 18"/>
          <p:cNvSpPr txBox="1"/>
          <p:nvPr/>
        </p:nvSpPr>
        <p:spPr>
          <a:xfrm>
            <a:off x="7498080" y="3474720"/>
            <a:ext cx="4206240" cy="548640"/>
          </a:xfrm>
          <a:prstGeom prst="rect">
            <a:avLst/>
          </a:prstGeom>
          <a:noFill/>
        </p:spPr>
        <p:txBody>
          <a:bodyPr wrap="square">
            <a:spAutoFit/>
          </a:bodyPr>
          <a:lstStyle/>
          <a:p>
            <a:pPr algn="l"/>
            <a:r>
              <a:rPr sz="1800" b="1" i="0">
                <a:solidFill>
                  <a:srgbClr val="0D2B45"/>
                </a:solidFill>
                <a:latin typeface="游ゴシック"/>
              </a:rPr>
              <a:t>31.0%  （余裕 69%）</a:t>
            </a:r>
          </a:p>
        </p:txBody>
      </p:sp>
      <p:sp>
        <p:nvSpPr>
          <p:cNvPr id="20" name="Rectangle 19"/>
          <p:cNvSpPr/>
          <p:nvPr/>
        </p:nvSpPr>
        <p:spPr>
          <a:xfrm>
            <a:off x="7406640" y="4251960"/>
            <a:ext cx="4389120" cy="1005840"/>
          </a:xfrm>
          <a:prstGeom prst="rect">
            <a:avLst/>
          </a:prstGeom>
          <a:solidFill>
            <a:srgbClr val="FFFFFF"/>
          </a:solidFill>
          <a:ln w="19050">
            <a:solidFill>
              <a:srgbClr val="00A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251960"/>
            <a:ext cx="4389120" cy="64008"/>
          </a:xfrm>
          <a:prstGeom prst="rect">
            <a:avLst/>
          </a:prstGeom>
          <a:solidFill>
            <a:srgbClr val="00A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4361688"/>
            <a:ext cx="4114800" cy="320040"/>
          </a:xfrm>
          <a:prstGeom prst="rect">
            <a:avLst/>
          </a:prstGeom>
          <a:noFill/>
        </p:spPr>
        <p:txBody>
          <a:bodyPr wrap="square">
            <a:spAutoFit/>
          </a:bodyPr>
          <a:lstStyle/>
          <a:p>
            <a:pPr algn="l"/>
            <a:r>
              <a:rPr sz="1200" b="0" i="0">
                <a:solidFill>
                  <a:srgbClr val="8899AA"/>
                </a:solidFill>
                <a:latin typeface="游ゴシック"/>
              </a:rPr>
              <a:t>RAM 使用率</a:t>
            </a:r>
          </a:p>
        </p:txBody>
      </p:sp>
      <p:sp>
        <p:nvSpPr>
          <p:cNvPr id="23" name="TextBox 22"/>
          <p:cNvSpPr txBox="1"/>
          <p:nvPr/>
        </p:nvSpPr>
        <p:spPr>
          <a:xfrm>
            <a:off x="7498080" y="4617720"/>
            <a:ext cx="4206240" cy="548640"/>
          </a:xfrm>
          <a:prstGeom prst="rect">
            <a:avLst/>
          </a:prstGeom>
          <a:noFill/>
        </p:spPr>
        <p:txBody>
          <a:bodyPr wrap="square">
            <a:spAutoFit/>
          </a:bodyPr>
          <a:lstStyle/>
          <a:p>
            <a:pPr algn="l"/>
            <a:r>
              <a:rPr sz="1800" b="1" i="0">
                <a:solidFill>
                  <a:srgbClr val="00A8E8"/>
                </a:solidFill>
                <a:latin typeface="游ゴシック"/>
              </a:rPr>
              <a:t>7.2%  （余裕 92.8%）</a:t>
            </a:r>
          </a:p>
        </p:txBody>
      </p:sp>
      <p:sp>
        <p:nvSpPr>
          <p:cNvPr id="24" name="Rectangle 23"/>
          <p:cNvSpPr/>
          <p:nvPr/>
        </p:nvSpPr>
        <p:spPr>
          <a:xfrm>
            <a:off x="7406640" y="5394960"/>
            <a:ext cx="4389120" cy="1005840"/>
          </a:xfrm>
          <a:prstGeom prst="rect">
            <a:avLst/>
          </a:prstGeom>
          <a:solidFill>
            <a:srgbClr val="FFFFFF"/>
          </a:solidFill>
          <a:ln w="19050">
            <a:solidFill>
              <a:srgbClr val="E862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06640" y="5394960"/>
            <a:ext cx="4389120" cy="64008"/>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43800" y="5504688"/>
            <a:ext cx="4114800" cy="320040"/>
          </a:xfrm>
          <a:prstGeom prst="rect">
            <a:avLst/>
          </a:prstGeom>
          <a:noFill/>
        </p:spPr>
        <p:txBody>
          <a:bodyPr wrap="square">
            <a:spAutoFit/>
          </a:bodyPr>
          <a:lstStyle/>
          <a:p>
            <a:pPr algn="l"/>
            <a:r>
              <a:rPr sz="1200" b="0" i="0">
                <a:solidFill>
                  <a:srgbClr val="8899AA"/>
                </a:solidFill>
                <a:latin typeface="游ゴシック"/>
              </a:rPr>
              <a:t>ドキュメント整備</a:t>
            </a:r>
          </a:p>
        </p:txBody>
      </p:sp>
      <p:sp>
        <p:nvSpPr>
          <p:cNvPr id="27" name="TextBox 26"/>
          <p:cNvSpPr txBox="1"/>
          <p:nvPr/>
        </p:nvSpPr>
        <p:spPr>
          <a:xfrm>
            <a:off x="7498080" y="5760720"/>
            <a:ext cx="4206240" cy="548640"/>
          </a:xfrm>
          <a:prstGeom prst="rect">
            <a:avLst/>
          </a:prstGeom>
          <a:noFill/>
        </p:spPr>
        <p:txBody>
          <a:bodyPr wrap="square">
            <a:spAutoFit/>
          </a:bodyPr>
          <a:lstStyle/>
          <a:p>
            <a:pPr algn="l"/>
            <a:r>
              <a:rPr sz="1800" b="1" i="0">
                <a:solidFill>
                  <a:srgbClr val="E8621A"/>
                </a:solidFill>
                <a:latin typeface="游ゴシック"/>
              </a:rPr>
              <a:t>15 ファイル（自作）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05156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137160"/>
            <a:ext cx="10058400" cy="594360"/>
          </a:xfrm>
          <a:prstGeom prst="rect">
            <a:avLst/>
          </a:prstGeom>
          <a:noFill/>
        </p:spPr>
        <p:txBody>
          <a:bodyPr wrap="square">
            <a:spAutoFit/>
          </a:bodyPr>
          <a:lstStyle/>
          <a:p>
            <a:pPr algn="l"/>
            <a:r>
              <a:rPr sz="2800" b="1" i="0">
                <a:solidFill>
                  <a:srgbClr val="FFFFFF"/>
                </a:solidFill>
                <a:latin typeface="游ゴシック"/>
              </a:rPr>
              <a:t>将来の拡張計画</a:t>
            </a:r>
          </a:p>
        </p:txBody>
      </p:sp>
      <p:sp>
        <p:nvSpPr>
          <p:cNvPr id="6" name="TextBox 5"/>
          <p:cNvSpPr txBox="1"/>
          <p:nvPr/>
        </p:nvSpPr>
        <p:spPr>
          <a:xfrm>
            <a:off x="201168" y="685800"/>
            <a:ext cx="10058400" cy="320040"/>
          </a:xfrm>
          <a:prstGeom prst="rect">
            <a:avLst/>
          </a:prstGeom>
          <a:noFill/>
        </p:spPr>
        <p:txBody>
          <a:bodyPr wrap="square">
            <a:spAutoFit/>
          </a:bodyPr>
          <a:lstStyle/>
          <a:p>
            <a:pPr algn="l"/>
            <a:r>
              <a:rPr sz="1400" b="0" i="0">
                <a:solidFill>
                  <a:srgbClr val="FF8C42"/>
                </a:solidFill>
                <a:latin typeface="游ゴシック"/>
              </a:rPr>
              <a:t>Section 4  品質・実績・将来計画</a:t>
            </a:r>
          </a:p>
        </p:txBody>
      </p:sp>
      <p:sp>
        <p:nvSpPr>
          <p:cNvPr id="7" name="Rectangle 6"/>
          <p:cNvSpPr/>
          <p:nvPr/>
        </p:nvSpPr>
        <p:spPr>
          <a:xfrm>
            <a:off x="0" y="6537960"/>
            <a:ext cx="12188952" cy="32004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a:t>
            </a:r>
          </a:p>
        </p:txBody>
      </p:sp>
      <p:sp>
        <p:nvSpPr>
          <p:cNvPr id="9" name="TextBox 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16 / 17</a:t>
            </a:r>
          </a:p>
        </p:txBody>
      </p:sp>
      <p:sp>
        <p:nvSpPr>
          <p:cNvPr id="10" name="TextBox 9"/>
          <p:cNvSpPr txBox="1"/>
          <p:nvPr/>
        </p:nvSpPr>
        <p:spPr>
          <a:xfrm>
            <a:off x="320040" y="1097280"/>
            <a:ext cx="11430000" cy="411480"/>
          </a:xfrm>
          <a:prstGeom prst="rect">
            <a:avLst/>
          </a:prstGeom>
          <a:noFill/>
        </p:spPr>
        <p:txBody>
          <a:bodyPr wrap="square">
            <a:spAutoFit/>
          </a:bodyPr>
          <a:lstStyle/>
          <a:p>
            <a:pPr algn="l"/>
            <a:r>
              <a:rPr sz="1500" b="0" i="0">
                <a:solidFill>
                  <a:srgbClr val="1A1A2E"/>
                </a:solidFill>
                <a:latin typeface="游ゴシック"/>
              </a:rPr>
              <a:t>Flash余裕率 69% / RAM余裕率 92.8% — 機能追加の余地が充分にあります</a:t>
            </a:r>
          </a:p>
        </p:txBody>
      </p:sp>
      <p:graphicFrame>
        <p:nvGraphicFramePr>
          <p:cNvPr id="11" name="Table 10"/>
          <p:cNvGraphicFramePr>
            <a:graphicFrameLocks noGrp="1"/>
          </p:cNvGraphicFramePr>
          <p:nvPr/>
        </p:nvGraphicFramePr>
        <p:xfrm>
          <a:off x="320040" y="1645920"/>
          <a:ext cx="11521440" cy="4343400"/>
        </p:xfrm>
        <a:graphic>
          <a:graphicData uri="http://schemas.openxmlformats.org/drawingml/2006/table">
            <a:tbl>
              <a:tblPr firstRow="1" bandRow="1">
                <a:tableStyleId>{5C22544A-7EE6-4342-B048-85BDC9FD1C3A}</a:tableStyleId>
              </a:tblPr>
              <a:tblGrid>
                <a:gridCol w="1463040"/>
                <a:gridCol w="3200400"/>
                <a:gridCol w="6858000"/>
              </a:tblGrid>
              <a:tr h="868680">
                <a:tc>
                  <a:txBody>
                    <a:bodyPr wrap="square"/>
                    <a:lstStyle/>
                    <a:p>
                      <a:pPr algn="l"/>
                      <a:r>
                        <a:rPr sz="1300" b="1">
                          <a:solidFill>
                            <a:srgbClr val="FFFFFF"/>
                          </a:solidFill>
                          <a:latin typeface="游ゴシック"/>
                        </a:rPr>
                        <a:t>フェーズ</a:t>
                      </a:r>
                    </a:p>
                  </a:txBody>
                  <a:tcPr>
                    <a:solidFill>
                      <a:srgbClr val="0D2B45"/>
                    </a:solidFill>
                  </a:tcPr>
                </a:tc>
                <a:tc>
                  <a:txBody>
                    <a:bodyPr wrap="square"/>
                    <a:lstStyle/>
                    <a:p>
                      <a:pPr algn="l"/>
                      <a:r>
                        <a:rPr sz="1300" b="1">
                          <a:solidFill>
                            <a:srgbClr val="FFFFFF"/>
                          </a:solidFill>
                          <a:latin typeface="游ゴシック"/>
                        </a:rPr>
                        <a:t>追加機能</a:t>
                      </a:r>
                    </a:p>
                  </a:txBody>
                  <a:tcPr>
                    <a:solidFill>
                      <a:srgbClr val="0D2B45"/>
                    </a:solidFill>
                  </a:tcPr>
                </a:tc>
                <a:tc>
                  <a:txBody>
                    <a:bodyPr wrap="square"/>
                    <a:lstStyle/>
                    <a:p>
                      <a:pPr algn="l"/>
                      <a:r>
                        <a:rPr sz="1300" b="1">
                          <a:solidFill>
                            <a:srgbClr val="FFFFFF"/>
                          </a:solidFill>
                          <a:latin typeface="游ゴシック"/>
                        </a:rPr>
                        <a:t>技術的要件・難易度</a:t>
                      </a:r>
                    </a:p>
                  </a:txBody>
                  <a:tcPr>
                    <a:solidFill>
                      <a:srgbClr val="0D2B45"/>
                    </a:solidFill>
                  </a:tcPr>
                </a:tc>
              </a:tr>
              <a:tr h="868680">
                <a:tc>
                  <a:txBody>
                    <a:bodyPr wrap="square"/>
                    <a:lstStyle/>
                    <a:p>
                      <a:pPr algn="l"/>
                      <a:r>
                        <a:rPr sz="1300" b="0">
                          <a:solidFill>
                            <a:srgbClr val="1A1A2E"/>
                          </a:solidFill>
                          <a:latin typeface="游ゴシック"/>
                        </a:rPr>
                        <a:t>Phase 1</a:t>
                      </a:r>
                    </a:p>
                    <a:p>
                      <a:pPr algn="l"/>
                      <a:r>
                        <a:rPr sz="1300" b="0">
                          <a:solidFill>
                            <a:srgbClr val="1A1A2E"/>
                          </a:solidFill>
                          <a:latin typeface="游ゴシック"/>
                        </a:rPr>
                        <a:t>（短期）</a:t>
                      </a:r>
                    </a:p>
                  </a:txBody>
                  <a:tcPr>
                    <a:solidFill>
                      <a:srgbClr val="FFFFFF"/>
                    </a:solidFill>
                  </a:tcPr>
                </a:tc>
                <a:tc>
                  <a:txBody>
                    <a:bodyPr wrap="square"/>
                    <a:lstStyle/>
                    <a:p>
                      <a:pPr algn="l"/>
                      <a:r>
                        <a:rPr sz="1300" b="0">
                          <a:solidFill>
                            <a:srgbClr val="1A1A2E"/>
                          </a:solidFill>
                          <a:latin typeface="游ゴシック"/>
                        </a:rPr>
                        <a:t>タイムスタンプ記録</a:t>
                      </a:r>
                    </a:p>
                  </a:txBody>
                  <a:tcPr>
                    <a:solidFill>
                      <a:srgbClr val="FFFFFF"/>
                    </a:solidFill>
                  </a:tcPr>
                </a:tc>
                <a:tc>
                  <a:txBody>
                    <a:bodyPr wrap="square"/>
                    <a:lstStyle/>
                    <a:p>
                      <a:pPr algn="l"/>
                      <a:r>
                        <a:rPr sz="1300" b="0">
                          <a:solidFill>
                            <a:srgbClr val="1A1A2E"/>
                          </a:solidFill>
                          <a:latin typeface="游ゴシック"/>
                        </a:rPr>
                        <a:t>RTC モジュール（I2C）追加</a:t>
                      </a:r>
                    </a:p>
                    <a:p>
                      <a:pPr algn="l"/>
                      <a:r>
                        <a:rPr sz="1300" b="0">
                          <a:solidFill>
                            <a:srgbClr val="1A1A2E"/>
                          </a:solidFill>
                          <a:latin typeface="游ゴシック"/>
                        </a:rPr>
                        <a:t>難易度：低</a:t>
                      </a:r>
                    </a:p>
                  </a:txBody>
                  <a:tcPr>
                    <a:solidFill>
                      <a:srgbClr val="FFFFFF"/>
                    </a:solidFill>
                  </a:tcPr>
                </a:tc>
              </a:tr>
              <a:tr h="868680">
                <a:tc>
                  <a:txBody>
                    <a:bodyPr wrap="square"/>
                    <a:lstStyle/>
                    <a:p>
                      <a:pPr algn="l"/>
                      <a:r>
                        <a:rPr sz="1300" b="0">
                          <a:solidFill>
                            <a:srgbClr val="1A1A2E"/>
                          </a:solidFill>
                          <a:latin typeface="游ゴシック"/>
                        </a:rPr>
                        <a:t>Phase 2</a:t>
                      </a:r>
                    </a:p>
                    <a:p>
                      <a:pPr algn="l"/>
                      <a:r>
                        <a:rPr sz="1300" b="0">
                          <a:solidFill>
                            <a:srgbClr val="1A1A2E"/>
                          </a:solidFill>
                          <a:latin typeface="游ゴシック"/>
                        </a:rPr>
                        <a:t>（短期）</a:t>
                      </a:r>
                    </a:p>
                  </a:txBody>
                  <a:tcPr>
                    <a:solidFill>
                      <a:srgbClr val="E8EEF4"/>
                    </a:solidFill>
                  </a:tcPr>
                </a:tc>
                <a:tc>
                  <a:txBody>
                    <a:bodyPr wrap="square"/>
                    <a:lstStyle/>
                    <a:p>
                      <a:pPr algn="l"/>
                      <a:r>
                        <a:rPr sz="1300" b="0">
                          <a:solidFill>
                            <a:srgbClr val="1A1A2E"/>
                          </a:solidFill>
                          <a:latin typeface="游ゴシック"/>
                        </a:rPr>
                        <a:t>多点同時計測</a:t>
                      </a:r>
                    </a:p>
                    <a:p>
                      <a:pPr algn="l"/>
                      <a:r>
                        <a:rPr sz="1300" b="0">
                          <a:solidFill>
                            <a:srgbClr val="1A1A2E"/>
                          </a:solidFill>
                          <a:latin typeface="游ゴシック"/>
                        </a:rPr>
                        <a:t>（マルチチャンネル）</a:t>
                      </a:r>
                    </a:p>
                  </a:txBody>
                  <a:tcPr>
                    <a:solidFill>
                      <a:srgbClr val="E8EEF4"/>
                    </a:solidFill>
                  </a:tcPr>
                </a:tc>
                <a:tc>
                  <a:txBody>
                    <a:bodyPr wrap="square"/>
                    <a:lstStyle/>
                    <a:p>
                      <a:pPr algn="l"/>
                      <a:r>
                        <a:rPr sz="1300" b="0">
                          <a:solidFill>
                            <a:srgbClr val="1A1A2E"/>
                          </a:solidFill>
                          <a:latin typeface="游ゴシック"/>
                        </a:rPr>
                        <a:t>MAX31855 複数接続（SPI CS 切替）</a:t>
                      </a:r>
                    </a:p>
                    <a:p>
                      <a:pPr algn="l"/>
                      <a:r>
                        <a:rPr sz="1300" b="0">
                          <a:solidFill>
                            <a:srgbClr val="1A1A2E"/>
                          </a:solidFill>
                          <a:latin typeface="游ゴシック"/>
                        </a:rPr>
                        <a:t>難易度：中</a:t>
                      </a:r>
                    </a:p>
                  </a:txBody>
                  <a:tcPr>
                    <a:solidFill>
                      <a:srgbClr val="E8EEF4"/>
                    </a:solidFill>
                  </a:tcPr>
                </a:tc>
              </a:tr>
              <a:tr h="868680">
                <a:tc>
                  <a:txBody>
                    <a:bodyPr wrap="square"/>
                    <a:lstStyle/>
                    <a:p>
                      <a:pPr algn="l"/>
                      <a:r>
                        <a:rPr sz="1300" b="0">
                          <a:solidFill>
                            <a:srgbClr val="1A1A2E"/>
                          </a:solidFill>
                          <a:latin typeface="游ゴシック"/>
                        </a:rPr>
                        <a:t>Phase 3</a:t>
                      </a:r>
                    </a:p>
                    <a:p>
                      <a:pPr algn="l"/>
                      <a:r>
                        <a:rPr sz="1300" b="0">
                          <a:solidFill>
                            <a:srgbClr val="1A1A2E"/>
                          </a:solidFill>
                          <a:latin typeface="游ゴシック"/>
                        </a:rPr>
                        <a:t>（中期）</a:t>
                      </a:r>
                    </a:p>
                  </a:txBody>
                  <a:tcPr>
                    <a:solidFill>
                      <a:srgbClr val="FFFFFF"/>
                    </a:solidFill>
                  </a:tcPr>
                </a:tc>
                <a:tc>
                  <a:txBody>
                    <a:bodyPr wrap="square"/>
                    <a:lstStyle/>
                    <a:p>
                      <a:pPr algn="l"/>
                      <a:r>
                        <a:rPr sz="1300" b="0">
                          <a:solidFill>
                            <a:srgbClr val="1A1A2E"/>
                          </a:solidFill>
                          <a:latin typeface="游ゴシック"/>
                        </a:rPr>
                        <a:t>WiFi によるリアルタイム</a:t>
                      </a:r>
                    </a:p>
                    <a:p>
                      <a:pPr algn="l"/>
                      <a:r>
                        <a:rPr sz="1300" b="0">
                          <a:solidFill>
                            <a:srgbClr val="1A1A2E"/>
                          </a:solidFill>
                          <a:latin typeface="游ゴシック"/>
                        </a:rPr>
                        <a:t>データ送信</a:t>
                      </a:r>
                    </a:p>
                  </a:txBody>
                  <a:tcPr>
                    <a:solidFill>
                      <a:srgbClr val="FFFFFF"/>
                    </a:solidFill>
                  </a:tcPr>
                </a:tc>
                <a:tc>
                  <a:txBody>
                    <a:bodyPr wrap="square"/>
                    <a:lstStyle/>
                    <a:p>
                      <a:pPr algn="l"/>
                      <a:r>
                        <a:rPr sz="1300" b="0">
                          <a:solidFill>
                            <a:srgbClr val="1A1A2E"/>
                          </a:solidFill>
                          <a:latin typeface="游ゴシック"/>
                        </a:rPr>
                        <a:t>ESP32 内蔵WiFi + MQTT / HTTP</a:t>
                      </a:r>
                    </a:p>
                    <a:p>
                      <a:pPr algn="l"/>
                      <a:r>
                        <a:rPr sz="1300" b="0">
                          <a:solidFill>
                            <a:srgbClr val="1A1A2E"/>
                          </a:solidFill>
                          <a:latin typeface="游ゴシック"/>
                        </a:rPr>
                        <a:t>難易度：中</a:t>
                      </a:r>
                    </a:p>
                  </a:txBody>
                  <a:tcPr>
                    <a:solidFill>
                      <a:srgbClr val="FFFFFF"/>
                    </a:solidFill>
                  </a:tcPr>
                </a:tc>
              </a:tr>
              <a:tr h="868680">
                <a:tc>
                  <a:txBody>
                    <a:bodyPr wrap="square"/>
                    <a:lstStyle/>
                    <a:p>
                      <a:pPr algn="l"/>
                      <a:r>
                        <a:rPr sz="1300" b="0">
                          <a:solidFill>
                            <a:srgbClr val="1A1A2E"/>
                          </a:solidFill>
                          <a:latin typeface="游ゴシック"/>
                        </a:rPr>
                        <a:t>Phase 4</a:t>
                      </a:r>
                    </a:p>
                    <a:p>
                      <a:pPr algn="l"/>
                      <a:r>
                        <a:rPr sz="1300" b="0">
                          <a:solidFill>
                            <a:srgbClr val="1A1A2E"/>
                          </a:solidFill>
                          <a:latin typeface="游ゴシック"/>
                        </a:rPr>
                        <a:t>（長期）</a:t>
                      </a:r>
                    </a:p>
                  </a:txBody>
                  <a:tcPr>
                    <a:solidFill>
                      <a:srgbClr val="E8EEF4"/>
                    </a:solidFill>
                  </a:tcPr>
                </a:tc>
                <a:tc>
                  <a:txBody>
                    <a:bodyPr wrap="square"/>
                    <a:lstStyle/>
                    <a:p>
                      <a:pPr algn="l"/>
                      <a:r>
                        <a:rPr sz="1300" b="0">
                          <a:solidFill>
                            <a:srgbClr val="1A1A2E"/>
                          </a:solidFill>
                          <a:latin typeface="游ゴシック"/>
                        </a:rPr>
                        <a:t>計測対象の汎用化</a:t>
                      </a:r>
                    </a:p>
                    <a:p>
                      <a:pPr algn="l"/>
                      <a:r>
                        <a:rPr sz="1300" b="0">
                          <a:solidFill>
                            <a:srgbClr val="1A1A2E"/>
                          </a:solidFill>
                          <a:latin typeface="游ゴシック"/>
                        </a:rPr>
                        <a:t>（湿度・圧力・電流）</a:t>
                      </a:r>
                    </a:p>
                  </a:txBody>
                  <a:tcPr>
                    <a:solidFill>
                      <a:srgbClr val="E8EEF4"/>
                    </a:solidFill>
                  </a:tcPr>
                </a:tc>
                <a:tc>
                  <a:txBody>
                    <a:bodyPr wrap="square"/>
                    <a:lstStyle/>
                    <a:p>
                      <a:pPr algn="l"/>
                      <a:r>
                        <a:rPr sz="1300" b="0">
                          <a:solidFill>
                            <a:srgbClr val="1A1A2E"/>
                          </a:solidFill>
                          <a:latin typeface="游ゴシック"/>
                        </a:rPr>
                        <a:t>センサ抽象化レイヤーの設計</a:t>
                      </a:r>
                    </a:p>
                    <a:p>
                      <a:pPr algn="l"/>
                      <a:r>
                        <a:rPr sz="1300" b="0">
                          <a:solidFill>
                            <a:srgbClr val="1A1A2E"/>
                          </a:solidFill>
                          <a:latin typeface="游ゴシック"/>
                        </a:rPr>
                        <a:t>難易度：高</a:t>
                      </a:r>
                    </a:p>
                  </a:txBody>
                  <a:tcPr>
                    <a:solidFill>
                      <a:srgbClr val="E8EEF4"/>
                    </a:solidFill>
                  </a:tcPr>
                </a:tc>
              </a:tr>
            </a:tbl>
          </a:graphicData>
        </a:graphic>
      </p:graphicFrame>
      <p:sp>
        <p:nvSpPr>
          <p:cNvPr id="12" name="TextBox 11"/>
          <p:cNvSpPr txBox="1"/>
          <p:nvPr/>
        </p:nvSpPr>
        <p:spPr>
          <a:xfrm>
            <a:off x="320040" y="5833872"/>
            <a:ext cx="11430000" cy="594360"/>
          </a:xfrm>
          <a:prstGeom prst="rect">
            <a:avLst/>
          </a:prstGeom>
          <a:noFill/>
        </p:spPr>
        <p:txBody>
          <a:bodyPr wrap="square">
            <a:spAutoFit/>
          </a:bodyPr>
          <a:lstStyle/>
          <a:p>
            <a:pPr algn="l"/>
            <a:r>
              <a:rPr sz="1300" b="0" i="0">
                <a:solidFill>
                  <a:srgbClr val="0D2B45"/>
                </a:solidFill>
                <a:latin typeface="游ゴシック"/>
              </a:rPr>
              <a:t>現在のアーキテクチャはタスク分離・モジュール分割が完了しており、機能追加時の影響範囲を最小化できる設計になっています。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10972800" cy="594360"/>
          </a:xfrm>
          <a:prstGeom prst="rect">
            <a:avLst/>
          </a:prstGeom>
          <a:noFill/>
        </p:spPr>
        <p:txBody>
          <a:bodyPr wrap="square">
            <a:spAutoFit/>
          </a:bodyPr>
          <a:lstStyle/>
          <a:p>
            <a:pPr algn="l"/>
            <a:r>
              <a:rPr sz="3000" b="1" i="0">
                <a:solidFill>
                  <a:srgbClr val="FFFFFF"/>
                </a:solidFill>
                <a:latin typeface="游ゴシック"/>
              </a:rPr>
              <a:t>まとめ</a:t>
            </a:r>
          </a:p>
        </p:txBody>
      </p:sp>
      <p:sp>
        <p:nvSpPr>
          <p:cNvPr id="5" name="TextBox 4"/>
          <p:cNvSpPr txBox="1"/>
          <p:nvPr/>
        </p:nvSpPr>
        <p:spPr>
          <a:xfrm>
            <a:off x="320040" y="749808"/>
            <a:ext cx="10972800" cy="411480"/>
          </a:xfrm>
          <a:prstGeom prst="rect">
            <a:avLst/>
          </a:prstGeom>
          <a:noFill/>
        </p:spPr>
        <p:txBody>
          <a:bodyPr wrap="square">
            <a:spAutoFit/>
          </a:bodyPr>
          <a:lstStyle/>
          <a:p>
            <a:pPr algn="l"/>
            <a:r>
              <a:rPr sz="1500" b="0" i="0">
                <a:solidFill>
                  <a:srgbClr val="FF8C42"/>
                </a:solidFill>
                <a:latin typeface="游ゴシック"/>
              </a:rPr>
              <a:t>Simple Temperature Evaluation Tool  v1.0.0</a:t>
            </a:r>
          </a:p>
        </p:txBody>
      </p:sp>
      <p:sp>
        <p:nvSpPr>
          <p:cNvPr id="6" name="Rectangle 5"/>
          <p:cNvSpPr/>
          <p:nvPr/>
        </p:nvSpPr>
        <p:spPr>
          <a:xfrm>
            <a:off x="320040" y="1234440"/>
            <a:ext cx="11521440" cy="27432"/>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417320"/>
            <a:ext cx="1371600" cy="640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17320"/>
            <a:ext cx="1371600" cy="640080"/>
          </a:xfrm>
          <a:prstGeom prst="rect">
            <a:avLst/>
          </a:prstGeom>
          <a:noFill/>
        </p:spPr>
        <p:txBody>
          <a:bodyPr wrap="square">
            <a:spAutoFit/>
          </a:bodyPr>
          <a:lstStyle/>
          <a:p>
            <a:pPr algn="ctr"/>
            <a:r>
              <a:rPr sz="1400" b="1" i="0">
                <a:solidFill>
                  <a:srgbClr val="FFFFFF"/>
                </a:solidFill>
                <a:latin typeface="游ゴシック"/>
              </a:rPr>
              <a:t>コスト</a:t>
            </a:r>
          </a:p>
        </p:txBody>
      </p:sp>
      <p:sp>
        <p:nvSpPr>
          <p:cNvPr id="9" name="Rectangle 8"/>
          <p:cNvSpPr/>
          <p:nvPr/>
        </p:nvSpPr>
        <p:spPr>
          <a:xfrm>
            <a:off x="1691640" y="1417320"/>
            <a:ext cx="10149840" cy="640080"/>
          </a:xfrm>
          <a:prstGeom prst="rect">
            <a:avLst/>
          </a:prstGeom>
          <a:solidFill>
            <a:srgbClr val="16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1417320"/>
            <a:ext cx="9875520" cy="640080"/>
          </a:xfrm>
          <a:prstGeom prst="rect">
            <a:avLst/>
          </a:prstGeom>
          <a:noFill/>
        </p:spPr>
        <p:txBody>
          <a:bodyPr wrap="square">
            <a:spAutoFit/>
          </a:bodyPr>
          <a:lstStyle/>
          <a:p>
            <a:pPr algn="l"/>
            <a:r>
              <a:rPr sz="1500" b="0" i="0">
                <a:solidFill>
                  <a:srgbClr val="FFFFFF"/>
                </a:solidFill>
                <a:latin typeface="游ゴシック"/>
              </a:rPr>
              <a:t>16,082円 / 外注費0円 / 組み立て15分</a:t>
            </a:r>
          </a:p>
        </p:txBody>
      </p:sp>
      <p:sp>
        <p:nvSpPr>
          <p:cNvPr id="11" name="Rectangle 10"/>
          <p:cNvSpPr/>
          <p:nvPr/>
        </p:nvSpPr>
        <p:spPr>
          <a:xfrm>
            <a:off x="320040" y="2258568"/>
            <a:ext cx="1371600" cy="640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258568"/>
            <a:ext cx="1371600" cy="640080"/>
          </a:xfrm>
          <a:prstGeom prst="rect">
            <a:avLst/>
          </a:prstGeom>
          <a:noFill/>
        </p:spPr>
        <p:txBody>
          <a:bodyPr wrap="square">
            <a:spAutoFit/>
          </a:bodyPr>
          <a:lstStyle/>
          <a:p>
            <a:pPr algn="ctr"/>
            <a:r>
              <a:rPr sz="1400" b="1" i="0">
                <a:solidFill>
                  <a:srgbClr val="FFFFFF"/>
                </a:solidFill>
                <a:latin typeface="游ゴシック"/>
              </a:rPr>
              <a:t>品質</a:t>
            </a:r>
          </a:p>
        </p:txBody>
      </p:sp>
      <p:sp>
        <p:nvSpPr>
          <p:cNvPr id="13" name="Rectangle 12"/>
          <p:cNvSpPr/>
          <p:nvPr/>
        </p:nvSpPr>
        <p:spPr>
          <a:xfrm>
            <a:off x="1691640" y="2258568"/>
            <a:ext cx="10149840" cy="640080"/>
          </a:xfrm>
          <a:prstGeom prst="rect">
            <a:avLst/>
          </a:prstGeom>
          <a:solidFill>
            <a:srgbClr val="16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2258568"/>
            <a:ext cx="9875520" cy="640080"/>
          </a:xfrm>
          <a:prstGeom prst="rect">
            <a:avLst/>
          </a:prstGeom>
          <a:noFill/>
        </p:spPr>
        <p:txBody>
          <a:bodyPr wrap="square">
            <a:spAutoFit/>
          </a:bodyPr>
          <a:lstStyle/>
          <a:p>
            <a:pPr algn="l"/>
            <a:r>
              <a:rPr sz="1500" b="0" i="0">
                <a:solidFill>
                  <a:srgbClr val="FFFFFF"/>
                </a:solidFill>
                <a:latin typeface="游ゴシック"/>
              </a:rPr>
              <a:t>33/33テスト合格（100%）/ Flash 31% / RAM 7.2%</a:t>
            </a:r>
          </a:p>
        </p:txBody>
      </p:sp>
      <p:sp>
        <p:nvSpPr>
          <p:cNvPr id="15" name="Rectangle 14"/>
          <p:cNvSpPr/>
          <p:nvPr/>
        </p:nvSpPr>
        <p:spPr>
          <a:xfrm>
            <a:off x="320040" y="3099816"/>
            <a:ext cx="1371600" cy="640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3099816"/>
            <a:ext cx="1371600" cy="640080"/>
          </a:xfrm>
          <a:prstGeom prst="rect">
            <a:avLst/>
          </a:prstGeom>
          <a:noFill/>
        </p:spPr>
        <p:txBody>
          <a:bodyPr wrap="square">
            <a:spAutoFit/>
          </a:bodyPr>
          <a:lstStyle/>
          <a:p>
            <a:pPr algn="ctr"/>
            <a:r>
              <a:rPr sz="1400" b="1" i="0">
                <a:solidFill>
                  <a:srgbClr val="FFFFFF"/>
                </a:solidFill>
                <a:latin typeface="游ゴシック"/>
              </a:rPr>
              <a:t>操作性</a:t>
            </a:r>
          </a:p>
        </p:txBody>
      </p:sp>
      <p:sp>
        <p:nvSpPr>
          <p:cNvPr id="17" name="Rectangle 16"/>
          <p:cNvSpPr/>
          <p:nvPr/>
        </p:nvSpPr>
        <p:spPr>
          <a:xfrm>
            <a:off x="1691640" y="3099816"/>
            <a:ext cx="10149840" cy="640080"/>
          </a:xfrm>
          <a:prstGeom prst="rect">
            <a:avLst/>
          </a:prstGeom>
          <a:solidFill>
            <a:srgbClr val="16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0" y="3099816"/>
            <a:ext cx="9875520" cy="640080"/>
          </a:xfrm>
          <a:prstGeom prst="rect">
            <a:avLst/>
          </a:prstGeom>
          <a:noFill/>
        </p:spPr>
        <p:txBody>
          <a:bodyPr wrap="square">
            <a:spAutoFit/>
          </a:bodyPr>
          <a:lstStyle/>
          <a:p>
            <a:pPr algn="l"/>
            <a:r>
              <a:rPr sz="1500" b="0" i="0">
                <a:solidFill>
                  <a:srgbClr val="FFFFFF"/>
                </a:solidFill>
                <a:latin typeface="游ゴシック"/>
              </a:rPr>
              <a:t>ワンボタン操作・手順書不要・自動CSV記録</a:t>
            </a:r>
          </a:p>
        </p:txBody>
      </p:sp>
      <p:sp>
        <p:nvSpPr>
          <p:cNvPr id="19" name="Rectangle 18"/>
          <p:cNvSpPr/>
          <p:nvPr/>
        </p:nvSpPr>
        <p:spPr>
          <a:xfrm>
            <a:off x="320040" y="3941064"/>
            <a:ext cx="1371600" cy="640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3941064"/>
            <a:ext cx="1371600" cy="640080"/>
          </a:xfrm>
          <a:prstGeom prst="rect">
            <a:avLst/>
          </a:prstGeom>
          <a:noFill/>
        </p:spPr>
        <p:txBody>
          <a:bodyPr wrap="square">
            <a:spAutoFit/>
          </a:bodyPr>
          <a:lstStyle/>
          <a:p>
            <a:pPr algn="ctr"/>
            <a:r>
              <a:rPr sz="1400" b="1" i="0">
                <a:solidFill>
                  <a:srgbClr val="FFFFFF"/>
                </a:solidFill>
                <a:latin typeface="游ゴシック"/>
              </a:rPr>
              <a:t>設計</a:t>
            </a:r>
          </a:p>
        </p:txBody>
      </p:sp>
      <p:sp>
        <p:nvSpPr>
          <p:cNvPr id="21" name="Rectangle 20"/>
          <p:cNvSpPr/>
          <p:nvPr/>
        </p:nvSpPr>
        <p:spPr>
          <a:xfrm>
            <a:off x="1691640" y="3941064"/>
            <a:ext cx="10149840" cy="640080"/>
          </a:xfrm>
          <a:prstGeom prst="rect">
            <a:avLst/>
          </a:prstGeom>
          <a:solidFill>
            <a:srgbClr val="16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3941064"/>
            <a:ext cx="9875520" cy="640080"/>
          </a:xfrm>
          <a:prstGeom prst="rect">
            <a:avLst/>
          </a:prstGeom>
          <a:noFill/>
        </p:spPr>
        <p:txBody>
          <a:bodyPr wrap="square">
            <a:spAutoFit/>
          </a:bodyPr>
          <a:lstStyle/>
          <a:p>
            <a:pPr algn="l"/>
            <a:r>
              <a:rPr sz="1500" b="0" i="0">
                <a:solidFill>
                  <a:srgbClr val="FFFFFF"/>
                </a:solidFill>
                <a:latin typeface="游ゴシック"/>
              </a:rPr>
              <a:t>PLC経験をC++に転用した体系的アーキテクチャ</a:t>
            </a:r>
          </a:p>
        </p:txBody>
      </p:sp>
      <p:sp>
        <p:nvSpPr>
          <p:cNvPr id="23" name="Rectangle 22"/>
          <p:cNvSpPr/>
          <p:nvPr/>
        </p:nvSpPr>
        <p:spPr>
          <a:xfrm>
            <a:off x="320040" y="4782312"/>
            <a:ext cx="1371600" cy="640080"/>
          </a:xfrm>
          <a:prstGeom prst="rect">
            <a:avLst/>
          </a:prstGeom>
          <a:solidFill>
            <a:srgbClr val="E86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4782312"/>
            <a:ext cx="1371600" cy="640080"/>
          </a:xfrm>
          <a:prstGeom prst="rect">
            <a:avLst/>
          </a:prstGeom>
          <a:noFill/>
        </p:spPr>
        <p:txBody>
          <a:bodyPr wrap="square">
            <a:spAutoFit/>
          </a:bodyPr>
          <a:lstStyle/>
          <a:p>
            <a:pPr algn="ctr"/>
            <a:r>
              <a:rPr sz="1400" b="1" i="0">
                <a:solidFill>
                  <a:srgbClr val="FFFFFF"/>
                </a:solidFill>
                <a:latin typeface="游ゴシック"/>
              </a:rPr>
              <a:t>拡張性</a:t>
            </a:r>
          </a:p>
        </p:txBody>
      </p:sp>
      <p:sp>
        <p:nvSpPr>
          <p:cNvPr id="25" name="Rectangle 24"/>
          <p:cNvSpPr/>
          <p:nvPr/>
        </p:nvSpPr>
        <p:spPr>
          <a:xfrm>
            <a:off x="1691640" y="4782312"/>
            <a:ext cx="10149840" cy="640080"/>
          </a:xfrm>
          <a:prstGeom prst="rect">
            <a:avLst/>
          </a:prstGeom>
          <a:solidFill>
            <a:srgbClr val="164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28800" y="4782312"/>
            <a:ext cx="9875520" cy="640080"/>
          </a:xfrm>
          <a:prstGeom prst="rect">
            <a:avLst/>
          </a:prstGeom>
          <a:noFill/>
        </p:spPr>
        <p:txBody>
          <a:bodyPr wrap="square">
            <a:spAutoFit/>
          </a:bodyPr>
          <a:lstStyle/>
          <a:p>
            <a:pPr algn="l"/>
            <a:r>
              <a:rPr sz="1500" b="0" i="0">
                <a:solidFill>
                  <a:srgbClr val="FFFFFF"/>
                </a:solidFill>
                <a:latin typeface="游ゴシック"/>
              </a:rPr>
              <a:t>Flash/RAM余裕率90%超・Phase 4まで拡張ロードマップあり</a:t>
            </a:r>
          </a:p>
        </p:txBody>
      </p:sp>
      <p:sp>
        <p:nvSpPr>
          <p:cNvPr id="27" name="Rectangle 26"/>
          <p:cNvSpPr/>
          <p:nvPr/>
        </p:nvSpPr>
        <p:spPr>
          <a:xfrm>
            <a:off x="0" y="6537960"/>
            <a:ext cx="12188952" cy="320040"/>
          </a:xfrm>
          <a:prstGeom prst="rect">
            <a:avLst/>
          </a:prstGeom>
          <a:solidFill>
            <a:srgbClr val="05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2880" y="6537960"/>
            <a:ext cx="8229600" cy="320040"/>
          </a:xfrm>
          <a:prstGeom prst="rect">
            <a:avLst/>
          </a:prstGeom>
          <a:noFill/>
        </p:spPr>
        <p:txBody>
          <a:bodyPr wrap="square">
            <a:spAutoFit/>
          </a:bodyPr>
          <a:lstStyle/>
          <a:p>
            <a:pPr algn="l"/>
            <a:r>
              <a:rPr sz="1000" b="0" i="0">
                <a:solidFill>
                  <a:srgbClr val="E8EEF4"/>
                </a:solidFill>
                <a:latin typeface="游ゴシック"/>
              </a:rPr>
              <a:t>Simple Temperature Evaluation Tool  v1.0.0  |  2026年3月</a:t>
            </a:r>
          </a:p>
        </p:txBody>
      </p:sp>
      <p:sp>
        <p:nvSpPr>
          <p:cNvPr id="29" name="TextBox 28"/>
          <p:cNvSpPr txBox="1"/>
          <p:nvPr/>
        </p:nvSpPr>
        <p:spPr>
          <a:xfrm>
            <a:off x="10789920" y="6537960"/>
            <a:ext cx="1188720" cy="320040"/>
          </a:xfrm>
          <a:prstGeom prst="rect">
            <a:avLst/>
          </a:prstGeom>
          <a:noFill/>
        </p:spPr>
        <p:txBody>
          <a:bodyPr wrap="square">
            <a:spAutoFit/>
          </a:bodyPr>
          <a:lstStyle/>
          <a:p>
            <a:pPr algn="r"/>
            <a:r>
              <a:rPr sz="1000" b="0" i="0">
                <a:solidFill>
                  <a:srgbClr val="E8EEF4"/>
                </a:solidFill>
                <a:latin typeface="游ゴシック"/>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