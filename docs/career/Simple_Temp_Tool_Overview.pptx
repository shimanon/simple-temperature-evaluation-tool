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43891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1280160" cy="38404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28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7724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游ゴシック"/>
              </a:rPr>
              <a:t>Simple Temperature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0020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8621A"/>
                </a:solidFill>
                <a:latin typeface="游ゴシック"/>
              </a:rPr>
              <a:t>Evaluation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06040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EF4"/>
                </a:solidFill>
                <a:latin typeface="游ゴシック"/>
              </a:rPr>
              <a:t>概要 ・ 操作マニュアル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273552"/>
            <a:ext cx="11521440" cy="27432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ESP32（M5Stack）を使用した温度計測・評価ツール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K型熱電対による高精度計測・MicroSD自動記録・リアルタイム統計演算を実現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23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9AA"/>
                </a:solidFill>
                <a:latin typeface="游ゴシック"/>
              </a:rPr>
              <a:t>2026年3月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目次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本資料の構成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2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56235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34440"/>
            <a:ext cx="91440" cy="21031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32588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21A"/>
                </a:solidFill>
                <a:latin typeface="游ゴシック"/>
              </a:rPr>
              <a:t>Section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1848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45"/>
                </a:solidFill>
                <a:latin typeface="游ゴシック"/>
              </a:rPr>
              <a:t>プロジェクト概要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2140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背景・課題 → ハードウェア → 機能一覧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p.3〜5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34440"/>
            <a:ext cx="56235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91440" cy="21031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32588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21A"/>
                </a:solidFill>
                <a:latin typeface="游ゴシック"/>
              </a:rPr>
              <a:t>Section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61848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45"/>
                </a:solidFill>
                <a:latin typeface="游ゴシック"/>
              </a:rPr>
              <a:t>操作マニュアル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12140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起動 → 計測 → 結果確認 → CSV活用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74320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p.6〜9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66160"/>
            <a:ext cx="56235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566160"/>
            <a:ext cx="91440" cy="21031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21A"/>
                </a:solidFill>
                <a:latin typeface="游ゴシック"/>
              </a:rPr>
              <a:t>Section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5020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45"/>
                </a:solidFill>
                <a:latin typeface="游ゴシック"/>
              </a:rPr>
              <a:t>技術詳細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5312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アーキテクチャ → タスク設計 → アルゴリズム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749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p.10〜12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566160"/>
            <a:ext cx="56235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566160"/>
            <a:ext cx="91440" cy="21031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65760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21A"/>
                </a:solidFill>
                <a:latin typeface="游ゴシック"/>
              </a:rPr>
              <a:t>Section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95020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45"/>
                </a:solidFill>
                <a:latin typeface="游ゴシック"/>
              </a:rPr>
              <a:t>品質・実績・将来計画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45312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デバッグ → テスト → コスト → 拡張計画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0749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p.13〜17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背景と課題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1  プロジェクト概要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3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游ゴシック"/>
              </a:rPr>
              <a:t>温度評価作業（ヒートガン・恒温槽・チャンバー使用）において、次の4つの非効率が存在していました。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91640"/>
            <a:ext cx="562356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📋  手書き記録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86000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計測値を逐一手書き
またはExcelへ手入力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62356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0136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📊  後処理の工数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平均・標準偏差・最大/最小は
評価終了後に別途計算が必要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562356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🔔  異常検知の遅れ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上限・下限超過の瞬間に
気づく手段がなかった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84048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840480"/>
            <a:ext cx="562356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950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📁  記録の不統一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34840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担当者・回によって
記録フォーマットがばらつく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989320"/>
            <a:ext cx="11430000" cy="5486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游ゴシック"/>
              </a:rPr>
              <a:t>「記録ミスのリスク」「評価1件あたりの工数」「データ品質の安定性」に直結する課題  →  専用ツールで解決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ハードウェア構成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1  プロジェクト概要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4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188720"/>
            <a:ext cx="283464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62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0" y="1188720"/>
            <a:ext cx="283464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2984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総コスト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621A"/>
                </a:solidFill>
                <a:latin typeface="游ゴシック"/>
              </a:rPr>
              <a:t>16,082 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2240280"/>
            <a:ext cx="283464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0" y="2240280"/>
            <a:ext cx="2834640" cy="64008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350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部品点数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6060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2B45"/>
                </a:solidFill>
                <a:latin typeface="游ゴシック"/>
              </a:rPr>
              <a:t>5 部品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291840"/>
            <a:ext cx="283464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3291840"/>
            <a:ext cx="2834640" cy="6400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34015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組み立て時間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657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A8E8"/>
                </a:solidFill>
                <a:latin typeface="游ゴシック"/>
              </a:rPr>
              <a:t>約 15 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4343400"/>
            <a:ext cx="283464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4343400"/>
            <a:ext cx="283464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44531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ハンダ付け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7091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7AE60"/>
                </a:solidFill>
                <a:latin typeface="游ゴシック"/>
              </a:rPr>
              <a:t>不 要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0040" y="1188720"/>
          <a:ext cx="84124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94560"/>
                <a:gridCol w="23774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部品名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型番 / 規格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役割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単価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M5Stack Core2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ESP32-D0WDQ6-V3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マイコン本体・LCD・ボタン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¥6,050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K型熱電対センサ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Type-K / −200〜1350℃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温度計測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¥3,080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MAX31855 アンプ基板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Adafruit #3263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熱電対→SPIデジタル変換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¥2,970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MicroSD カード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FAT32 / 16GB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CSV自動保存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¥1,500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USB-C ケーブル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給電用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電源供給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¥2,482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20040" y="51663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接続方式：MAX31855 → SPI（GPIO 5/18/19/23）　EEPROM → I2C（GPIO 21/22）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577840"/>
            <a:ext cx="8412480" cy="41148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游ゴシック"/>
              </a:rPr>
              <a:t>合計：16,082円（部品実費のみ・外注費 0円）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主要機能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1  プロジェクト概要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5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188720"/>
            <a:ext cx="374903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88720"/>
            <a:ext cx="3749039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298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① リアルタイム温度計測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810512"/>
            <a:ext cx="352958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游ゴシック"/>
              </a:rPr>
              <a:t>K型熱電対 + MAX31855 使用
計測範囲：−200〜1350℃  精度：±1℃
10ms周期でセンサ読取、LPFでノイズ除去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188720"/>
            <a:ext cx="374903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188720"/>
            <a:ext cx="3749039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298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② 統計値の自動計算・表示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810512"/>
            <a:ext cx="352958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游ゴシック"/>
              </a:rPr>
              <a:t>計測中に 平均・標準偏差・最大・最小 を自動更新
Welford法（逐次更新）でRAMを消費せず処理
計測終了時に最終統計値を画面表示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8744" y="1188720"/>
            <a:ext cx="374903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8744" y="1188720"/>
            <a:ext cx="3749039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298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③ CSVファイル自動保存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810512"/>
            <a:ext cx="352958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游ゴシック"/>
              </a:rPr>
              <a:t>MicroSDカードに DATA_0001.csv 形式で自動記録
PC（Excel）で直接読み込み・グラフ化が可能
手入力工数をゼロに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52044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520440"/>
            <a:ext cx="566928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3630168"/>
            <a:ext cx="5449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④ アラーム機能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142232"/>
            <a:ext cx="54498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游ゴシック"/>
              </a:rPr>
              <a:t>上限・下限温度を EEPROM に設定・保存
超過した瞬間に画面でリアルタイム通知
設定値は電源OFF後も保持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2044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520440"/>
            <a:ext cx="566928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630168"/>
            <a:ext cx="5449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⑤ ワンボタン操作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142232"/>
            <a:ext cx="54498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游ゴシック"/>
              </a:rPr>
              <a:t>ボタン1回押し：計測開始
ボタンもう1回押し：計測終了・統計表示
手順書不要、誰でも操作可能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操作マニュアル ① — 起動と待機（IDLE）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2  操作マニュアル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6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45"/>
                </a:solidFill>
                <a:latin typeface="游ゴシック"/>
              </a:rPr>
              <a:t>Step 1  :  電源を入れる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737360"/>
          <a:ext cx="11521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40233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確認項目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表示・動作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補足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起動画面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"Simple Temp Tool v1.0.0" が数秒表示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自動的にIDLE画面へ遷移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温度表示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現在の温度（℃）がリアルタイムで表示される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更新間隔：約200ms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統計エリア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Avg / StdDev / Max / Min すべて "--" 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計測開始前は値なし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アラーム設定値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HI / LO の設定温度が画面右側に表示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EEPROMに保存済みの値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SDカード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SD アイコンが表示されていれば正常認識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認識失敗時はエラーメッセージ表示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センサ異常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"SENSOR ERROR" が表示される場合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接続・コネクタを確認して再起動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58978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2B45"/>
                </a:solidFill>
                <a:latin typeface="游ゴシック"/>
              </a:rPr>
              <a:t>💡  センサが正常接続されていれば、起動後すぐに温度表示が始まります。ボタンを押すまで計測データは記録されません。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操作マニュアル ② — 計測開始・終了（RUN / RESULT）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2  操作マニュアル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7 /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566160" cy="256032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游ゴシック"/>
              </a:rPr>
              <a:t>IDLE
（待機中）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游ゴシック"/>
              </a:rPr>
              <a:t>電源ON直後
温度がリアルタイム表示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103120"/>
            <a:ext cx="320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8899AA"/>
                </a:solidFill>
                <a:latin typeface="游ゴシック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188720"/>
            <a:ext cx="3566160" cy="256032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3258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游ゴシック"/>
              </a:rPr>
              <a:t>RUN
（計測中）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游ゴシック"/>
              </a:rPr>
              <a:t>ボタン1回押し
CSVへ自動記録開始
アラーム監視が有効化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103120"/>
            <a:ext cx="320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8899AA"/>
                </a:solidFill>
                <a:latin typeface="游ゴシック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188720"/>
            <a:ext cx="3566160" cy="2560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3258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游ゴシック"/>
              </a:rPr>
              <a:t>RESULT
（結果表示）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游ゴシック"/>
              </a:rPr>
              <a:t>ボタンもう1回押し
統計値が画面表示
CSVファイル完成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3977639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2377440"/>
                <a:gridCol w="237744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状態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ボタン操作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CSVへの記録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アラーム監視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統計値更新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IDLE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押すと→RUNへ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RUN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押すと→RESULTへ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10サンプル毎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有効（HI/LO）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50ms周期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押すと→IDLEへ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完了・保存済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計測値で固定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0040" y="59253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游ゴシック"/>
              </a:rPr>
              <a:t>⚠️  RUNからIDLEには直接戻れません。必ず RESULT を経由する設計です。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操作マニュアル ③ — アラーム設定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2  操作マニュアル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8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游ゴシック"/>
              </a:rPr>
              <a:t>上限（HI）・下限（LO）温度のアラームしきい値を設定・保存できます。設定値は EEPROM に記録され、電源OFF後も保持されます。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737360"/>
          <a:ext cx="115214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96112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操作ステップ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手順の詳細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① 設定画面へ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IDLE状態でボタン長押し（約2秒）→ アラーム設定画面に遷移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② HI温度を設定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ボタン短押し：値を＋1℃ / 長押し：設定項目を切替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③ LO温度を設定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直前と同様にボタン操作で LO 値を調整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④ 保存・戻る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設定完了後に長押し → EEPROMへ書き込み → IDLE画面に戻る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251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アラーム発報時の動作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709160"/>
          <a:ext cx="11521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420624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状態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表示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CSVへの記録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温度 ≥ HI設定値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画面上部が赤色点滅表示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AL_HI フラグが該当行に記録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温度 ≤ LO設定値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画面下部が青色点滅表示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AL_LO フラグが該当行に記録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通常範囲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通常の白色表示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フラグなし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操作マニュアル ④ — CSV出力とExcel活用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2  操作マニュアル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9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CSV ファイルのフォーマット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00200"/>
          <a:ext cx="5943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554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列名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内容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例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計測サンプル番号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1, 2, 3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Temp_C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計測温度（℃）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125.3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Average_C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その時点の累積平均（℃）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124.8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StdDev_C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その時点の標準偏差（℃）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0.42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Max_C / Min_C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最大値 / 最小値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128.0 / 121.5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Alarm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アラーム状態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OK / AL_HI / AL_LO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097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PCでの読み込み手順（Excel）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① 計測終了後、MicroSDカードをPCに挿入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5856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② ファイル名「DATA_0001.csv」を確認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1693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③ Excelで「ファイル→開く」からCSVを選択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7530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④ 各列が自動的に分割されて読込まれる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336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⑤ Temp_C列を選択してグラフを挿入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920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⑥ 統計列（Average_C / StdDev_C）も
　追加グラフ化が可能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806440"/>
            <a:ext cx="11521440" cy="621792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8247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📁  ファイル名は計測ごとに自動採番 (DATA_0001 → DATA_0002 → … )。同名ファイルは上書きされません。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ソフトウェアアーキテクチャ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3  技術詳細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10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5"/>
                </a:solidFill>
                <a:latin typeface="游ゴシック"/>
              </a:rPr>
              <a:t>PLC 設計経験 → C++ 組み込み開発への体系的転用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45920"/>
          <a:ext cx="115214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297680"/>
                <a:gridCol w="43891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PLC の設計手法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C++ での実装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目的・効果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スキャン周期（固定周期）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millis() による3タスク時分割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IO:10ms / Logic:50ms / UI:200ms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センサ読取と画面描画の干渉を防止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グローバルラベル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（全局共有変数）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struct G { … } による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全変数の一元管理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モジュール間の変数参照を一箇所に集約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工程歩進（S0→S1→S2）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State Machine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IDLE→RUN→RESULT→IDLE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状態に応じた処理切替・誤動作防止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インターロック条件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HI/LO アラーム判定ロジック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設定温度超過のリアルタイム検知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583387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2B45"/>
                </a:solidFill>
                <a:latin typeface="游ゴシック"/>
              </a:rPr>
              <a:t>💡  特定の言語・ツールへの依存ではなく「制御の本質」として理解することで、異なる技術環境でも同様の設計が適用可能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タスク設計（3タスク・マルチレート）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3  技術詳細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11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游ゴシック"/>
              </a:rPr>
              <a:t>単一 loop() を使わず、周期の異なる3タスクを時分割で実行することで処理の干渉を防止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3749039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691640"/>
            <a:ext cx="3749039" cy="73152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01368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IO_Task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13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21A"/>
                </a:solidFill>
                <a:latin typeface="游ゴシック"/>
              </a:rPr>
              <a:t>周期：10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7AE60"/>
                </a:solidFill>
                <a:latin typeface="游ゴシック"/>
              </a:rPr>
              <a:t>実行余裕率：95%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81528"/>
            <a:ext cx="347471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・センサ読取（MAX31855 / SPI）
・ローパスフィルタ（α=0.1）
・アラーム判定（HI/LO比較）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1691640"/>
            <a:ext cx="3749039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1691640"/>
            <a:ext cx="3749039" cy="73152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801368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Logic_Task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313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21A"/>
                </a:solidFill>
                <a:latin typeface="游ゴシック"/>
              </a:rPr>
              <a:t>周期：50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65176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7AE60"/>
                </a:solidFill>
                <a:latin typeface="游ゴシック"/>
              </a:rPr>
              <a:t>実行余裕率：98%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3081528"/>
            <a:ext cx="347471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・Welford法による統計更新
　（平均・分散・標準偏差）
・SDカードへのバッファ書込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8744" y="1691640"/>
            <a:ext cx="3749039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38744" y="1691640"/>
            <a:ext cx="3749039" cy="73152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5904" y="1801368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UI_Task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2313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21A"/>
                </a:solidFill>
                <a:latin typeface="游ゴシック"/>
              </a:rPr>
              <a:t>周期：200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265176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7AE60"/>
                </a:solidFill>
                <a:latin typeface="游ゴシック"/>
              </a:rPr>
              <a:t>実行余裕率：97.5%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3081528"/>
            <a:ext cx="347471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・LCDへの画面描画
・ボタン入力の判定
・状態遷移制御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257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45"/>
                </a:solidFill>
                <a:latin typeface="游ゴシック"/>
              </a:rPr>
              <a:t>6モジュール構成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623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MeasurementCore  /  IOController  /  DisplayManager  /  SDManager  /  EEPROMManager  /  Tasks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主要アルゴリズム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3  技術詳細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12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① Welford 法（オンライン統計計算）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45920"/>
            <a:ext cx="7680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9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7315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計測データを配列に蓄積せず、サンプルが来るたびに逐次的に
平均・分散・標準偏差を更新するアルゴリズム。
採用理由：長時間計測でも RAM 使用量が増加しない。
結果：RAM使用率 7.2% を計測時間によらず一定に維持。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645920"/>
            <a:ext cx="32918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645920"/>
            <a:ext cx="329184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7556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RAM 使用率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游ゴシック"/>
              </a:rPr>
              <a:t>7.2%
（計測中も一定）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② 一次遅れローパスフィルタ（ノイズ除去）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206240"/>
            <a:ext cx="7680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9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7315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游ゴシック"/>
              </a:rPr>
              <a:t>前回値を 90%・新規値を 10% の重みで加重平均。
  filtered = 0.9 × prev + 0.1 × raw
α = 0.1 は実機での目視確認と CSV データ分析によりチューニング。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4206240"/>
            <a:ext cx="32918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62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206240"/>
            <a:ext cx="329184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3159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計測精度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572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621A"/>
                </a:solidFill>
                <a:latin typeface="游ゴシック"/>
              </a:rPr>
              <a:t>±1℃
（MAX31855 仕様準拠）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デバッグ実績（5件）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4  品質・実績・将来計画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13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游ゴシック"/>
              </a:rPr>
              <a:t>ロジックアナライザなし・シリアルモニタ + CSV 目視という環境下で全バグを根本原因まで追跡・修正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600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45"/>
                </a:solidFill>
                <a:latin typeface="游ゴシック"/>
              </a:rPr>
              <a:t>代表事例：Bug-01 → Bug-02（複合バグ）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103120"/>
          <a:ext cx="115214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3210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</a:rPr>
                        <a:t>ステップ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</a:rPr>
                        <a:t>発見内容・判断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① 症状の発見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CSV の Average_C 列が全行 0.0 のまま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② 仮説立案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「書込み条件が早すぎてWelfordが未実行」と仮説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③ 根本原因1（Bug-01）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IO_Task が Logic_Task より先に実行 → 0.0 を書き込んでいた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④ 修正1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書込み条件を D_Count ≥ 10（100ms待機）に変更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⑤ 再テストで再現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修正後もまだ 0.0 → 別原因が存在すると判断してコード精読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⑥ 根本原因2（Bug-02）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Average 計算が RESULT 遷移時のみに実装されていた設計バグ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⑦ 修正2・完全解決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游ゴシック"/>
                        </a:rPr>
                        <a:t>Logic_Task（50ms周期）内で毎回計算するよう変更 → 解消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943600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2B45"/>
                </a:solidFill>
                <a:latin typeface="游ゴシック"/>
              </a:rPr>
              <a:t>💡 「症状が同じでも根本原因は別かもしれない」という視点で追跡した複合バグ解析の事例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バグ一覧（全5件）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4  品質・実績・将来計画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14 / 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214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834640"/>
                <a:gridCol w="411480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バグ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症状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根本原因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解決策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Bug-01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CSV の Average が 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IO_Task が Logic_Task より先に実行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書込み条件を D_Count ≥ 10 に変更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Bug-02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同上（修正後も再現）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Average 計算が RESULT 遷移時のみ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Logic_Task 内で毎回計算するよう変更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Bug-03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温度読取の瞬間スパイク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SPI 通信の一時的乱れ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最大3回リトライ処理を実装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Bug-04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SD 書込み後の読取値不定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SPI 共用バスの状態不定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SPI.end(); SPI.begin(); でバスリセット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Bug-05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MicroSD 初期化失敗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CS ピン未指定（GPIO4 が明示されていない）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SD.begin(4) で GPIO4 に明示化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5166360"/>
            <a:ext cx="36576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5166360"/>
            <a:ext cx="365760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2760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解決バグ数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32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7AE60"/>
                </a:solidFill>
                <a:latin typeface="游ゴシック"/>
              </a:rPr>
              <a:t>5 / 5 件（100%）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5166360"/>
            <a:ext cx="36576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5166360"/>
            <a:ext cx="3657600" cy="64008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52760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デバッグ手法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5532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5"/>
                </a:solidFill>
                <a:latin typeface="游ゴシック"/>
              </a:rPr>
              <a:t>シリアルモニタ + CSV 目視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5166360"/>
            <a:ext cx="3931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62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5166360"/>
            <a:ext cx="393192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39" y="5276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ドキュメント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5532120"/>
            <a:ext cx="3749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21A"/>
                </a:solidFill>
                <a:latin typeface="游ゴシック"/>
              </a:rPr>
              <a:t>TROUBLESHOOTING.md 722行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テスト実績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4  品質・実績・将来計画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15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游ゴシック"/>
              </a:rPr>
              <a:t>7カテゴリ 33ケース の統合テストを全て手動実機テストで実施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45920"/>
          <a:ext cx="6858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54480"/>
                <a:gridCol w="1371600"/>
                <a:gridCol w="1188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カテゴリ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テストケース数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合格数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合格率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① 起動・初期化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② 温度計測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③ CSV自動保存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④ 統計計算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⑤ アラーム機能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⑥ 状態遷移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⑦ エラー対応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406640" y="1645920"/>
            <a:ext cx="43891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645920"/>
            <a:ext cx="438912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17556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テスト合格率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1168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7AE60"/>
                </a:solidFill>
                <a:latin typeface="游ゴシック"/>
              </a:rPr>
              <a:t>33 / 33  ✓  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108960"/>
            <a:ext cx="43891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108960"/>
            <a:ext cx="4389120" cy="64008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2186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Flash 使用率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4747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45"/>
                </a:solidFill>
                <a:latin typeface="游ゴシック"/>
              </a:rPr>
              <a:t>31.0%  （余裕 69%）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251960"/>
            <a:ext cx="43891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251960"/>
            <a:ext cx="4389120" cy="6400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43616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RAM 使用率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46177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A8E8"/>
                </a:solidFill>
                <a:latin typeface="游ゴシック"/>
              </a:rPr>
              <a:t>7.2%  （余裕 92.8%）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5394960"/>
            <a:ext cx="43891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62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640" y="5394960"/>
            <a:ext cx="4389120" cy="64008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55046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  <a:latin typeface="游ゴシック"/>
              </a:rPr>
              <a:t>ドキュメント整備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57607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21A"/>
                </a:solidFill>
                <a:latin typeface="游ゴシック"/>
              </a:rPr>
              <a:t>15 ファイル（自作）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5156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137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游ゴシック"/>
              </a:rPr>
              <a:t>将来の拡張計画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42"/>
                </a:solidFill>
                <a:latin typeface="游ゴシック"/>
              </a:rPr>
              <a:t>Section 4  品質・実績・将来計画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16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游ゴシック"/>
              </a:rPr>
              <a:t>Flash余裕率 69% / RAM余裕率 92.8% — 機能追加の余地が充分にあります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45920"/>
          <a:ext cx="115214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00400"/>
                <a:gridCol w="6858000"/>
              </a:tblGrid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フェーズ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追加機能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</a:rPr>
                        <a:t>技術的要件・難易度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Phase 1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（短期）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タイムスタンプ記録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RTC モジュール（I2C）追加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難易度：低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Phase 2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（短期）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多点同時計測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（マルチチャンネル）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MAX31855 複数接続（SPI CS 切替）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難易度：中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Phase 3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（中期）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WiFi によるリアルタイム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データ送信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ESP32 内蔵WiFi + MQTT / HTTP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難易度：中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Phase 4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（長期）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計測対象の汎用化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（湿度・圧力・電流）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センサ抽象化レイヤーの設計</a:t>
                      </a:r>
                    </a:p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游ゴシック"/>
                        </a:rPr>
                        <a:t>難易度：高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583387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2B45"/>
                </a:solidFill>
                <a:latin typeface="游ゴシック"/>
              </a:rPr>
              <a:t>現在のアーキテクチャはタスク分離・モジュール分割が完了しており、機能追加時の影響範囲を最小化できる設計になっています。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游ゴシック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8C42"/>
                </a:solidFill>
                <a:latin typeface="游ゴシック"/>
              </a:rPr>
              <a:t>Simple Temperature Evaluation Tool  v1.0.0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21440" cy="27432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371600" cy="64008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コスト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417320"/>
            <a:ext cx="10149840" cy="640080"/>
          </a:xfrm>
          <a:prstGeom prst="rect">
            <a:avLst/>
          </a:prstGeom>
          <a:solidFill>
            <a:srgbClr val="164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4173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游ゴシック"/>
              </a:rPr>
              <a:t>16,082円 / 外注費0円 / 組み立て15分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58568"/>
            <a:ext cx="1371600" cy="64008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58568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品質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258568"/>
            <a:ext cx="10149840" cy="640080"/>
          </a:xfrm>
          <a:prstGeom prst="rect">
            <a:avLst/>
          </a:prstGeom>
          <a:solidFill>
            <a:srgbClr val="164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225856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游ゴシック"/>
              </a:rPr>
              <a:t>33/33テスト合格（100%）/ Flash 31% / RAM 7.2%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99816"/>
            <a:ext cx="1371600" cy="64008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099816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操作性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099816"/>
            <a:ext cx="10149840" cy="640080"/>
          </a:xfrm>
          <a:prstGeom prst="rect">
            <a:avLst/>
          </a:prstGeom>
          <a:solidFill>
            <a:srgbClr val="164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3099816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游ゴシック"/>
              </a:rPr>
              <a:t>ワンボタン操作・手順書不要・自動CSV記録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41064"/>
            <a:ext cx="1371600" cy="64008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941064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設計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3941064"/>
            <a:ext cx="10149840" cy="640080"/>
          </a:xfrm>
          <a:prstGeom prst="rect">
            <a:avLst/>
          </a:prstGeom>
          <a:solidFill>
            <a:srgbClr val="164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94106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游ゴシック"/>
              </a:rPr>
              <a:t>PLC経験をC++に転用した体系的アーキテクチャ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782312"/>
            <a:ext cx="1371600" cy="640080"/>
          </a:xfrm>
          <a:prstGeom prst="rect">
            <a:avLst/>
          </a:prstGeom>
          <a:solidFill>
            <a:srgbClr val="E86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78231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游ゴシック"/>
              </a:rPr>
              <a:t>拡張性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4782312"/>
            <a:ext cx="10149840" cy="640080"/>
          </a:xfrm>
          <a:prstGeom prst="rect">
            <a:avLst/>
          </a:prstGeom>
          <a:solidFill>
            <a:srgbClr val="164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478231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游ゴシック"/>
              </a:rPr>
              <a:t>Flash/RAM余裕率90%超・Phase 4まで拡張ロードマップあり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6537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EF4"/>
                </a:solidFill>
                <a:latin typeface="游ゴシック"/>
              </a:rPr>
              <a:t>Simple Temperature Evaluation Tool  v1.0.0  |  2026年3月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37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EF4"/>
                </a:solidFill>
                <a:latin typeface="游ゴシック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