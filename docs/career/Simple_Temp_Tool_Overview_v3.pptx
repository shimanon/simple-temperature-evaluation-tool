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477F"/>
        </a:solidFill>
        <a:effectLst/>
      </p:bgPr>
    </p:bg>
    <p:spTree>
      <p:nvGrpSpPr>
        <p:cNvPr id="1" name=""/>
        <p:cNvGrpSpPr/>
        <p:nvPr/>
      </p:nvGrpSpPr>
      <p:grpSpPr/>
      <p:sp>
        <p:nvSpPr>
          <p:cNvPr id="2" name="TextBox 1"/>
          <p:cNvSpPr txBox="1"/>
          <p:nvPr/>
        </p:nvSpPr>
        <p:spPr>
          <a:xfrm>
            <a:off x="914400" y="1645920"/>
            <a:ext cx="10332720" cy="822960"/>
          </a:xfrm>
          <a:prstGeom prst="rect">
            <a:avLst/>
          </a:prstGeom>
          <a:noFill/>
        </p:spPr>
        <p:txBody>
          <a:bodyPr wrap="square">
            <a:spAutoFit/>
          </a:bodyPr>
          <a:lstStyle/>
          <a:p>
            <a:pPr algn="ctr"/>
            <a:r>
              <a:rPr sz="3600" b="1" i="0">
                <a:solidFill>
                  <a:srgbClr val="FFFFFF"/>
                </a:solidFill>
                <a:latin typeface="Segoe UI"/>
              </a:rPr>
              <a:t>Simple Temperature Evaluation Tool</a:t>
            </a:r>
          </a:p>
        </p:txBody>
      </p:sp>
      <p:sp>
        <p:nvSpPr>
          <p:cNvPr id="3" name="TextBox 2"/>
          <p:cNvSpPr txBox="1"/>
          <p:nvPr/>
        </p:nvSpPr>
        <p:spPr>
          <a:xfrm>
            <a:off x="914400" y="2651760"/>
            <a:ext cx="10332720" cy="502920"/>
          </a:xfrm>
          <a:prstGeom prst="rect">
            <a:avLst/>
          </a:prstGeom>
          <a:noFill/>
        </p:spPr>
        <p:txBody>
          <a:bodyPr wrap="square">
            <a:spAutoFit/>
          </a:bodyPr>
          <a:lstStyle/>
          <a:p>
            <a:pPr algn="ctr"/>
            <a:r>
              <a:rPr sz="1800" b="0" i="0">
                <a:solidFill>
                  <a:srgbClr val="FFFFFF"/>
                </a:solidFill>
                <a:latin typeface="游ゴシック"/>
              </a:rPr>
              <a:t>M5Stack Basic V2.7 × MAX31855  熱電対温度計測システム</a:t>
            </a:r>
          </a:p>
        </p:txBody>
      </p:sp>
      <p:sp>
        <p:nvSpPr>
          <p:cNvPr id="4" name="Rectangle 3"/>
          <p:cNvSpPr/>
          <p:nvPr/>
        </p:nvSpPr>
        <p:spPr>
          <a:xfrm>
            <a:off x="914400" y="3310128"/>
            <a:ext cx="10332720" cy="36576"/>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32720" cy="411480"/>
          </a:xfrm>
          <a:prstGeom prst="rect">
            <a:avLst/>
          </a:prstGeom>
          <a:noFill/>
        </p:spPr>
        <p:txBody>
          <a:bodyPr wrap="square">
            <a:spAutoFit/>
          </a:bodyPr>
          <a:lstStyle/>
          <a:p>
            <a:pPr algn="ctr"/>
            <a:r>
              <a:rPr sz="1500" b="0" i="0">
                <a:solidFill>
                  <a:srgbClr val="FF6D00"/>
                </a:solidFill>
                <a:latin typeface="游ゴシック"/>
              </a:rPr>
              <a:t>リアルタイム計測 ／ 統計解析 ／ SD カード記録 ／ アラーム機能</a:t>
            </a:r>
          </a:p>
        </p:txBody>
      </p:sp>
      <p:sp>
        <p:nvSpPr>
          <p:cNvPr id="6" name="TextBox 5"/>
          <p:cNvSpPr txBox="1"/>
          <p:nvPr/>
        </p:nvSpPr>
        <p:spPr>
          <a:xfrm>
            <a:off x="914400" y="3931920"/>
            <a:ext cx="10332720" cy="411480"/>
          </a:xfrm>
          <a:prstGeom prst="rect">
            <a:avLst/>
          </a:prstGeom>
          <a:noFill/>
        </p:spPr>
        <p:txBody>
          <a:bodyPr wrap="square">
            <a:spAutoFit/>
          </a:bodyPr>
          <a:lstStyle/>
          <a:p>
            <a:pPr algn="ctr"/>
            <a:r>
              <a:rPr sz="1400" b="0" i="0">
                <a:solidFill>
                  <a:srgbClr val="999999"/>
                </a:solidFill>
                <a:latin typeface="Segoe UI"/>
              </a:rPr>
              <a:t>ESP32  /  C++ (Arduino)  /  PlatformIO</a:t>
            </a:r>
          </a:p>
        </p:txBody>
      </p:sp>
      <p:sp>
        <p:nvSpPr>
          <p:cNvPr id="7" name="TextBox 6"/>
          <p:cNvSpPr txBox="1"/>
          <p:nvPr/>
        </p:nvSpPr>
        <p:spPr>
          <a:xfrm>
            <a:off x="914400" y="4754880"/>
            <a:ext cx="10332720" cy="365760"/>
          </a:xfrm>
          <a:prstGeom prst="rect">
            <a:avLst/>
          </a:prstGeom>
          <a:noFill/>
        </p:spPr>
        <p:txBody>
          <a:bodyPr wrap="square">
            <a:spAutoFit/>
          </a:bodyPr>
          <a:lstStyle/>
          <a:p>
            <a:pPr algn="ctr"/>
            <a:r>
              <a:rPr sz="1300" b="0" i="0">
                <a:solidFill>
                  <a:srgbClr val="FFFFFF"/>
                </a:solidFill>
                <a:latin typeface="游ゴシック"/>
              </a:rPr>
              <a:t>v1.0.0  ｜  2026 年 3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目次</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Table of Contents</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a:t>
            </a:r>
          </a:p>
        </p:txBody>
      </p:sp>
      <p:sp>
        <p:nvSpPr>
          <p:cNvPr id="8" name="Rectangle 7"/>
          <p:cNvSpPr/>
          <p:nvPr/>
        </p:nvSpPr>
        <p:spPr>
          <a:xfrm>
            <a:off x="320040" y="109728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15568"/>
            <a:ext cx="731520" cy="292608"/>
          </a:xfrm>
          <a:prstGeom prst="rect">
            <a:avLst/>
          </a:prstGeom>
          <a:noFill/>
        </p:spPr>
        <p:txBody>
          <a:bodyPr wrap="square">
            <a:spAutoFit/>
          </a:bodyPr>
          <a:lstStyle/>
          <a:p>
            <a:pPr algn="ctr"/>
            <a:r>
              <a:rPr sz="1100" b="1" i="0">
                <a:solidFill>
                  <a:srgbClr val="FFFFFF"/>
                </a:solidFill>
                <a:latin typeface="Segoe UI"/>
              </a:rPr>
              <a:t>S1</a:t>
            </a:r>
          </a:p>
        </p:txBody>
      </p:sp>
      <p:sp>
        <p:nvSpPr>
          <p:cNvPr id="10" name="TextBox 9"/>
          <p:cNvSpPr txBox="1"/>
          <p:nvPr/>
        </p:nvSpPr>
        <p:spPr>
          <a:xfrm>
            <a:off x="1234440" y="1097280"/>
            <a:ext cx="3200400" cy="320040"/>
          </a:xfrm>
          <a:prstGeom prst="rect">
            <a:avLst/>
          </a:prstGeom>
          <a:noFill/>
        </p:spPr>
        <p:txBody>
          <a:bodyPr wrap="square">
            <a:spAutoFit/>
          </a:bodyPr>
          <a:lstStyle/>
          <a:p>
            <a:pPr algn="l"/>
            <a:r>
              <a:rPr sz="1400" b="0" i="0">
                <a:solidFill>
                  <a:srgbClr val="1A1A2E"/>
                </a:solidFill>
                <a:latin typeface="游ゴシック"/>
              </a:rPr>
              <a:t>プロジェクト概要</a:t>
            </a:r>
          </a:p>
        </p:txBody>
      </p:sp>
      <p:sp>
        <p:nvSpPr>
          <p:cNvPr id="11" name="TextBox 10"/>
          <p:cNvSpPr txBox="1"/>
          <p:nvPr/>
        </p:nvSpPr>
        <p:spPr>
          <a:xfrm>
            <a:off x="4526280" y="1097280"/>
            <a:ext cx="1188720" cy="320040"/>
          </a:xfrm>
          <a:prstGeom prst="rect">
            <a:avLst/>
          </a:prstGeom>
          <a:noFill/>
        </p:spPr>
        <p:txBody>
          <a:bodyPr wrap="square">
            <a:spAutoFit/>
          </a:bodyPr>
          <a:lstStyle/>
          <a:p>
            <a:pPr algn="r"/>
            <a:r>
              <a:rPr sz="1300" b="0" i="0">
                <a:solidFill>
                  <a:srgbClr val="999999"/>
                </a:solidFill>
                <a:latin typeface="Segoe UI"/>
              </a:rPr>
              <a:t>Slides  3-5</a:t>
            </a:r>
          </a:p>
        </p:txBody>
      </p:sp>
      <p:sp>
        <p:nvSpPr>
          <p:cNvPr id="12" name="Rectangle 11"/>
          <p:cNvSpPr/>
          <p:nvPr/>
        </p:nvSpPr>
        <p:spPr>
          <a:xfrm>
            <a:off x="320040" y="173736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755648"/>
            <a:ext cx="731520" cy="292608"/>
          </a:xfrm>
          <a:prstGeom prst="rect">
            <a:avLst/>
          </a:prstGeom>
          <a:noFill/>
        </p:spPr>
        <p:txBody>
          <a:bodyPr wrap="square">
            <a:spAutoFit/>
          </a:bodyPr>
          <a:lstStyle/>
          <a:p>
            <a:pPr algn="ctr"/>
            <a:r>
              <a:rPr sz="1100" b="1" i="0">
                <a:solidFill>
                  <a:srgbClr val="FFFFFF"/>
                </a:solidFill>
                <a:latin typeface="Segoe UI"/>
              </a:rPr>
              <a:t>S2</a:t>
            </a:r>
          </a:p>
        </p:txBody>
      </p:sp>
      <p:sp>
        <p:nvSpPr>
          <p:cNvPr id="14" name="TextBox 13"/>
          <p:cNvSpPr txBox="1"/>
          <p:nvPr/>
        </p:nvSpPr>
        <p:spPr>
          <a:xfrm>
            <a:off x="1234440" y="1737360"/>
            <a:ext cx="3200400" cy="320040"/>
          </a:xfrm>
          <a:prstGeom prst="rect">
            <a:avLst/>
          </a:prstGeom>
          <a:noFill/>
        </p:spPr>
        <p:txBody>
          <a:bodyPr wrap="square">
            <a:spAutoFit/>
          </a:bodyPr>
          <a:lstStyle/>
          <a:p>
            <a:pPr algn="l"/>
            <a:r>
              <a:rPr sz="1400" b="0" i="0">
                <a:solidFill>
                  <a:srgbClr val="1A1A2E"/>
                </a:solidFill>
                <a:latin typeface="游ゴシック"/>
              </a:rPr>
              <a:t>ハードウェア</a:t>
            </a:r>
          </a:p>
        </p:txBody>
      </p:sp>
      <p:sp>
        <p:nvSpPr>
          <p:cNvPr id="15" name="TextBox 14"/>
          <p:cNvSpPr txBox="1"/>
          <p:nvPr/>
        </p:nvSpPr>
        <p:spPr>
          <a:xfrm>
            <a:off x="4526280" y="1737360"/>
            <a:ext cx="1188720" cy="320040"/>
          </a:xfrm>
          <a:prstGeom prst="rect">
            <a:avLst/>
          </a:prstGeom>
          <a:noFill/>
        </p:spPr>
        <p:txBody>
          <a:bodyPr wrap="square">
            <a:spAutoFit/>
          </a:bodyPr>
          <a:lstStyle/>
          <a:p>
            <a:pPr algn="r"/>
            <a:r>
              <a:rPr sz="1300" b="0" i="0">
                <a:solidFill>
                  <a:srgbClr val="999999"/>
                </a:solidFill>
                <a:latin typeface="Segoe UI"/>
              </a:rPr>
              <a:t>Slides  6-7</a:t>
            </a:r>
          </a:p>
        </p:txBody>
      </p:sp>
      <p:sp>
        <p:nvSpPr>
          <p:cNvPr id="16" name="Rectangle 15"/>
          <p:cNvSpPr/>
          <p:nvPr/>
        </p:nvSpPr>
        <p:spPr>
          <a:xfrm>
            <a:off x="320040" y="237744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395728"/>
            <a:ext cx="731520" cy="292608"/>
          </a:xfrm>
          <a:prstGeom prst="rect">
            <a:avLst/>
          </a:prstGeom>
          <a:noFill/>
        </p:spPr>
        <p:txBody>
          <a:bodyPr wrap="square">
            <a:spAutoFit/>
          </a:bodyPr>
          <a:lstStyle/>
          <a:p>
            <a:pPr algn="ctr"/>
            <a:r>
              <a:rPr sz="1100" b="1" i="0">
                <a:solidFill>
                  <a:srgbClr val="FFFFFF"/>
                </a:solidFill>
                <a:latin typeface="Segoe UI"/>
              </a:rPr>
              <a:t>S3</a:t>
            </a:r>
          </a:p>
        </p:txBody>
      </p:sp>
      <p:sp>
        <p:nvSpPr>
          <p:cNvPr id="18" name="TextBox 17"/>
          <p:cNvSpPr txBox="1"/>
          <p:nvPr/>
        </p:nvSpPr>
        <p:spPr>
          <a:xfrm>
            <a:off x="1234440" y="2377440"/>
            <a:ext cx="3200400" cy="320040"/>
          </a:xfrm>
          <a:prstGeom prst="rect">
            <a:avLst/>
          </a:prstGeom>
          <a:noFill/>
        </p:spPr>
        <p:txBody>
          <a:bodyPr wrap="square">
            <a:spAutoFit/>
          </a:bodyPr>
          <a:lstStyle/>
          <a:p>
            <a:pPr algn="l"/>
            <a:r>
              <a:rPr sz="1400" b="0" i="0">
                <a:solidFill>
                  <a:srgbClr val="1A1A2E"/>
                </a:solidFill>
                <a:latin typeface="游ゴシック"/>
              </a:rPr>
              <a:t>ソフトウェア設計</a:t>
            </a:r>
          </a:p>
        </p:txBody>
      </p:sp>
      <p:sp>
        <p:nvSpPr>
          <p:cNvPr id="19" name="TextBox 18"/>
          <p:cNvSpPr txBox="1"/>
          <p:nvPr/>
        </p:nvSpPr>
        <p:spPr>
          <a:xfrm>
            <a:off x="4526280" y="2377440"/>
            <a:ext cx="1188720" cy="320040"/>
          </a:xfrm>
          <a:prstGeom prst="rect">
            <a:avLst/>
          </a:prstGeom>
          <a:noFill/>
        </p:spPr>
        <p:txBody>
          <a:bodyPr wrap="square">
            <a:spAutoFit/>
          </a:bodyPr>
          <a:lstStyle/>
          <a:p>
            <a:pPr algn="r"/>
            <a:r>
              <a:rPr sz="1300" b="0" i="0">
                <a:solidFill>
                  <a:srgbClr val="999999"/>
                </a:solidFill>
                <a:latin typeface="Segoe UI"/>
              </a:rPr>
              <a:t>Slides  8-9</a:t>
            </a:r>
          </a:p>
        </p:txBody>
      </p:sp>
      <p:sp>
        <p:nvSpPr>
          <p:cNvPr id="20" name="Rectangle 19"/>
          <p:cNvSpPr/>
          <p:nvPr/>
        </p:nvSpPr>
        <p:spPr>
          <a:xfrm>
            <a:off x="320040" y="301752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035808"/>
            <a:ext cx="731520" cy="292608"/>
          </a:xfrm>
          <a:prstGeom prst="rect">
            <a:avLst/>
          </a:prstGeom>
          <a:noFill/>
        </p:spPr>
        <p:txBody>
          <a:bodyPr wrap="square">
            <a:spAutoFit/>
          </a:bodyPr>
          <a:lstStyle/>
          <a:p>
            <a:pPr algn="ctr"/>
            <a:r>
              <a:rPr sz="1100" b="1" i="0">
                <a:solidFill>
                  <a:srgbClr val="FFFFFF"/>
                </a:solidFill>
                <a:latin typeface="Segoe UI"/>
              </a:rPr>
              <a:t>S4</a:t>
            </a:r>
          </a:p>
        </p:txBody>
      </p:sp>
      <p:sp>
        <p:nvSpPr>
          <p:cNvPr id="22" name="TextBox 21"/>
          <p:cNvSpPr txBox="1"/>
          <p:nvPr/>
        </p:nvSpPr>
        <p:spPr>
          <a:xfrm>
            <a:off x="1234440" y="3017520"/>
            <a:ext cx="3200400" cy="320040"/>
          </a:xfrm>
          <a:prstGeom prst="rect">
            <a:avLst/>
          </a:prstGeom>
          <a:noFill/>
        </p:spPr>
        <p:txBody>
          <a:bodyPr wrap="square">
            <a:spAutoFit/>
          </a:bodyPr>
          <a:lstStyle/>
          <a:p>
            <a:pPr algn="l"/>
            <a:r>
              <a:rPr sz="1400" b="0" i="0">
                <a:solidFill>
                  <a:srgbClr val="1A1A2E"/>
                </a:solidFill>
                <a:latin typeface="游ゴシック"/>
              </a:rPr>
              <a:t>操作マニュアル</a:t>
            </a:r>
          </a:p>
        </p:txBody>
      </p:sp>
      <p:sp>
        <p:nvSpPr>
          <p:cNvPr id="23" name="TextBox 22"/>
          <p:cNvSpPr txBox="1"/>
          <p:nvPr/>
        </p:nvSpPr>
        <p:spPr>
          <a:xfrm>
            <a:off x="4526280" y="3017520"/>
            <a:ext cx="1188720" cy="320040"/>
          </a:xfrm>
          <a:prstGeom prst="rect">
            <a:avLst/>
          </a:prstGeom>
          <a:noFill/>
        </p:spPr>
        <p:txBody>
          <a:bodyPr wrap="square">
            <a:spAutoFit/>
          </a:bodyPr>
          <a:lstStyle/>
          <a:p>
            <a:pPr algn="r"/>
            <a:r>
              <a:rPr sz="1300" b="0" i="0">
                <a:solidFill>
                  <a:srgbClr val="999999"/>
                </a:solidFill>
                <a:latin typeface="Segoe UI"/>
              </a:rPr>
              <a:t>Slides 10-14</a:t>
            </a:r>
          </a:p>
        </p:txBody>
      </p:sp>
      <p:sp>
        <p:nvSpPr>
          <p:cNvPr id="24" name="Rectangle 23"/>
          <p:cNvSpPr/>
          <p:nvPr/>
        </p:nvSpPr>
        <p:spPr>
          <a:xfrm>
            <a:off x="6126480" y="109728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1115568"/>
            <a:ext cx="731520" cy="292608"/>
          </a:xfrm>
          <a:prstGeom prst="rect">
            <a:avLst/>
          </a:prstGeom>
          <a:noFill/>
        </p:spPr>
        <p:txBody>
          <a:bodyPr wrap="square">
            <a:spAutoFit/>
          </a:bodyPr>
          <a:lstStyle/>
          <a:p>
            <a:pPr algn="ctr"/>
            <a:r>
              <a:rPr sz="1100" b="1" i="0">
                <a:solidFill>
                  <a:srgbClr val="FFFFFF"/>
                </a:solidFill>
                <a:latin typeface="Segoe UI"/>
              </a:rPr>
              <a:t>S5</a:t>
            </a:r>
          </a:p>
        </p:txBody>
      </p:sp>
      <p:sp>
        <p:nvSpPr>
          <p:cNvPr id="26" name="TextBox 25"/>
          <p:cNvSpPr txBox="1"/>
          <p:nvPr/>
        </p:nvSpPr>
        <p:spPr>
          <a:xfrm>
            <a:off x="7040880" y="1097280"/>
            <a:ext cx="3200400" cy="320040"/>
          </a:xfrm>
          <a:prstGeom prst="rect">
            <a:avLst/>
          </a:prstGeom>
          <a:noFill/>
        </p:spPr>
        <p:txBody>
          <a:bodyPr wrap="square">
            <a:spAutoFit/>
          </a:bodyPr>
          <a:lstStyle/>
          <a:p>
            <a:pPr algn="l"/>
            <a:r>
              <a:rPr sz="1400" b="0" i="0">
                <a:solidFill>
                  <a:srgbClr val="1A1A2E"/>
                </a:solidFill>
                <a:latin typeface="游ゴシック"/>
              </a:rPr>
              <a:t>データ管理</a:t>
            </a:r>
          </a:p>
        </p:txBody>
      </p:sp>
      <p:sp>
        <p:nvSpPr>
          <p:cNvPr id="27" name="TextBox 26"/>
          <p:cNvSpPr txBox="1"/>
          <p:nvPr/>
        </p:nvSpPr>
        <p:spPr>
          <a:xfrm>
            <a:off x="10332720" y="1097280"/>
            <a:ext cx="1188720" cy="320040"/>
          </a:xfrm>
          <a:prstGeom prst="rect">
            <a:avLst/>
          </a:prstGeom>
          <a:noFill/>
        </p:spPr>
        <p:txBody>
          <a:bodyPr wrap="square">
            <a:spAutoFit/>
          </a:bodyPr>
          <a:lstStyle/>
          <a:p>
            <a:pPr algn="r"/>
            <a:r>
              <a:rPr sz="1300" b="0" i="0">
                <a:solidFill>
                  <a:srgbClr val="999999"/>
                </a:solidFill>
                <a:latin typeface="Segoe UI"/>
              </a:rPr>
              <a:t>Slides 15-16</a:t>
            </a:r>
          </a:p>
        </p:txBody>
      </p:sp>
      <p:sp>
        <p:nvSpPr>
          <p:cNvPr id="28" name="Rectangle 27"/>
          <p:cNvSpPr/>
          <p:nvPr/>
        </p:nvSpPr>
        <p:spPr>
          <a:xfrm>
            <a:off x="6126480" y="173736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1755648"/>
            <a:ext cx="731520" cy="292608"/>
          </a:xfrm>
          <a:prstGeom prst="rect">
            <a:avLst/>
          </a:prstGeom>
          <a:noFill/>
        </p:spPr>
        <p:txBody>
          <a:bodyPr wrap="square">
            <a:spAutoFit/>
          </a:bodyPr>
          <a:lstStyle/>
          <a:p>
            <a:pPr algn="ctr"/>
            <a:r>
              <a:rPr sz="1100" b="1" i="0">
                <a:solidFill>
                  <a:srgbClr val="FFFFFF"/>
                </a:solidFill>
                <a:latin typeface="Segoe UI"/>
              </a:rPr>
              <a:t>S6</a:t>
            </a:r>
          </a:p>
        </p:txBody>
      </p:sp>
      <p:sp>
        <p:nvSpPr>
          <p:cNvPr id="30" name="TextBox 29"/>
          <p:cNvSpPr txBox="1"/>
          <p:nvPr/>
        </p:nvSpPr>
        <p:spPr>
          <a:xfrm>
            <a:off x="7040880" y="1737360"/>
            <a:ext cx="3200400" cy="320040"/>
          </a:xfrm>
          <a:prstGeom prst="rect">
            <a:avLst/>
          </a:prstGeom>
          <a:noFill/>
        </p:spPr>
        <p:txBody>
          <a:bodyPr wrap="square">
            <a:spAutoFit/>
          </a:bodyPr>
          <a:lstStyle/>
          <a:p>
            <a:pPr algn="l"/>
            <a:r>
              <a:rPr sz="1400" b="0" i="0">
                <a:solidFill>
                  <a:srgbClr val="1A1A2E"/>
                </a:solidFill>
                <a:latin typeface="游ゴシック"/>
              </a:rPr>
              <a:t>技術詳細</a:t>
            </a:r>
          </a:p>
        </p:txBody>
      </p:sp>
      <p:sp>
        <p:nvSpPr>
          <p:cNvPr id="31" name="TextBox 30"/>
          <p:cNvSpPr txBox="1"/>
          <p:nvPr/>
        </p:nvSpPr>
        <p:spPr>
          <a:xfrm>
            <a:off x="10332720" y="1737360"/>
            <a:ext cx="1188720" cy="320040"/>
          </a:xfrm>
          <a:prstGeom prst="rect">
            <a:avLst/>
          </a:prstGeom>
          <a:noFill/>
        </p:spPr>
        <p:txBody>
          <a:bodyPr wrap="square">
            <a:spAutoFit/>
          </a:bodyPr>
          <a:lstStyle/>
          <a:p>
            <a:pPr algn="r"/>
            <a:r>
              <a:rPr sz="1300" b="0" i="0">
                <a:solidFill>
                  <a:srgbClr val="999999"/>
                </a:solidFill>
                <a:latin typeface="Segoe UI"/>
              </a:rPr>
              <a:t>Slides 17-20</a:t>
            </a:r>
          </a:p>
        </p:txBody>
      </p:sp>
      <p:sp>
        <p:nvSpPr>
          <p:cNvPr id="32" name="Rectangle 31"/>
          <p:cNvSpPr/>
          <p:nvPr/>
        </p:nvSpPr>
        <p:spPr>
          <a:xfrm>
            <a:off x="6126480" y="237744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72200" y="2395728"/>
            <a:ext cx="731520" cy="292608"/>
          </a:xfrm>
          <a:prstGeom prst="rect">
            <a:avLst/>
          </a:prstGeom>
          <a:noFill/>
        </p:spPr>
        <p:txBody>
          <a:bodyPr wrap="square">
            <a:spAutoFit/>
          </a:bodyPr>
          <a:lstStyle/>
          <a:p>
            <a:pPr algn="ctr"/>
            <a:r>
              <a:rPr sz="1100" b="1" i="0">
                <a:solidFill>
                  <a:srgbClr val="FFFFFF"/>
                </a:solidFill>
                <a:latin typeface="Segoe UI"/>
              </a:rPr>
              <a:t>S7</a:t>
            </a:r>
          </a:p>
        </p:txBody>
      </p:sp>
      <p:sp>
        <p:nvSpPr>
          <p:cNvPr id="34" name="TextBox 33"/>
          <p:cNvSpPr txBox="1"/>
          <p:nvPr/>
        </p:nvSpPr>
        <p:spPr>
          <a:xfrm>
            <a:off x="7040880" y="2377440"/>
            <a:ext cx="3200400" cy="320040"/>
          </a:xfrm>
          <a:prstGeom prst="rect">
            <a:avLst/>
          </a:prstGeom>
          <a:noFill/>
        </p:spPr>
        <p:txBody>
          <a:bodyPr wrap="square">
            <a:spAutoFit/>
          </a:bodyPr>
          <a:lstStyle/>
          <a:p>
            <a:pPr algn="l"/>
            <a:r>
              <a:rPr sz="1400" b="0" i="0">
                <a:solidFill>
                  <a:srgbClr val="1A1A2E"/>
                </a:solidFill>
                <a:latin typeface="游ゴシック"/>
              </a:rPr>
              <a:t>品質・テスト</a:t>
            </a:r>
          </a:p>
        </p:txBody>
      </p:sp>
      <p:sp>
        <p:nvSpPr>
          <p:cNvPr id="35" name="TextBox 34"/>
          <p:cNvSpPr txBox="1"/>
          <p:nvPr/>
        </p:nvSpPr>
        <p:spPr>
          <a:xfrm>
            <a:off x="10332720" y="2377440"/>
            <a:ext cx="1188720" cy="320040"/>
          </a:xfrm>
          <a:prstGeom prst="rect">
            <a:avLst/>
          </a:prstGeom>
          <a:noFill/>
        </p:spPr>
        <p:txBody>
          <a:bodyPr wrap="square">
            <a:spAutoFit/>
          </a:bodyPr>
          <a:lstStyle/>
          <a:p>
            <a:pPr algn="r"/>
            <a:r>
              <a:rPr sz="1300" b="0" i="0">
                <a:solidFill>
                  <a:srgbClr val="999999"/>
                </a:solidFill>
                <a:latin typeface="Segoe UI"/>
              </a:rPr>
              <a:t>Slides 21-22</a:t>
            </a:r>
          </a:p>
        </p:txBody>
      </p:sp>
      <p:sp>
        <p:nvSpPr>
          <p:cNvPr id="36" name="Rectangle 35"/>
          <p:cNvSpPr/>
          <p:nvPr/>
        </p:nvSpPr>
        <p:spPr>
          <a:xfrm>
            <a:off x="6126480" y="301752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72200" y="3035808"/>
            <a:ext cx="731520" cy="292608"/>
          </a:xfrm>
          <a:prstGeom prst="rect">
            <a:avLst/>
          </a:prstGeom>
          <a:noFill/>
        </p:spPr>
        <p:txBody>
          <a:bodyPr wrap="square">
            <a:spAutoFit/>
          </a:bodyPr>
          <a:lstStyle/>
          <a:p>
            <a:pPr algn="ctr"/>
            <a:r>
              <a:rPr sz="1100" b="1" i="0">
                <a:solidFill>
                  <a:srgbClr val="FFFFFF"/>
                </a:solidFill>
                <a:latin typeface="Segoe UI"/>
              </a:rPr>
              <a:t>Sum</a:t>
            </a:r>
          </a:p>
        </p:txBody>
      </p:sp>
      <p:sp>
        <p:nvSpPr>
          <p:cNvPr id="38" name="TextBox 37"/>
          <p:cNvSpPr txBox="1"/>
          <p:nvPr/>
        </p:nvSpPr>
        <p:spPr>
          <a:xfrm>
            <a:off x="7040880" y="3017520"/>
            <a:ext cx="3200400" cy="320040"/>
          </a:xfrm>
          <a:prstGeom prst="rect">
            <a:avLst/>
          </a:prstGeom>
          <a:noFill/>
        </p:spPr>
        <p:txBody>
          <a:bodyPr wrap="square">
            <a:spAutoFit/>
          </a:bodyPr>
          <a:lstStyle/>
          <a:p>
            <a:pPr algn="l"/>
            <a:r>
              <a:rPr sz="1400" b="0" i="0">
                <a:solidFill>
                  <a:srgbClr val="1A1A2E"/>
                </a:solidFill>
                <a:latin typeface="游ゴシック"/>
              </a:rPr>
              <a:t>Summary</a:t>
            </a:r>
          </a:p>
        </p:txBody>
      </p:sp>
      <p:sp>
        <p:nvSpPr>
          <p:cNvPr id="39" name="TextBox 38"/>
          <p:cNvSpPr txBox="1"/>
          <p:nvPr/>
        </p:nvSpPr>
        <p:spPr>
          <a:xfrm>
            <a:off x="10332720" y="3017520"/>
            <a:ext cx="1188720" cy="320040"/>
          </a:xfrm>
          <a:prstGeom prst="rect">
            <a:avLst/>
          </a:prstGeom>
          <a:noFill/>
        </p:spPr>
        <p:txBody>
          <a:bodyPr wrap="square">
            <a:spAutoFit/>
          </a:bodyPr>
          <a:lstStyle/>
          <a:p>
            <a:pPr algn="r"/>
            <a:r>
              <a:rPr sz="1300" b="0" i="0">
                <a:solidFill>
                  <a:srgbClr val="999999"/>
                </a:solidFill>
                <a:latin typeface="Segoe UI"/>
              </a:rPr>
              <a:t>Slide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背景と目的</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1  プロジェクト概要</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3</a:t>
            </a:r>
          </a:p>
        </p:txBody>
      </p:sp>
      <p:sp>
        <p:nvSpPr>
          <p:cNvPr id="8" name="Rectangle 7"/>
          <p:cNvSpPr/>
          <p:nvPr/>
        </p:nvSpPr>
        <p:spPr>
          <a:xfrm>
            <a:off x="320040" y="1005840"/>
            <a:ext cx="11548872" cy="14630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78992"/>
            <a:ext cx="11155680" cy="1298448"/>
          </a:xfrm>
          <a:prstGeom prst="rect">
            <a:avLst/>
          </a:prstGeom>
          <a:noFill/>
        </p:spPr>
        <p:txBody>
          <a:bodyPr wrap="square">
            <a:spAutoFit/>
          </a:bodyPr>
          <a:lstStyle/>
          <a:p>
            <a:pPr algn="l"/>
            <a:r>
              <a:rPr sz="1400" b="0" i="0">
                <a:solidFill>
                  <a:srgbClr val="1A1A2E"/>
                </a:solidFill>
                <a:latin typeface="游ゴシック"/>
              </a:rPr>
              <a:t>・現場での K 型熱電対温度モニタリングを簡単に行いたい</a:t>
            </a:r>
          </a:p>
          <a:p>
            <a:pPr algn="l"/>
            <a:r>
              <a:rPr sz="1400" b="0" i="0">
                <a:solidFill>
                  <a:srgbClr val="1A1A2E"/>
                </a:solidFill>
                <a:latin typeface="游ゴシック"/>
              </a:rPr>
              <a:t>・既製品は機能過多・高価。M5Stack Basic V2.7 + MAX31855 で必要最小限のツールを自作</a:t>
            </a:r>
          </a:p>
          <a:p>
            <a:pPr algn="l"/>
            <a:r>
              <a:rPr sz="1400" b="0" i="0">
                <a:solidFill>
                  <a:srgbClr val="1A1A2E"/>
                </a:solidFill>
                <a:latin typeface="游ゴシック"/>
              </a:rPr>
              <a:t>・PLC ラダー設計の知識を C++ に落とし込む練習として開発</a:t>
            </a:r>
          </a:p>
        </p:txBody>
      </p:sp>
      <p:sp>
        <p:nvSpPr>
          <p:cNvPr id="10" name="Rectangle 9"/>
          <p:cNvSpPr/>
          <p:nvPr/>
        </p:nvSpPr>
        <p:spPr>
          <a:xfrm>
            <a:off x="320040" y="2606040"/>
            <a:ext cx="5486400" cy="2560320"/>
          </a:xfrm>
          <a:prstGeom prst="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679192"/>
            <a:ext cx="5029200" cy="365760"/>
          </a:xfrm>
          <a:prstGeom prst="rect">
            <a:avLst/>
          </a:prstGeom>
          <a:noFill/>
        </p:spPr>
        <p:txBody>
          <a:bodyPr wrap="square">
            <a:spAutoFit/>
          </a:bodyPr>
          <a:lstStyle/>
          <a:p>
            <a:pPr algn="l"/>
            <a:r>
              <a:rPr sz="1600" b="1" i="0">
                <a:solidFill>
                  <a:srgbClr val="C0392B"/>
                </a:solidFill>
                <a:latin typeface="游ゴシック"/>
              </a:rPr>
              <a:t>従来の課題</a:t>
            </a:r>
          </a:p>
        </p:txBody>
      </p:sp>
      <p:sp>
        <p:nvSpPr>
          <p:cNvPr id="12" name="TextBox 11"/>
          <p:cNvSpPr txBox="1"/>
          <p:nvPr/>
        </p:nvSpPr>
        <p:spPr>
          <a:xfrm>
            <a:off x="457200" y="3108960"/>
            <a:ext cx="5212080" cy="1920240"/>
          </a:xfrm>
          <a:prstGeom prst="rect">
            <a:avLst/>
          </a:prstGeom>
          <a:noFill/>
        </p:spPr>
        <p:txBody>
          <a:bodyPr wrap="square">
            <a:spAutoFit/>
          </a:bodyPr>
          <a:lstStyle/>
          <a:p>
            <a:pPr algn="l"/>
            <a:r>
              <a:rPr sz="1300" b="0" i="0">
                <a:solidFill>
                  <a:srgbClr val="1A1A2E"/>
                </a:solidFill>
                <a:latin typeface="游ゴシック"/>
              </a:rPr>
              <a:t>・手書き記録 → 転記ミス・工数大</a:t>
            </a:r>
          </a:p>
          <a:p>
            <a:pPr algn="l"/>
            <a:r>
              <a:rPr sz="1300" b="0" i="0">
                <a:solidFill>
                  <a:srgbClr val="1A1A2E"/>
                </a:solidFill>
                <a:latin typeface="游ゴシック"/>
              </a:rPr>
              <a:t>・既製ロガーは PC 接続必須で現場には不向き</a:t>
            </a:r>
          </a:p>
          <a:p>
            <a:pPr algn="l"/>
            <a:r>
              <a:rPr sz="1300" b="0" i="0">
                <a:solidFill>
                  <a:srgbClr val="1A1A2E"/>
                </a:solidFill>
                <a:latin typeface="游ゴシック"/>
              </a:rPr>
              <a:t>・データをその場で確認できない</a:t>
            </a:r>
          </a:p>
        </p:txBody>
      </p:sp>
      <p:sp>
        <p:nvSpPr>
          <p:cNvPr id="13" name="Rectangle 12"/>
          <p:cNvSpPr/>
          <p:nvPr/>
        </p:nvSpPr>
        <p:spPr>
          <a:xfrm>
            <a:off x="6126480" y="2606040"/>
            <a:ext cx="5486400" cy="256032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679192"/>
            <a:ext cx="5029200" cy="365760"/>
          </a:xfrm>
          <a:prstGeom prst="rect">
            <a:avLst/>
          </a:prstGeom>
          <a:noFill/>
        </p:spPr>
        <p:txBody>
          <a:bodyPr wrap="square">
            <a:spAutoFit/>
          </a:bodyPr>
          <a:lstStyle/>
          <a:p>
            <a:pPr algn="l"/>
            <a:r>
              <a:rPr sz="1600" b="1" i="0">
                <a:solidFill>
                  <a:srgbClr val="27AE60"/>
                </a:solidFill>
                <a:latin typeface="游ゴシック"/>
              </a:rPr>
              <a:t>本ツールで解決</a:t>
            </a:r>
          </a:p>
        </p:txBody>
      </p:sp>
      <p:sp>
        <p:nvSpPr>
          <p:cNvPr id="15" name="TextBox 14"/>
          <p:cNvSpPr txBox="1"/>
          <p:nvPr/>
        </p:nvSpPr>
        <p:spPr>
          <a:xfrm>
            <a:off x="6263640" y="3108960"/>
            <a:ext cx="5212080" cy="1920240"/>
          </a:xfrm>
          <a:prstGeom prst="rect">
            <a:avLst/>
          </a:prstGeom>
          <a:noFill/>
        </p:spPr>
        <p:txBody>
          <a:bodyPr wrap="square">
            <a:spAutoFit/>
          </a:bodyPr>
          <a:lstStyle/>
          <a:p>
            <a:pPr algn="l"/>
            <a:r>
              <a:rPr sz="1300" b="0" i="0">
                <a:solidFill>
                  <a:srgbClr val="1A1A2E"/>
                </a:solidFill>
                <a:latin typeface="游ゴシック"/>
              </a:rPr>
              <a:t>・MicroSD に自動 CSV 記録（手書き不要）</a:t>
            </a:r>
          </a:p>
          <a:p>
            <a:pPr algn="l"/>
            <a:r>
              <a:rPr sz="1300" b="0" i="0">
                <a:solidFill>
                  <a:srgbClr val="1A1A2E"/>
                </a:solidFill>
                <a:latin typeface="游ゴシック"/>
              </a:rPr>
              <a:t>・スタンドアロン動作（PC 不要）</a:t>
            </a:r>
          </a:p>
          <a:p>
            <a:pPr algn="l"/>
            <a:r>
              <a:rPr sz="1300" b="0" i="0">
                <a:solidFill>
                  <a:srgbClr val="1A1A2E"/>
                </a:solidFill>
                <a:latin typeface="游ゴシック"/>
              </a:rPr>
              <a:t>・LCD でリアルタイム確認 + アラーム通知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コストメリット — 自作 vs. 市販品</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1  プロジェクト概要</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4</a:t>
            </a:r>
          </a:p>
        </p:txBody>
      </p:sp>
      <p:sp>
        <p:nvSpPr>
          <p:cNvPr id="8" name="TextBox 7"/>
          <p:cNvSpPr txBox="1"/>
          <p:nvPr/>
        </p:nvSpPr>
        <p:spPr>
          <a:xfrm>
            <a:off x="320040" y="1005840"/>
            <a:ext cx="5303520" cy="365760"/>
          </a:xfrm>
          <a:prstGeom prst="rect">
            <a:avLst/>
          </a:prstGeom>
          <a:noFill/>
        </p:spPr>
        <p:txBody>
          <a:bodyPr wrap="square">
            <a:spAutoFit/>
          </a:bodyPr>
          <a:lstStyle/>
          <a:p>
            <a:pPr algn="l"/>
            <a:r>
              <a:rPr sz="1500" b="1" i="0">
                <a:solidFill>
                  <a:srgbClr val="0D477F"/>
                </a:solidFill>
                <a:latin typeface="游ゴシック"/>
              </a:rPr>
              <a:t>本ツール 品目別コスト</a:t>
            </a:r>
          </a:p>
        </p:txBody>
      </p:sp>
      <p:graphicFrame>
        <p:nvGraphicFramePr>
          <p:cNvPr id="9" name="Table 8"/>
          <p:cNvGraphicFramePr>
            <a:graphicFrameLocks noGrp="1"/>
          </p:cNvGraphicFramePr>
          <p:nvPr/>
        </p:nvGraphicFramePr>
        <p:xfrm>
          <a:off x="320040" y="1371600"/>
          <a:ext cx="5303520" cy="2926080"/>
        </p:xfrm>
        <a:graphic>
          <a:graphicData uri="http://schemas.openxmlformats.org/drawingml/2006/table">
            <a:tbl>
              <a:tblPr firstRow="1" bandRow="1">
                <a:tableStyleId>{5C22544A-7EE6-4342-B048-85BDC9FD1C3A}</a:tableStyleId>
              </a:tblPr>
              <a:tblGrid>
                <a:gridCol w="2468880"/>
                <a:gridCol w="1554480"/>
                <a:gridCol w="1280160"/>
              </a:tblGrid>
              <a:tr h="365760">
                <a:tc>
                  <a:txBody>
                    <a:bodyPr/>
                    <a:lstStyle/>
                    <a:p>
                      <a:pPr algn="l"/>
                      <a:r>
                        <a:rPr sz="1300" b="1">
                          <a:solidFill>
                            <a:srgbClr val="FFFFFF"/>
                          </a:solidFill>
                          <a:latin typeface="Segoe UI"/>
                        </a:rPr>
                        <a:t>部品</a:t>
                      </a:r>
                    </a:p>
                  </a:txBody>
                  <a:tcPr>
                    <a:solidFill>
                      <a:srgbClr val="0D477F"/>
                    </a:solidFill>
                  </a:tcPr>
                </a:tc>
                <a:tc>
                  <a:txBody>
                    <a:bodyPr/>
                    <a:lstStyle/>
                    <a:p>
                      <a:pPr algn="l"/>
                      <a:r>
                        <a:rPr sz="1300" b="1">
                          <a:solidFill>
                            <a:srgbClr val="FFFFFF"/>
                          </a:solidFill>
                          <a:latin typeface="Segoe UI"/>
                        </a:rPr>
                        <a:t>購入先</a:t>
                      </a:r>
                    </a:p>
                  </a:txBody>
                  <a:tcPr>
                    <a:solidFill>
                      <a:srgbClr val="0D477F"/>
                    </a:solidFill>
                  </a:tcPr>
                </a:tc>
                <a:tc>
                  <a:txBody>
                    <a:bodyPr/>
                    <a:lstStyle/>
                    <a:p>
                      <a:pPr algn="l"/>
                      <a:r>
                        <a:rPr sz="1300" b="1">
                          <a:solidFill>
                            <a:srgbClr val="FFFFFF"/>
                          </a:solidFill>
                          <a:latin typeface="Segoe UI"/>
                        </a:rPr>
                        <a:t>価格（税込）</a:t>
                      </a:r>
                    </a:p>
                  </a:txBody>
                  <a:tcPr>
                    <a:solidFill>
                      <a:srgbClr val="0D477F"/>
                    </a:solidFill>
                  </a:tcPr>
                </a:tc>
              </a:tr>
              <a:tr h="365760">
                <a:tc>
                  <a:txBody>
                    <a:bodyPr/>
                    <a:lstStyle/>
                    <a:p>
                      <a:pPr algn="l"/>
                      <a:r>
                        <a:rPr sz="1200" b="0">
                          <a:solidFill>
                            <a:srgbClr val="1A1A2E"/>
                          </a:solidFill>
                          <a:latin typeface="游ゴシック"/>
                        </a:rPr>
                        <a:t>M5Stack Basic V2.7</a:t>
                      </a:r>
                    </a:p>
                  </a:txBody>
                  <a:tcPr>
                    <a:solidFill>
                      <a:srgbClr val="FFFFFF"/>
                    </a:solidFill>
                  </a:tcPr>
                </a:tc>
                <a:tc>
                  <a:txBody>
                    <a:bodyPr/>
                    <a:lstStyle/>
                    <a:p>
                      <a:pPr algn="l"/>
                      <a:r>
                        <a:rPr sz="1200" b="0">
                          <a:solidFill>
                            <a:srgbClr val="1A1A2E"/>
                          </a:solidFill>
                          <a:latin typeface="游ゴシック"/>
                        </a:rPr>
                        <a:t>Amazon</a:t>
                      </a:r>
                    </a:p>
                  </a:txBody>
                  <a:tcPr>
                    <a:solidFill>
                      <a:srgbClr val="FFFFFF"/>
                    </a:solidFill>
                  </a:tcPr>
                </a:tc>
                <a:tc>
                  <a:txBody>
                    <a:bodyPr/>
                    <a:lstStyle/>
                    <a:p>
                      <a:pPr algn="l"/>
                      <a:r>
                        <a:rPr sz="1200" b="0">
                          <a:solidFill>
                            <a:srgbClr val="1A1A2E"/>
                          </a:solidFill>
                          <a:latin typeface="游ゴシック"/>
                        </a:rPr>
                        <a:t>¥7,990</a:t>
                      </a:r>
                    </a:p>
                  </a:txBody>
                  <a:tcPr>
                    <a:solidFill>
                      <a:srgbClr val="FFFFFF"/>
                    </a:solidFill>
                  </a:tcPr>
                </a:tc>
              </a:tr>
              <a:tr h="365760">
                <a:tc>
                  <a:txBody>
                    <a:bodyPr/>
                    <a:lstStyle/>
                    <a:p>
                      <a:pPr algn="l"/>
                      <a:r>
                        <a:rPr sz="1200" b="0">
                          <a:solidFill>
                            <a:srgbClr val="1A1A2E"/>
                          </a:solidFill>
                          <a:latin typeface="游ゴシック"/>
                        </a:rPr>
                        <a:t>M5Stack Proto Module</a:t>
                      </a:r>
                    </a:p>
                  </a:txBody>
                  <a:tcPr>
                    <a:solidFill>
                      <a:srgbClr val="F4F4F4"/>
                    </a:solidFill>
                  </a:tcPr>
                </a:tc>
                <a:tc>
                  <a:txBody>
                    <a:bodyPr/>
                    <a:lstStyle/>
                    <a:p>
                      <a:pPr algn="l"/>
                      <a:r>
                        <a:rPr sz="1200" b="0">
                          <a:solidFill>
                            <a:srgbClr val="1A1A2E"/>
                          </a:solidFill>
                          <a:latin typeface="游ゴシック"/>
                        </a:rPr>
                        <a:t>Amazon</a:t>
                      </a:r>
                    </a:p>
                  </a:txBody>
                  <a:tcPr>
                    <a:solidFill>
                      <a:srgbClr val="F4F4F4"/>
                    </a:solidFill>
                  </a:tcPr>
                </a:tc>
                <a:tc>
                  <a:txBody>
                    <a:bodyPr/>
                    <a:lstStyle/>
                    <a:p>
                      <a:pPr algn="l"/>
                      <a:r>
                        <a:rPr sz="1200" b="0">
                          <a:solidFill>
                            <a:srgbClr val="1A1A2E"/>
                          </a:solidFill>
                          <a:latin typeface="游ゴシック"/>
                        </a:rPr>
                        <a:t>¥1,198</a:t>
                      </a:r>
                    </a:p>
                  </a:txBody>
                  <a:tcPr>
                    <a:solidFill>
                      <a:srgbClr val="F4F4F4"/>
                    </a:solidFill>
                  </a:tcPr>
                </a:tc>
              </a:tr>
              <a:tr h="365760">
                <a:tc>
                  <a:txBody>
                    <a:bodyPr/>
                    <a:lstStyle/>
                    <a:p>
                      <a:pPr algn="l"/>
                      <a:r>
                        <a:rPr sz="1200" b="0">
                          <a:solidFill>
                            <a:srgbClr val="1A1A2E"/>
                          </a:solidFill>
                          <a:latin typeface="游ゴシック"/>
                        </a:rPr>
                        <a:t>MAX31855 モジュール</a:t>
                      </a:r>
                    </a:p>
                  </a:txBody>
                  <a:tcPr>
                    <a:solidFill>
                      <a:srgbClr val="FFFFFF"/>
                    </a:solidFill>
                  </a:tcPr>
                </a:tc>
                <a:tc>
                  <a:txBody>
                    <a:bodyPr/>
                    <a:lstStyle/>
                    <a:p>
                      <a:pPr algn="l"/>
                      <a:r>
                        <a:rPr sz="1200" b="0">
                          <a:solidFill>
                            <a:srgbClr val="1A1A2E"/>
                          </a:solidFill>
                          <a:latin typeface="游ゴシック"/>
                        </a:rPr>
                        <a:t>Amazon</a:t>
                      </a:r>
                    </a:p>
                  </a:txBody>
                  <a:tcPr>
                    <a:solidFill>
                      <a:srgbClr val="FFFFFF"/>
                    </a:solidFill>
                  </a:tcPr>
                </a:tc>
                <a:tc>
                  <a:txBody>
                    <a:bodyPr/>
                    <a:lstStyle/>
                    <a:p>
                      <a:pPr algn="l"/>
                      <a:r>
                        <a:rPr sz="1200" b="0">
                          <a:solidFill>
                            <a:srgbClr val="1A1A2E"/>
                          </a:solidFill>
                          <a:latin typeface="游ゴシック"/>
                        </a:rPr>
                        <a:t>¥904</a:t>
                      </a:r>
                    </a:p>
                  </a:txBody>
                  <a:tcPr>
                    <a:solidFill>
                      <a:srgbClr val="FFFFFF"/>
                    </a:solidFill>
                  </a:tcPr>
                </a:tc>
              </a:tr>
              <a:tr h="365760">
                <a:tc>
                  <a:txBody>
                    <a:bodyPr/>
                    <a:lstStyle/>
                    <a:p>
                      <a:pPr algn="l"/>
                      <a:r>
                        <a:rPr sz="1200" b="0">
                          <a:solidFill>
                            <a:srgbClr val="1A1A2E"/>
                          </a:solidFill>
                          <a:latin typeface="游ゴシック"/>
                        </a:rPr>
                        <a:t>K型熱電対 600℃対応</a:t>
                      </a:r>
                    </a:p>
                  </a:txBody>
                  <a:tcPr>
                    <a:solidFill>
                      <a:srgbClr val="F4F4F4"/>
                    </a:solidFill>
                  </a:tcPr>
                </a:tc>
                <a:tc>
                  <a:txBody>
                    <a:bodyPr/>
                    <a:lstStyle/>
                    <a:p>
                      <a:pPr algn="l"/>
                      <a:r>
                        <a:rPr sz="1200" b="0">
                          <a:solidFill>
                            <a:srgbClr val="1A1A2E"/>
                          </a:solidFill>
                          <a:latin typeface="游ゴシック"/>
                        </a:rPr>
                        <a:t>MISUMI</a:t>
                      </a:r>
                    </a:p>
                  </a:txBody>
                  <a:tcPr>
                    <a:solidFill>
                      <a:srgbClr val="F4F4F4"/>
                    </a:solidFill>
                  </a:tcPr>
                </a:tc>
                <a:tc>
                  <a:txBody>
                    <a:bodyPr/>
                    <a:lstStyle/>
                    <a:p>
                      <a:pPr algn="l"/>
                      <a:r>
                        <a:rPr sz="1200" b="0">
                          <a:solidFill>
                            <a:srgbClr val="1A1A2E"/>
                          </a:solidFill>
                          <a:latin typeface="游ゴシック"/>
                        </a:rPr>
                        <a:t>¥5,290</a:t>
                      </a:r>
                    </a:p>
                  </a:txBody>
                  <a:tcPr>
                    <a:solidFill>
                      <a:srgbClr val="F4F4F4"/>
                    </a:solidFill>
                  </a:tcPr>
                </a:tc>
              </a:tr>
              <a:tr h="365760">
                <a:tc>
                  <a:txBody>
                    <a:bodyPr/>
                    <a:lstStyle/>
                    <a:p>
                      <a:pPr algn="l"/>
                      <a:r>
                        <a:rPr sz="1200" b="0">
                          <a:solidFill>
                            <a:srgbClr val="1A1A2E"/>
                          </a:solidFill>
                          <a:latin typeface="游ゴシック"/>
                        </a:rPr>
                        <a:t>ジャンパワイヤ（オス-メス）</a:t>
                      </a:r>
                    </a:p>
                  </a:txBody>
                  <a:tcPr>
                    <a:solidFill>
                      <a:srgbClr val="FFFFFF"/>
                    </a:solidFill>
                  </a:tcPr>
                </a:tc>
                <a:tc>
                  <a:txBody>
                    <a:bodyPr/>
                    <a:lstStyle/>
                    <a:p>
                      <a:pPr algn="l"/>
                      <a:r>
                        <a:rPr sz="1200" b="0">
                          <a:solidFill>
                            <a:srgbClr val="1A1A2E"/>
                          </a:solidFill>
                          <a:latin typeface="游ゴシック"/>
                        </a:rPr>
                        <a:t>Amazon</a:t>
                      </a:r>
                    </a:p>
                  </a:txBody>
                  <a:tcPr>
                    <a:solidFill>
                      <a:srgbClr val="FFFFFF"/>
                    </a:solidFill>
                  </a:tcPr>
                </a:tc>
                <a:tc>
                  <a:txBody>
                    <a:bodyPr/>
                    <a:lstStyle/>
                    <a:p>
                      <a:pPr algn="l"/>
                      <a:r>
                        <a:rPr sz="1200" b="0">
                          <a:solidFill>
                            <a:srgbClr val="1A1A2E"/>
                          </a:solidFill>
                          <a:latin typeface="游ゴシック"/>
                        </a:rPr>
                        <a:t>¥700</a:t>
                      </a:r>
                    </a:p>
                  </a:txBody>
                  <a:tcPr>
                    <a:solidFill>
                      <a:srgbClr val="FFFFFF"/>
                    </a:solidFill>
                  </a:tcPr>
                </a:tc>
              </a:tr>
              <a:tr h="365760">
                <a:tc>
                  <a:txBody>
                    <a:bodyPr/>
                    <a:lstStyle/>
                    <a:p>
                      <a:pPr algn="l"/>
                      <a:r>
                        <a:rPr sz="1200" b="0">
                          <a:solidFill>
                            <a:srgbClr val="1A1A2E"/>
                          </a:solidFill>
                          <a:latin typeface="游ゴシック"/>
                        </a:rPr>
                        <a:t>MicroSD カード</a:t>
                      </a:r>
                    </a:p>
                  </a:txBody>
                  <a:tcPr>
                    <a:solidFill>
                      <a:srgbClr val="F4F4F4"/>
                    </a:solidFill>
                  </a:tcPr>
                </a:tc>
                <a:tc>
                  <a:txBody>
                    <a:bodyPr/>
                    <a:lstStyle/>
                    <a:p>
                      <a:pPr algn="l"/>
                      <a:r>
                        <a:rPr sz="1200" b="0">
                          <a:solidFill>
                            <a:srgbClr val="1A1A2E"/>
                          </a:solidFill>
                          <a:latin typeface="游ゴシック"/>
                        </a:rPr>
                        <a:t>Amazon</a:t>
                      </a:r>
                    </a:p>
                  </a:txBody>
                  <a:tcPr>
                    <a:solidFill>
                      <a:srgbClr val="F4F4F4"/>
                    </a:solidFill>
                  </a:tcPr>
                </a:tc>
                <a:tc>
                  <a:txBody>
                    <a:bodyPr/>
                    <a:lstStyle/>
                    <a:p>
                      <a:pPr algn="l"/>
                      <a:r>
                        <a:rPr sz="1200" b="0">
                          <a:solidFill>
                            <a:srgbClr val="1A1A2E"/>
                          </a:solidFill>
                          <a:latin typeface="游ゴシック"/>
                        </a:rPr>
                        <a:t>〜¥1,000</a:t>
                      </a:r>
                    </a:p>
                  </a:txBody>
                  <a:tcPr>
                    <a:solidFill>
                      <a:srgbClr val="F4F4F4"/>
                    </a:solidFill>
                  </a:tcPr>
                </a:tc>
              </a:tr>
              <a:tr h="365760">
                <a:tc>
                  <a:txBody>
                    <a:bodyPr/>
                    <a:lstStyle/>
                    <a:p>
                      <a:pPr algn="l"/>
                      <a:r>
                        <a:rPr sz="1200" b="1">
                          <a:solidFill>
                            <a:srgbClr val="FFFFFF"/>
                          </a:solidFill>
                          <a:latin typeface="游ゴシック"/>
                        </a:rPr>
                        <a:t>合計</a:t>
                      </a:r>
                    </a:p>
                  </a:txBody>
                  <a:tcPr>
                    <a:solidFill>
                      <a:srgbClr val="FF6D00"/>
                    </a:solidFill>
                  </a:tcPr>
                </a:tc>
                <a:tc>
                  <a:txBody>
                    <a:bodyPr/>
                    <a:lstStyle/>
                    <a:p>
                      <a:pPr algn="l"/>
                      <a:r>
                        <a:rPr sz="1200" b="1">
                          <a:solidFill>
                            <a:srgbClr val="FFFFFF"/>
                          </a:solidFill>
                          <a:latin typeface="游ゴシック"/>
                        </a:rPr>
                        <a:t>—</a:t>
                      </a:r>
                    </a:p>
                  </a:txBody>
                  <a:tcPr>
                    <a:solidFill>
                      <a:srgbClr val="FF6D00"/>
                    </a:solidFill>
                  </a:tcPr>
                </a:tc>
                <a:tc>
                  <a:txBody>
                    <a:bodyPr/>
                    <a:lstStyle/>
                    <a:p>
                      <a:pPr algn="l"/>
                      <a:r>
                        <a:rPr sz="1200" b="1">
                          <a:solidFill>
                            <a:srgbClr val="FFFFFF"/>
                          </a:solidFill>
                          <a:latin typeface="游ゴシック"/>
                        </a:rPr>
                        <a:t>約¥17,082</a:t>
                      </a:r>
                    </a:p>
                  </a:txBody>
                  <a:tcPr>
                    <a:solidFill>
                      <a:srgbClr val="FF6D00"/>
                    </a:solidFill>
                  </a:tcPr>
                </a:tc>
              </a:tr>
            </a:tbl>
          </a:graphicData>
        </a:graphic>
      </p:graphicFrame>
      <p:sp>
        <p:nvSpPr>
          <p:cNvPr id="10" name="TextBox 9"/>
          <p:cNvSpPr txBox="1"/>
          <p:nvPr/>
        </p:nvSpPr>
        <p:spPr>
          <a:xfrm>
            <a:off x="5943600" y="1005840"/>
            <a:ext cx="5925312" cy="365760"/>
          </a:xfrm>
          <a:prstGeom prst="rect">
            <a:avLst/>
          </a:prstGeom>
          <a:noFill/>
        </p:spPr>
        <p:txBody>
          <a:bodyPr wrap="square">
            <a:spAutoFit/>
          </a:bodyPr>
          <a:lstStyle/>
          <a:p>
            <a:pPr algn="l"/>
            <a:r>
              <a:rPr sz="1500" b="1" i="0">
                <a:solidFill>
                  <a:srgbClr val="0D477F"/>
                </a:solidFill>
                <a:latin typeface="游ゴシック"/>
              </a:rPr>
              <a:t>同等機能の産業用ロガーとの機能・価格比較</a:t>
            </a:r>
          </a:p>
        </p:txBody>
      </p:sp>
      <p:graphicFrame>
        <p:nvGraphicFramePr>
          <p:cNvPr id="11" name="Table 10"/>
          <p:cNvGraphicFramePr>
            <a:graphicFrameLocks noGrp="1"/>
          </p:cNvGraphicFramePr>
          <p:nvPr/>
        </p:nvGraphicFramePr>
        <p:xfrm>
          <a:off x="5943600" y="1371600"/>
          <a:ext cx="5943600" cy="2560320"/>
        </p:xfrm>
        <a:graphic>
          <a:graphicData uri="http://schemas.openxmlformats.org/drawingml/2006/table">
            <a:tbl>
              <a:tblPr firstRow="1" bandRow="1">
                <a:tableStyleId>{5C22544A-7EE6-4342-B048-85BDC9FD1C3A}</a:tableStyleId>
              </a:tblPr>
              <a:tblGrid>
                <a:gridCol w="3108960"/>
                <a:gridCol w="1097280"/>
                <a:gridCol w="1737360"/>
              </a:tblGrid>
              <a:tr h="365760">
                <a:tc>
                  <a:txBody>
                    <a:bodyPr/>
                    <a:lstStyle/>
                    <a:p>
                      <a:pPr algn="l"/>
                      <a:r>
                        <a:rPr sz="1300" b="1">
                          <a:solidFill>
                            <a:srgbClr val="FFFFFF"/>
                          </a:solidFill>
                          <a:latin typeface="Segoe UI"/>
                        </a:rPr>
                        <a:t>機能</a:t>
                      </a:r>
                    </a:p>
                  </a:txBody>
                  <a:tcPr>
                    <a:solidFill>
                      <a:srgbClr val="0D477F"/>
                    </a:solidFill>
                  </a:tcPr>
                </a:tc>
                <a:tc>
                  <a:txBody>
                    <a:bodyPr/>
                    <a:lstStyle/>
                    <a:p>
                      <a:pPr algn="l"/>
                      <a:r>
                        <a:rPr sz="1300" b="1">
                          <a:solidFill>
                            <a:srgbClr val="FFFFFF"/>
                          </a:solidFill>
                          <a:latin typeface="Segoe UI"/>
                        </a:rPr>
                        <a:t>本ツール</a:t>
                      </a:r>
                    </a:p>
                  </a:txBody>
                  <a:tcPr>
                    <a:solidFill>
                      <a:srgbClr val="0D477F"/>
                    </a:solidFill>
                  </a:tcPr>
                </a:tc>
                <a:tc>
                  <a:txBody>
                    <a:bodyPr/>
                    <a:lstStyle/>
                    <a:p>
                      <a:pPr algn="l"/>
                      <a:r>
                        <a:rPr sz="1300" b="1">
                          <a:solidFill>
                            <a:srgbClr val="FFFFFF"/>
                          </a:solidFill>
                          <a:latin typeface="Segoe UI"/>
                        </a:rPr>
                        <a:t>産業用ロガー</a:t>
                      </a:r>
                    </a:p>
                  </a:txBody>
                  <a:tcPr>
                    <a:solidFill>
                      <a:srgbClr val="0D477F"/>
                    </a:solidFill>
                  </a:tcPr>
                </a:tc>
              </a:tr>
              <a:tr h="365760">
                <a:tc>
                  <a:txBody>
                    <a:bodyPr/>
                    <a:lstStyle/>
                    <a:p>
                      <a:pPr algn="l"/>
                      <a:r>
                        <a:rPr sz="1200" b="0">
                          <a:solidFill>
                            <a:srgbClr val="1A1A2E"/>
                          </a:solidFill>
                          <a:latin typeface="游ゴシック"/>
                        </a:rPr>
                        <a:t>K型熱電対 計測</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r>
              <a:tr h="365760">
                <a:tc>
                  <a:txBody>
                    <a:bodyPr/>
                    <a:lstStyle/>
                    <a:p>
                      <a:pPr algn="l"/>
                      <a:r>
                        <a:rPr sz="1200" b="0">
                          <a:solidFill>
                            <a:srgbClr val="1A1A2E"/>
                          </a:solidFill>
                          <a:latin typeface="游ゴシック"/>
                        </a:rPr>
                        <a:t>スタンドアロン動作 (PC 不要)</a:t>
                      </a:r>
                    </a:p>
                  </a:txBody>
                  <a:tcPr>
                    <a:solidFill>
                      <a:srgbClr val="F4F4F4"/>
                    </a:solidFill>
                  </a:tcPr>
                </a:tc>
                <a:tc>
                  <a:txBody>
                    <a:bodyPr/>
                    <a:lstStyle/>
                    <a:p>
                      <a:pPr algn="l"/>
                      <a:r>
                        <a:rPr sz="1200" b="0">
                          <a:solidFill>
                            <a:srgbClr val="1A1A2E"/>
                          </a:solidFill>
                          <a:latin typeface="游ゴシック"/>
                        </a:rPr>
                        <a:t>✓</a:t>
                      </a:r>
                    </a:p>
                  </a:txBody>
                  <a:tcPr>
                    <a:solidFill>
                      <a:srgbClr val="F4F4F4"/>
                    </a:solidFill>
                  </a:tcPr>
                </a:tc>
                <a:tc>
                  <a:txBody>
                    <a:bodyPr/>
                    <a:lstStyle/>
                    <a:p>
                      <a:pPr algn="l"/>
                      <a:r>
                        <a:rPr sz="1200" b="0">
                          <a:solidFill>
                            <a:srgbClr val="1A1A2E"/>
                          </a:solidFill>
                          <a:latin typeface="游ゴシック"/>
                        </a:rPr>
                        <a:t>✓</a:t>
                      </a:r>
                    </a:p>
                  </a:txBody>
                  <a:tcPr>
                    <a:solidFill>
                      <a:srgbClr val="F4F4F4"/>
                    </a:solidFill>
                  </a:tcPr>
                </a:tc>
              </a:tr>
              <a:tr h="365760">
                <a:tc>
                  <a:txBody>
                    <a:bodyPr/>
                    <a:lstStyle/>
                    <a:p>
                      <a:pPr algn="l"/>
                      <a:r>
                        <a:rPr sz="1200" b="0">
                          <a:solidFill>
                            <a:srgbClr val="1A1A2E"/>
                          </a:solidFill>
                          <a:latin typeface="游ゴシック"/>
                        </a:rPr>
                        <a:t>LCD リアルタイム表示</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r>
              <a:tr h="365760">
                <a:tc>
                  <a:txBody>
                    <a:bodyPr/>
                    <a:lstStyle/>
                    <a:p>
                      <a:pPr algn="l"/>
                      <a:r>
                        <a:rPr sz="1200" b="0">
                          <a:solidFill>
                            <a:srgbClr val="1A1A2E"/>
                          </a:solidFill>
                          <a:latin typeface="游ゴシック"/>
                        </a:rPr>
                        <a:t>上下限アラーム</a:t>
                      </a:r>
                    </a:p>
                  </a:txBody>
                  <a:tcPr>
                    <a:solidFill>
                      <a:srgbClr val="F4F4F4"/>
                    </a:solidFill>
                  </a:tcPr>
                </a:tc>
                <a:tc>
                  <a:txBody>
                    <a:bodyPr/>
                    <a:lstStyle/>
                    <a:p>
                      <a:pPr algn="l"/>
                      <a:r>
                        <a:rPr sz="1200" b="0">
                          <a:solidFill>
                            <a:srgbClr val="1A1A2E"/>
                          </a:solidFill>
                          <a:latin typeface="游ゴシック"/>
                        </a:rPr>
                        <a:t>✓</a:t>
                      </a:r>
                    </a:p>
                  </a:txBody>
                  <a:tcPr>
                    <a:solidFill>
                      <a:srgbClr val="F4F4F4"/>
                    </a:solidFill>
                  </a:tcPr>
                </a:tc>
                <a:tc>
                  <a:txBody>
                    <a:bodyPr/>
                    <a:lstStyle/>
                    <a:p>
                      <a:pPr algn="l"/>
                      <a:r>
                        <a:rPr sz="1200" b="0">
                          <a:solidFill>
                            <a:srgbClr val="1A1A2E"/>
                          </a:solidFill>
                          <a:latin typeface="游ゴシック"/>
                        </a:rPr>
                        <a:t>✓</a:t>
                      </a:r>
                    </a:p>
                  </a:txBody>
                  <a:tcPr>
                    <a:solidFill>
                      <a:srgbClr val="F4F4F4"/>
                    </a:solidFill>
                  </a:tcPr>
                </a:tc>
              </a:tr>
              <a:tr h="365760">
                <a:tc>
                  <a:txBody>
                    <a:bodyPr/>
                    <a:lstStyle/>
                    <a:p>
                      <a:pPr algn="l"/>
                      <a:r>
                        <a:rPr sz="1200" b="0">
                          <a:solidFill>
                            <a:srgbClr val="1A1A2E"/>
                          </a:solidFill>
                          <a:latin typeface="游ゴシック"/>
                        </a:rPr>
                        <a:t>SD カード記録 (CSV)</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r>
              <a:tr h="365760">
                <a:tc>
                  <a:txBody>
                    <a:bodyPr/>
                    <a:lstStyle/>
                    <a:p>
                      <a:pPr algn="l"/>
                      <a:r>
                        <a:rPr sz="1200" b="1">
                          <a:solidFill>
                            <a:srgbClr val="FFFFFF"/>
                          </a:solidFill>
                          <a:latin typeface="游ゴシック"/>
                        </a:rPr>
                        <a:t>価格</a:t>
                      </a:r>
                    </a:p>
                  </a:txBody>
                  <a:tcPr>
                    <a:solidFill>
                      <a:srgbClr val="0D477F"/>
                    </a:solidFill>
                  </a:tcPr>
                </a:tc>
                <a:tc>
                  <a:txBody>
                    <a:bodyPr/>
                    <a:lstStyle/>
                    <a:p>
                      <a:pPr algn="l"/>
                      <a:r>
                        <a:rPr sz="1200" b="1">
                          <a:solidFill>
                            <a:srgbClr val="FFFFFF"/>
                          </a:solidFill>
                          <a:latin typeface="游ゴシック"/>
                        </a:rPr>
                        <a:t>約¥17,082</a:t>
                      </a:r>
                    </a:p>
                  </a:txBody>
                  <a:tcPr>
                    <a:solidFill>
                      <a:srgbClr val="0D477F"/>
                    </a:solidFill>
                  </a:tcPr>
                </a:tc>
                <a:tc>
                  <a:txBody>
                    <a:bodyPr/>
                    <a:lstStyle/>
                    <a:p>
                      <a:pPr algn="l"/>
                      <a:r>
                        <a:rPr sz="1200" b="1">
                          <a:solidFill>
                            <a:srgbClr val="FFFFFF"/>
                          </a:solidFill>
                          <a:latin typeface="游ゴシック"/>
                        </a:rPr>
                        <a:t>¥80,000〜¥200,000+</a:t>
                      </a:r>
                    </a:p>
                  </a:txBody>
                  <a:tcPr>
                    <a:solidFill>
                      <a:srgbClr val="0D477F"/>
                    </a:solidFill>
                  </a:tcPr>
                </a:tc>
              </a:tr>
            </a:tbl>
          </a:graphicData>
        </a:graphic>
      </p:graphicFrame>
      <p:sp>
        <p:nvSpPr>
          <p:cNvPr id="12" name="Rectangle 11"/>
          <p:cNvSpPr/>
          <p:nvPr/>
        </p:nvSpPr>
        <p:spPr>
          <a:xfrm>
            <a:off x="320040" y="4434840"/>
            <a:ext cx="1154887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507992"/>
            <a:ext cx="11247120" cy="438912"/>
          </a:xfrm>
          <a:prstGeom prst="rect">
            <a:avLst/>
          </a:prstGeom>
          <a:noFill/>
        </p:spPr>
        <p:txBody>
          <a:bodyPr wrap="square">
            <a:spAutoFit/>
          </a:bodyPr>
          <a:lstStyle/>
          <a:p>
            <a:pPr algn="ctr"/>
            <a:r>
              <a:rPr sz="2000" b="1" i="0">
                <a:solidFill>
                  <a:srgbClr val="FFFFFF"/>
                </a:solidFill>
                <a:latin typeface="游ゴシック"/>
              </a:rPr>
              <a:t>同等機能の産業用ロガーと比べて 約 1/5 〜 1/12 のコストで実現</a:t>
            </a:r>
          </a:p>
        </p:txBody>
      </p:sp>
      <p:sp>
        <p:nvSpPr>
          <p:cNvPr id="14" name="TextBox 13"/>
          <p:cNvSpPr txBox="1"/>
          <p:nvPr/>
        </p:nvSpPr>
        <p:spPr>
          <a:xfrm>
            <a:off x="457200" y="4956047"/>
            <a:ext cx="11247120" cy="347472"/>
          </a:xfrm>
          <a:prstGeom prst="rect">
            <a:avLst/>
          </a:prstGeom>
          <a:noFill/>
        </p:spPr>
        <p:txBody>
          <a:bodyPr wrap="square">
            <a:spAutoFit/>
          </a:bodyPr>
          <a:lstStyle/>
          <a:p>
            <a:pPr algn="ctr"/>
            <a:r>
              <a:rPr sz="1300" b="0" i="0">
                <a:solidFill>
                  <a:srgbClr val="FF6D00"/>
                </a:solidFill>
                <a:latin typeface="游ゴシック"/>
              </a:rPr>
              <a:t>本ツール 約¥17,082 vs 産業用ロガー ¥80,000〜 → 最大 ¥60,000 以上削減</a:t>
            </a:r>
          </a:p>
        </p:txBody>
      </p:sp>
      <p:sp>
        <p:nvSpPr>
          <p:cNvPr id="15" name="Rectangle 14"/>
          <p:cNvSpPr/>
          <p:nvPr/>
        </p:nvSpPr>
        <p:spPr>
          <a:xfrm>
            <a:off x="320040" y="5394960"/>
            <a:ext cx="11548872" cy="6858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458968"/>
            <a:ext cx="11155680" cy="566928"/>
          </a:xfrm>
          <a:prstGeom prst="rect">
            <a:avLst/>
          </a:prstGeom>
          <a:noFill/>
        </p:spPr>
        <p:txBody>
          <a:bodyPr wrap="square">
            <a:spAutoFit/>
          </a:bodyPr>
          <a:lstStyle/>
          <a:p>
            <a:pPr algn="ctr"/>
            <a:r>
              <a:rPr sz="1200" b="0" i="0">
                <a:solidFill>
                  <a:srgbClr val="1A1A2E"/>
                </a:solidFill>
                <a:latin typeface="游ゴシック"/>
              </a:rPr>
              <a:t>✓ SD 自動記録  ✓ LCD リアルタイム表示  ✓ 上下限アラーム（ビープ音）</a:t>
            </a:r>
          </a:p>
          <a:p>
            <a:pPr algn="ctr"/>
            <a:r>
              <a:rPr sz="1200" b="0" i="0">
                <a:solidFill>
                  <a:srgbClr val="1A1A2E"/>
                </a:solidFill>
                <a:latin typeface="游ゴシック"/>
              </a:rPr>
              <a:t>✓ スタンドアロン動作  ✓ EEPROM 設定保存  ✓ 統計解析（平均・σ・Max/Min）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システム全体像</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1  プロジェクト概要</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5</a:t>
            </a:r>
          </a:p>
        </p:txBody>
      </p:sp>
      <p:sp>
        <p:nvSpPr>
          <p:cNvPr id="8" name="Rectangle 7"/>
          <p:cNvSpPr/>
          <p:nvPr/>
        </p:nvSpPr>
        <p:spPr>
          <a:xfrm>
            <a:off x="320040" y="1051560"/>
            <a:ext cx="3200400" cy="50292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43000"/>
            <a:ext cx="3017520" cy="365760"/>
          </a:xfrm>
          <a:prstGeom prst="rect">
            <a:avLst/>
          </a:prstGeom>
          <a:noFill/>
        </p:spPr>
        <p:txBody>
          <a:bodyPr wrap="square">
            <a:spAutoFit/>
          </a:bodyPr>
          <a:lstStyle/>
          <a:p>
            <a:pPr algn="l"/>
            <a:r>
              <a:rPr sz="1400" b="1" i="0">
                <a:solidFill>
                  <a:srgbClr val="0D477F"/>
                </a:solidFill>
                <a:latin typeface="游ゴシック"/>
              </a:rPr>
              <a:t>入力</a:t>
            </a:r>
          </a:p>
        </p:txBody>
      </p:sp>
      <p:sp>
        <p:nvSpPr>
          <p:cNvPr id="10" name="TextBox 9"/>
          <p:cNvSpPr txBox="1"/>
          <p:nvPr/>
        </p:nvSpPr>
        <p:spPr>
          <a:xfrm>
            <a:off x="457200" y="1600200"/>
            <a:ext cx="2926080" cy="4206240"/>
          </a:xfrm>
          <a:prstGeom prst="rect">
            <a:avLst/>
          </a:prstGeom>
          <a:noFill/>
        </p:spPr>
        <p:txBody>
          <a:bodyPr wrap="square">
            <a:spAutoFit/>
          </a:bodyPr>
          <a:lstStyle/>
          <a:p>
            <a:pPr algn="ctr"/>
            <a:r>
              <a:rPr sz="1300" b="0" i="0">
                <a:solidFill>
                  <a:srgbClr val="1A1A2E"/>
                </a:solidFill>
                <a:latin typeface="游ゴシック"/>
              </a:rPr>
              <a:t>K型熱電対</a:t>
            </a:r>
          </a:p>
          <a:p>
            <a:pPr algn="ctr"/>
            <a:r>
              <a:rPr sz="1300" b="0" i="0">
                <a:solidFill>
                  <a:srgbClr val="1A1A2E"/>
                </a:solidFill>
                <a:latin typeface="游ゴシック"/>
              </a:rPr>
              <a:t>↓</a:t>
            </a:r>
          </a:p>
          <a:p>
            <a:pPr algn="ctr"/>
            <a:r>
              <a:rPr sz="1300" b="0" i="0">
                <a:solidFill>
                  <a:srgbClr val="1A1A2E"/>
                </a:solidFill>
                <a:latin typeface="游ゴシック"/>
              </a:rPr>
              <a:t>MAX31855</a:t>
            </a:r>
          </a:p>
          <a:p>
            <a:pPr algn="ctr"/>
            <a:r>
              <a:rPr sz="1300" b="0" i="0">
                <a:solidFill>
                  <a:srgbClr val="1A1A2E"/>
                </a:solidFill>
                <a:latin typeface="游ゴシック"/>
              </a:rPr>
              <a:t>↓</a:t>
            </a:r>
          </a:p>
          <a:p>
            <a:pPr algn="ctr"/>
            <a:r>
              <a:rPr sz="1300" b="0" i="0">
                <a:solidFill>
                  <a:srgbClr val="1A1A2E"/>
                </a:solidFill>
                <a:latin typeface="游ゴシック"/>
              </a:rPr>
              <a:t>GPIO5 (CS)</a:t>
            </a:r>
          </a:p>
          <a:p>
            <a:pPr algn="ctr"/>
            <a:r>
              <a:rPr sz="1300" b="0" i="0">
                <a:solidFill>
                  <a:srgbClr val="1A1A2E"/>
                </a:solidFill>
                <a:latin typeface="游ゴシック"/>
              </a:rPr>
              <a:t/>
            </a:r>
          </a:p>
          <a:p>
            <a:pPr algn="ctr"/>
            <a:r>
              <a:rPr sz="1300" b="0" i="0">
                <a:solidFill>
                  <a:srgbClr val="1A1A2E"/>
                </a:solidFill>
                <a:latin typeface="游ゴシック"/>
              </a:rPr>
              <a:t>電源:</a:t>
            </a:r>
          </a:p>
          <a:p>
            <a:pPr algn="ctr"/>
            <a:r>
              <a:rPr sz="1300" b="0" i="0">
                <a:solidFill>
                  <a:srgbClr val="1A1A2E"/>
                </a:solidFill>
                <a:latin typeface="游ゴシック"/>
              </a:rPr>
              <a:t>USB-C or</a:t>
            </a:r>
          </a:p>
          <a:p>
            <a:pPr algn="ctr"/>
            <a:r>
              <a:rPr sz="1300" b="0" i="0">
                <a:solidFill>
                  <a:srgbClr val="1A1A2E"/>
                </a:solidFill>
                <a:latin typeface="游ゴシック"/>
              </a:rPr>
              <a:t>バッテリー</a:t>
            </a:r>
          </a:p>
        </p:txBody>
      </p:sp>
      <p:sp>
        <p:nvSpPr>
          <p:cNvPr id="11" name="TextBox 10"/>
          <p:cNvSpPr txBox="1"/>
          <p:nvPr/>
        </p:nvSpPr>
        <p:spPr>
          <a:xfrm>
            <a:off x="3566160" y="3200400"/>
            <a:ext cx="228600" cy="457200"/>
          </a:xfrm>
          <a:prstGeom prst="rect">
            <a:avLst/>
          </a:prstGeom>
          <a:noFill/>
        </p:spPr>
        <p:txBody>
          <a:bodyPr wrap="square">
            <a:spAutoFit/>
          </a:bodyPr>
          <a:lstStyle/>
          <a:p>
            <a:pPr algn="ctr"/>
            <a:r>
              <a:rPr sz="2400" b="0" i="0">
                <a:solidFill>
                  <a:srgbClr val="FF6D00"/>
                </a:solidFill>
                <a:latin typeface="Segoe UI"/>
              </a:rPr>
              <a:t>→</a:t>
            </a:r>
          </a:p>
        </p:txBody>
      </p:sp>
      <p:sp>
        <p:nvSpPr>
          <p:cNvPr id="12" name="Rectangle 11"/>
          <p:cNvSpPr/>
          <p:nvPr/>
        </p:nvSpPr>
        <p:spPr>
          <a:xfrm>
            <a:off x="3840480" y="1051560"/>
            <a:ext cx="4572000" cy="50292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143000"/>
            <a:ext cx="4389120" cy="457200"/>
          </a:xfrm>
          <a:prstGeom prst="rect">
            <a:avLst/>
          </a:prstGeom>
          <a:noFill/>
        </p:spPr>
        <p:txBody>
          <a:bodyPr wrap="square">
            <a:spAutoFit/>
          </a:bodyPr>
          <a:lstStyle/>
          <a:p>
            <a:pPr algn="ctr"/>
            <a:r>
              <a:rPr sz="1600" b="1" i="0">
                <a:solidFill>
                  <a:srgbClr val="FFFFFF"/>
                </a:solidFill>
                <a:latin typeface="Segoe UI"/>
              </a:rPr>
              <a:t>M5Stack Basic V2.7</a:t>
            </a:r>
          </a:p>
        </p:txBody>
      </p:sp>
      <p:sp>
        <p:nvSpPr>
          <p:cNvPr id="14" name="TextBox 13"/>
          <p:cNvSpPr txBox="1"/>
          <p:nvPr/>
        </p:nvSpPr>
        <p:spPr>
          <a:xfrm>
            <a:off x="4023360" y="1691640"/>
            <a:ext cx="4206240" cy="4114800"/>
          </a:xfrm>
          <a:prstGeom prst="rect">
            <a:avLst/>
          </a:prstGeom>
          <a:noFill/>
        </p:spPr>
        <p:txBody>
          <a:bodyPr wrap="square">
            <a:spAutoFit/>
          </a:bodyPr>
          <a:lstStyle/>
          <a:p>
            <a:pPr algn="ctr"/>
            <a:r>
              <a:rPr sz="1300" b="0" i="0">
                <a:solidFill>
                  <a:srgbClr val="FFFFFF"/>
                </a:solidFill>
                <a:latin typeface="游ゴシック"/>
              </a:rPr>
              <a:t>ESP32 (Xtensa LX6 × 2, 240MHz)</a:t>
            </a:r>
          </a:p>
          <a:p>
            <a:pPr algn="ctr"/>
            <a:r>
              <a:rPr sz="1300" b="0" i="0">
                <a:solidFill>
                  <a:srgbClr val="FFFFFF"/>
                </a:solidFill>
                <a:latin typeface="游ゴシック"/>
              </a:rPr>
              <a:t>RAM:   520 KB SRAM</a:t>
            </a:r>
          </a:p>
          <a:p>
            <a:pPr algn="ctr"/>
            <a:r>
              <a:rPr sz="1300" b="0" i="0">
                <a:solidFill>
                  <a:srgbClr val="FFFFFF"/>
                </a:solidFill>
                <a:latin typeface="游ゴシック"/>
              </a:rPr>
              <a:t>Flash: 16 MB</a:t>
            </a:r>
          </a:p>
          <a:p>
            <a:pPr algn="ctr"/>
            <a:r>
              <a:rPr sz="1300" b="0" i="0">
                <a:solidFill>
                  <a:srgbClr val="FFFFFF"/>
                </a:solidFill>
                <a:latin typeface="游ゴシック"/>
              </a:rPr>
              <a:t>LCD:   320×240 TFT (ILI9342)</a:t>
            </a:r>
          </a:p>
          <a:p>
            <a:pPr algn="ctr"/>
            <a:r>
              <a:rPr sz="1300" b="0" i="0">
                <a:solidFill>
                  <a:srgbClr val="FFFFFF"/>
                </a:solidFill>
                <a:latin typeface="游ゴシック"/>
              </a:rPr>
              <a:t>EEPROM: 4 KB (仮想)</a:t>
            </a:r>
          </a:p>
          <a:p>
            <a:pPr algn="ctr"/>
            <a:r>
              <a:rPr sz="1300" b="0" i="0">
                <a:solidFill>
                  <a:srgbClr val="FFFFFF"/>
                </a:solidFill>
                <a:latin typeface="游ゴシック"/>
              </a:rPr>
              <a:t>Speaker 内蔵</a:t>
            </a:r>
          </a:p>
        </p:txBody>
      </p:sp>
      <p:sp>
        <p:nvSpPr>
          <p:cNvPr id="15" name="TextBox 14"/>
          <p:cNvSpPr txBox="1"/>
          <p:nvPr/>
        </p:nvSpPr>
        <p:spPr>
          <a:xfrm>
            <a:off x="8458200" y="3200400"/>
            <a:ext cx="228600" cy="457200"/>
          </a:xfrm>
          <a:prstGeom prst="rect">
            <a:avLst/>
          </a:prstGeom>
          <a:noFill/>
        </p:spPr>
        <p:txBody>
          <a:bodyPr wrap="square">
            <a:spAutoFit/>
          </a:bodyPr>
          <a:lstStyle/>
          <a:p>
            <a:pPr algn="ctr"/>
            <a:r>
              <a:rPr sz="2400" b="0" i="0">
                <a:solidFill>
                  <a:srgbClr val="FF6D00"/>
                </a:solidFill>
                <a:latin typeface="Segoe UI"/>
              </a:rPr>
              <a:t>→</a:t>
            </a:r>
          </a:p>
        </p:txBody>
      </p:sp>
      <p:sp>
        <p:nvSpPr>
          <p:cNvPr id="16" name="Rectangle 15"/>
          <p:cNvSpPr/>
          <p:nvPr/>
        </p:nvSpPr>
        <p:spPr>
          <a:xfrm>
            <a:off x="8732520" y="1051560"/>
            <a:ext cx="2926080" cy="50292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1143000"/>
            <a:ext cx="2743200" cy="365760"/>
          </a:xfrm>
          <a:prstGeom prst="rect">
            <a:avLst/>
          </a:prstGeom>
          <a:noFill/>
        </p:spPr>
        <p:txBody>
          <a:bodyPr wrap="square">
            <a:spAutoFit/>
          </a:bodyPr>
          <a:lstStyle/>
          <a:p>
            <a:pPr algn="l"/>
            <a:r>
              <a:rPr sz="1400" b="1" i="0">
                <a:solidFill>
                  <a:srgbClr val="0D477F"/>
                </a:solidFill>
                <a:latin typeface="游ゴシック"/>
              </a:rPr>
              <a:t>出力</a:t>
            </a:r>
          </a:p>
        </p:txBody>
      </p:sp>
      <p:sp>
        <p:nvSpPr>
          <p:cNvPr id="18" name="TextBox 17"/>
          <p:cNvSpPr txBox="1"/>
          <p:nvPr/>
        </p:nvSpPr>
        <p:spPr>
          <a:xfrm>
            <a:off x="8869680" y="1600200"/>
            <a:ext cx="2651760" cy="4206240"/>
          </a:xfrm>
          <a:prstGeom prst="rect">
            <a:avLst/>
          </a:prstGeom>
          <a:noFill/>
        </p:spPr>
        <p:txBody>
          <a:bodyPr wrap="square">
            <a:spAutoFit/>
          </a:bodyPr>
          <a:lstStyle/>
          <a:p>
            <a:pPr algn="ctr"/>
            <a:r>
              <a:rPr sz="1300" b="0" i="0">
                <a:solidFill>
                  <a:srgbClr val="1A1A2E"/>
                </a:solidFill>
                <a:latin typeface="游ゴシック"/>
              </a:rPr>
              <a:t>MicroSD</a:t>
            </a:r>
          </a:p>
          <a:p>
            <a:pPr algn="ctr"/>
            <a:r>
              <a:rPr sz="1300" b="0" i="0">
                <a:solidFill>
                  <a:srgbClr val="1A1A2E"/>
                </a:solidFill>
                <a:latin typeface="游ゴシック"/>
              </a:rPr>
              <a:t>→ CSV ファイル</a:t>
            </a:r>
          </a:p>
          <a:p>
            <a:pPr algn="ctr"/>
            <a:r>
              <a:rPr sz="1300" b="0" i="0">
                <a:solidFill>
                  <a:srgbClr val="1A1A2E"/>
                </a:solidFill>
                <a:latin typeface="游ゴシック"/>
              </a:rPr>
              <a:t/>
            </a:r>
          </a:p>
          <a:p>
            <a:pPr algn="ctr"/>
            <a:r>
              <a:rPr sz="1300" b="0" i="0">
                <a:solidFill>
                  <a:srgbClr val="1A1A2E"/>
                </a:solidFill>
                <a:latin typeface="游ゴシック"/>
              </a:rPr>
              <a:t>LCD</a:t>
            </a:r>
          </a:p>
          <a:p>
            <a:pPr algn="ctr"/>
            <a:r>
              <a:rPr sz="1300" b="0" i="0">
                <a:solidFill>
                  <a:srgbClr val="1A1A2E"/>
                </a:solidFill>
                <a:latin typeface="游ゴシック"/>
              </a:rPr>
              <a:t>→ リアルタイム表示</a:t>
            </a:r>
          </a:p>
          <a:p>
            <a:pPr algn="ctr"/>
            <a:r>
              <a:rPr sz="1300" b="0" i="0">
                <a:solidFill>
                  <a:srgbClr val="1A1A2E"/>
                </a:solidFill>
                <a:latin typeface="游ゴシック"/>
              </a:rPr>
              <a:t/>
            </a:r>
          </a:p>
          <a:p>
            <a:pPr algn="ctr"/>
            <a:r>
              <a:rPr sz="1300" b="0" i="0">
                <a:solidFill>
                  <a:srgbClr val="1A1A2E"/>
                </a:solidFill>
                <a:latin typeface="游ゴシック"/>
              </a:rPr>
              <a:t>Speaker</a:t>
            </a:r>
          </a:p>
          <a:p>
            <a:pPr algn="ctr"/>
            <a:r>
              <a:rPr sz="1300" b="0" i="0">
                <a:solidFill>
                  <a:srgbClr val="1A1A2E"/>
                </a:solidFill>
                <a:latin typeface="游ゴシック"/>
              </a:rPr>
              <a:t>→ アラーム音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ハードウェア構成</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2  ハードウェア</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6</a:t>
            </a:r>
          </a:p>
        </p:txBody>
      </p:sp>
      <p:graphicFrame>
        <p:nvGraphicFramePr>
          <p:cNvPr id="8" name="Table 7"/>
          <p:cNvGraphicFramePr>
            <a:graphicFrameLocks noGrp="1"/>
          </p:cNvGraphicFramePr>
          <p:nvPr/>
        </p:nvGraphicFramePr>
        <p:xfrm>
          <a:off x="320040" y="1051560"/>
          <a:ext cx="11521440" cy="3657600"/>
        </p:xfrm>
        <a:graphic>
          <a:graphicData uri="http://schemas.openxmlformats.org/drawingml/2006/table">
            <a:tbl>
              <a:tblPr firstRow="1" bandRow="1">
                <a:tableStyleId>{5C22544A-7EE6-4342-B048-85BDC9FD1C3A}</a:tableStyleId>
              </a:tblPr>
              <a:tblGrid>
                <a:gridCol w="2286000"/>
                <a:gridCol w="4114800"/>
                <a:gridCol w="5120640"/>
              </a:tblGrid>
              <a:tr h="457200">
                <a:tc>
                  <a:txBody>
                    <a:bodyPr/>
                    <a:lstStyle/>
                    <a:p>
                      <a:pPr algn="l"/>
                      <a:r>
                        <a:rPr sz="1300" b="1">
                          <a:solidFill>
                            <a:srgbClr val="FFFFFF"/>
                          </a:solidFill>
                          <a:latin typeface="Segoe UI"/>
                        </a:rPr>
                        <a:t>部品名</a:t>
                      </a:r>
                    </a:p>
                  </a:txBody>
                  <a:tcPr>
                    <a:solidFill>
                      <a:srgbClr val="0D477F"/>
                    </a:solidFill>
                  </a:tcPr>
                </a:tc>
                <a:tc>
                  <a:txBody>
                    <a:bodyPr/>
                    <a:lstStyle/>
                    <a:p>
                      <a:pPr algn="l"/>
                      <a:r>
                        <a:rPr sz="1300" b="1">
                          <a:solidFill>
                            <a:srgbClr val="FFFFFF"/>
                          </a:solidFill>
                          <a:latin typeface="Segoe UI"/>
                        </a:rPr>
                        <a:t>型番・仕様</a:t>
                      </a:r>
                    </a:p>
                  </a:txBody>
                  <a:tcPr>
                    <a:solidFill>
                      <a:srgbClr val="0D477F"/>
                    </a:solidFill>
                  </a:tcPr>
                </a:tc>
                <a:tc>
                  <a:txBody>
                    <a:bodyPr/>
                    <a:lstStyle/>
                    <a:p>
                      <a:pPr algn="l"/>
                      <a:r>
                        <a:rPr sz="1300" b="1">
                          <a:solidFill>
                            <a:srgbClr val="FFFFFF"/>
                          </a:solidFill>
                          <a:latin typeface="Segoe UI"/>
                        </a:rPr>
                        <a:t>役割</a:t>
                      </a:r>
                    </a:p>
                  </a:txBody>
                  <a:tcPr>
                    <a:solidFill>
                      <a:srgbClr val="0D477F"/>
                    </a:solidFill>
                  </a:tcPr>
                </a:tc>
              </a:tr>
              <a:tr h="457200">
                <a:tc>
                  <a:txBody>
                    <a:bodyPr/>
                    <a:lstStyle/>
                    <a:p>
                      <a:pPr algn="l"/>
                      <a:r>
                        <a:rPr sz="1200" b="0">
                          <a:solidFill>
                            <a:srgbClr val="1A1A2E"/>
                          </a:solidFill>
                          <a:latin typeface="游ゴシック"/>
                        </a:rPr>
                        <a:t>メイン基板</a:t>
                      </a:r>
                    </a:p>
                  </a:txBody>
                  <a:tcPr>
                    <a:solidFill>
                      <a:srgbClr val="FFFFFF"/>
                    </a:solidFill>
                  </a:tcPr>
                </a:tc>
                <a:tc>
                  <a:txBody>
                    <a:bodyPr/>
                    <a:lstStyle/>
                    <a:p>
                      <a:pPr algn="l"/>
                      <a:r>
                        <a:rPr sz="1200" b="0">
                          <a:solidFill>
                            <a:srgbClr val="1A1A2E"/>
                          </a:solidFill>
                          <a:latin typeface="游ゴシック"/>
                        </a:rPr>
                        <a:t>M5Stack Basic V2.7 (ESP32)</a:t>
                      </a:r>
                    </a:p>
                  </a:txBody>
                  <a:tcPr>
                    <a:solidFill>
                      <a:srgbClr val="FFFFFF"/>
                    </a:solidFill>
                  </a:tcPr>
                </a:tc>
                <a:tc>
                  <a:txBody>
                    <a:bodyPr/>
                    <a:lstStyle/>
                    <a:p>
                      <a:pPr algn="l"/>
                      <a:r>
                        <a:rPr sz="1200" b="0">
                          <a:solidFill>
                            <a:srgbClr val="1A1A2E"/>
                          </a:solidFill>
                          <a:latin typeface="游ゴシック"/>
                        </a:rPr>
                        <a:t>メイン制御・LCD・ボタン・Speaker</a:t>
                      </a:r>
                    </a:p>
                  </a:txBody>
                  <a:tcPr>
                    <a:solidFill>
                      <a:srgbClr val="FFFFFF"/>
                    </a:solidFill>
                  </a:tcPr>
                </a:tc>
              </a:tr>
              <a:tr h="457200">
                <a:tc>
                  <a:txBody>
                    <a:bodyPr/>
                    <a:lstStyle/>
                    <a:p>
                      <a:pPr algn="l"/>
                      <a:r>
                        <a:rPr sz="1200" b="0">
                          <a:solidFill>
                            <a:srgbClr val="1A1A2E"/>
                          </a:solidFill>
                          <a:latin typeface="游ゴシック"/>
                        </a:rPr>
                        <a:t>温度センサー変換</a:t>
                      </a:r>
                    </a:p>
                  </a:txBody>
                  <a:tcPr>
                    <a:solidFill>
                      <a:srgbClr val="F4F4F4"/>
                    </a:solidFill>
                  </a:tcPr>
                </a:tc>
                <a:tc>
                  <a:txBody>
                    <a:bodyPr/>
                    <a:lstStyle/>
                    <a:p>
                      <a:pPr algn="l"/>
                      <a:r>
                        <a:rPr sz="1200" b="0">
                          <a:solidFill>
                            <a:srgbClr val="1A1A2E"/>
                          </a:solidFill>
                          <a:latin typeface="游ゴシック"/>
                        </a:rPr>
                        <a:t>Adafruit MAX31855</a:t>
                      </a:r>
                    </a:p>
                  </a:txBody>
                  <a:tcPr>
                    <a:solidFill>
                      <a:srgbClr val="F4F4F4"/>
                    </a:solidFill>
                  </a:tcPr>
                </a:tc>
                <a:tc>
                  <a:txBody>
                    <a:bodyPr/>
                    <a:lstStyle/>
                    <a:p>
                      <a:pPr algn="l"/>
                      <a:r>
                        <a:rPr sz="1200" b="0">
                          <a:solidFill>
                            <a:srgbClr val="1A1A2E"/>
                          </a:solidFill>
                          <a:latin typeface="游ゴシック"/>
                        </a:rPr>
                        <a:t>K型熱電対→デジタル変換 (SPI)</a:t>
                      </a:r>
                    </a:p>
                  </a:txBody>
                  <a:tcPr>
                    <a:solidFill>
                      <a:srgbClr val="F4F4F4"/>
                    </a:solidFill>
                  </a:tcPr>
                </a:tc>
              </a:tr>
              <a:tr h="457200">
                <a:tc>
                  <a:txBody>
                    <a:bodyPr/>
                    <a:lstStyle/>
                    <a:p>
                      <a:pPr algn="l"/>
                      <a:r>
                        <a:rPr sz="1200" b="0">
                          <a:solidFill>
                            <a:srgbClr val="1A1A2E"/>
                          </a:solidFill>
                          <a:latin typeface="游ゴシック"/>
                        </a:rPr>
                        <a:t>熱電対</a:t>
                      </a:r>
                    </a:p>
                  </a:txBody>
                  <a:tcPr>
                    <a:solidFill>
                      <a:srgbClr val="FFFFFF"/>
                    </a:solidFill>
                  </a:tcPr>
                </a:tc>
                <a:tc>
                  <a:txBody>
                    <a:bodyPr/>
                    <a:lstStyle/>
                    <a:p>
                      <a:pPr algn="l"/>
                      <a:r>
                        <a:rPr sz="1200" b="0">
                          <a:solidFill>
                            <a:srgbClr val="1A1A2E"/>
                          </a:solidFill>
                          <a:latin typeface="游ゴシック"/>
                        </a:rPr>
                        <a:t>K型 (∅1.0mm 等)</a:t>
                      </a:r>
                    </a:p>
                  </a:txBody>
                  <a:tcPr>
                    <a:solidFill>
                      <a:srgbClr val="FFFFFF"/>
                    </a:solidFill>
                  </a:tcPr>
                </a:tc>
                <a:tc>
                  <a:txBody>
                    <a:bodyPr/>
                    <a:lstStyle/>
                    <a:p>
                      <a:pPr algn="l"/>
                      <a:r>
                        <a:rPr sz="1200" b="0">
                          <a:solidFill>
                            <a:srgbClr val="1A1A2E"/>
                          </a:solidFill>
                          <a:latin typeface="游ゴシック"/>
                        </a:rPr>
                        <a:t>温度計測 (−200〜+1350°C)</a:t>
                      </a:r>
                    </a:p>
                  </a:txBody>
                  <a:tcPr>
                    <a:solidFill>
                      <a:srgbClr val="FFFFFF"/>
                    </a:solidFill>
                  </a:tcPr>
                </a:tc>
              </a:tr>
              <a:tr h="457200">
                <a:tc>
                  <a:txBody>
                    <a:bodyPr/>
                    <a:lstStyle/>
                    <a:p>
                      <a:pPr algn="l"/>
                      <a:r>
                        <a:rPr sz="1200" b="0">
                          <a:solidFill>
                            <a:srgbClr val="1A1A2E"/>
                          </a:solidFill>
                          <a:latin typeface="游ゴシック"/>
                        </a:rPr>
                        <a:t>ストレージ</a:t>
                      </a:r>
                    </a:p>
                  </a:txBody>
                  <a:tcPr>
                    <a:solidFill>
                      <a:srgbClr val="F4F4F4"/>
                    </a:solidFill>
                  </a:tcPr>
                </a:tc>
                <a:tc>
                  <a:txBody>
                    <a:bodyPr/>
                    <a:lstStyle/>
                    <a:p>
                      <a:pPr algn="l"/>
                      <a:r>
                        <a:rPr sz="1200" b="0">
                          <a:solidFill>
                            <a:srgbClr val="1A1A2E"/>
                          </a:solidFill>
                          <a:latin typeface="游ゴシック"/>
                        </a:rPr>
                        <a:t>MicroSD カード (FAT32)</a:t>
                      </a:r>
                    </a:p>
                  </a:txBody>
                  <a:tcPr>
                    <a:solidFill>
                      <a:srgbClr val="F4F4F4"/>
                    </a:solidFill>
                  </a:tcPr>
                </a:tc>
                <a:tc>
                  <a:txBody>
                    <a:bodyPr/>
                    <a:lstStyle/>
                    <a:p>
                      <a:pPr algn="l"/>
                      <a:r>
                        <a:rPr sz="1200" b="0">
                          <a:solidFill>
                            <a:srgbClr val="1A1A2E"/>
                          </a:solidFill>
                          <a:latin typeface="游ゴシック"/>
                        </a:rPr>
                        <a:t>CSV データ記録</a:t>
                      </a:r>
                    </a:p>
                  </a:txBody>
                  <a:tcPr>
                    <a:solidFill>
                      <a:srgbClr val="F4F4F4"/>
                    </a:solidFill>
                  </a:tcPr>
                </a:tc>
              </a:tr>
              <a:tr h="457200">
                <a:tc>
                  <a:txBody>
                    <a:bodyPr/>
                    <a:lstStyle/>
                    <a:p>
                      <a:pPr algn="l"/>
                      <a:r>
                        <a:rPr sz="1200" b="0">
                          <a:solidFill>
                            <a:srgbClr val="1A1A2E"/>
                          </a:solidFill>
                          <a:latin typeface="游ゴシック"/>
                        </a:rPr>
                        <a:t>不揮発メモリ</a:t>
                      </a:r>
                    </a:p>
                  </a:txBody>
                  <a:tcPr>
                    <a:solidFill>
                      <a:srgbClr val="FFFFFF"/>
                    </a:solidFill>
                  </a:tcPr>
                </a:tc>
                <a:tc>
                  <a:txBody>
                    <a:bodyPr/>
                    <a:lstStyle/>
                    <a:p>
                      <a:pPr algn="l"/>
                      <a:r>
                        <a:rPr sz="1200" b="0">
                          <a:solidFill>
                            <a:srgbClr val="1A1A2E"/>
                          </a:solidFill>
                          <a:latin typeface="游ゴシック"/>
                        </a:rPr>
                        <a:t>ESP32 内蔵 EEPROM 仮想 (4KB)</a:t>
                      </a:r>
                    </a:p>
                  </a:txBody>
                  <a:tcPr>
                    <a:solidFill>
                      <a:srgbClr val="FFFFFF"/>
                    </a:solidFill>
                  </a:tcPr>
                </a:tc>
                <a:tc>
                  <a:txBody>
                    <a:bodyPr/>
                    <a:lstStyle/>
                    <a:p>
                      <a:pPr algn="l"/>
                      <a:r>
                        <a:rPr sz="1200" b="0">
                          <a:solidFill>
                            <a:srgbClr val="1A1A2E"/>
                          </a:solidFill>
                          <a:latin typeface="游ゴシック"/>
                        </a:rPr>
                        <a:t>アラーム設定値の保存</a:t>
                      </a:r>
                    </a:p>
                  </a:txBody>
                  <a:tcPr>
                    <a:solidFill>
                      <a:srgbClr val="FFFFFF"/>
                    </a:solidFill>
                  </a:tcPr>
                </a:tc>
              </a:tr>
              <a:tr h="457200">
                <a:tc>
                  <a:txBody>
                    <a:bodyPr/>
                    <a:lstStyle/>
                    <a:p>
                      <a:pPr algn="l"/>
                      <a:r>
                        <a:rPr sz="1200" b="0">
                          <a:solidFill>
                            <a:srgbClr val="1A1A2E"/>
                          </a:solidFill>
                          <a:latin typeface="游ゴシック"/>
                        </a:rPr>
                        <a:t>電源</a:t>
                      </a:r>
                    </a:p>
                  </a:txBody>
                  <a:tcPr>
                    <a:solidFill>
                      <a:srgbClr val="F4F4F4"/>
                    </a:solidFill>
                  </a:tcPr>
                </a:tc>
                <a:tc>
                  <a:txBody>
                    <a:bodyPr/>
                    <a:lstStyle/>
                    <a:p>
                      <a:pPr algn="l"/>
                      <a:r>
                        <a:rPr sz="1200" b="0">
                          <a:solidFill>
                            <a:srgbClr val="1A1A2E"/>
                          </a:solidFill>
                          <a:latin typeface="游ゴシック"/>
                        </a:rPr>
                        <a:t>USB-C 5V or Lipo バッテリー</a:t>
                      </a:r>
                    </a:p>
                  </a:txBody>
                  <a:tcPr>
                    <a:solidFill>
                      <a:srgbClr val="F4F4F4"/>
                    </a:solidFill>
                  </a:tcPr>
                </a:tc>
                <a:tc>
                  <a:txBody>
                    <a:bodyPr/>
                    <a:lstStyle/>
                    <a:p>
                      <a:pPr algn="l"/>
                      <a:r>
                        <a:rPr sz="1200" b="0">
                          <a:solidFill>
                            <a:srgbClr val="1A1A2E"/>
                          </a:solidFill>
                          <a:latin typeface="游ゴシック"/>
                        </a:rPr>
                        <a:t>電源供給</a:t>
                      </a:r>
                    </a:p>
                  </a:txBody>
                  <a:tcPr>
                    <a:solidFill>
                      <a:srgbClr val="F4F4F4"/>
                    </a:solidFill>
                  </a:tcPr>
                </a:tc>
              </a:tr>
              <a:tr h="457200">
                <a:tc>
                  <a:txBody>
                    <a:bodyPr/>
                    <a:lstStyle/>
                    <a:p>
                      <a:pPr algn="l"/>
                      <a:r>
                        <a:rPr sz="1200" b="0">
                          <a:solidFill>
                            <a:srgbClr val="1A1A2E"/>
                          </a:solidFill>
                          <a:latin typeface="游ゴシック"/>
                        </a:rPr>
                        <a:t>接続</a:t>
                      </a:r>
                    </a:p>
                  </a:txBody>
                  <a:tcPr>
                    <a:solidFill>
                      <a:srgbClr val="FFFFFF"/>
                    </a:solidFill>
                  </a:tcPr>
                </a:tc>
                <a:tc>
                  <a:txBody>
                    <a:bodyPr/>
                    <a:lstStyle/>
                    <a:p>
                      <a:pPr algn="l"/>
                      <a:r>
                        <a:rPr sz="1200" b="0">
                          <a:solidFill>
                            <a:srgbClr val="1A1A2E"/>
                          </a:solidFill>
                          <a:latin typeface="游ゴシック"/>
                        </a:rPr>
                        <a:t>ジャンパワイヤ + ブレッドボード</a:t>
                      </a:r>
                    </a:p>
                  </a:txBody>
                  <a:tcPr>
                    <a:solidFill>
                      <a:srgbClr val="FFFFFF"/>
                    </a:solidFill>
                  </a:tcPr>
                </a:tc>
                <a:tc>
                  <a:txBody>
                    <a:bodyPr/>
                    <a:lstStyle/>
                    <a:p>
                      <a:pPr algn="l"/>
                      <a:r>
                        <a:rPr sz="1200" b="0">
                          <a:solidFill>
                            <a:srgbClr val="1A1A2E"/>
                          </a:solidFill>
                          <a:latin typeface="游ゴシック"/>
                        </a:rPr>
                        <a:t>センサー配線（ハンダ不要）</a:t>
                      </a:r>
                    </a:p>
                  </a:txBody>
                  <a:tcPr>
                    <a:solidFill>
                      <a:srgbClr val="FFFFFF"/>
                    </a:solidFill>
                  </a:tcPr>
                </a:tc>
              </a:tr>
            </a:tbl>
          </a:graphicData>
        </a:graphic>
      </p:graphicFrame>
      <p:sp>
        <p:nvSpPr>
          <p:cNvPr id="9" name="Rectangle 8"/>
          <p:cNvSpPr/>
          <p:nvPr/>
        </p:nvSpPr>
        <p:spPr>
          <a:xfrm>
            <a:off x="320040" y="4846320"/>
            <a:ext cx="11548872"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910328"/>
            <a:ext cx="11155680" cy="384048"/>
          </a:xfrm>
          <a:prstGeom prst="rect">
            <a:avLst/>
          </a:prstGeom>
          <a:noFill/>
        </p:spPr>
        <p:txBody>
          <a:bodyPr wrap="square">
            <a:spAutoFit/>
          </a:bodyPr>
          <a:lstStyle/>
          <a:p>
            <a:pPr algn="l"/>
            <a:r>
              <a:rPr sz="1200" b="0" i="0">
                <a:solidFill>
                  <a:srgbClr val="1A1A2E"/>
                </a:solidFill>
                <a:latin typeface="游ゴシック"/>
              </a:rPr>
              <a:t>※ MicroSD スロットは M5Stack 本体内蔵。MAX31855 は別途 SPI 接続ブレークアウト基板を使用。CS は GPIO5 に固定。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配線・ピン割当</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2  ハードウェア</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7</a:t>
            </a:r>
          </a:p>
        </p:txBody>
      </p:sp>
      <p:sp>
        <p:nvSpPr>
          <p:cNvPr id="8" name="TextBox 7"/>
          <p:cNvSpPr txBox="1"/>
          <p:nvPr/>
        </p:nvSpPr>
        <p:spPr>
          <a:xfrm>
            <a:off x="320040" y="1005840"/>
            <a:ext cx="11548872" cy="411480"/>
          </a:xfrm>
          <a:prstGeom prst="rect">
            <a:avLst/>
          </a:prstGeom>
          <a:noFill/>
        </p:spPr>
        <p:txBody>
          <a:bodyPr wrap="square">
            <a:spAutoFit/>
          </a:bodyPr>
          <a:lstStyle/>
          <a:p>
            <a:pPr algn="l"/>
            <a:r>
              <a:rPr sz="1400" b="0" i="0">
                <a:solidFill>
                  <a:srgbClr val="1A1A2E"/>
                </a:solidFill>
                <a:latin typeface="游ゴシック"/>
              </a:rPr>
              <a:t>SPI バス共有（LCD + MAX31855） / SD カード CS = GPIO4 (TFCARD_CS_PIN)</a:t>
            </a:r>
          </a:p>
        </p:txBody>
      </p:sp>
      <p:graphicFrame>
        <p:nvGraphicFramePr>
          <p:cNvPr id="9" name="Table 8"/>
          <p:cNvGraphicFramePr>
            <a:graphicFrameLocks noGrp="1"/>
          </p:cNvGraphicFramePr>
          <p:nvPr/>
        </p:nvGraphicFramePr>
        <p:xfrm>
          <a:off x="320040" y="1508760"/>
          <a:ext cx="11521439" cy="2468880"/>
        </p:xfrm>
        <a:graphic>
          <a:graphicData uri="http://schemas.openxmlformats.org/drawingml/2006/table">
            <a:tbl>
              <a:tblPr firstRow="1" bandRow="1">
                <a:tableStyleId>{5C22544A-7EE6-4342-B048-85BDC9FD1C3A}</a:tableStyleId>
              </a:tblPr>
              <a:tblGrid>
                <a:gridCol w="1828800"/>
                <a:gridCol w="2286000"/>
                <a:gridCol w="3657600"/>
                <a:gridCol w="3749039"/>
              </a:tblGrid>
              <a:tr h="411480">
                <a:tc>
                  <a:txBody>
                    <a:bodyPr/>
                    <a:lstStyle/>
                    <a:p>
                      <a:pPr algn="l"/>
                      <a:r>
                        <a:rPr sz="1300" b="1">
                          <a:solidFill>
                            <a:srgbClr val="FFFFFF"/>
                          </a:solidFill>
                          <a:latin typeface="Segoe UI"/>
                        </a:rPr>
                        <a:t>GPIO</a:t>
                      </a:r>
                    </a:p>
                  </a:txBody>
                  <a:tcPr>
                    <a:solidFill>
                      <a:srgbClr val="0D477F"/>
                    </a:solidFill>
                  </a:tcPr>
                </a:tc>
                <a:tc>
                  <a:txBody>
                    <a:bodyPr/>
                    <a:lstStyle/>
                    <a:p>
                      <a:pPr algn="l"/>
                      <a:r>
                        <a:rPr sz="1300" b="1">
                          <a:solidFill>
                            <a:srgbClr val="FFFFFF"/>
                          </a:solidFill>
                          <a:latin typeface="Segoe UI"/>
                        </a:rPr>
                        <a:t>信号名</a:t>
                      </a:r>
                    </a:p>
                  </a:txBody>
                  <a:tcPr>
                    <a:solidFill>
                      <a:srgbClr val="0D477F"/>
                    </a:solidFill>
                  </a:tcPr>
                </a:tc>
                <a:tc>
                  <a:txBody>
                    <a:bodyPr/>
                    <a:lstStyle/>
                    <a:p>
                      <a:pPr algn="l"/>
                      <a:r>
                        <a:rPr sz="1300" b="1">
                          <a:solidFill>
                            <a:srgbClr val="FFFFFF"/>
                          </a:solidFill>
                          <a:latin typeface="Segoe UI"/>
                        </a:rPr>
                        <a:t>接続先</a:t>
                      </a:r>
                    </a:p>
                  </a:txBody>
                  <a:tcPr>
                    <a:solidFill>
                      <a:srgbClr val="0D477F"/>
                    </a:solidFill>
                  </a:tcPr>
                </a:tc>
                <a:tc>
                  <a:txBody>
                    <a:bodyPr/>
                    <a:lstStyle/>
                    <a:p>
                      <a:pPr algn="l"/>
                      <a:r>
                        <a:rPr sz="1300" b="1">
                          <a:solidFill>
                            <a:srgbClr val="FFFFFF"/>
                          </a:solidFill>
                          <a:latin typeface="Segoe UI"/>
                        </a:rPr>
                        <a:t>備考</a:t>
                      </a:r>
                    </a:p>
                  </a:txBody>
                  <a:tcPr>
                    <a:solidFill>
                      <a:srgbClr val="0D477F"/>
                    </a:solidFill>
                  </a:tcPr>
                </a:tc>
              </a:tr>
              <a:tr h="411480">
                <a:tc>
                  <a:txBody>
                    <a:bodyPr/>
                    <a:lstStyle/>
                    <a:p>
                      <a:pPr algn="l"/>
                      <a:r>
                        <a:rPr sz="1200" b="0">
                          <a:solidFill>
                            <a:srgbClr val="1A1A2E"/>
                          </a:solidFill>
                          <a:latin typeface="游ゴシック"/>
                        </a:rPr>
                        <a:t>GPIO 18</a:t>
                      </a:r>
                    </a:p>
                  </a:txBody>
                  <a:tcPr>
                    <a:solidFill>
                      <a:srgbClr val="FFFFFF"/>
                    </a:solidFill>
                  </a:tcPr>
                </a:tc>
                <a:tc>
                  <a:txBody>
                    <a:bodyPr/>
                    <a:lstStyle/>
                    <a:p>
                      <a:pPr algn="l"/>
                      <a:r>
                        <a:rPr sz="1200" b="0">
                          <a:solidFill>
                            <a:srgbClr val="1A1A2E"/>
                          </a:solidFill>
                          <a:latin typeface="游ゴシック"/>
                        </a:rPr>
                        <a:t>SCK (SPI Clock)</a:t>
                      </a:r>
                    </a:p>
                  </a:txBody>
                  <a:tcPr>
                    <a:solidFill>
                      <a:srgbClr val="FFFFFF"/>
                    </a:solidFill>
                  </a:tcPr>
                </a:tc>
                <a:tc>
                  <a:txBody>
                    <a:bodyPr/>
                    <a:lstStyle/>
                    <a:p>
                      <a:pPr algn="l"/>
                      <a:r>
                        <a:rPr sz="1200" b="0">
                          <a:solidFill>
                            <a:srgbClr val="1A1A2E"/>
                          </a:solidFill>
                          <a:latin typeface="游ゴシック"/>
                        </a:rPr>
                        <a:t>MAX31855 CLK</a:t>
                      </a:r>
                    </a:p>
                  </a:txBody>
                  <a:tcPr>
                    <a:solidFill>
                      <a:srgbClr val="FFFFFF"/>
                    </a:solidFill>
                  </a:tcPr>
                </a:tc>
                <a:tc>
                  <a:txBody>
                    <a:bodyPr/>
                    <a:lstStyle/>
                    <a:p>
                      <a:pPr algn="l"/>
                      <a:r>
                        <a:rPr sz="1200" b="0">
                          <a:solidFill>
                            <a:srgbClr val="1A1A2E"/>
                          </a:solidFill>
                          <a:latin typeface="游ゴシック"/>
                        </a:rPr>
                        <a:t>LCD と共有</a:t>
                      </a:r>
                    </a:p>
                  </a:txBody>
                  <a:tcPr>
                    <a:solidFill>
                      <a:srgbClr val="FFFFFF"/>
                    </a:solidFill>
                  </a:tcPr>
                </a:tc>
              </a:tr>
              <a:tr h="411480">
                <a:tc>
                  <a:txBody>
                    <a:bodyPr/>
                    <a:lstStyle/>
                    <a:p>
                      <a:pPr algn="l"/>
                      <a:r>
                        <a:rPr sz="1200" b="0">
                          <a:solidFill>
                            <a:srgbClr val="1A1A2E"/>
                          </a:solidFill>
                          <a:latin typeface="游ゴシック"/>
                        </a:rPr>
                        <a:t>GPIO 19</a:t>
                      </a:r>
                    </a:p>
                  </a:txBody>
                  <a:tcPr>
                    <a:solidFill>
                      <a:srgbClr val="F4F4F4"/>
                    </a:solidFill>
                  </a:tcPr>
                </a:tc>
                <a:tc>
                  <a:txBody>
                    <a:bodyPr/>
                    <a:lstStyle/>
                    <a:p>
                      <a:pPr algn="l"/>
                      <a:r>
                        <a:rPr sz="1200" b="0">
                          <a:solidFill>
                            <a:srgbClr val="1A1A2E"/>
                          </a:solidFill>
                          <a:latin typeface="游ゴシック"/>
                        </a:rPr>
                        <a:t>MISO (SPI Data)</a:t>
                      </a:r>
                    </a:p>
                  </a:txBody>
                  <a:tcPr>
                    <a:solidFill>
                      <a:srgbClr val="F4F4F4"/>
                    </a:solidFill>
                  </a:tcPr>
                </a:tc>
                <a:tc>
                  <a:txBody>
                    <a:bodyPr/>
                    <a:lstStyle/>
                    <a:p>
                      <a:pPr algn="l"/>
                      <a:r>
                        <a:rPr sz="1200" b="0">
                          <a:solidFill>
                            <a:srgbClr val="1A1A2E"/>
                          </a:solidFill>
                          <a:latin typeface="游ゴシック"/>
                        </a:rPr>
                        <a:t>MAX31855 DO</a:t>
                      </a:r>
                    </a:p>
                  </a:txBody>
                  <a:tcPr>
                    <a:solidFill>
                      <a:srgbClr val="F4F4F4"/>
                    </a:solidFill>
                  </a:tcPr>
                </a:tc>
                <a:tc>
                  <a:txBody>
                    <a:bodyPr/>
                    <a:lstStyle/>
                    <a:p>
                      <a:pPr algn="l"/>
                      <a:r>
                        <a:rPr sz="1200" b="0">
                          <a:solidFill>
                            <a:srgbClr val="1A1A2E"/>
                          </a:solidFill>
                          <a:latin typeface="游ゴシック"/>
                        </a:rPr>
                        <a:t>LCD と共有</a:t>
                      </a:r>
                    </a:p>
                  </a:txBody>
                  <a:tcPr>
                    <a:solidFill>
                      <a:srgbClr val="F4F4F4"/>
                    </a:solidFill>
                  </a:tcPr>
                </a:tc>
              </a:tr>
              <a:tr h="411480">
                <a:tc>
                  <a:txBody>
                    <a:bodyPr/>
                    <a:lstStyle/>
                    <a:p>
                      <a:pPr algn="l"/>
                      <a:r>
                        <a:rPr sz="1200" b="0">
                          <a:solidFill>
                            <a:srgbClr val="1A1A2E"/>
                          </a:solidFill>
                          <a:latin typeface="游ゴシック"/>
                        </a:rPr>
                        <a:t>GPIO 23</a:t>
                      </a:r>
                    </a:p>
                  </a:txBody>
                  <a:tcPr>
                    <a:solidFill>
                      <a:srgbClr val="FFFFFF"/>
                    </a:solidFill>
                  </a:tcPr>
                </a:tc>
                <a:tc>
                  <a:txBody>
                    <a:bodyPr/>
                    <a:lstStyle/>
                    <a:p>
                      <a:pPr algn="l"/>
                      <a:r>
                        <a:rPr sz="1200" b="0">
                          <a:solidFill>
                            <a:srgbClr val="1A1A2E"/>
                          </a:solidFill>
                          <a:latin typeface="游ゴシック"/>
                        </a:rPr>
                        <a:t>MOSI (SPI Data out)</a:t>
                      </a:r>
                    </a:p>
                  </a:txBody>
                  <a:tcPr>
                    <a:solidFill>
                      <a:srgbClr val="FFFFFF"/>
                    </a:solidFill>
                  </a:tcPr>
                </a:tc>
                <a:tc>
                  <a:txBody>
                    <a:bodyPr/>
                    <a:lstStyle/>
                    <a:p>
                      <a:pPr algn="l"/>
                      <a:r>
                        <a:rPr sz="1200" b="0">
                          <a:solidFill>
                            <a:srgbClr val="1A1A2E"/>
                          </a:solidFill>
                          <a:latin typeface="游ゴシック"/>
                        </a:rPr>
                        <a:t>(LCD のみ)</a:t>
                      </a:r>
                    </a:p>
                  </a:txBody>
                  <a:tcPr>
                    <a:solidFill>
                      <a:srgbClr val="FFFFFF"/>
                    </a:solidFill>
                  </a:tcPr>
                </a:tc>
                <a:tc>
                  <a:txBody>
                    <a:bodyPr/>
                    <a:lstStyle/>
                    <a:p>
                      <a:pPr algn="l"/>
                      <a:r>
                        <a:rPr sz="1200" b="0">
                          <a:solidFill>
                            <a:srgbClr val="1A1A2E"/>
                          </a:solidFill>
                          <a:latin typeface="游ゴシック"/>
                        </a:rPr>
                        <a:t>MAX31855 は MOSI 不要</a:t>
                      </a:r>
                    </a:p>
                  </a:txBody>
                  <a:tcPr>
                    <a:solidFill>
                      <a:srgbClr val="FFFFFF"/>
                    </a:solidFill>
                  </a:tcPr>
                </a:tc>
              </a:tr>
              <a:tr h="411480">
                <a:tc>
                  <a:txBody>
                    <a:bodyPr/>
                    <a:lstStyle/>
                    <a:p>
                      <a:pPr algn="l"/>
                      <a:r>
                        <a:rPr sz="1200" b="0">
                          <a:solidFill>
                            <a:srgbClr val="1A1A2E"/>
                          </a:solidFill>
                          <a:latin typeface="游ゴシック"/>
                        </a:rPr>
                        <a:t>GPIO 5</a:t>
                      </a:r>
                    </a:p>
                  </a:txBody>
                  <a:tcPr>
                    <a:solidFill>
                      <a:srgbClr val="F4F4F4"/>
                    </a:solidFill>
                  </a:tcPr>
                </a:tc>
                <a:tc>
                  <a:txBody>
                    <a:bodyPr/>
                    <a:lstStyle/>
                    <a:p>
                      <a:pPr algn="l"/>
                      <a:r>
                        <a:rPr sz="1200" b="0">
                          <a:solidFill>
                            <a:srgbClr val="1A1A2E"/>
                          </a:solidFill>
                          <a:latin typeface="游ゴシック"/>
                        </a:rPr>
                        <a:t>CS (Chip Select)</a:t>
                      </a:r>
                    </a:p>
                  </a:txBody>
                  <a:tcPr>
                    <a:solidFill>
                      <a:srgbClr val="F4F4F4"/>
                    </a:solidFill>
                  </a:tcPr>
                </a:tc>
                <a:tc>
                  <a:txBody>
                    <a:bodyPr/>
                    <a:lstStyle/>
                    <a:p>
                      <a:pPr algn="l"/>
                      <a:r>
                        <a:rPr sz="1200" b="0">
                          <a:solidFill>
                            <a:srgbClr val="1A1A2E"/>
                          </a:solidFill>
                          <a:latin typeface="游ゴシック"/>
                        </a:rPr>
                        <a:t>MAX31855 CS</a:t>
                      </a:r>
                    </a:p>
                  </a:txBody>
                  <a:tcPr>
                    <a:solidFill>
                      <a:srgbClr val="F4F4F4"/>
                    </a:solidFill>
                  </a:tcPr>
                </a:tc>
                <a:tc>
                  <a:txBody>
                    <a:bodyPr/>
                    <a:lstStyle/>
                    <a:p>
                      <a:pPr algn="l"/>
                      <a:r>
                        <a:rPr sz="1200" b="0">
                          <a:solidFill>
                            <a:srgbClr val="1A1A2E"/>
                          </a:solidFill>
                          <a:latin typeface="游ゴシック"/>
                        </a:rPr>
                        <a:t>MAX31855_CS 定数</a:t>
                      </a:r>
                    </a:p>
                  </a:txBody>
                  <a:tcPr>
                    <a:solidFill>
                      <a:srgbClr val="F4F4F4"/>
                    </a:solidFill>
                  </a:tcPr>
                </a:tc>
              </a:tr>
              <a:tr h="411480">
                <a:tc>
                  <a:txBody>
                    <a:bodyPr/>
                    <a:lstStyle/>
                    <a:p>
                      <a:pPr algn="l"/>
                      <a:r>
                        <a:rPr sz="1200" b="0">
                          <a:solidFill>
                            <a:srgbClr val="1A1A2E"/>
                          </a:solidFill>
                          <a:latin typeface="游ゴシック"/>
                        </a:rPr>
                        <a:t>GPIO 4</a:t>
                      </a:r>
                    </a:p>
                  </a:txBody>
                  <a:tcPr>
                    <a:solidFill>
                      <a:srgbClr val="FFFFFF"/>
                    </a:solidFill>
                  </a:tcPr>
                </a:tc>
                <a:tc>
                  <a:txBody>
                    <a:bodyPr/>
                    <a:lstStyle/>
                    <a:p>
                      <a:pPr algn="l"/>
                      <a:r>
                        <a:rPr sz="1200" b="0">
                          <a:solidFill>
                            <a:srgbClr val="1A1A2E"/>
                          </a:solidFill>
                          <a:latin typeface="游ゴシック"/>
                        </a:rPr>
                        <a:t>CS (SD Card)</a:t>
                      </a:r>
                    </a:p>
                  </a:txBody>
                  <a:tcPr>
                    <a:solidFill>
                      <a:srgbClr val="FFFFFF"/>
                    </a:solidFill>
                  </a:tcPr>
                </a:tc>
                <a:tc>
                  <a:txBody>
                    <a:bodyPr/>
                    <a:lstStyle/>
                    <a:p>
                      <a:pPr algn="l"/>
                      <a:r>
                        <a:rPr sz="1200" b="0">
                          <a:solidFill>
                            <a:srgbClr val="1A1A2E"/>
                          </a:solidFill>
                          <a:latin typeface="游ゴシック"/>
                        </a:rPr>
                        <a:t>MicroSD CS</a:t>
                      </a:r>
                    </a:p>
                  </a:txBody>
                  <a:tcPr>
                    <a:solidFill>
                      <a:srgbClr val="FFFFFF"/>
                    </a:solidFill>
                  </a:tcPr>
                </a:tc>
                <a:tc>
                  <a:txBody>
                    <a:bodyPr/>
                    <a:lstStyle/>
                    <a:p>
                      <a:pPr algn="l"/>
                      <a:r>
                        <a:rPr sz="1200" b="0">
                          <a:solidFill>
                            <a:srgbClr val="1A1A2E"/>
                          </a:solidFill>
                          <a:latin typeface="游ゴシック"/>
                        </a:rPr>
                        <a:t>TFCARD_CS_PIN (内蔵)</a:t>
                      </a:r>
                    </a:p>
                  </a:txBody>
                  <a:tcPr>
                    <a:solidFill>
                      <a:srgbClr val="FFFFFF"/>
                    </a:solidFill>
                  </a:tcPr>
                </a:tc>
              </a:tr>
            </a:tbl>
          </a:graphicData>
        </a:graphic>
      </p:graphicFrame>
      <p:sp>
        <p:nvSpPr>
          <p:cNvPr id="10" name="Rectangle 9"/>
          <p:cNvSpPr/>
          <p:nvPr/>
        </p:nvSpPr>
        <p:spPr>
          <a:xfrm>
            <a:off x="320040" y="4114800"/>
            <a:ext cx="11548872" cy="1005840"/>
          </a:xfrm>
          <a:prstGeom prst="rect">
            <a:avLst/>
          </a:prstGeom>
          <a:solidFill>
            <a:srgbClr val="FFE0E0"/>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160520"/>
            <a:ext cx="11155680" cy="365760"/>
          </a:xfrm>
          <a:prstGeom prst="rect">
            <a:avLst/>
          </a:prstGeom>
          <a:noFill/>
        </p:spPr>
        <p:txBody>
          <a:bodyPr wrap="square">
            <a:spAutoFit/>
          </a:bodyPr>
          <a:lstStyle/>
          <a:p>
            <a:pPr algn="l"/>
            <a:r>
              <a:rPr sz="1300" b="1" i="0">
                <a:solidFill>
                  <a:srgbClr val="C0392B"/>
                </a:solidFill>
                <a:latin typeface="游ゴシック"/>
              </a:rPr>
              <a:t>⚠ SD カードの CS は GPIO4 (TFCARD_CS_PIN) で内部配線済み。M5.begin() で SPI 初期化時に自動処理される。</a:t>
            </a:r>
          </a:p>
        </p:txBody>
      </p:sp>
      <p:sp>
        <p:nvSpPr>
          <p:cNvPr id="12" name="TextBox 11"/>
          <p:cNvSpPr txBox="1"/>
          <p:nvPr/>
        </p:nvSpPr>
        <p:spPr>
          <a:xfrm>
            <a:off x="502920" y="4553712"/>
            <a:ext cx="11155680" cy="384048"/>
          </a:xfrm>
          <a:prstGeom prst="rect">
            <a:avLst/>
          </a:prstGeom>
          <a:noFill/>
        </p:spPr>
        <p:txBody>
          <a:bodyPr wrap="square">
            <a:spAutoFit/>
          </a:bodyPr>
          <a:lstStyle/>
          <a:p>
            <a:pPr algn="l"/>
            <a:r>
              <a:rPr sz="1200" b="0" i="0">
                <a:solidFill>
                  <a:srgbClr val="1A1A2E"/>
                </a:solidFill>
                <a:latin typeface="Consolas"/>
              </a:rPr>
              <a:t>SD.begin(TFCARD_CS_PIN, SPI, 40000000);  // GPIO4 明示指定で GPIO5 衝突回避！</a:t>
            </a:r>
          </a:p>
        </p:txBody>
      </p:sp>
      <p:sp>
        <p:nvSpPr>
          <p:cNvPr id="13" name="Rectangle 12"/>
          <p:cNvSpPr/>
          <p:nvPr/>
        </p:nvSpPr>
        <p:spPr>
          <a:xfrm>
            <a:off x="320040" y="5212080"/>
            <a:ext cx="11548872"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276088"/>
            <a:ext cx="11155680" cy="384048"/>
          </a:xfrm>
          <a:prstGeom prst="rect">
            <a:avLst/>
          </a:prstGeom>
          <a:noFill/>
        </p:spPr>
        <p:txBody>
          <a:bodyPr wrap="square">
            <a:spAutoFit/>
          </a:bodyPr>
          <a:lstStyle/>
          <a:p>
            <a:pPr algn="l"/>
            <a:r>
              <a:rPr sz="1200" b="0" i="0">
                <a:solidFill>
                  <a:srgbClr val="1A1A2E"/>
                </a:solidFill>
                <a:latin typeface="游ゴシック"/>
              </a:rPr>
              <a:t>EEPROM: ESP32 内蔵フラッシュを仮想 EEPROM として使用（外部配線なし）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ソフトウェアアーキテクチャ</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3  ソフトウェア設計</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8</a:t>
            </a:r>
          </a:p>
        </p:txBody>
      </p:sp>
      <p:graphicFrame>
        <p:nvGraphicFramePr>
          <p:cNvPr id="8" name="Table 7"/>
          <p:cNvGraphicFramePr>
            <a:graphicFrameLocks noGrp="1"/>
          </p:cNvGraphicFramePr>
          <p:nvPr/>
        </p:nvGraphicFramePr>
        <p:xfrm>
          <a:off x="320040" y="1051560"/>
          <a:ext cx="11521440" cy="3511296"/>
        </p:xfrm>
        <a:graphic>
          <a:graphicData uri="http://schemas.openxmlformats.org/drawingml/2006/table">
            <a:tbl>
              <a:tblPr firstRow="1" bandRow="1">
                <a:tableStyleId>{5C22544A-7EE6-4342-B048-85BDC9FD1C3A}</a:tableStyleId>
              </a:tblPr>
              <a:tblGrid>
                <a:gridCol w="2560320"/>
                <a:gridCol w="2743200"/>
                <a:gridCol w="6217920"/>
              </a:tblGrid>
              <a:tr h="438912">
                <a:tc>
                  <a:txBody>
                    <a:bodyPr/>
                    <a:lstStyle/>
                    <a:p>
                      <a:pPr algn="l"/>
                      <a:r>
                        <a:rPr sz="1300" b="1">
                          <a:solidFill>
                            <a:srgbClr val="FFFFFF"/>
                          </a:solidFill>
                          <a:latin typeface="Segoe UI"/>
                        </a:rPr>
                        <a:t>ファイル</a:t>
                      </a:r>
                    </a:p>
                  </a:txBody>
                  <a:tcPr>
                    <a:solidFill>
                      <a:srgbClr val="0D477F"/>
                    </a:solidFill>
                  </a:tcPr>
                </a:tc>
                <a:tc>
                  <a:txBody>
                    <a:bodyPr/>
                    <a:lstStyle/>
                    <a:p>
                      <a:pPr algn="l"/>
                      <a:r>
                        <a:rPr sz="1300" b="1">
                          <a:solidFill>
                            <a:srgbClr val="FFFFFF"/>
                          </a:solidFill>
                          <a:latin typeface="Segoe UI"/>
                        </a:rPr>
                        <a:t>クラス / 関数</a:t>
                      </a:r>
                    </a:p>
                  </a:txBody>
                  <a:tcPr>
                    <a:solidFill>
                      <a:srgbClr val="0D477F"/>
                    </a:solidFill>
                  </a:tcPr>
                </a:tc>
                <a:tc>
                  <a:txBody>
                    <a:bodyPr/>
                    <a:lstStyle/>
                    <a:p>
                      <a:pPr algn="l"/>
                      <a:r>
                        <a:rPr sz="1300" b="1">
                          <a:solidFill>
                            <a:srgbClr val="FFFFFF"/>
                          </a:solidFill>
                          <a:latin typeface="Segoe UI"/>
                        </a:rPr>
                        <a:t>責務</a:t>
                      </a:r>
                    </a:p>
                  </a:txBody>
                  <a:tcPr>
                    <a:solidFill>
                      <a:srgbClr val="0D477F"/>
                    </a:solidFill>
                  </a:tcPr>
                </a:tc>
              </a:tr>
              <a:tr h="438912">
                <a:tc>
                  <a:txBody>
                    <a:bodyPr/>
                    <a:lstStyle/>
                    <a:p>
                      <a:pPr algn="l"/>
                      <a:r>
                        <a:rPr sz="1200" b="0">
                          <a:solidFill>
                            <a:srgbClr val="1A1A2E"/>
                          </a:solidFill>
                          <a:latin typeface="游ゴシック"/>
                        </a:rPr>
                        <a:t>main.cpp</a:t>
                      </a:r>
                    </a:p>
                  </a:txBody>
                  <a:tcPr>
                    <a:solidFill>
                      <a:srgbClr val="FFFFFF"/>
                    </a:solidFill>
                  </a:tcPr>
                </a:tc>
                <a:tc>
                  <a:txBody>
                    <a:bodyPr/>
                    <a:lstStyle/>
                    <a:p>
                      <a:pPr algn="l"/>
                      <a:r>
                        <a:rPr sz="1200" b="0">
                          <a:solidFill>
                            <a:srgbClr val="1A1A2E"/>
                          </a:solidFill>
                          <a:latin typeface="游ゴシック"/>
                        </a:rPr>
                        <a:t>setup() / loop()</a:t>
                      </a:r>
                    </a:p>
                  </a:txBody>
                  <a:tcPr>
                    <a:solidFill>
                      <a:srgbClr val="FFFFFF"/>
                    </a:solidFill>
                  </a:tcPr>
                </a:tc>
                <a:tc>
                  <a:txBody>
                    <a:bodyPr/>
                    <a:lstStyle/>
                    <a:p>
                      <a:pPr algn="l"/>
                      <a:r>
                        <a:rPr sz="1200" b="0">
                          <a:solidFill>
                            <a:srgbClr val="1A1A2E"/>
                          </a:solidFill>
                          <a:latin typeface="游ゴシック"/>
                        </a:rPr>
                        <a:t>起動処理・3タスクのスケジューリング</a:t>
                      </a:r>
                    </a:p>
                  </a:txBody>
                  <a:tcPr>
                    <a:solidFill>
                      <a:srgbClr val="FFFFFF"/>
                    </a:solidFill>
                  </a:tcPr>
                </a:tc>
              </a:tr>
              <a:tr h="438912">
                <a:tc>
                  <a:txBody>
                    <a:bodyPr/>
                    <a:lstStyle/>
                    <a:p>
                      <a:pPr algn="l"/>
                      <a:r>
                        <a:rPr sz="1200" b="0">
                          <a:solidFill>
                            <a:srgbClr val="1A1A2E"/>
                          </a:solidFill>
                          <a:latin typeface="游ゴシック"/>
                        </a:rPr>
                        <a:t>Tasks.cpp</a:t>
                      </a:r>
                    </a:p>
                  </a:txBody>
                  <a:tcPr>
                    <a:solidFill>
                      <a:srgbClr val="F4F4F4"/>
                    </a:solidFill>
                  </a:tcPr>
                </a:tc>
                <a:tc>
                  <a:txBody>
                    <a:bodyPr/>
                    <a:lstStyle/>
                    <a:p>
                      <a:pPr algn="l"/>
                      <a:r>
                        <a:rPr sz="1200" b="0">
                          <a:solidFill>
                            <a:srgbClr val="1A1A2E"/>
                          </a:solidFill>
                          <a:latin typeface="游ゴシック"/>
                        </a:rPr>
                        <a:t>IO_Task()</a:t>
                      </a:r>
                    </a:p>
                  </a:txBody>
                  <a:tcPr>
                    <a:solidFill>
                      <a:srgbClr val="F4F4F4"/>
                    </a:solidFill>
                  </a:tcPr>
                </a:tc>
                <a:tc>
                  <a:txBody>
                    <a:bodyPr/>
                    <a:lstStyle/>
                    <a:p>
                      <a:pPr algn="l"/>
                      <a:r>
                        <a:rPr sz="1200" b="0">
                          <a:solidFill>
                            <a:srgbClr val="1A1A2E"/>
                          </a:solidFill>
                          <a:latin typeface="游ゴシック"/>
                        </a:rPr>
                        <a:t>センサ読取・ボタン検出・アラーム判定 (10ms)</a:t>
                      </a:r>
                    </a:p>
                  </a:txBody>
                  <a:tcPr>
                    <a:solidFill>
                      <a:srgbClr val="F4F4F4"/>
                    </a:solidFill>
                  </a:tcPr>
                </a:tc>
              </a:tr>
              <a:tr h="438912">
                <a:tc>
                  <a:txBody>
                    <a:bodyPr/>
                    <a:lstStyle/>
                    <a:p>
                      <a:pPr algn="l"/>
                      <a:r>
                        <a:rPr sz="1200" b="0">
                          <a:solidFill>
                            <a:srgbClr val="1A1A2E"/>
                          </a:solidFill>
                          <a:latin typeface="游ゴシック"/>
                        </a:rPr>
                        <a:t>Tasks.cpp</a:t>
                      </a:r>
                    </a:p>
                  </a:txBody>
                  <a:tcPr>
                    <a:solidFill>
                      <a:srgbClr val="FFFFFF"/>
                    </a:solidFill>
                  </a:tcPr>
                </a:tc>
                <a:tc>
                  <a:txBody>
                    <a:bodyPr/>
                    <a:lstStyle/>
                    <a:p>
                      <a:pPr algn="l"/>
                      <a:r>
                        <a:rPr sz="1200" b="0">
                          <a:solidFill>
                            <a:srgbClr val="1A1A2E"/>
                          </a:solidFill>
                          <a:latin typeface="游ゴシック"/>
                        </a:rPr>
                        <a:t>Logic_Task()</a:t>
                      </a:r>
                    </a:p>
                  </a:txBody>
                  <a:tcPr>
                    <a:solidFill>
                      <a:srgbClr val="FFFFFF"/>
                    </a:solidFill>
                  </a:tcPr>
                </a:tc>
                <a:tc>
                  <a:txBody>
                    <a:bodyPr/>
                    <a:lstStyle/>
                    <a:p>
                      <a:pPr algn="l"/>
                      <a:r>
                        <a:rPr sz="1200" b="0">
                          <a:solidFill>
                            <a:srgbClr val="1A1A2E"/>
                          </a:solidFill>
                          <a:latin typeface="游ゴシック"/>
                        </a:rPr>
                        <a:t>状態遷移・Welford統計演算 (50ms)</a:t>
                      </a:r>
                    </a:p>
                  </a:txBody>
                  <a:tcPr>
                    <a:solidFill>
                      <a:srgbClr val="FFFFFF"/>
                    </a:solidFill>
                  </a:tcPr>
                </a:tc>
              </a:tr>
              <a:tr h="438912">
                <a:tc>
                  <a:txBody>
                    <a:bodyPr/>
                    <a:lstStyle/>
                    <a:p>
                      <a:pPr algn="l"/>
                      <a:r>
                        <a:rPr sz="1200" b="0">
                          <a:solidFill>
                            <a:srgbClr val="1A1A2E"/>
                          </a:solidFill>
                          <a:latin typeface="游ゴシック"/>
                        </a:rPr>
                        <a:t>Tasks.cpp</a:t>
                      </a:r>
                    </a:p>
                  </a:txBody>
                  <a:tcPr>
                    <a:solidFill>
                      <a:srgbClr val="F4F4F4"/>
                    </a:solidFill>
                  </a:tcPr>
                </a:tc>
                <a:tc>
                  <a:txBody>
                    <a:bodyPr/>
                    <a:lstStyle/>
                    <a:p>
                      <a:pPr algn="l"/>
                      <a:r>
                        <a:rPr sz="1200" b="0">
                          <a:solidFill>
                            <a:srgbClr val="1A1A2E"/>
                          </a:solidFill>
                          <a:latin typeface="游ゴシック"/>
                        </a:rPr>
                        <a:t>UI_Task()</a:t>
                      </a:r>
                    </a:p>
                  </a:txBody>
                  <a:tcPr>
                    <a:solidFill>
                      <a:srgbClr val="F4F4F4"/>
                    </a:solidFill>
                  </a:tcPr>
                </a:tc>
                <a:tc>
                  <a:txBody>
                    <a:bodyPr/>
                    <a:lstStyle/>
                    <a:p>
                      <a:pPr algn="l"/>
                      <a:r>
                        <a:rPr sz="1200" b="0">
                          <a:solidFill>
                            <a:srgbClr val="1A1A2E"/>
                          </a:solidFill>
                          <a:latin typeface="游ゴシック"/>
                        </a:rPr>
                        <a:t>LCD 描画（差分更新） (200ms)</a:t>
                      </a:r>
                    </a:p>
                  </a:txBody>
                  <a:tcPr>
                    <a:solidFill>
                      <a:srgbClr val="F4F4F4"/>
                    </a:solidFill>
                  </a:tcPr>
                </a:tc>
              </a:tr>
              <a:tr h="438912">
                <a:tc>
                  <a:txBody>
                    <a:bodyPr/>
                    <a:lstStyle/>
                    <a:p>
                      <a:pPr algn="l"/>
                      <a:r>
                        <a:rPr sz="1200" b="0">
                          <a:solidFill>
                            <a:srgbClr val="1A1A2E"/>
                          </a:solidFill>
                          <a:latin typeface="游ゴシック"/>
                        </a:rPr>
                        <a:t>SDManager.cpp</a:t>
                      </a:r>
                    </a:p>
                  </a:txBody>
                  <a:tcPr>
                    <a:solidFill>
                      <a:srgbClr val="FFFFFF"/>
                    </a:solidFill>
                  </a:tcPr>
                </a:tc>
                <a:tc>
                  <a:txBody>
                    <a:bodyPr/>
                    <a:lstStyle/>
                    <a:p>
                      <a:pPr algn="l"/>
                      <a:r>
                        <a:rPr sz="1200" b="0">
                          <a:solidFill>
                            <a:srgbClr val="1A1A2E"/>
                          </a:solidFill>
                          <a:latin typeface="游ゴシック"/>
                        </a:rPr>
                        <a:t>SDManager クラス</a:t>
                      </a:r>
                    </a:p>
                  </a:txBody>
                  <a:tcPr>
                    <a:solidFill>
                      <a:srgbClr val="FFFFFF"/>
                    </a:solidFill>
                  </a:tcPr>
                </a:tc>
                <a:tc>
                  <a:txBody>
                    <a:bodyPr/>
                    <a:lstStyle/>
                    <a:p>
                      <a:pPr algn="l"/>
                      <a:r>
                        <a:rPr sz="1200" b="0">
                          <a:solidFill>
                            <a:srgbClr val="1A1A2E"/>
                          </a:solidFill>
                          <a:latin typeface="游ゴシック"/>
                        </a:rPr>
                        <a:t>CSV ファイル作成・ヘッダ/データ書込</a:t>
                      </a:r>
                    </a:p>
                  </a:txBody>
                  <a:tcPr>
                    <a:solidFill>
                      <a:srgbClr val="FFFFFF"/>
                    </a:solidFill>
                  </a:tcPr>
                </a:tc>
              </a:tr>
              <a:tr h="438912">
                <a:tc>
                  <a:txBody>
                    <a:bodyPr/>
                    <a:lstStyle/>
                    <a:p>
                      <a:pPr algn="l"/>
                      <a:r>
                        <a:rPr sz="1200" b="0">
                          <a:solidFill>
                            <a:srgbClr val="1A1A2E"/>
                          </a:solidFill>
                          <a:latin typeface="游ゴシック"/>
                        </a:rPr>
                        <a:t>EEPROMManager.cpp</a:t>
                      </a:r>
                    </a:p>
                  </a:txBody>
                  <a:tcPr>
                    <a:solidFill>
                      <a:srgbClr val="F4F4F4"/>
                    </a:solidFill>
                  </a:tcPr>
                </a:tc>
                <a:tc>
                  <a:txBody>
                    <a:bodyPr/>
                    <a:lstStyle/>
                    <a:p>
                      <a:pPr algn="l"/>
                      <a:r>
                        <a:rPr sz="1200" b="0">
                          <a:solidFill>
                            <a:srgbClr val="1A1A2E"/>
                          </a:solidFill>
                          <a:latin typeface="游ゴシック"/>
                        </a:rPr>
                        <a:t>EEPROMManager クラス</a:t>
                      </a:r>
                    </a:p>
                  </a:txBody>
                  <a:tcPr>
                    <a:solidFill>
                      <a:srgbClr val="F4F4F4"/>
                    </a:solidFill>
                  </a:tcPr>
                </a:tc>
                <a:tc>
                  <a:txBody>
                    <a:bodyPr/>
                    <a:lstStyle/>
                    <a:p>
                      <a:pPr algn="l"/>
                      <a:r>
                        <a:rPr sz="1200" b="0">
                          <a:solidFill>
                            <a:srgbClr val="1A1A2E"/>
                          </a:solidFill>
                          <a:latin typeface="游ゴシック"/>
                        </a:rPr>
                        <a:t>アラーム値の読書き・チェックサム検証</a:t>
                      </a:r>
                    </a:p>
                  </a:txBody>
                  <a:tcPr>
                    <a:solidFill>
                      <a:srgbClr val="F4F4F4"/>
                    </a:solidFill>
                  </a:tcPr>
                </a:tc>
              </a:tr>
              <a:tr h="438912">
                <a:tc>
                  <a:txBody>
                    <a:bodyPr/>
                    <a:lstStyle/>
                    <a:p>
                      <a:pPr algn="l"/>
                      <a:r>
                        <a:rPr sz="1200" b="0">
                          <a:solidFill>
                            <a:srgbClr val="1A1A2E"/>
                          </a:solidFill>
                          <a:latin typeface="游ゴシック"/>
                        </a:rPr>
                        <a:t>MeasurementCore.cpp</a:t>
                      </a:r>
                    </a:p>
                  </a:txBody>
                  <a:tcPr>
                    <a:solidFill>
                      <a:srgbClr val="FFFFFF"/>
                    </a:solidFill>
                  </a:tcPr>
                </a:tc>
                <a:tc>
                  <a:txBody>
                    <a:bodyPr/>
                    <a:lstStyle/>
                    <a:p>
                      <a:pPr algn="l"/>
                      <a:r>
                        <a:rPr sz="1200" b="0">
                          <a:solidFill>
                            <a:srgbClr val="1A1A2E"/>
                          </a:solidFill>
                          <a:latin typeface="游ゴシック"/>
                        </a:rPr>
                        <a:t>MeasurementCore クラス</a:t>
                      </a:r>
                    </a:p>
                  </a:txBody>
                  <a:tcPr>
                    <a:solidFill>
                      <a:srgbClr val="FFFFFF"/>
                    </a:solidFill>
                  </a:tcPr>
                </a:tc>
                <a:tc>
                  <a:txBody>
                    <a:bodyPr/>
                    <a:lstStyle/>
                    <a:p>
                      <a:pPr algn="l"/>
                      <a:r>
                        <a:rPr sz="1200" b="0">
                          <a:solidFill>
                            <a:srgbClr val="1A1A2E"/>
                          </a:solidFill>
                          <a:latin typeface="游ゴシック"/>
                        </a:rPr>
                        <a:t>純粋ロジック（ユニットテスト用）</a:t>
                      </a:r>
                    </a:p>
                  </a:txBody>
                  <a:tcPr>
                    <a:solidFill>
                      <a:srgbClr val="FFFFFF"/>
                    </a:solidFill>
                  </a:tcPr>
                </a:tc>
              </a:tr>
            </a:tbl>
          </a:graphicData>
        </a:graphic>
      </p:graphicFrame>
      <p:sp>
        <p:nvSpPr>
          <p:cNvPr id="9" name="Rectangle 8"/>
          <p:cNvSpPr/>
          <p:nvPr/>
        </p:nvSpPr>
        <p:spPr>
          <a:xfrm>
            <a:off x="320040" y="4700016"/>
            <a:ext cx="11548872"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764024"/>
            <a:ext cx="11155680" cy="384048"/>
          </a:xfrm>
          <a:prstGeom prst="rect">
            <a:avLst/>
          </a:prstGeom>
          <a:noFill/>
        </p:spPr>
        <p:txBody>
          <a:bodyPr wrap="square">
            <a:spAutoFit/>
          </a:bodyPr>
          <a:lstStyle/>
          <a:p>
            <a:pPr algn="l"/>
            <a:r>
              <a:rPr sz="1200" b="0" i="0">
                <a:solidFill>
                  <a:srgbClr val="1A1A2E"/>
                </a:solidFill>
                <a:latin typeface="游ゴシック"/>
              </a:rPr>
              <a:t>「単一 loop()」ではなく millis() による周期分割で処理の干渉を防止。グローバル構造体 GlobalData (G) でタスク間データを共有（PLC の D/M デバイス設計に着想）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状態機械（4 状態）</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3  ソフトウェア設計</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9</a:t>
            </a:r>
          </a:p>
        </p:txBody>
      </p:sp>
      <p:sp>
        <p:nvSpPr>
          <p:cNvPr id="8" name="Rectangle 7"/>
          <p:cNvSpPr/>
          <p:nvPr/>
        </p:nvSpPr>
        <p:spPr>
          <a:xfrm>
            <a:off x="320040" y="1051560"/>
            <a:ext cx="2560320" cy="27432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88720"/>
            <a:ext cx="2377440" cy="548640"/>
          </a:xfrm>
          <a:prstGeom prst="rect">
            <a:avLst/>
          </a:prstGeom>
          <a:noFill/>
        </p:spPr>
        <p:txBody>
          <a:bodyPr wrap="square">
            <a:spAutoFit/>
          </a:bodyPr>
          <a:lstStyle/>
          <a:p>
            <a:pPr algn="ctr"/>
            <a:r>
              <a:rPr sz="1800" b="1" i="0">
                <a:solidFill>
                  <a:srgbClr val="FFFFFF"/>
                </a:solidFill>
                <a:latin typeface="Segoe UI"/>
              </a:rPr>
              <a:t>IDLE</a:t>
            </a:r>
          </a:p>
        </p:txBody>
      </p:sp>
      <p:sp>
        <p:nvSpPr>
          <p:cNvPr id="10" name="TextBox 9"/>
          <p:cNvSpPr txBox="1"/>
          <p:nvPr/>
        </p:nvSpPr>
        <p:spPr>
          <a:xfrm>
            <a:off x="411480" y="1783080"/>
            <a:ext cx="2377440" cy="502920"/>
          </a:xfrm>
          <a:prstGeom prst="rect">
            <a:avLst/>
          </a:prstGeom>
          <a:noFill/>
        </p:spPr>
        <p:txBody>
          <a:bodyPr wrap="square">
            <a:spAutoFit/>
          </a:bodyPr>
          <a:lstStyle/>
          <a:p>
            <a:pPr algn="ctr"/>
            <a:r>
              <a:rPr sz="1200" b="0" i="0">
                <a:solidFill>
                  <a:srgbClr val="FFFFFF"/>
                </a:solidFill>
                <a:latin typeface="游ゴシック"/>
              </a:rPr>
              <a:t>待機中 / 温度監視</a:t>
            </a:r>
          </a:p>
        </p:txBody>
      </p:sp>
      <p:sp>
        <p:nvSpPr>
          <p:cNvPr id="11" name="TextBox 10"/>
          <p:cNvSpPr txBox="1"/>
          <p:nvPr/>
        </p:nvSpPr>
        <p:spPr>
          <a:xfrm>
            <a:off x="411480" y="2331720"/>
            <a:ext cx="2377440" cy="457200"/>
          </a:xfrm>
          <a:prstGeom prst="rect">
            <a:avLst/>
          </a:prstGeom>
          <a:noFill/>
        </p:spPr>
        <p:txBody>
          <a:bodyPr wrap="square">
            <a:spAutoFit/>
          </a:bodyPr>
          <a:lstStyle/>
          <a:p>
            <a:pPr algn="ctr"/>
            <a:r>
              <a:rPr sz="1100" b="0" i="0">
                <a:solidFill>
                  <a:srgbClr val="FF6D00"/>
                </a:solidFill>
                <a:latin typeface="游ゴシック"/>
              </a:rPr>
              <a:t>起動直後 / RESULT 後
/ 設定終了後</a:t>
            </a:r>
          </a:p>
        </p:txBody>
      </p:sp>
      <p:sp>
        <p:nvSpPr>
          <p:cNvPr id="12" name="TextBox 11"/>
          <p:cNvSpPr txBox="1"/>
          <p:nvPr/>
        </p:nvSpPr>
        <p:spPr>
          <a:xfrm>
            <a:off x="2971800" y="2286000"/>
            <a:ext cx="228600" cy="457200"/>
          </a:xfrm>
          <a:prstGeom prst="rect">
            <a:avLst/>
          </a:prstGeom>
          <a:noFill/>
        </p:spPr>
        <p:txBody>
          <a:bodyPr wrap="square">
            <a:spAutoFit/>
          </a:bodyPr>
          <a:lstStyle/>
          <a:p>
            <a:pPr algn="ctr"/>
            <a:r>
              <a:rPr sz="1600" b="0" i="0">
                <a:solidFill>
                  <a:srgbClr val="999999"/>
                </a:solidFill>
                <a:latin typeface="Segoe UI"/>
              </a:rPr>
              <a:t>▶</a:t>
            </a:r>
          </a:p>
        </p:txBody>
      </p:sp>
      <p:sp>
        <p:nvSpPr>
          <p:cNvPr id="13" name="Rectangle 12"/>
          <p:cNvSpPr/>
          <p:nvPr/>
        </p:nvSpPr>
        <p:spPr>
          <a:xfrm>
            <a:off x="3154680" y="1051560"/>
            <a:ext cx="2560320" cy="274320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1188720"/>
            <a:ext cx="2377440" cy="548640"/>
          </a:xfrm>
          <a:prstGeom prst="rect">
            <a:avLst/>
          </a:prstGeom>
          <a:noFill/>
        </p:spPr>
        <p:txBody>
          <a:bodyPr wrap="square">
            <a:spAutoFit/>
          </a:bodyPr>
          <a:lstStyle/>
          <a:p>
            <a:pPr algn="ctr"/>
            <a:r>
              <a:rPr sz="1800" b="1" i="0">
                <a:solidFill>
                  <a:srgbClr val="FFFFFF"/>
                </a:solidFill>
                <a:latin typeface="Segoe UI"/>
              </a:rPr>
              <a:t>RUN</a:t>
            </a:r>
          </a:p>
        </p:txBody>
      </p:sp>
      <p:sp>
        <p:nvSpPr>
          <p:cNvPr id="15" name="TextBox 14"/>
          <p:cNvSpPr txBox="1"/>
          <p:nvPr/>
        </p:nvSpPr>
        <p:spPr>
          <a:xfrm>
            <a:off x="3246120" y="1783080"/>
            <a:ext cx="2377440" cy="502920"/>
          </a:xfrm>
          <a:prstGeom prst="rect">
            <a:avLst/>
          </a:prstGeom>
          <a:noFill/>
        </p:spPr>
        <p:txBody>
          <a:bodyPr wrap="square">
            <a:spAutoFit/>
          </a:bodyPr>
          <a:lstStyle/>
          <a:p>
            <a:pPr algn="ctr"/>
            <a:r>
              <a:rPr sz="1200" b="0" i="0">
                <a:solidFill>
                  <a:srgbClr val="FFFFFF"/>
                </a:solidFill>
                <a:latin typeface="游ゴシック"/>
              </a:rPr>
              <a:t>計測中 / CSV 記録</a:t>
            </a:r>
          </a:p>
        </p:txBody>
      </p:sp>
      <p:sp>
        <p:nvSpPr>
          <p:cNvPr id="16" name="TextBox 15"/>
          <p:cNvSpPr txBox="1"/>
          <p:nvPr/>
        </p:nvSpPr>
        <p:spPr>
          <a:xfrm>
            <a:off x="3246120" y="2331720"/>
            <a:ext cx="2377440" cy="457200"/>
          </a:xfrm>
          <a:prstGeom prst="rect">
            <a:avLst/>
          </a:prstGeom>
          <a:noFill/>
        </p:spPr>
        <p:txBody>
          <a:bodyPr wrap="square">
            <a:spAutoFit/>
          </a:bodyPr>
          <a:lstStyle/>
          <a:p>
            <a:pPr algn="ctr"/>
            <a:r>
              <a:rPr sz="1100" b="0" i="0">
                <a:solidFill>
                  <a:srgbClr val="FFFFFF"/>
                </a:solidFill>
                <a:latin typeface="游ゴシック"/>
              </a:rPr>
              <a:t>IDLE → BtnA</a:t>
            </a:r>
          </a:p>
        </p:txBody>
      </p:sp>
      <p:sp>
        <p:nvSpPr>
          <p:cNvPr id="17" name="TextBox 16"/>
          <p:cNvSpPr txBox="1"/>
          <p:nvPr/>
        </p:nvSpPr>
        <p:spPr>
          <a:xfrm>
            <a:off x="5806440" y="2286000"/>
            <a:ext cx="228600" cy="457200"/>
          </a:xfrm>
          <a:prstGeom prst="rect">
            <a:avLst/>
          </a:prstGeom>
          <a:noFill/>
        </p:spPr>
        <p:txBody>
          <a:bodyPr wrap="square">
            <a:spAutoFit/>
          </a:bodyPr>
          <a:lstStyle/>
          <a:p>
            <a:pPr algn="ctr"/>
            <a:r>
              <a:rPr sz="1600" b="0" i="0">
                <a:solidFill>
                  <a:srgbClr val="999999"/>
                </a:solidFill>
                <a:latin typeface="Segoe UI"/>
              </a:rPr>
              <a:t>▶</a:t>
            </a:r>
          </a:p>
        </p:txBody>
      </p:sp>
      <p:sp>
        <p:nvSpPr>
          <p:cNvPr id="18" name="Rectangle 17"/>
          <p:cNvSpPr/>
          <p:nvPr/>
        </p:nvSpPr>
        <p:spPr>
          <a:xfrm>
            <a:off x="5989320" y="1051560"/>
            <a:ext cx="2560320" cy="2743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1188720"/>
            <a:ext cx="2377440" cy="548640"/>
          </a:xfrm>
          <a:prstGeom prst="rect">
            <a:avLst/>
          </a:prstGeom>
          <a:noFill/>
        </p:spPr>
        <p:txBody>
          <a:bodyPr wrap="square">
            <a:spAutoFit/>
          </a:bodyPr>
          <a:lstStyle/>
          <a:p>
            <a:pPr algn="ctr"/>
            <a:r>
              <a:rPr sz="1800" b="1" i="0">
                <a:solidFill>
                  <a:srgbClr val="FFFFFF"/>
                </a:solidFill>
                <a:latin typeface="Segoe UI"/>
              </a:rPr>
              <a:t>RESULT</a:t>
            </a:r>
          </a:p>
        </p:txBody>
      </p:sp>
      <p:sp>
        <p:nvSpPr>
          <p:cNvPr id="20" name="TextBox 19"/>
          <p:cNvSpPr txBox="1"/>
          <p:nvPr/>
        </p:nvSpPr>
        <p:spPr>
          <a:xfrm>
            <a:off x="6080760" y="1783080"/>
            <a:ext cx="2377440" cy="502920"/>
          </a:xfrm>
          <a:prstGeom prst="rect">
            <a:avLst/>
          </a:prstGeom>
          <a:noFill/>
        </p:spPr>
        <p:txBody>
          <a:bodyPr wrap="square">
            <a:spAutoFit/>
          </a:bodyPr>
          <a:lstStyle/>
          <a:p>
            <a:pPr algn="ctr"/>
            <a:r>
              <a:rPr sz="1200" b="0" i="0">
                <a:solidFill>
                  <a:srgbClr val="FFFFFF"/>
                </a:solidFill>
                <a:latin typeface="游ゴシック"/>
              </a:rPr>
              <a:t>統計結果表示 2ページ</a:t>
            </a:r>
          </a:p>
        </p:txBody>
      </p:sp>
      <p:sp>
        <p:nvSpPr>
          <p:cNvPr id="21" name="TextBox 20"/>
          <p:cNvSpPr txBox="1"/>
          <p:nvPr/>
        </p:nvSpPr>
        <p:spPr>
          <a:xfrm>
            <a:off x="6080760" y="2331720"/>
            <a:ext cx="2377440" cy="457200"/>
          </a:xfrm>
          <a:prstGeom prst="rect">
            <a:avLst/>
          </a:prstGeom>
          <a:noFill/>
        </p:spPr>
        <p:txBody>
          <a:bodyPr wrap="square">
            <a:spAutoFit/>
          </a:bodyPr>
          <a:lstStyle/>
          <a:p>
            <a:pPr algn="ctr"/>
            <a:r>
              <a:rPr sz="1100" b="0" i="0">
                <a:solidFill>
                  <a:srgbClr val="FFFFFF"/>
                </a:solidFill>
                <a:latin typeface="游ゴシック"/>
              </a:rPr>
              <a:t>RUN → BtnA</a:t>
            </a:r>
          </a:p>
        </p:txBody>
      </p:sp>
      <p:sp>
        <p:nvSpPr>
          <p:cNvPr id="22" name="TextBox 21"/>
          <p:cNvSpPr txBox="1"/>
          <p:nvPr/>
        </p:nvSpPr>
        <p:spPr>
          <a:xfrm>
            <a:off x="8641080" y="2286000"/>
            <a:ext cx="228600" cy="457200"/>
          </a:xfrm>
          <a:prstGeom prst="rect">
            <a:avLst/>
          </a:prstGeom>
          <a:noFill/>
        </p:spPr>
        <p:txBody>
          <a:bodyPr wrap="square">
            <a:spAutoFit/>
          </a:bodyPr>
          <a:lstStyle/>
          <a:p>
            <a:pPr algn="ctr"/>
            <a:r>
              <a:rPr sz="1600" b="0" i="0">
                <a:solidFill>
                  <a:srgbClr val="999999"/>
                </a:solidFill>
                <a:latin typeface="Segoe UI"/>
              </a:rPr>
              <a:t>▶</a:t>
            </a:r>
          </a:p>
        </p:txBody>
      </p:sp>
      <p:sp>
        <p:nvSpPr>
          <p:cNvPr id="23" name="Rectangle 22"/>
          <p:cNvSpPr/>
          <p:nvPr/>
        </p:nvSpPr>
        <p:spPr>
          <a:xfrm>
            <a:off x="8823960" y="1051560"/>
            <a:ext cx="2560320" cy="2743200"/>
          </a:xfrm>
          <a:prstGeom prst="rect">
            <a:avLst/>
          </a:prstGeom>
          <a:solidFill>
            <a:srgbClr val="7B2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15400" y="1188720"/>
            <a:ext cx="2377440" cy="548640"/>
          </a:xfrm>
          <a:prstGeom prst="rect">
            <a:avLst/>
          </a:prstGeom>
          <a:noFill/>
        </p:spPr>
        <p:txBody>
          <a:bodyPr wrap="square">
            <a:spAutoFit/>
          </a:bodyPr>
          <a:lstStyle/>
          <a:p>
            <a:pPr algn="ctr"/>
            <a:r>
              <a:rPr sz="1800" b="1" i="0">
                <a:solidFill>
                  <a:srgbClr val="FFFFFF"/>
                </a:solidFill>
                <a:latin typeface="Segoe UI"/>
              </a:rPr>
              <a:t>ALARM
SETTING</a:t>
            </a:r>
          </a:p>
        </p:txBody>
      </p:sp>
      <p:sp>
        <p:nvSpPr>
          <p:cNvPr id="25" name="TextBox 24"/>
          <p:cNvSpPr txBox="1"/>
          <p:nvPr/>
        </p:nvSpPr>
        <p:spPr>
          <a:xfrm>
            <a:off x="8915400" y="1783080"/>
            <a:ext cx="2377440" cy="502920"/>
          </a:xfrm>
          <a:prstGeom prst="rect">
            <a:avLst/>
          </a:prstGeom>
          <a:noFill/>
        </p:spPr>
        <p:txBody>
          <a:bodyPr wrap="square">
            <a:spAutoFit/>
          </a:bodyPr>
          <a:lstStyle/>
          <a:p>
            <a:pPr algn="ctr"/>
            <a:r>
              <a:rPr sz="1200" b="0" i="0">
                <a:solidFill>
                  <a:srgbClr val="FFFFFF"/>
                </a:solidFill>
                <a:latin typeface="游ゴシック"/>
              </a:rPr>
              <a:t>HI/LO 閾値設定</a:t>
            </a:r>
          </a:p>
        </p:txBody>
      </p:sp>
      <p:sp>
        <p:nvSpPr>
          <p:cNvPr id="26" name="TextBox 25"/>
          <p:cNvSpPr txBox="1"/>
          <p:nvPr/>
        </p:nvSpPr>
        <p:spPr>
          <a:xfrm>
            <a:off x="8915400" y="2331720"/>
            <a:ext cx="2377440" cy="457200"/>
          </a:xfrm>
          <a:prstGeom prst="rect">
            <a:avLst/>
          </a:prstGeom>
          <a:noFill/>
        </p:spPr>
        <p:txBody>
          <a:bodyPr wrap="square">
            <a:spAutoFit/>
          </a:bodyPr>
          <a:lstStyle/>
          <a:p>
            <a:pPr algn="ctr"/>
            <a:r>
              <a:rPr sz="1100" b="0" i="0">
                <a:solidFill>
                  <a:srgbClr val="FFFFFF"/>
                </a:solidFill>
                <a:latin typeface="游ゴシック"/>
              </a:rPr>
              <a:t>IDLE → BtnB</a:t>
            </a:r>
          </a:p>
        </p:txBody>
      </p:sp>
      <p:graphicFrame>
        <p:nvGraphicFramePr>
          <p:cNvPr id="27" name="Table 26"/>
          <p:cNvGraphicFramePr>
            <a:graphicFrameLocks noGrp="1"/>
          </p:cNvGraphicFramePr>
          <p:nvPr/>
        </p:nvGraphicFramePr>
        <p:xfrm>
          <a:off x="320040" y="3931920"/>
          <a:ext cx="11521440" cy="2350008"/>
        </p:xfrm>
        <a:graphic>
          <a:graphicData uri="http://schemas.openxmlformats.org/drawingml/2006/table">
            <a:tbl>
              <a:tblPr firstRow="1" bandRow="1">
                <a:tableStyleId>{5C22544A-7EE6-4342-B048-85BDC9FD1C3A}</a:tableStyleId>
              </a:tblPr>
              <a:tblGrid>
                <a:gridCol w="1828800"/>
                <a:gridCol w="1828800"/>
                <a:gridCol w="3657600"/>
                <a:gridCol w="4206240"/>
              </a:tblGrid>
              <a:tr h="391668">
                <a:tc>
                  <a:txBody>
                    <a:bodyPr/>
                    <a:lstStyle/>
                    <a:p>
                      <a:pPr algn="l"/>
                      <a:r>
                        <a:rPr sz="1300" b="1">
                          <a:solidFill>
                            <a:srgbClr val="FFFFFF"/>
                          </a:solidFill>
                          <a:latin typeface="Segoe UI"/>
                        </a:rPr>
                        <a:t>遷移元</a:t>
                      </a:r>
                    </a:p>
                  </a:txBody>
                  <a:tcPr>
                    <a:solidFill>
                      <a:srgbClr val="0D477F"/>
                    </a:solidFill>
                  </a:tcPr>
                </a:tc>
                <a:tc>
                  <a:txBody>
                    <a:bodyPr/>
                    <a:lstStyle/>
                    <a:p>
                      <a:pPr algn="l"/>
                      <a:r>
                        <a:rPr sz="1300" b="1">
                          <a:solidFill>
                            <a:srgbClr val="FFFFFF"/>
                          </a:solidFill>
                          <a:latin typeface="Segoe UI"/>
                        </a:rPr>
                        <a:t>遷移先</a:t>
                      </a:r>
                    </a:p>
                  </a:txBody>
                  <a:tcPr>
                    <a:solidFill>
                      <a:srgbClr val="0D477F"/>
                    </a:solidFill>
                  </a:tcPr>
                </a:tc>
                <a:tc>
                  <a:txBody>
                    <a:bodyPr/>
                    <a:lstStyle/>
                    <a:p>
                      <a:pPr algn="l"/>
                      <a:r>
                        <a:rPr sz="1300" b="1">
                          <a:solidFill>
                            <a:srgbClr val="FFFFFF"/>
                          </a:solidFill>
                          <a:latin typeface="Segoe UI"/>
                        </a:rPr>
                        <a:t>トリガー</a:t>
                      </a:r>
                    </a:p>
                  </a:txBody>
                  <a:tcPr>
                    <a:solidFill>
                      <a:srgbClr val="0D477F"/>
                    </a:solidFill>
                  </a:tcPr>
                </a:tc>
                <a:tc>
                  <a:txBody>
                    <a:bodyPr/>
                    <a:lstStyle/>
                    <a:p>
                      <a:pPr algn="l"/>
                      <a:r>
                        <a:rPr sz="1300" b="1">
                          <a:solidFill>
                            <a:srgbClr val="FFFFFF"/>
                          </a:solidFill>
                          <a:latin typeface="Segoe UI"/>
                        </a:rPr>
                        <a:t>備考</a:t>
                      </a:r>
                    </a:p>
                  </a:txBody>
                  <a:tcPr>
                    <a:solidFill>
                      <a:srgbClr val="0D477F"/>
                    </a:solidFill>
                  </a:tcPr>
                </a:tc>
              </a:tr>
              <a:tr h="391668">
                <a:tc>
                  <a:txBody>
                    <a:bodyPr/>
                    <a:lstStyle/>
                    <a:p>
                      <a:pPr algn="l"/>
                      <a:r>
                        <a:rPr sz="1200" b="0">
                          <a:solidFill>
                            <a:srgbClr val="1A1A2E"/>
                          </a:solidFill>
                          <a:latin typeface="游ゴシック"/>
                        </a:rPr>
                        <a:t>IDLE</a:t>
                      </a:r>
                    </a:p>
                  </a:txBody>
                  <a:tcPr>
                    <a:solidFill>
                      <a:srgbClr val="FFFFFF"/>
                    </a:solidFill>
                  </a:tcPr>
                </a:tc>
                <a:tc>
                  <a:txBody>
                    <a:bodyPr/>
                    <a:lstStyle/>
                    <a:p>
                      <a:pPr algn="l"/>
                      <a:r>
                        <a:rPr sz="1200" b="0">
                          <a:solidFill>
                            <a:srgbClr val="1A1A2E"/>
                          </a:solidFill>
                          <a:latin typeface="游ゴシック"/>
                        </a:rPr>
                        <a:t>RUN</a:t>
                      </a:r>
                    </a:p>
                  </a:txBody>
                  <a:tcPr>
                    <a:solidFill>
                      <a:srgbClr val="FFFFFF"/>
                    </a:solidFill>
                  </a:tcPr>
                </a:tc>
                <a:tc>
                  <a:txBody>
                    <a:bodyPr/>
                    <a:lstStyle/>
                    <a:p>
                      <a:pPr algn="l"/>
                      <a:r>
                        <a:rPr sz="1200" b="0">
                          <a:solidFill>
                            <a:srgbClr val="1A1A2E"/>
                          </a:solidFill>
                          <a:latin typeface="游ゴシック"/>
                        </a:rPr>
                        <a:t>BtnA 短押し</a:t>
                      </a:r>
                    </a:p>
                  </a:txBody>
                  <a:tcPr>
                    <a:solidFill>
                      <a:srgbClr val="FFFFFF"/>
                    </a:solidFill>
                  </a:tcPr>
                </a:tc>
                <a:tc>
                  <a:txBody>
                    <a:bodyPr/>
                    <a:lstStyle/>
                    <a:p>
                      <a:pPr algn="l"/>
                      <a:r>
                        <a:rPr sz="1200" b="0">
                          <a:solidFill>
                            <a:srgbClr val="1A1A2E"/>
                          </a:solidFill>
                          <a:latin typeface="游ゴシック"/>
                        </a:rPr>
                        <a:t>統計値・SD ファイルを初期化</a:t>
                      </a:r>
                    </a:p>
                  </a:txBody>
                  <a:tcPr>
                    <a:solidFill>
                      <a:srgbClr val="FFFFFF"/>
                    </a:solidFill>
                  </a:tcPr>
                </a:tc>
              </a:tr>
              <a:tr h="391668">
                <a:tc>
                  <a:txBody>
                    <a:bodyPr/>
                    <a:lstStyle/>
                    <a:p>
                      <a:pPr algn="l"/>
                      <a:r>
                        <a:rPr sz="1200" b="0">
                          <a:solidFill>
                            <a:srgbClr val="1A1A2E"/>
                          </a:solidFill>
                          <a:latin typeface="游ゴシック"/>
                        </a:rPr>
                        <a:t>RUN</a:t>
                      </a:r>
                    </a:p>
                  </a:txBody>
                  <a:tcPr>
                    <a:solidFill>
                      <a:srgbClr val="F4F4F4"/>
                    </a:solidFill>
                  </a:tcPr>
                </a:tc>
                <a:tc>
                  <a:txBody>
                    <a:bodyPr/>
                    <a:lstStyle/>
                    <a:p>
                      <a:pPr algn="l"/>
                      <a:r>
                        <a:rPr sz="1200" b="0">
                          <a:solidFill>
                            <a:srgbClr val="1A1A2E"/>
                          </a:solidFill>
                          <a:latin typeface="游ゴシック"/>
                        </a:rPr>
                        <a:t>RESULT</a:t>
                      </a:r>
                    </a:p>
                  </a:txBody>
                  <a:tcPr>
                    <a:solidFill>
                      <a:srgbClr val="F4F4F4"/>
                    </a:solidFill>
                  </a:tcPr>
                </a:tc>
                <a:tc>
                  <a:txBody>
                    <a:bodyPr/>
                    <a:lstStyle/>
                    <a:p>
                      <a:pPr algn="l"/>
                      <a:r>
                        <a:rPr sz="1200" b="0">
                          <a:solidFill>
                            <a:srgbClr val="1A1A2E"/>
                          </a:solidFill>
                          <a:latin typeface="游ゴシック"/>
                        </a:rPr>
                        <a:t>BtnA 短押し</a:t>
                      </a:r>
                    </a:p>
                  </a:txBody>
                  <a:tcPr>
                    <a:solidFill>
                      <a:srgbClr val="F4F4F4"/>
                    </a:solidFill>
                  </a:tcPr>
                </a:tc>
                <a:tc>
                  <a:txBody>
                    <a:bodyPr/>
                    <a:lstStyle/>
                    <a:p>
                      <a:pPr algn="l"/>
                      <a:r>
                        <a:rPr sz="1200" b="0">
                          <a:solidFill>
                            <a:srgbClr val="1A1A2E"/>
                          </a:solidFill>
                          <a:latin typeface="游ゴシック"/>
                        </a:rPr>
                        <a:t>SD ファイルをクローズ</a:t>
                      </a:r>
                    </a:p>
                  </a:txBody>
                  <a:tcPr>
                    <a:solidFill>
                      <a:srgbClr val="F4F4F4"/>
                    </a:solidFill>
                  </a:tcPr>
                </a:tc>
              </a:tr>
              <a:tr h="391668">
                <a:tc>
                  <a:txBody>
                    <a:bodyPr/>
                    <a:lstStyle/>
                    <a:p>
                      <a:pPr algn="l"/>
                      <a:r>
                        <a:rPr sz="1200" b="0">
                          <a:solidFill>
                            <a:srgbClr val="1A1A2E"/>
                          </a:solidFill>
                          <a:latin typeface="游ゴシック"/>
                        </a:rPr>
                        <a:t>RESULT</a:t>
                      </a:r>
                    </a:p>
                  </a:txBody>
                  <a:tcPr>
                    <a:solidFill>
                      <a:srgbClr val="FFFFFF"/>
                    </a:solidFill>
                  </a:tcPr>
                </a:tc>
                <a:tc>
                  <a:txBody>
                    <a:bodyPr/>
                    <a:lstStyle/>
                    <a:p>
                      <a:pPr algn="l"/>
                      <a:r>
                        <a:rPr sz="1200" b="0">
                          <a:solidFill>
                            <a:srgbClr val="1A1A2E"/>
                          </a:solidFill>
                          <a:latin typeface="游ゴシック"/>
                        </a:rPr>
                        <a:t>IDLE</a:t>
                      </a:r>
                    </a:p>
                  </a:txBody>
                  <a:tcPr>
                    <a:solidFill>
                      <a:srgbClr val="FFFFFF"/>
                    </a:solidFill>
                  </a:tcPr>
                </a:tc>
                <a:tc>
                  <a:txBody>
                    <a:bodyPr/>
                    <a:lstStyle/>
                    <a:p>
                      <a:pPr algn="l"/>
                      <a:r>
                        <a:rPr sz="1200" b="0">
                          <a:solidFill>
                            <a:srgbClr val="1A1A2E"/>
                          </a:solidFill>
                          <a:latin typeface="游ゴシック"/>
                        </a:rPr>
                        <a:t>BtnA 短押し</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r>
              <a:tr h="391668">
                <a:tc>
                  <a:txBody>
                    <a:bodyPr/>
                    <a:lstStyle/>
                    <a:p>
                      <a:pPr algn="l"/>
                      <a:r>
                        <a:rPr sz="1200" b="0">
                          <a:solidFill>
                            <a:srgbClr val="1A1A2E"/>
                          </a:solidFill>
                          <a:latin typeface="游ゴシック"/>
                        </a:rPr>
                        <a:t>IDLE</a:t>
                      </a:r>
                    </a:p>
                  </a:txBody>
                  <a:tcPr>
                    <a:solidFill>
                      <a:srgbClr val="F4F4F4"/>
                    </a:solidFill>
                  </a:tcPr>
                </a:tc>
                <a:tc>
                  <a:txBody>
                    <a:bodyPr/>
                    <a:lstStyle/>
                    <a:p>
                      <a:pPr algn="l"/>
                      <a:r>
                        <a:rPr sz="1200" b="0">
                          <a:solidFill>
                            <a:srgbClr val="1A1A2E"/>
                          </a:solidFill>
                          <a:latin typeface="游ゴシック"/>
                        </a:rPr>
                        <a:t>ALARM_SETTING</a:t>
                      </a:r>
                    </a:p>
                  </a:txBody>
                  <a:tcPr>
                    <a:solidFill>
                      <a:srgbClr val="F4F4F4"/>
                    </a:solidFill>
                  </a:tcPr>
                </a:tc>
                <a:tc>
                  <a:txBody>
                    <a:bodyPr/>
                    <a:lstStyle/>
                    <a:p>
                      <a:pPr algn="l"/>
                      <a:r>
                        <a:rPr sz="1200" b="0">
                          <a:solidFill>
                            <a:srgbClr val="1A1A2E"/>
                          </a:solidFill>
                          <a:latin typeface="游ゴシック"/>
                        </a:rPr>
                        <a:t>BtnB 短押し</a:t>
                      </a:r>
                    </a:p>
                  </a:txBody>
                  <a:tcPr>
                    <a:solidFill>
                      <a:srgbClr val="F4F4F4"/>
                    </a:solidFill>
                  </a:tcPr>
                </a:tc>
                <a:tc>
                  <a:txBody>
                    <a:bodyPr/>
                    <a:lstStyle/>
                    <a:p>
                      <a:pPr algn="l"/>
                      <a:r>
                        <a:rPr sz="1200" b="0">
                          <a:solidFill>
                            <a:srgbClr val="1A1A2E"/>
                          </a:solidFill>
                          <a:latin typeface="游ゴシック"/>
                        </a:rPr>
                        <a:t>SettingIndex=0 (HI側) から開始</a:t>
                      </a:r>
                    </a:p>
                  </a:txBody>
                  <a:tcPr>
                    <a:solidFill>
                      <a:srgbClr val="F4F4F4"/>
                    </a:solidFill>
                  </a:tcPr>
                </a:tc>
              </a:tr>
              <a:tr h="391668">
                <a:tc>
                  <a:txBody>
                    <a:bodyPr/>
                    <a:lstStyle/>
                    <a:p>
                      <a:pPr algn="l"/>
                      <a:r>
                        <a:rPr sz="1200" b="0">
                          <a:solidFill>
                            <a:srgbClr val="1A1A2E"/>
                          </a:solidFill>
                          <a:latin typeface="游ゴシック"/>
                        </a:rPr>
                        <a:t>ALARM_SETTING</a:t>
                      </a:r>
                    </a:p>
                  </a:txBody>
                  <a:tcPr>
                    <a:solidFill>
                      <a:srgbClr val="FFFFFF"/>
                    </a:solidFill>
                  </a:tcPr>
                </a:tc>
                <a:tc>
                  <a:txBody>
                    <a:bodyPr/>
                    <a:lstStyle/>
                    <a:p>
                      <a:pPr algn="l"/>
                      <a:r>
                        <a:rPr sz="1200" b="0">
                          <a:solidFill>
                            <a:srgbClr val="1A1A2E"/>
                          </a:solidFill>
                          <a:latin typeface="游ゴシック"/>
                        </a:rPr>
                        <a:t>IDLE</a:t>
                      </a:r>
                    </a:p>
                  </a:txBody>
                  <a:tcPr>
                    <a:solidFill>
                      <a:srgbClr val="FFFFFF"/>
                    </a:solidFill>
                  </a:tcPr>
                </a:tc>
                <a:tc>
                  <a:txBody>
                    <a:bodyPr/>
                    <a:lstStyle/>
                    <a:p>
                      <a:pPr algn="l"/>
                      <a:r>
                        <a:rPr sz="1200" b="0">
                          <a:solidFill>
                            <a:srgbClr val="1A1A2E"/>
                          </a:solidFill>
                          <a:latin typeface="游ゴシック"/>
                        </a:rPr>
                        <a:t>BtnA 短押し × 2</a:t>
                      </a:r>
                    </a:p>
                  </a:txBody>
                  <a:tcPr>
                    <a:solidFill>
                      <a:srgbClr val="FFFFFF"/>
                    </a:solidFill>
                  </a:tcPr>
                </a:tc>
                <a:tc>
                  <a:txBody>
                    <a:bodyPr/>
                    <a:lstStyle/>
                    <a:p>
                      <a:pPr algn="l"/>
                      <a:r>
                        <a:rPr sz="1200" b="0">
                          <a:solidFill>
                            <a:srgbClr val="1A1A2E"/>
                          </a:solidFill>
                          <a:latin typeface="游ゴシック"/>
                        </a:rPr>
                        <a:t>LO 確定時に EEPROM 保存</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ボタン操作一覧</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10</a:t>
            </a:r>
          </a:p>
        </p:txBody>
      </p:sp>
      <p:sp>
        <p:nvSpPr>
          <p:cNvPr id="8" name="TextBox 7"/>
          <p:cNvSpPr txBox="1"/>
          <p:nvPr/>
        </p:nvSpPr>
        <p:spPr>
          <a:xfrm>
            <a:off x="320040" y="1005840"/>
            <a:ext cx="11548872" cy="411480"/>
          </a:xfrm>
          <a:prstGeom prst="rect">
            <a:avLst/>
          </a:prstGeom>
          <a:noFill/>
        </p:spPr>
        <p:txBody>
          <a:bodyPr wrap="square">
            <a:spAutoFit/>
          </a:bodyPr>
          <a:lstStyle/>
          <a:p>
            <a:pPr algn="l"/>
            <a:r>
              <a:rPr sz="1400" b="0" i="0">
                <a:solidFill>
                  <a:srgbClr val="1A1A2E"/>
                </a:solidFill>
                <a:latin typeface="游ゴシック"/>
              </a:rPr>
              <a:t>M5Stack 前面の物理ボタン 3 個（左から BtnA / BtnB / BtnC）。短押し（エッジ検出）のみ。長押し機能なし。</a:t>
            </a:r>
          </a:p>
        </p:txBody>
      </p:sp>
      <p:graphicFrame>
        <p:nvGraphicFramePr>
          <p:cNvPr id="9" name="Table 8"/>
          <p:cNvGraphicFramePr>
            <a:graphicFrameLocks noGrp="1"/>
          </p:cNvGraphicFramePr>
          <p:nvPr/>
        </p:nvGraphicFramePr>
        <p:xfrm>
          <a:off x="320040" y="1508760"/>
          <a:ext cx="11521440" cy="2523744"/>
        </p:xfrm>
        <a:graphic>
          <a:graphicData uri="http://schemas.openxmlformats.org/drawingml/2006/table">
            <a:tbl>
              <a:tblPr firstRow="1" bandRow="1">
                <a:tableStyleId>{5C22544A-7EE6-4342-B048-85BDC9FD1C3A}</a:tableStyleId>
              </a:tblPr>
              <a:tblGrid>
                <a:gridCol w="1828800"/>
                <a:gridCol w="3108960"/>
                <a:gridCol w="3108960"/>
                <a:gridCol w="3474720"/>
              </a:tblGrid>
              <a:tr h="420624">
                <a:tc>
                  <a:txBody>
                    <a:bodyPr/>
                    <a:lstStyle/>
                    <a:p>
                      <a:pPr algn="l"/>
                      <a:r>
                        <a:rPr sz="1300" b="1">
                          <a:solidFill>
                            <a:srgbClr val="FFFFFF"/>
                          </a:solidFill>
                          <a:latin typeface="Segoe UI"/>
                        </a:rPr>
                        <a:t>状態</a:t>
                      </a:r>
                    </a:p>
                  </a:txBody>
                  <a:tcPr>
                    <a:solidFill>
                      <a:srgbClr val="0D477F"/>
                    </a:solidFill>
                  </a:tcPr>
                </a:tc>
                <a:tc>
                  <a:txBody>
                    <a:bodyPr/>
                    <a:lstStyle/>
                    <a:p>
                      <a:pPr algn="l"/>
                      <a:r>
                        <a:rPr sz="1300" b="1">
                          <a:solidFill>
                            <a:srgbClr val="FFFFFF"/>
                          </a:solidFill>
                          <a:latin typeface="Segoe UI"/>
                        </a:rPr>
                        <a:t>BtnA (左)</a:t>
                      </a:r>
                    </a:p>
                  </a:txBody>
                  <a:tcPr>
                    <a:solidFill>
                      <a:srgbClr val="0D477F"/>
                    </a:solidFill>
                  </a:tcPr>
                </a:tc>
                <a:tc>
                  <a:txBody>
                    <a:bodyPr/>
                    <a:lstStyle/>
                    <a:p>
                      <a:pPr algn="l"/>
                      <a:r>
                        <a:rPr sz="1300" b="1">
                          <a:solidFill>
                            <a:srgbClr val="FFFFFF"/>
                          </a:solidFill>
                          <a:latin typeface="Segoe UI"/>
                        </a:rPr>
                        <a:t>BtnB (中)</a:t>
                      </a:r>
                    </a:p>
                  </a:txBody>
                  <a:tcPr>
                    <a:solidFill>
                      <a:srgbClr val="0D477F"/>
                    </a:solidFill>
                  </a:tcPr>
                </a:tc>
                <a:tc>
                  <a:txBody>
                    <a:bodyPr/>
                    <a:lstStyle/>
                    <a:p>
                      <a:pPr algn="l"/>
                      <a:r>
                        <a:rPr sz="1300" b="1">
                          <a:solidFill>
                            <a:srgbClr val="FFFFFF"/>
                          </a:solidFill>
                          <a:latin typeface="Segoe UI"/>
                        </a:rPr>
                        <a:t>BtnC (右)</a:t>
                      </a:r>
                    </a:p>
                  </a:txBody>
                  <a:tcPr>
                    <a:solidFill>
                      <a:srgbClr val="0D477F"/>
                    </a:solidFill>
                  </a:tcPr>
                </a:tc>
              </a:tr>
              <a:tr h="420624">
                <a:tc>
                  <a:txBody>
                    <a:bodyPr/>
                    <a:lstStyle/>
                    <a:p>
                      <a:pPr algn="l"/>
                      <a:r>
                        <a:rPr sz="1200" b="0">
                          <a:solidFill>
                            <a:srgbClr val="1A1A2E"/>
                          </a:solidFill>
                          <a:latin typeface="游ゴシック"/>
                        </a:rPr>
                        <a:t>IDLE</a:t>
                      </a:r>
                    </a:p>
                  </a:txBody>
                  <a:tcPr>
                    <a:solidFill>
                      <a:srgbClr val="FFFFFF"/>
                    </a:solidFill>
                  </a:tcPr>
                </a:tc>
                <a:tc>
                  <a:txBody>
                    <a:bodyPr/>
                    <a:lstStyle/>
                    <a:p>
                      <a:pPr algn="l"/>
                      <a:r>
                        <a:rPr sz="1200" b="0">
                          <a:solidFill>
                            <a:srgbClr val="1A1A2E"/>
                          </a:solidFill>
                          <a:latin typeface="游ゴシック"/>
                        </a:rPr>
                        <a:t>→ RUN（計測開始）</a:t>
                      </a:r>
                    </a:p>
                  </a:txBody>
                  <a:tcPr>
                    <a:solidFill>
                      <a:srgbClr val="FFFFFF"/>
                    </a:solidFill>
                  </a:tcPr>
                </a:tc>
                <a:tc>
                  <a:txBody>
                    <a:bodyPr/>
                    <a:lstStyle/>
                    <a:p>
                      <a:pPr algn="l"/>
                      <a:r>
                        <a:rPr sz="1200" b="0">
                          <a:solidFill>
                            <a:srgbClr val="1A1A2E"/>
                          </a:solidFill>
                          <a:latin typeface="游ゴシック"/>
                        </a:rPr>
                        <a:t>→ ALARM_SETTING</a:t>
                      </a:r>
                    </a:p>
                  </a:txBody>
                  <a:tcPr>
                    <a:solidFill>
                      <a:srgbClr val="FFFFFF"/>
                    </a:solidFill>
                  </a:tcPr>
                </a:tc>
                <a:tc>
                  <a:txBody>
                    <a:bodyPr/>
                    <a:lstStyle/>
                    <a:p>
                      <a:pPr algn="l"/>
                      <a:r>
                        <a:rPr sz="1200" b="0">
                          <a:solidFill>
                            <a:srgbClr val="1A1A2E"/>
                          </a:solidFill>
                          <a:latin typeface="游ゴシック"/>
                        </a:rPr>
                        <a:t>（なし）</a:t>
                      </a:r>
                    </a:p>
                  </a:txBody>
                  <a:tcPr>
                    <a:solidFill>
                      <a:srgbClr val="FFFFFF"/>
                    </a:solidFill>
                  </a:tcPr>
                </a:tc>
              </a:tr>
              <a:tr h="420624">
                <a:tc>
                  <a:txBody>
                    <a:bodyPr/>
                    <a:lstStyle/>
                    <a:p>
                      <a:pPr algn="l"/>
                      <a:r>
                        <a:rPr sz="1200" b="0">
                          <a:solidFill>
                            <a:srgbClr val="1A1A2E"/>
                          </a:solidFill>
                          <a:latin typeface="游ゴシック"/>
                        </a:rPr>
                        <a:t>RUN</a:t>
                      </a:r>
                    </a:p>
                  </a:txBody>
                  <a:tcPr>
                    <a:solidFill>
                      <a:srgbClr val="F4F4F4"/>
                    </a:solidFill>
                  </a:tcPr>
                </a:tc>
                <a:tc>
                  <a:txBody>
                    <a:bodyPr/>
                    <a:lstStyle/>
                    <a:p>
                      <a:pPr algn="l"/>
                      <a:r>
                        <a:rPr sz="1200" b="0">
                          <a:solidFill>
                            <a:srgbClr val="1A1A2E"/>
                          </a:solidFill>
                          <a:latin typeface="游ゴシック"/>
                        </a:rPr>
                        <a:t>→ RESULT（計測終了）</a:t>
                      </a:r>
                    </a:p>
                  </a:txBody>
                  <a:tcPr>
                    <a:solidFill>
                      <a:srgbClr val="F4F4F4"/>
                    </a:solidFill>
                  </a:tcPr>
                </a:tc>
                <a:tc>
                  <a:txBody>
                    <a:bodyPr/>
                    <a:lstStyle/>
                    <a:p>
                      <a:pPr algn="l"/>
                      <a:r>
                        <a:rPr sz="1200" b="0">
                          <a:solidFill>
                            <a:srgbClr val="1A1A2E"/>
                          </a:solidFill>
                          <a:latin typeface="游ゴシック"/>
                        </a:rPr>
                        <a:t>（なし）</a:t>
                      </a:r>
                    </a:p>
                  </a:txBody>
                  <a:tcPr>
                    <a:solidFill>
                      <a:srgbClr val="F4F4F4"/>
                    </a:solidFill>
                  </a:tcPr>
                </a:tc>
                <a:tc>
                  <a:txBody>
                    <a:bodyPr/>
                    <a:lstStyle/>
                    <a:p>
                      <a:pPr algn="l"/>
                      <a:r>
                        <a:rPr sz="1200" b="0">
                          <a:solidFill>
                            <a:srgbClr val="1A1A2E"/>
                          </a:solidFill>
                          <a:latin typeface="游ゴシック"/>
                        </a:rPr>
                        <a:t>（なし）</a:t>
                      </a:r>
                    </a:p>
                  </a:txBody>
                  <a:tcPr>
                    <a:solidFill>
                      <a:srgbClr val="F4F4F4"/>
                    </a:solidFill>
                  </a:tcPr>
                </a:tc>
              </a:tr>
              <a:tr h="420624">
                <a:tc>
                  <a:txBody>
                    <a:bodyPr/>
                    <a:lstStyle/>
                    <a:p>
                      <a:pPr algn="l"/>
                      <a:r>
                        <a:rPr sz="1200" b="0">
                          <a:solidFill>
                            <a:srgbClr val="1A1A2E"/>
                          </a:solidFill>
                          <a:latin typeface="游ゴシック"/>
                        </a:rPr>
                        <a:t>RESULT</a:t>
                      </a:r>
                    </a:p>
                  </a:txBody>
                  <a:tcPr>
                    <a:solidFill>
                      <a:srgbClr val="FFFFFF"/>
                    </a:solidFill>
                  </a:tcPr>
                </a:tc>
                <a:tc>
                  <a:txBody>
                    <a:bodyPr/>
                    <a:lstStyle/>
                    <a:p>
                      <a:pPr algn="l"/>
                      <a:r>
                        <a:rPr sz="1200" b="0">
                          <a:solidFill>
                            <a:srgbClr val="1A1A2E"/>
                          </a:solidFill>
                          <a:latin typeface="游ゴシック"/>
                        </a:rPr>
                        <a:t>→ IDLE（リセット）</a:t>
                      </a:r>
                    </a:p>
                  </a:txBody>
                  <a:tcPr>
                    <a:solidFill>
                      <a:srgbClr val="FFFFFF"/>
                    </a:solidFill>
                  </a:tcPr>
                </a:tc>
                <a:tc>
                  <a:txBody>
                    <a:bodyPr/>
                    <a:lstStyle/>
                    <a:p>
                      <a:pPr algn="l"/>
                      <a:r>
                        <a:rPr sz="1200" b="0">
                          <a:solidFill>
                            <a:srgbClr val="1A1A2E"/>
                          </a:solidFill>
                          <a:latin typeface="游ゴシック"/>
                        </a:rPr>
                        <a:t>ページ切替 1/2↔2/2</a:t>
                      </a:r>
                    </a:p>
                  </a:txBody>
                  <a:tcPr>
                    <a:solidFill>
                      <a:srgbClr val="FFFFFF"/>
                    </a:solidFill>
                  </a:tcPr>
                </a:tc>
                <a:tc>
                  <a:txBody>
                    <a:bodyPr/>
                    <a:lstStyle/>
                    <a:p>
                      <a:pPr algn="l"/>
                      <a:r>
                        <a:rPr sz="1200" b="0">
                          <a:solidFill>
                            <a:srgbClr val="1A1A2E"/>
                          </a:solidFill>
                          <a:latin typeface="游ゴシック"/>
                        </a:rPr>
                        <a:t>（なし）</a:t>
                      </a:r>
                    </a:p>
                  </a:txBody>
                  <a:tcPr>
                    <a:solidFill>
                      <a:srgbClr val="FFFFFF"/>
                    </a:solidFill>
                  </a:tcPr>
                </a:tc>
              </a:tr>
              <a:tr h="420624">
                <a:tc>
                  <a:txBody>
                    <a:bodyPr/>
                    <a:lstStyle/>
                    <a:p>
                      <a:pPr algn="l"/>
                      <a:r>
                        <a:rPr sz="1200" b="0">
                          <a:solidFill>
                            <a:srgbClr val="1A1A2E"/>
                          </a:solidFill>
                          <a:latin typeface="游ゴシック"/>
                        </a:rPr>
                        <a:t>ALARM HI</a:t>
                      </a:r>
                    </a:p>
                  </a:txBody>
                  <a:tcPr>
                    <a:solidFill>
                      <a:srgbClr val="F4F4F4"/>
                    </a:solidFill>
                  </a:tcPr>
                </a:tc>
                <a:tc>
                  <a:txBody>
                    <a:bodyPr/>
                    <a:lstStyle/>
                    <a:p>
                      <a:pPr algn="l"/>
                      <a:r>
                        <a:rPr sz="1200" b="0">
                          <a:solidFill>
                            <a:srgbClr val="1A1A2E"/>
                          </a:solidFill>
                          <a:latin typeface="游ゴシック"/>
                        </a:rPr>
                        <a:t>→ LO 設定へ移行</a:t>
                      </a:r>
                    </a:p>
                  </a:txBody>
                  <a:tcPr>
                    <a:solidFill>
                      <a:srgbClr val="F4F4F4"/>
                    </a:solidFill>
                  </a:tcPr>
                </a:tc>
                <a:tc>
                  <a:txBody>
                    <a:bodyPr/>
                    <a:lstStyle/>
                    <a:p>
                      <a:pPr algn="l"/>
                      <a:r>
                        <a:rPr sz="1200" b="0">
                          <a:solidFill>
                            <a:srgbClr val="1A1A2E"/>
                          </a:solidFill>
                          <a:latin typeface="游ゴシック"/>
                        </a:rPr>
                        <a:t>+5°C</a:t>
                      </a:r>
                    </a:p>
                  </a:txBody>
                  <a:tcPr>
                    <a:solidFill>
                      <a:srgbClr val="F4F4F4"/>
                    </a:solidFill>
                  </a:tcPr>
                </a:tc>
                <a:tc>
                  <a:txBody>
                    <a:bodyPr/>
                    <a:lstStyle/>
                    <a:p>
                      <a:pPr algn="l"/>
                      <a:r>
                        <a:rPr sz="1200" b="0">
                          <a:solidFill>
                            <a:srgbClr val="1A1A2E"/>
                          </a:solidFill>
                          <a:latin typeface="游ゴシック"/>
                        </a:rPr>
                        <a:t>−5°C</a:t>
                      </a:r>
                    </a:p>
                  </a:txBody>
                  <a:tcPr>
                    <a:solidFill>
                      <a:srgbClr val="F4F4F4"/>
                    </a:solidFill>
                  </a:tcPr>
                </a:tc>
              </a:tr>
              <a:tr h="420624">
                <a:tc>
                  <a:txBody>
                    <a:bodyPr/>
                    <a:lstStyle/>
                    <a:p>
                      <a:pPr algn="l"/>
                      <a:r>
                        <a:rPr sz="1200" b="0">
                          <a:solidFill>
                            <a:srgbClr val="1A1A2E"/>
                          </a:solidFill>
                          <a:latin typeface="游ゴシック"/>
                        </a:rPr>
                        <a:t>ALARM LO</a:t>
                      </a:r>
                    </a:p>
                  </a:txBody>
                  <a:tcPr>
                    <a:solidFill>
                      <a:srgbClr val="FFFFFF"/>
                    </a:solidFill>
                  </a:tcPr>
                </a:tc>
                <a:tc>
                  <a:txBody>
                    <a:bodyPr/>
                    <a:lstStyle/>
                    <a:p>
                      <a:pPr algn="l"/>
                      <a:r>
                        <a:rPr sz="1200" b="0">
                          <a:solidFill>
                            <a:srgbClr val="1A1A2E"/>
                          </a:solidFill>
                          <a:latin typeface="游ゴシック"/>
                        </a:rPr>
                        <a:t>→ IDLE（EEPROM 保存）</a:t>
                      </a:r>
                    </a:p>
                  </a:txBody>
                  <a:tcPr>
                    <a:solidFill>
                      <a:srgbClr val="FFFFFF"/>
                    </a:solidFill>
                  </a:tcPr>
                </a:tc>
                <a:tc>
                  <a:txBody>
                    <a:bodyPr/>
                    <a:lstStyle/>
                    <a:p>
                      <a:pPr algn="l"/>
                      <a:r>
                        <a:rPr sz="1200" b="0">
                          <a:solidFill>
                            <a:srgbClr val="1A1A2E"/>
                          </a:solidFill>
                          <a:latin typeface="游ゴシック"/>
                        </a:rPr>
                        <a:t>+5°C</a:t>
                      </a:r>
                    </a:p>
                  </a:txBody>
                  <a:tcPr>
                    <a:solidFill>
                      <a:srgbClr val="FFFFFF"/>
                    </a:solidFill>
                  </a:tcPr>
                </a:tc>
                <a:tc>
                  <a:txBody>
                    <a:bodyPr/>
                    <a:lstStyle/>
                    <a:p>
                      <a:pPr algn="l"/>
                      <a:r>
                        <a:rPr sz="1200" b="0">
                          <a:solidFill>
                            <a:srgbClr val="1A1A2E"/>
                          </a:solidFill>
                          <a:latin typeface="游ゴシック"/>
                        </a:rPr>
                        <a:t>−5°C</a:t>
                      </a:r>
                    </a:p>
                  </a:txBody>
                  <a:tcPr>
                    <a:solidFill>
                      <a:srgbClr val="FFFFFF"/>
                    </a:solidFill>
                  </a:tcPr>
                </a:tc>
              </a:tr>
            </a:tbl>
          </a:graphicData>
        </a:graphic>
      </p:graphicFrame>
      <p:sp>
        <p:nvSpPr>
          <p:cNvPr id="10" name="Rectangle 9"/>
          <p:cNvSpPr/>
          <p:nvPr/>
        </p:nvSpPr>
        <p:spPr>
          <a:xfrm>
            <a:off x="320040" y="4169664"/>
            <a:ext cx="11548872"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33672"/>
            <a:ext cx="11155680" cy="384048"/>
          </a:xfrm>
          <a:prstGeom prst="rect">
            <a:avLst/>
          </a:prstGeom>
          <a:noFill/>
        </p:spPr>
        <p:txBody>
          <a:bodyPr wrap="square">
            <a:spAutoFit/>
          </a:bodyPr>
          <a:lstStyle/>
          <a:p>
            <a:pPr algn="l"/>
            <a:r>
              <a:rPr sz="1200" b="0" i="0">
                <a:solidFill>
                  <a:srgbClr val="1A1A2E"/>
                </a:solidFill>
                <a:latin typeface="游ゴシック"/>
              </a:rPr>
              <a:t>※ ALARM_SETTING は IDLE からのみ進入可。RUN / RESULT 中はボタン非対応。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操作マニュアル ① — IDLE（待機）</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11</a:t>
            </a:r>
          </a:p>
        </p:txBody>
      </p:sp>
      <p:sp>
        <p:nvSpPr>
          <p:cNvPr id="8" name="Rectangle 7"/>
          <p:cNvSpPr/>
          <p:nvPr/>
        </p:nvSpPr>
        <p:spPr>
          <a:xfrm>
            <a:off x="320040" y="1051560"/>
            <a:ext cx="5669280" cy="4572000"/>
          </a:xfrm>
          <a:prstGeom prst="rect">
            <a:avLst/>
          </a:prstGeom>
          <a:solidFill>
            <a:srgbClr val="000000"/>
          </a:solidFill>
          <a:ln w="254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61288"/>
            <a:ext cx="5449824" cy="4352544"/>
          </a:xfrm>
          <a:prstGeom prst="rect">
            <a:avLst/>
          </a:prstGeom>
          <a:noFill/>
        </p:spPr>
        <p:txBody>
          <a:bodyPr wrap="none">
            <a:spAutoFit/>
          </a:bodyPr>
          <a:lstStyle/>
          <a:p>
            <a:r>
              <a:rPr sz="1300">
                <a:solidFill>
                  <a:srgbClr val="FFFFFF"/>
                </a:solidFill>
                <a:latin typeface="Consolas"/>
              </a:rPr>
              <a:t>STATE: IDLE</a:t>
            </a:r>
          </a:p>
          <a:p>
            <a:r>
              <a:rPr sz="1300">
                <a:solidFill>
                  <a:srgbClr val="FFFFFF"/>
                </a:solidFill>
                <a:latin typeface="Consolas"/>
              </a:rPr>
              <a:t/>
            </a:r>
          </a:p>
          <a:p>
            <a:r>
              <a:rPr sz="1300">
                <a:solidFill>
                  <a:srgbClr val="FFFFFF"/>
                </a:solidFill>
                <a:latin typeface="Consolas"/>
              </a:rPr>
              <a:t>Temp:</a:t>
            </a:r>
          </a:p>
          <a:p>
            <a:r>
              <a:rPr sz="1300">
                <a:solidFill>
                  <a:srgbClr val="FFFFFF"/>
                </a:solidFill>
                <a:latin typeface="Consolas"/>
              </a:rPr>
              <a:t>  25.3  C</a:t>
            </a:r>
          </a:p>
          <a:p>
            <a:r>
              <a:rPr sz="1300">
                <a:solidFill>
                  <a:srgbClr val="FFFFFF"/>
                </a:solidFill>
                <a:latin typeface="Consolas"/>
              </a:rPr>
              <a:t/>
            </a:r>
          </a:p>
          <a:p>
            <a:r>
              <a:rPr sz="1300">
                <a:solidFill>
                  <a:srgbClr val="FFFFFF"/>
                </a:solidFill>
                <a:latin typeface="Consolas"/>
              </a:rPr>
              <a:t>SD Ready</a:t>
            </a:r>
          </a:p>
          <a:p>
            <a:r>
              <a:rPr sz="1300">
                <a:solidFill>
                  <a:srgbClr val="FFFFFF"/>
                </a:solidFill>
                <a:latin typeface="Consolas"/>
              </a:rPr>
              <a:t/>
            </a:r>
          </a:p>
          <a:p>
            <a:r>
              <a:rPr sz="1300">
                <a:solidFill>
                  <a:srgbClr val="FFFFFF"/>
                </a:solidFill>
                <a:latin typeface="Consolas"/>
              </a:rPr>
              <a:t>[BtnA] Start   [BtnB] Setting</a:t>
            </a:r>
          </a:p>
        </p:txBody>
      </p:sp>
      <p:sp>
        <p:nvSpPr>
          <p:cNvPr id="10" name="TextBox 9"/>
          <p:cNvSpPr txBox="1"/>
          <p:nvPr/>
        </p:nvSpPr>
        <p:spPr>
          <a:xfrm>
            <a:off x="6217920" y="1051560"/>
            <a:ext cx="5577840" cy="411480"/>
          </a:xfrm>
          <a:prstGeom prst="rect">
            <a:avLst/>
          </a:prstGeom>
          <a:noFill/>
        </p:spPr>
        <p:txBody>
          <a:bodyPr wrap="square">
            <a:spAutoFit/>
          </a:bodyPr>
          <a:lstStyle/>
          <a:p>
            <a:pPr algn="l"/>
            <a:r>
              <a:rPr sz="1600" b="1" i="0">
                <a:solidFill>
                  <a:srgbClr val="0D477F"/>
                </a:solidFill>
                <a:latin typeface="游ゴシック"/>
              </a:rPr>
              <a:t>IDLE 状態の動作仕様</a:t>
            </a:r>
          </a:p>
        </p:txBody>
      </p:sp>
      <p:graphicFrame>
        <p:nvGraphicFramePr>
          <p:cNvPr id="11" name="Table 10"/>
          <p:cNvGraphicFramePr>
            <a:graphicFrameLocks noGrp="1"/>
          </p:cNvGraphicFramePr>
          <p:nvPr/>
        </p:nvGraphicFramePr>
        <p:xfrm>
          <a:off x="6217920" y="1600200"/>
          <a:ext cx="5577840" cy="3008376"/>
        </p:xfrm>
        <a:graphic>
          <a:graphicData uri="http://schemas.openxmlformats.org/drawingml/2006/table">
            <a:tbl>
              <a:tblPr firstRow="1" bandRow="1">
                <a:tableStyleId>{5C22544A-7EE6-4342-B048-85BDC9FD1C3A}</a:tableStyleId>
              </a:tblPr>
              <a:tblGrid>
                <a:gridCol w="2011680"/>
                <a:gridCol w="3566160"/>
              </a:tblGrid>
              <a:tr h="429768">
                <a:tc>
                  <a:txBody>
                    <a:bodyPr/>
                    <a:lstStyle/>
                    <a:p>
                      <a:pPr algn="l"/>
                      <a:r>
                        <a:rPr sz="1300" b="1">
                          <a:solidFill>
                            <a:srgbClr val="FFFFFF"/>
                          </a:solidFill>
                          <a:latin typeface="Segoe UI"/>
                        </a:rPr>
                        <a:t>項目</a:t>
                      </a:r>
                    </a:p>
                  </a:txBody>
                  <a:tcPr>
                    <a:solidFill>
                      <a:srgbClr val="0D477F"/>
                    </a:solidFill>
                  </a:tcPr>
                </a:tc>
                <a:tc>
                  <a:txBody>
                    <a:bodyPr/>
                    <a:lstStyle/>
                    <a:p>
                      <a:pPr algn="l"/>
                      <a:r>
                        <a:rPr sz="1300" b="1">
                          <a:solidFill>
                            <a:srgbClr val="FFFFFF"/>
                          </a:solidFill>
                          <a:latin typeface="Segoe UI"/>
                        </a:rPr>
                        <a:t>内容</a:t>
                      </a:r>
                    </a:p>
                  </a:txBody>
                  <a:tcPr>
                    <a:solidFill>
                      <a:srgbClr val="0D477F"/>
                    </a:solidFill>
                  </a:tcPr>
                </a:tc>
              </a:tr>
              <a:tr h="429768">
                <a:tc>
                  <a:txBody>
                    <a:bodyPr/>
                    <a:lstStyle/>
                    <a:p>
                      <a:pPr algn="l"/>
                      <a:r>
                        <a:rPr sz="1200" b="0">
                          <a:solidFill>
                            <a:srgbClr val="1A1A2E"/>
                          </a:solidFill>
                          <a:latin typeface="游ゴシック"/>
                        </a:rPr>
                        <a:t>温度更新周期</a:t>
                      </a:r>
                    </a:p>
                  </a:txBody>
                  <a:tcPr>
                    <a:solidFill>
                      <a:srgbClr val="FFFFFF"/>
                    </a:solidFill>
                  </a:tcPr>
                </a:tc>
                <a:tc>
                  <a:txBody>
                    <a:bodyPr/>
                    <a:lstStyle/>
                    <a:p>
                      <a:pPr algn="l"/>
                      <a:r>
                        <a:rPr sz="1200" b="0">
                          <a:solidFill>
                            <a:srgbClr val="1A1A2E"/>
                          </a:solidFill>
                          <a:latin typeface="游ゴシック"/>
                        </a:rPr>
                        <a:t>500ms（TC_READ_INTERVAL_MS）</a:t>
                      </a:r>
                    </a:p>
                  </a:txBody>
                  <a:tcPr>
                    <a:solidFill>
                      <a:srgbClr val="FFFFFF"/>
                    </a:solidFill>
                  </a:tcPr>
                </a:tc>
              </a:tr>
              <a:tr h="429768">
                <a:tc>
                  <a:txBody>
                    <a:bodyPr/>
                    <a:lstStyle/>
                    <a:p>
                      <a:pPr algn="l"/>
                      <a:r>
                        <a:rPr sz="1200" b="0">
                          <a:solidFill>
                            <a:srgbClr val="1A1A2E"/>
                          </a:solidFill>
                          <a:latin typeface="游ゴシック"/>
                        </a:rPr>
                        <a:t>フィルタ</a:t>
                      </a:r>
                    </a:p>
                  </a:txBody>
                  <a:tcPr>
                    <a:solidFill>
                      <a:srgbClr val="F4F4F4"/>
                    </a:solidFill>
                  </a:tcPr>
                </a:tc>
                <a:tc>
                  <a:txBody>
                    <a:bodyPr/>
                    <a:lstStyle/>
                    <a:p>
                      <a:pPr algn="l"/>
                      <a:r>
                        <a:rPr sz="1200" b="0">
                          <a:solidFill>
                            <a:srgbClr val="1A1A2E"/>
                          </a:solidFill>
                          <a:latin typeface="游ゴシック"/>
                        </a:rPr>
                        <a:t>LPF  α=0.1（1次遅れ）</a:t>
                      </a:r>
                    </a:p>
                  </a:txBody>
                  <a:tcPr>
                    <a:solidFill>
                      <a:srgbClr val="F4F4F4"/>
                    </a:solidFill>
                  </a:tcPr>
                </a:tc>
              </a:tr>
              <a:tr h="429768">
                <a:tc>
                  <a:txBody>
                    <a:bodyPr/>
                    <a:lstStyle/>
                    <a:p>
                      <a:pPr algn="l"/>
                      <a:r>
                        <a:rPr sz="1200" b="0">
                          <a:solidFill>
                            <a:srgbClr val="1A1A2E"/>
                          </a:solidFill>
                          <a:latin typeface="游ゴシック"/>
                        </a:rPr>
                        <a:t>異常時表示</a:t>
                      </a:r>
                    </a:p>
                  </a:txBody>
                  <a:tcPr>
                    <a:solidFill>
                      <a:srgbClr val="FFFFFF"/>
                    </a:solidFill>
                  </a:tcPr>
                </a:tc>
                <a:tc>
                  <a:txBody>
                    <a:bodyPr/>
                    <a:lstStyle/>
                    <a:p>
                      <a:pPr algn="l"/>
                      <a:r>
                        <a:rPr sz="1200" b="0">
                          <a:solidFill>
                            <a:srgbClr val="1A1A2E"/>
                          </a:solidFill>
                          <a:latin typeface="游ゴシック"/>
                        </a:rPr>
                        <a:t>---.-- C（センサ未接続 / NaN）</a:t>
                      </a:r>
                    </a:p>
                  </a:txBody>
                  <a:tcPr>
                    <a:solidFill>
                      <a:srgbClr val="FFFFFF"/>
                    </a:solidFill>
                  </a:tcPr>
                </a:tc>
              </a:tr>
              <a:tr h="429768">
                <a:tc>
                  <a:txBody>
                    <a:bodyPr/>
                    <a:lstStyle/>
                    <a:p>
                      <a:pPr algn="l"/>
                      <a:r>
                        <a:rPr sz="1200" b="0">
                          <a:solidFill>
                            <a:srgbClr val="1A1A2E"/>
                          </a:solidFill>
                          <a:latin typeface="游ゴシック"/>
                        </a:rPr>
                        <a:t>アラーム表示</a:t>
                      </a:r>
                    </a:p>
                  </a:txBody>
                  <a:tcPr>
                    <a:solidFill>
                      <a:srgbClr val="F4F4F4"/>
                    </a:solidFill>
                  </a:tcPr>
                </a:tc>
                <a:tc>
                  <a:txBody>
                    <a:bodyPr/>
                    <a:lstStyle/>
                    <a:p>
                      <a:pPr algn="l"/>
                      <a:r>
                        <a:rPr sz="1200" b="0">
                          <a:solidFill>
                            <a:srgbClr val="1A1A2E"/>
                          </a:solidFill>
                          <a:latin typeface="游ゴシック"/>
                        </a:rPr>
                        <a:t>温度テキストを赤 (HI) / 青 (LO) に変色</a:t>
                      </a:r>
                    </a:p>
                  </a:txBody>
                  <a:tcPr>
                    <a:solidFill>
                      <a:srgbClr val="F4F4F4"/>
                    </a:solidFill>
                  </a:tcPr>
                </a:tc>
              </a:tr>
              <a:tr h="429768">
                <a:tc>
                  <a:txBody>
                    <a:bodyPr/>
                    <a:lstStyle/>
                    <a:p>
                      <a:pPr algn="l"/>
                      <a:r>
                        <a:rPr sz="1200" b="0">
                          <a:solidFill>
                            <a:srgbClr val="1A1A2E"/>
                          </a:solidFill>
                          <a:latin typeface="游ゴシック"/>
                        </a:rPr>
                        <a:t>SD 状態表示</a:t>
                      </a:r>
                    </a:p>
                  </a:txBody>
                  <a:tcPr>
                    <a:solidFill>
                      <a:srgbClr val="FFFFFF"/>
                    </a:solidFill>
                  </a:tcPr>
                </a:tc>
                <a:tc>
                  <a:txBody>
                    <a:bodyPr/>
                    <a:lstStyle/>
                    <a:p>
                      <a:pPr algn="l"/>
                      <a:r>
                        <a:rPr sz="1200" b="0">
                          <a:solidFill>
                            <a:srgbClr val="1A1A2E"/>
                          </a:solidFill>
                          <a:latin typeface="游ゴシック"/>
                        </a:rPr>
                        <a:t>GREEN=Ready, RED=Error, YELLOW=Not Ready</a:t>
                      </a:r>
                    </a:p>
                  </a:txBody>
                  <a:tcPr>
                    <a:solidFill>
                      <a:srgbClr val="FFFFFF"/>
                    </a:solidFill>
                  </a:tcPr>
                </a:tc>
              </a:tr>
              <a:tr h="429768">
                <a:tc>
                  <a:txBody>
                    <a:bodyPr/>
                    <a:lstStyle/>
                    <a:p>
                      <a:pPr algn="l"/>
                      <a:r>
                        <a:rPr sz="1200" b="0">
                          <a:solidFill>
                            <a:srgbClr val="1A1A2E"/>
                          </a:solidFill>
                          <a:latin typeface="游ゴシック"/>
                        </a:rPr>
                        <a:t>起動リトライ</a:t>
                      </a:r>
                    </a:p>
                  </a:txBody>
                  <a:tcPr>
                    <a:solidFill>
                      <a:srgbClr val="F4F4F4"/>
                    </a:solidFill>
                  </a:tcPr>
                </a:tc>
                <a:tc>
                  <a:txBody>
                    <a:bodyPr/>
                    <a:lstStyle/>
                    <a:p>
                      <a:pPr algn="l"/>
                      <a:r>
                        <a:rPr sz="1200" b="0">
                          <a:solidFill>
                            <a:srgbClr val="1A1A2E"/>
                          </a:solidFill>
                          <a:latin typeface="游ゴシック"/>
                        </a:rPr>
                        <a:t>センサ初期化を最大 5 回自動リトライ</a:t>
                      </a:r>
                    </a:p>
                  </a:txBody>
                  <a:tcPr>
                    <a:solidFill>
                      <a:srgbClr val="F4F4F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操作マニュアル ② — RUN（計測中）</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12</a:t>
            </a:r>
          </a:p>
        </p:txBody>
      </p:sp>
      <p:sp>
        <p:nvSpPr>
          <p:cNvPr id="8" name="Rectangle 7"/>
          <p:cNvSpPr/>
          <p:nvPr/>
        </p:nvSpPr>
        <p:spPr>
          <a:xfrm>
            <a:off x="320040" y="1051560"/>
            <a:ext cx="5669280" cy="4572000"/>
          </a:xfrm>
          <a:prstGeom prst="rect">
            <a:avLst/>
          </a:prstGeom>
          <a:solidFill>
            <a:srgbClr val="000000"/>
          </a:solidFill>
          <a:ln w="2540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61288"/>
            <a:ext cx="5449824" cy="4352544"/>
          </a:xfrm>
          <a:prstGeom prst="rect">
            <a:avLst/>
          </a:prstGeom>
          <a:noFill/>
        </p:spPr>
        <p:txBody>
          <a:bodyPr wrap="none">
            <a:spAutoFit/>
          </a:bodyPr>
          <a:lstStyle/>
          <a:p>
            <a:r>
              <a:rPr sz="1300">
                <a:solidFill>
                  <a:srgbClr val="FFFFFF"/>
                </a:solidFill>
                <a:latin typeface="Consolas"/>
              </a:rPr>
              <a:t>STATE: RUN</a:t>
            </a:r>
          </a:p>
          <a:p>
            <a:r>
              <a:rPr sz="1300">
                <a:solidFill>
                  <a:srgbClr val="FFFFFF"/>
                </a:solidFill>
                <a:latin typeface="Consolas"/>
              </a:rPr>
              <a:t/>
            </a:r>
          </a:p>
          <a:p>
            <a:r>
              <a:rPr sz="1300">
                <a:solidFill>
                  <a:srgbClr val="FFFFFF"/>
                </a:solidFill>
                <a:latin typeface="Consolas"/>
              </a:rPr>
              <a:t>Temp:</a:t>
            </a:r>
          </a:p>
          <a:p>
            <a:r>
              <a:rPr sz="1300">
                <a:solidFill>
                  <a:srgbClr val="FFFFFF"/>
                </a:solidFill>
                <a:latin typeface="Consolas"/>
              </a:rPr>
              <a:t>  540.2  C</a:t>
            </a:r>
          </a:p>
          <a:p>
            <a:r>
              <a:rPr sz="1300">
                <a:solidFill>
                  <a:srgbClr val="FFFFFF"/>
                </a:solidFill>
                <a:latin typeface="Consolas"/>
              </a:rPr>
              <a:t/>
            </a:r>
          </a:p>
          <a:p>
            <a:r>
              <a:rPr sz="1300">
                <a:solidFill>
                  <a:srgbClr val="FFFFFF"/>
                </a:solidFill>
                <a:latin typeface="Consolas"/>
              </a:rPr>
              <a:t>Samples:   142</a:t>
            </a:r>
          </a:p>
          <a:p>
            <a:r>
              <a:rPr sz="1300">
                <a:solidFill>
                  <a:srgbClr val="FFFFFF"/>
                </a:solidFill>
                <a:latin typeface="Consolas"/>
              </a:rPr>
              <a:t>SD: /DATA_0000.csv</a:t>
            </a:r>
          </a:p>
          <a:p>
            <a:r>
              <a:rPr sz="1300">
                <a:solidFill>
                  <a:srgbClr val="FFFFFF"/>
                </a:solidFill>
                <a:latin typeface="Consolas"/>
              </a:rPr>
              <a:t/>
            </a:r>
          </a:p>
          <a:p>
            <a:r>
              <a:rPr sz="1300">
                <a:solidFill>
                  <a:srgbClr val="FFFFFF"/>
                </a:solidFill>
                <a:latin typeface="Consolas"/>
              </a:rPr>
              <a:t>[BtnA] Stop / Reset</a:t>
            </a:r>
          </a:p>
        </p:txBody>
      </p:sp>
      <p:sp>
        <p:nvSpPr>
          <p:cNvPr id="10" name="TextBox 9"/>
          <p:cNvSpPr txBox="1"/>
          <p:nvPr/>
        </p:nvSpPr>
        <p:spPr>
          <a:xfrm>
            <a:off x="6217920" y="1051560"/>
            <a:ext cx="5577840" cy="411480"/>
          </a:xfrm>
          <a:prstGeom prst="rect">
            <a:avLst/>
          </a:prstGeom>
          <a:noFill/>
        </p:spPr>
        <p:txBody>
          <a:bodyPr wrap="square">
            <a:spAutoFit/>
          </a:bodyPr>
          <a:lstStyle/>
          <a:p>
            <a:pPr algn="l"/>
            <a:r>
              <a:rPr sz="1600" b="1" i="0">
                <a:solidFill>
                  <a:srgbClr val="0D477F"/>
                </a:solidFill>
                <a:latin typeface="游ゴシック"/>
              </a:rPr>
              <a:t>RUN 状態の動作仕様</a:t>
            </a:r>
          </a:p>
        </p:txBody>
      </p:sp>
      <p:graphicFrame>
        <p:nvGraphicFramePr>
          <p:cNvPr id="11" name="Table 10"/>
          <p:cNvGraphicFramePr>
            <a:graphicFrameLocks noGrp="1"/>
          </p:cNvGraphicFramePr>
          <p:nvPr/>
        </p:nvGraphicFramePr>
        <p:xfrm>
          <a:off x="6217920" y="1600200"/>
          <a:ext cx="5577840" cy="3008376"/>
        </p:xfrm>
        <a:graphic>
          <a:graphicData uri="http://schemas.openxmlformats.org/drawingml/2006/table">
            <a:tbl>
              <a:tblPr firstRow="1" bandRow="1">
                <a:tableStyleId>{5C22544A-7EE6-4342-B048-85BDC9FD1C3A}</a:tableStyleId>
              </a:tblPr>
              <a:tblGrid>
                <a:gridCol w="2286000"/>
                <a:gridCol w="3291840"/>
              </a:tblGrid>
              <a:tr h="429768">
                <a:tc>
                  <a:txBody>
                    <a:bodyPr/>
                    <a:lstStyle/>
                    <a:p>
                      <a:pPr algn="l"/>
                      <a:r>
                        <a:rPr sz="1300" b="1">
                          <a:solidFill>
                            <a:srgbClr val="FFFFFF"/>
                          </a:solidFill>
                          <a:latin typeface="Segoe UI"/>
                        </a:rPr>
                        <a:t>項目</a:t>
                      </a:r>
                    </a:p>
                  </a:txBody>
                  <a:tcPr>
                    <a:solidFill>
                      <a:srgbClr val="0D477F"/>
                    </a:solidFill>
                  </a:tcPr>
                </a:tc>
                <a:tc>
                  <a:txBody>
                    <a:bodyPr/>
                    <a:lstStyle/>
                    <a:p>
                      <a:pPr algn="l"/>
                      <a:r>
                        <a:rPr sz="1300" b="1">
                          <a:solidFill>
                            <a:srgbClr val="FFFFFF"/>
                          </a:solidFill>
                          <a:latin typeface="Segoe UI"/>
                        </a:rPr>
                        <a:t>内容</a:t>
                      </a:r>
                    </a:p>
                  </a:txBody>
                  <a:tcPr>
                    <a:solidFill>
                      <a:srgbClr val="0D477F"/>
                    </a:solidFill>
                  </a:tcPr>
                </a:tc>
              </a:tr>
              <a:tr h="429768">
                <a:tc>
                  <a:txBody>
                    <a:bodyPr/>
                    <a:lstStyle/>
                    <a:p>
                      <a:pPr algn="l"/>
                      <a:r>
                        <a:rPr sz="1200" b="0">
                          <a:solidFill>
                            <a:srgbClr val="1A1A2E"/>
                          </a:solidFill>
                          <a:latin typeface="游ゴシック"/>
                        </a:rPr>
                        <a:t>計測開始時</a:t>
                      </a:r>
                    </a:p>
                  </a:txBody>
                  <a:tcPr>
                    <a:solidFill>
                      <a:srgbClr val="FFFFFF"/>
                    </a:solidFill>
                  </a:tcPr>
                </a:tc>
                <a:tc>
                  <a:txBody>
                    <a:bodyPr/>
                    <a:lstStyle/>
                    <a:p>
                      <a:pPr algn="l"/>
                      <a:r>
                        <a:rPr sz="1200" b="0">
                          <a:solidFill>
                            <a:srgbClr val="1A1A2E"/>
                          </a:solidFill>
                          <a:latin typeface="游ゴシック"/>
                        </a:rPr>
                        <a:t>統計値をリセット、CSV を DATA_0000.csv から採番</a:t>
                      </a:r>
                    </a:p>
                  </a:txBody>
                  <a:tcPr>
                    <a:solidFill>
                      <a:srgbClr val="FFFFFF"/>
                    </a:solidFill>
                  </a:tcPr>
                </a:tc>
              </a:tr>
              <a:tr h="429768">
                <a:tc>
                  <a:txBody>
                    <a:bodyPr/>
                    <a:lstStyle/>
                    <a:p>
                      <a:pPr algn="l"/>
                      <a:r>
                        <a:rPr sz="1200" b="0">
                          <a:solidFill>
                            <a:srgbClr val="1A1A2E"/>
                          </a:solidFill>
                          <a:latin typeface="游ゴシック"/>
                        </a:rPr>
                        <a:t>統計更新</a:t>
                      </a:r>
                    </a:p>
                  </a:txBody>
                  <a:tcPr>
                    <a:solidFill>
                      <a:srgbClr val="F4F4F4"/>
                    </a:solidFill>
                  </a:tcPr>
                </a:tc>
                <a:tc>
                  <a:txBody>
                    <a:bodyPr/>
                    <a:lstStyle/>
                    <a:p>
                      <a:pPr algn="l"/>
                      <a:r>
                        <a:rPr sz="1200" b="0">
                          <a:solidFill>
                            <a:srgbClr val="1A1A2E"/>
                          </a:solidFill>
                          <a:latin typeface="游ゴシック"/>
                        </a:rPr>
                        <a:t>Logic_Task 50ms 毎に Welford 法で逐次計算</a:t>
                      </a:r>
                    </a:p>
                  </a:txBody>
                  <a:tcPr>
                    <a:solidFill>
                      <a:srgbClr val="F4F4F4"/>
                    </a:solidFill>
                  </a:tcPr>
                </a:tc>
              </a:tr>
              <a:tr h="429768">
                <a:tc>
                  <a:txBody>
                    <a:bodyPr/>
                    <a:lstStyle/>
                    <a:p>
                      <a:pPr algn="l"/>
                      <a:r>
                        <a:rPr sz="1200" b="0">
                          <a:solidFill>
                            <a:srgbClr val="1A1A2E"/>
                          </a:solidFill>
                          <a:latin typeface="游ゴシック"/>
                        </a:rPr>
                        <a:t>CSV 書込</a:t>
                      </a:r>
                    </a:p>
                  </a:txBody>
                  <a:tcPr>
                    <a:solidFill>
                      <a:srgbClr val="FFFFFF"/>
                    </a:solidFill>
                  </a:tcPr>
                </a:tc>
                <a:tc>
                  <a:txBody>
                    <a:bodyPr/>
                    <a:lstStyle/>
                    <a:p>
                      <a:pPr algn="l"/>
                      <a:r>
                        <a:rPr sz="1200" b="0">
                          <a:solidFill>
                            <a:srgbClr val="1A1A2E"/>
                          </a:solidFill>
                          <a:latin typeface="游ゴシック"/>
                        </a:rPr>
                        <a:t>10 サンプル毎 (IO_Task の SD_WRITE_INTERVAL)</a:t>
                      </a:r>
                    </a:p>
                  </a:txBody>
                  <a:tcPr>
                    <a:solidFill>
                      <a:srgbClr val="FFFFFF"/>
                    </a:solidFill>
                  </a:tcPr>
                </a:tc>
              </a:tr>
              <a:tr h="429768">
                <a:tc>
                  <a:txBody>
                    <a:bodyPr/>
                    <a:lstStyle/>
                    <a:p>
                      <a:pPr algn="l"/>
                      <a:r>
                        <a:rPr sz="1200" b="0">
                          <a:solidFill>
                            <a:srgbClr val="1A1A2E"/>
                          </a:solidFill>
                          <a:latin typeface="游ゴシック"/>
                        </a:rPr>
                        <a:t>アラーム</a:t>
                      </a:r>
                    </a:p>
                  </a:txBody>
                  <a:tcPr>
                    <a:solidFill>
                      <a:srgbClr val="F4F4F4"/>
                    </a:solidFill>
                  </a:tcPr>
                </a:tc>
                <a:tc>
                  <a:txBody>
                    <a:bodyPr/>
                    <a:lstStyle/>
                    <a:p>
                      <a:pPr algn="l"/>
                      <a:r>
                        <a:rPr sz="1200" b="0">
                          <a:solidFill>
                            <a:srgbClr val="1A1A2E"/>
                          </a:solidFill>
                          <a:latin typeface="游ゴシック"/>
                        </a:rPr>
                        <a:t>HI/LO 超過で温度を赤/青表示 + ビープ音</a:t>
                      </a:r>
                    </a:p>
                  </a:txBody>
                  <a:tcPr>
                    <a:solidFill>
                      <a:srgbClr val="F4F4F4"/>
                    </a:solidFill>
                  </a:tcPr>
                </a:tc>
              </a:tr>
              <a:tr h="429768">
                <a:tc>
                  <a:txBody>
                    <a:bodyPr/>
                    <a:lstStyle/>
                    <a:p>
                      <a:pPr algn="l"/>
                      <a:r>
                        <a:rPr sz="1200" b="0">
                          <a:solidFill>
                            <a:srgbClr val="1A1A2E"/>
                          </a:solidFill>
                          <a:latin typeface="游ゴシック"/>
                        </a:rPr>
                        <a:t>Samples 行</a:t>
                      </a:r>
                    </a:p>
                  </a:txBody>
                  <a:tcPr>
                    <a:solidFill>
                      <a:srgbClr val="FFFFFF"/>
                    </a:solidFill>
                  </a:tcPr>
                </a:tc>
                <a:tc>
                  <a:txBody>
                    <a:bodyPr/>
                    <a:lstStyle/>
                    <a:p>
                      <a:pPr algn="l"/>
                      <a:r>
                        <a:rPr sz="1200" b="0">
                          <a:solidFill>
                            <a:srgbClr val="1A1A2E"/>
                          </a:solidFill>
                          <a:latin typeface="游ゴシック"/>
                        </a:rPr>
                        <a:t>G.D_Count = Logic_Task の積算回数</a:t>
                      </a:r>
                    </a:p>
                  </a:txBody>
                  <a:tcPr>
                    <a:solidFill>
                      <a:srgbClr val="FFFFFF"/>
                    </a:solidFill>
                  </a:tcPr>
                </a:tc>
              </a:tr>
              <a:tr h="429768">
                <a:tc>
                  <a:txBody>
                    <a:bodyPr/>
                    <a:lstStyle/>
                    <a:p>
                      <a:pPr algn="l"/>
                      <a:r>
                        <a:rPr sz="1200" b="0">
                          <a:solidFill>
                            <a:srgbClr val="1A1A2E"/>
                          </a:solidFill>
                          <a:latin typeface="游ゴシック"/>
                        </a:rPr>
                        <a:t>SD ファイル</a:t>
                      </a:r>
                    </a:p>
                  </a:txBody>
                  <a:tcPr>
                    <a:solidFill>
                      <a:srgbClr val="F4F4F4"/>
                    </a:solidFill>
                  </a:tcPr>
                </a:tc>
                <a:tc>
                  <a:txBody>
                    <a:bodyPr/>
                    <a:lstStyle/>
                    <a:p>
                      <a:pPr algn="l"/>
                      <a:r>
                        <a:rPr sz="1200" b="0">
                          <a:solidFill>
                            <a:srgbClr val="1A1A2E"/>
                          </a:solidFill>
                          <a:latin typeface="游ゴシック"/>
                        </a:rPr>
                        <a:t>/DATA_0000.csv（起動後の連番 0 始まり）</a:t>
                      </a:r>
                    </a:p>
                  </a:txBody>
                  <a:tcPr>
                    <a:solidFill>
                      <a:srgbClr val="F4F4F4"/>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操作マニュアル ③ — RESULT（結果表示）</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13</a:t>
            </a:r>
          </a:p>
        </p:txBody>
      </p:sp>
      <p:sp>
        <p:nvSpPr>
          <p:cNvPr id="8" name="Rectangle 7"/>
          <p:cNvSpPr/>
          <p:nvPr/>
        </p:nvSpPr>
        <p:spPr>
          <a:xfrm>
            <a:off x="320040" y="1051560"/>
            <a:ext cx="5303520" cy="4572000"/>
          </a:xfrm>
          <a:prstGeom prst="rect">
            <a:avLst/>
          </a:prstGeom>
          <a:solidFill>
            <a:srgbClr val="00000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61288"/>
            <a:ext cx="5084064" cy="4352544"/>
          </a:xfrm>
          <a:prstGeom prst="rect">
            <a:avLst/>
          </a:prstGeom>
          <a:noFill/>
        </p:spPr>
        <p:txBody>
          <a:bodyPr wrap="none">
            <a:spAutoFit/>
          </a:bodyPr>
          <a:lstStyle/>
          <a:p>
            <a:r>
              <a:rPr sz="1300">
                <a:solidFill>
                  <a:srgbClr val="FFFFFF"/>
                </a:solidFill>
                <a:latin typeface="Consolas"/>
              </a:rPr>
              <a:t>STATE: RESULT (1/2)</a:t>
            </a:r>
          </a:p>
          <a:p>
            <a:r>
              <a:rPr sz="1300">
                <a:solidFill>
                  <a:srgbClr val="FFFFFF"/>
                </a:solidFill>
                <a:latin typeface="Consolas"/>
              </a:rPr>
              <a:t/>
            </a:r>
          </a:p>
          <a:p>
            <a:r>
              <a:rPr sz="1300">
                <a:solidFill>
                  <a:srgbClr val="FFFFFF"/>
                </a:solidFill>
                <a:latin typeface="Consolas"/>
              </a:rPr>
              <a:t>Temp:</a:t>
            </a:r>
          </a:p>
          <a:p>
            <a:r>
              <a:rPr sz="1300">
                <a:solidFill>
                  <a:srgbClr val="FFFFFF"/>
                </a:solidFill>
                <a:latin typeface="Consolas"/>
              </a:rPr>
              <a:t>  540.2  C</a:t>
            </a:r>
          </a:p>
          <a:p>
            <a:r>
              <a:rPr sz="1300">
                <a:solidFill>
                  <a:srgbClr val="FFFFFF"/>
                </a:solidFill>
                <a:latin typeface="Consolas"/>
              </a:rPr>
              <a:t/>
            </a:r>
          </a:p>
          <a:p>
            <a:r>
              <a:rPr sz="1300">
                <a:solidFill>
                  <a:srgbClr val="FFFFFF"/>
                </a:solidFill>
                <a:latin typeface="Consolas"/>
              </a:rPr>
              <a:t>Avg:</a:t>
            </a:r>
          </a:p>
          <a:p>
            <a:r>
              <a:rPr sz="1300">
                <a:solidFill>
                  <a:srgbClr val="FFFFFF"/>
                </a:solidFill>
                <a:latin typeface="Consolas"/>
              </a:rPr>
              <a:t>  539.8  C</a:t>
            </a:r>
          </a:p>
          <a:p>
            <a:r>
              <a:rPr sz="1300">
                <a:solidFill>
                  <a:srgbClr val="FFFFFF"/>
                </a:solidFill>
                <a:latin typeface="Consolas"/>
              </a:rPr>
              <a:t/>
            </a:r>
          </a:p>
          <a:p>
            <a:r>
              <a:rPr sz="1300">
                <a:solidFill>
                  <a:srgbClr val="FFFFFF"/>
                </a:solidFill>
                <a:latin typeface="Consolas"/>
              </a:rPr>
              <a:t>[BtnA] Reset  [BtnB] Next</a:t>
            </a:r>
          </a:p>
        </p:txBody>
      </p:sp>
      <p:sp>
        <p:nvSpPr>
          <p:cNvPr id="10" name="TextBox 9"/>
          <p:cNvSpPr txBox="1"/>
          <p:nvPr/>
        </p:nvSpPr>
        <p:spPr>
          <a:xfrm>
            <a:off x="5669280" y="3017520"/>
            <a:ext cx="822960" cy="457200"/>
          </a:xfrm>
          <a:prstGeom prst="rect">
            <a:avLst/>
          </a:prstGeom>
          <a:noFill/>
        </p:spPr>
        <p:txBody>
          <a:bodyPr wrap="square">
            <a:spAutoFit/>
          </a:bodyPr>
          <a:lstStyle/>
          <a:p>
            <a:pPr algn="ctr"/>
            <a:r>
              <a:rPr sz="1600" b="1" i="0">
                <a:solidFill>
                  <a:srgbClr val="FF6D00"/>
                </a:solidFill>
                <a:latin typeface="Segoe UI"/>
              </a:rPr>
              <a:t>BtnB ▶</a:t>
            </a:r>
          </a:p>
        </p:txBody>
      </p:sp>
      <p:sp>
        <p:nvSpPr>
          <p:cNvPr id="11" name="Rectangle 10"/>
          <p:cNvSpPr/>
          <p:nvPr/>
        </p:nvSpPr>
        <p:spPr>
          <a:xfrm>
            <a:off x="6583680" y="1051560"/>
            <a:ext cx="5303520" cy="4572000"/>
          </a:xfrm>
          <a:prstGeom prst="rect">
            <a:avLst/>
          </a:prstGeom>
          <a:solidFill>
            <a:srgbClr val="00000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3408" y="1161288"/>
            <a:ext cx="5084064" cy="4352544"/>
          </a:xfrm>
          <a:prstGeom prst="rect">
            <a:avLst/>
          </a:prstGeom>
          <a:noFill/>
        </p:spPr>
        <p:txBody>
          <a:bodyPr wrap="none">
            <a:spAutoFit/>
          </a:bodyPr>
          <a:lstStyle/>
          <a:p>
            <a:r>
              <a:rPr sz="1300">
                <a:solidFill>
                  <a:srgbClr val="FFFFFF"/>
                </a:solidFill>
                <a:latin typeface="Consolas"/>
              </a:rPr>
              <a:t>STATE: RESULT (2/2)</a:t>
            </a:r>
          </a:p>
          <a:p>
            <a:r>
              <a:rPr sz="1300">
                <a:solidFill>
                  <a:srgbClr val="FFFFFF"/>
                </a:solidFill>
                <a:latin typeface="Consolas"/>
              </a:rPr>
              <a:t/>
            </a:r>
          </a:p>
          <a:p>
            <a:r>
              <a:rPr sz="1300">
                <a:solidFill>
                  <a:srgbClr val="FFFFFF"/>
                </a:solidFill>
                <a:latin typeface="Consolas"/>
              </a:rPr>
              <a:t>StdDev:</a:t>
            </a:r>
          </a:p>
          <a:p>
            <a:r>
              <a:rPr sz="1300">
                <a:solidFill>
                  <a:srgbClr val="FFFFFF"/>
                </a:solidFill>
                <a:latin typeface="Consolas"/>
              </a:rPr>
              <a:t>   0.8  C</a:t>
            </a:r>
          </a:p>
          <a:p>
            <a:r>
              <a:rPr sz="1300">
                <a:solidFill>
                  <a:srgbClr val="FFFFFF"/>
                </a:solidFill>
                <a:latin typeface="Consolas"/>
              </a:rPr>
              <a:t>Range:   10.0  C</a:t>
            </a:r>
          </a:p>
          <a:p>
            <a:r>
              <a:rPr sz="1300">
                <a:solidFill>
                  <a:srgbClr val="FFFFFF"/>
                </a:solidFill>
                <a:latin typeface="Consolas"/>
              </a:rPr>
              <a:t>Max:    550.0  C</a:t>
            </a:r>
          </a:p>
          <a:p>
            <a:r>
              <a:rPr sz="1300">
                <a:solidFill>
                  <a:srgbClr val="FFFFFF"/>
                </a:solidFill>
                <a:latin typeface="Consolas"/>
              </a:rPr>
              <a:t>Min:    530.0  C</a:t>
            </a:r>
          </a:p>
          <a:p>
            <a:r>
              <a:rPr sz="1300">
                <a:solidFill>
                  <a:srgbClr val="FFFFFF"/>
                </a:solidFill>
                <a:latin typeface="Consolas"/>
              </a:rPr>
              <a:t/>
            </a:r>
          </a:p>
          <a:p>
            <a:r>
              <a:rPr sz="1300">
                <a:solidFill>
                  <a:srgbClr val="FFFFFF"/>
                </a:solidFill>
                <a:latin typeface="Consolas"/>
              </a:rPr>
              <a:t>[BtnA] Reset  [BtnB] Prev</a:t>
            </a:r>
          </a:p>
        </p:txBody>
      </p:sp>
      <p:sp>
        <p:nvSpPr>
          <p:cNvPr id="13" name="TextBox 12"/>
          <p:cNvSpPr txBox="1"/>
          <p:nvPr/>
        </p:nvSpPr>
        <p:spPr>
          <a:xfrm>
            <a:off x="320040" y="5760720"/>
            <a:ext cx="11548872" cy="457200"/>
          </a:xfrm>
          <a:prstGeom prst="rect">
            <a:avLst/>
          </a:prstGeom>
          <a:noFill/>
        </p:spPr>
        <p:txBody>
          <a:bodyPr wrap="square">
            <a:spAutoFit/>
          </a:bodyPr>
          <a:lstStyle/>
          <a:p>
            <a:pPr algn="l"/>
            <a:r>
              <a:rPr sz="1200" b="0" i="0">
                <a:solidFill>
                  <a:srgbClr val="1A1A2E"/>
                </a:solidFill>
                <a:latin typeface="游ゴシック"/>
              </a:rPr>
              <a:t>BtnB でページを切り替え | SD ファイルは RUN→RESULT 遷移時に自動クローズ済み</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操作マニュアル ④ — ALARM_SETTING（アラーム設定）</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14</a:t>
            </a:r>
          </a:p>
        </p:txBody>
      </p:sp>
      <p:sp>
        <p:nvSpPr>
          <p:cNvPr id="8" name="Rectangle 7"/>
          <p:cNvSpPr/>
          <p:nvPr/>
        </p:nvSpPr>
        <p:spPr>
          <a:xfrm>
            <a:off x="320040" y="1051560"/>
            <a:ext cx="5303520" cy="4572000"/>
          </a:xfrm>
          <a:prstGeom prst="rect">
            <a:avLst/>
          </a:prstGeom>
          <a:solidFill>
            <a:srgbClr val="000000"/>
          </a:solidFill>
          <a:ln w="25400">
            <a:solidFill>
              <a:srgbClr val="7B2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61288"/>
            <a:ext cx="5084064" cy="4352544"/>
          </a:xfrm>
          <a:prstGeom prst="rect">
            <a:avLst/>
          </a:prstGeom>
          <a:noFill/>
        </p:spPr>
        <p:txBody>
          <a:bodyPr wrap="none">
            <a:spAutoFit/>
          </a:bodyPr>
          <a:lstStyle/>
          <a:p>
            <a:r>
              <a:rPr sz="1300">
                <a:solidFill>
                  <a:srgbClr val="FFFFFF"/>
                </a:solidFill>
                <a:latin typeface="Consolas"/>
              </a:rPr>
              <a:t>STATE: HI_ALARM SETTING</a:t>
            </a:r>
          </a:p>
          <a:p>
            <a:r>
              <a:rPr sz="1300">
                <a:solidFill>
                  <a:srgbClr val="FFFFFF"/>
                </a:solidFill>
                <a:latin typeface="Consolas"/>
              </a:rPr>
              <a:t/>
            </a:r>
          </a:p>
          <a:p>
            <a:r>
              <a:rPr sz="1300">
                <a:solidFill>
                  <a:srgbClr val="FFFFFF"/>
                </a:solidFill>
                <a:latin typeface="Consolas"/>
              </a:rPr>
              <a:t>Current:</a:t>
            </a:r>
          </a:p>
          <a:p>
            <a:r>
              <a:rPr sz="1300">
                <a:solidFill>
                  <a:srgbClr val="FFFFFF"/>
                </a:solidFill>
                <a:latin typeface="Consolas"/>
              </a:rPr>
              <a:t>  600.0  C</a:t>
            </a:r>
          </a:p>
          <a:p>
            <a:r>
              <a:rPr sz="1300">
                <a:solidFill>
                  <a:srgbClr val="FFFFFF"/>
                </a:solidFill>
                <a:latin typeface="Consolas"/>
              </a:rPr>
              <a:t/>
            </a:r>
          </a:p>
          <a:p>
            <a:r>
              <a:rPr sz="1300">
                <a:solidFill>
                  <a:srgbClr val="FFFFFF"/>
                </a:solidFill>
                <a:latin typeface="Consolas"/>
              </a:rPr>
              <a:t>[BtnA] Next</a:t>
            </a:r>
          </a:p>
          <a:p>
            <a:r>
              <a:rPr sz="1300">
                <a:solidFill>
                  <a:srgbClr val="FFFFFF"/>
                </a:solidFill>
                <a:latin typeface="Consolas"/>
              </a:rPr>
              <a:t>[BtnB] +5C  [BtnC] -5C</a:t>
            </a:r>
          </a:p>
        </p:txBody>
      </p:sp>
      <p:sp>
        <p:nvSpPr>
          <p:cNvPr id="10" name="TextBox 9"/>
          <p:cNvSpPr txBox="1"/>
          <p:nvPr/>
        </p:nvSpPr>
        <p:spPr>
          <a:xfrm>
            <a:off x="5669280" y="3017520"/>
            <a:ext cx="822960" cy="457200"/>
          </a:xfrm>
          <a:prstGeom prst="rect">
            <a:avLst/>
          </a:prstGeom>
          <a:noFill/>
        </p:spPr>
        <p:txBody>
          <a:bodyPr wrap="square">
            <a:spAutoFit/>
          </a:bodyPr>
          <a:lstStyle/>
          <a:p>
            <a:pPr algn="ctr"/>
            <a:r>
              <a:rPr sz="1600" b="1" i="0">
                <a:solidFill>
                  <a:srgbClr val="FF6D00"/>
                </a:solidFill>
                <a:latin typeface="Segoe UI"/>
              </a:rPr>
              <a:t>BtnA ▶</a:t>
            </a:r>
          </a:p>
        </p:txBody>
      </p:sp>
      <p:sp>
        <p:nvSpPr>
          <p:cNvPr id="11" name="Rectangle 10"/>
          <p:cNvSpPr/>
          <p:nvPr/>
        </p:nvSpPr>
        <p:spPr>
          <a:xfrm>
            <a:off x="6583680" y="1051560"/>
            <a:ext cx="5303520" cy="4572000"/>
          </a:xfrm>
          <a:prstGeom prst="rect">
            <a:avLst/>
          </a:prstGeom>
          <a:solidFill>
            <a:srgbClr val="000000"/>
          </a:solidFill>
          <a:ln w="25400">
            <a:solidFill>
              <a:srgbClr val="7B2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3408" y="1161288"/>
            <a:ext cx="5084064" cy="4352544"/>
          </a:xfrm>
          <a:prstGeom prst="rect">
            <a:avLst/>
          </a:prstGeom>
          <a:noFill/>
        </p:spPr>
        <p:txBody>
          <a:bodyPr wrap="none">
            <a:spAutoFit/>
          </a:bodyPr>
          <a:lstStyle/>
          <a:p>
            <a:r>
              <a:rPr sz="1300">
                <a:solidFill>
                  <a:srgbClr val="FFFFFF"/>
                </a:solidFill>
                <a:latin typeface="Consolas"/>
              </a:rPr>
              <a:t>STATE: LO_ALARM SETTING</a:t>
            </a:r>
          </a:p>
          <a:p>
            <a:r>
              <a:rPr sz="1300">
                <a:solidFill>
                  <a:srgbClr val="FFFFFF"/>
                </a:solidFill>
                <a:latin typeface="Consolas"/>
              </a:rPr>
              <a:t/>
            </a:r>
          </a:p>
          <a:p>
            <a:r>
              <a:rPr sz="1300">
                <a:solidFill>
                  <a:srgbClr val="FFFFFF"/>
                </a:solidFill>
                <a:latin typeface="Consolas"/>
              </a:rPr>
              <a:t>Current:</a:t>
            </a:r>
          </a:p>
          <a:p>
            <a:r>
              <a:rPr sz="1300">
                <a:solidFill>
                  <a:srgbClr val="FFFFFF"/>
                </a:solidFill>
                <a:latin typeface="Consolas"/>
              </a:rPr>
              <a:t>  400.0  C</a:t>
            </a:r>
          </a:p>
          <a:p>
            <a:r>
              <a:rPr sz="1300">
                <a:solidFill>
                  <a:srgbClr val="FFFFFF"/>
                </a:solidFill>
                <a:latin typeface="Consolas"/>
              </a:rPr>
              <a:t/>
            </a:r>
          </a:p>
          <a:p>
            <a:r>
              <a:rPr sz="1300">
                <a:solidFill>
                  <a:srgbClr val="FFFFFF"/>
                </a:solidFill>
                <a:latin typeface="Consolas"/>
              </a:rPr>
              <a:t>[BtnA] Save &amp; Exit</a:t>
            </a:r>
          </a:p>
          <a:p>
            <a:r>
              <a:rPr sz="1300">
                <a:solidFill>
                  <a:srgbClr val="FFFFFF"/>
                </a:solidFill>
                <a:latin typeface="Consolas"/>
              </a:rPr>
              <a:t>[BtnB] +5C  [BtnC] -5C</a:t>
            </a:r>
          </a:p>
        </p:txBody>
      </p:sp>
      <p:sp>
        <p:nvSpPr>
          <p:cNvPr id="13" name="TextBox 12"/>
          <p:cNvSpPr txBox="1"/>
          <p:nvPr/>
        </p:nvSpPr>
        <p:spPr>
          <a:xfrm>
            <a:off x="320040" y="5760720"/>
            <a:ext cx="11548872" cy="457200"/>
          </a:xfrm>
          <a:prstGeom prst="rect">
            <a:avLst/>
          </a:prstGeom>
          <a:noFill/>
        </p:spPr>
        <p:txBody>
          <a:bodyPr wrap="square">
            <a:spAutoFit/>
          </a:bodyPr>
          <a:lstStyle/>
          <a:p>
            <a:pPr algn="l"/>
            <a:r>
              <a:rPr sz="1200" b="0" i="0">
                <a:solidFill>
                  <a:srgbClr val="1A1A2E"/>
                </a:solidFill>
                <a:latin typeface="游ゴシック"/>
              </a:rPr>
              <a:t>① IDLE で BtnB → ② HI 設定 → ③ BtnA で LO へ → ④ LO 設定 → ⑤ BtnA で EEPROM 保存・IDLE 復帰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データ管理 — CSV ファイル仕様</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5  データ管理</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15</a:t>
            </a:r>
          </a:p>
        </p:txBody>
      </p:sp>
      <p:sp>
        <p:nvSpPr>
          <p:cNvPr id="8" name="TextBox 7"/>
          <p:cNvSpPr txBox="1"/>
          <p:nvPr/>
        </p:nvSpPr>
        <p:spPr>
          <a:xfrm>
            <a:off x="320040" y="1005840"/>
            <a:ext cx="11548872" cy="411480"/>
          </a:xfrm>
          <a:prstGeom prst="rect">
            <a:avLst/>
          </a:prstGeom>
          <a:noFill/>
        </p:spPr>
        <p:txBody>
          <a:bodyPr wrap="square">
            <a:spAutoFit/>
          </a:bodyPr>
          <a:lstStyle/>
          <a:p>
            <a:pPr algn="l"/>
            <a:r>
              <a:rPr sz="1400" b="0" i="0">
                <a:solidFill>
                  <a:srgbClr val="1A1A2E"/>
                </a:solidFill>
                <a:latin typeface="游ゴシック"/>
              </a:rPr>
              <a:t>ファイル名: /DATA_0000.csv（0 始まり連番）　形式: UTF-8 テキスト、CRLF 改行、先頭ヘッダ行あり</a:t>
            </a:r>
          </a:p>
        </p:txBody>
      </p:sp>
      <p:graphicFrame>
        <p:nvGraphicFramePr>
          <p:cNvPr id="9" name="Table 8"/>
          <p:cNvGraphicFramePr>
            <a:graphicFrameLocks noGrp="1"/>
          </p:cNvGraphicFramePr>
          <p:nvPr/>
        </p:nvGraphicFramePr>
        <p:xfrm>
          <a:off x="320040" y="1508760"/>
          <a:ext cx="11521440" cy="4023360"/>
        </p:xfrm>
        <a:graphic>
          <a:graphicData uri="http://schemas.openxmlformats.org/drawingml/2006/table">
            <a:tbl>
              <a:tblPr firstRow="1" bandRow="1">
                <a:tableStyleId>{5C22544A-7EE6-4342-B048-85BDC9FD1C3A}</a:tableStyleId>
              </a:tblPr>
              <a:tblGrid>
                <a:gridCol w="731520"/>
                <a:gridCol w="2103120"/>
                <a:gridCol w="1828800"/>
                <a:gridCol w="6858000"/>
              </a:tblGrid>
              <a:tr h="365760">
                <a:tc>
                  <a:txBody>
                    <a:bodyPr/>
                    <a:lstStyle/>
                    <a:p>
                      <a:pPr algn="l"/>
                      <a:r>
                        <a:rPr sz="1300" b="1">
                          <a:solidFill>
                            <a:srgbClr val="FFFFFF"/>
                          </a:solidFill>
                          <a:latin typeface="Segoe UI"/>
                        </a:rPr>
                        <a:t>#</a:t>
                      </a:r>
                    </a:p>
                  </a:txBody>
                  <a:tcPr>
                    <a:solidFill>
                      <a:srgbClr val="0D477F"/>
                    </a:solidFill>
                  </a:tcPr>
                </a:tc>
                <a:tc>
                  <a:txBody>
                    <a:bodyPr/>
                    <a:lstStyle/>
                    <a:p>
                      <a:pPr algn="l"/>
                      <a:r>
                        <a:rPr sz="1300" b="1">
                          <a:solidFill>
                            <a:srgbClr val="FFFFFF"/>
                          </a:solidFill>
                          <a:latin typeface="Segoe UI"/>
                        </a:rPr>
                        <a:t>列名（ヘッダ）</a:t>
                      </a:r>
                    </a:p>
                  </a:txBody>
                  <a:tcPr>
                    <a:solidFill>
                      <a:srgbClr val="0D477F"/>
                    </a:solidFill>
                  </a:tcPr>
                </a:tc>
                <a:tc>
                  <a:txBody>
                    <a:bodyPr/>
                    <a:lstStyle/>
                    <a:p>
                      <a:pPr algn="l"/>
                      <a:r>
                        <a:rPr sz="1300" b="1">
                          <a:solidFill>
                            <a:srgbClr val="FFFFFF"/>
                          </a:solidFill>
                          <a:latin typeface="Segoe UI"/>
                        </a:rPr>
                        <a:t>型・単位</a:t>
                      </a:r>
                    </a:p>
                  </a:txBody>
                  <a:tcPr>
                    <a:solidFill>
                      <a:srgbClr val="0D477F"/>
                    </a:solidFill>
                  </a:tcPr>
                </a:tc>
                <a:tc>
                  <a:txBody>
                    <a:bodyPr/>
                    <a:lstStyle/>
                    <a:p>
                      <a:pPr algn="l"/>
                      <a:r>
                        <a:rPr sz="1300" b="1">
                          <a:solidFill>
                            <a:srgbClr val="FFFFFF"/>
                          </a:solidFill>
                          <a:latin typeface="Segoe UI"/>
                        </a:rPr>
                        <a:t>内容</a:t>
                      </a:r>
                    </a:p>
                  </a:txBody>
                  <a:tcPr>
                    <a:solidFill>
                      <a:srgbClr val="0D477F"/>
                    </a:solidFill>
                  </a:tcPr>
                </a:tc>
              </a:tr>
              <a:tr h="365760">
                <a:tc>
                  <a:txBody>
                    <a:bodyPr/>
                    <a:lstStyle/>
                    <a:p>
                      <a:pPr algn="l"/>
                      <a:r>
                        <a:rPr sz="1200" b="0">
                          <a:solidFill>
                            <a:srgbClr val="1A1A2E"/>
                          </a:solidFill>
                          <a:latin typeface="游ゴシック"/>
                        </a:rPr>
                        <a:t>1</a:t>
                      </a:r>
                    </a:p>
                  </a:txBody>
                  <a:tcPr>
                    <a:solidFill>
                      <a:srgbClr val="FFFFFF"/>
                    </a:solidFill>
                  </a:tcPr>
                </a:tc>
                <a:tc>
                  <a:txBody>
                    <a:bodyPr/>
                    <a:lstStyle/>
                    <a:p>
                      <a:pPr algn="l"/>
                      <a:r>
                        <a:rPr sz="1200" b="0">
                          <a:solidFill>
                            <a:srgbClr val="1A1A2E"/>
                          </a:solidFill>
                          <a:latin typeface="游ゴシック"/>
                        </a:rPr>
                        <a:t>ElapsedSec</a:t>
                      </a:r>
                    </a:p>
                  </a:txBody>
                  <a:tcPr>
                    <a:solidFill>
                      <a:srgbClr val="FFFFFF"/>
                    </a:solidFill>
                  </a:tcPr>
                </a:tc>
                <a:tc>
                  <a:txBody>
                    <a:bodyPr/>
                    <a:lstStyle/>
                    <a:p>
                      <a:pPr algn="l"/>
                      <a:r>
                        <a:rPr sz="1200" b="0">
                          <a:solidFill>
                            <a:srgbClr val="1A1A2E"/>
                          </a:solidFill>
                          <a:latin typeface="游ゴシック"/>
                        </a:rPr>
                        <a:t>uint32 / 秒</a:t>
                      </a:r>
                    </a:p>
                  </a:txBody>
                  <a:tcPr>
                    <a:solidFill>
                      <a:srgbClr val="FFFFFF"/>
                    </a:solidFill>
                  </a:tcPr>
                </a:tc>
                <a:tc>
                  <a:txBody>
                    <a:bodyPr/>
                    <a:lstStyle/>
                    <a:p>
                      <a:pPr algn="l"/>
                      <a:r>
                        <a:rPr sz="1200" b="0">
                          <a:solidFill>
                            <a:srgbClr val="1A1A2E"/>
                          </a:solidFill>
                          <a:latin typeface="游ゴシック"/>
                        </a:rPr>
                        <a:t>RUN 開始からの経過秒数 (millis/1000)</a:t>
                      </a:r>
                    </a:p>
                  </a:txBody>
                  <a:tcPr>
                    <a:solidFill>
                      <a:srgbClr val="FFFFFF"/>
                    </a:solidFill>
                  </a:tcPr>
                </a:tc>
              </a:tr>
              <a:tr h="365760">
                <a:tc>
                  <a:txBody>
                    <a:bodyPr/>
                    <a:lstStyle/>
                    <a:p>
                      <a:pPr algn="l"/>
                      <a:r>
                        <a:rPr sz="1200" b="0">
                          <a:solidFill>
                            <a:srgbClr val="1A1A2E"/>
                          </a:solidFill>
                          <a:latin typeface="游ゴシック"/>
                        </a:rPr>
                        <a:t>2</a:t>
                      </a:r>
                    </a:p>
                  </a:txBody>
                  <a:tcPr>
                    <a:solidFill>
                      <a:srgbClr val="F4F4F4"/>
                    </a:solidFill>
                  </a:tcPr>
                </a:tc>
                <a:tc>
                  <a:txBody>
                    <a:bodyPr/>
                    <a:lstStyle/>
                    <a:p>
                      <a:pPr algn="l"/>
                      <a:r>
                        <a:rPr sz="1200" b="0">
                          <a:solidFill>
                            <a:srgbClr val="1A1A2E"/>
                          </a:solidFill>
                          <a:latin typeface="游ゴシック"/>
                        </a:rPr>
                        <a:t>Temp_C</a:t>
                      </a:r>
                    </a:p>
                  </a:txBody>
                  <a:tcPr>
                    <a:solidFill>
                      <a:srgbClr val="F4F4F4"/>
                    </a:solidFill>
                  </a:tcPr>
                </a:tc>
                <a:tc>
                  <a:txBody>
                    <a:bodyPr/>
                    <a:lstStyle/>
                    <a:p>
                      <a:pPr algn="l"/>
                      <a:r>
                        <a:rPr sz="1200" b="0">
                          <a:solidFill>
                            <a:srgbClr val="1A1A2E"/>
                          </a:solidFill>
                          <a:latin typeface="游ゴシック"/>
                        </a:rPr>
                        <a:t>float / °C</a:t>
                      </a:r>
                    </a:p>
                  </a:txBody>
                  <a:tcPr>
                    <a:solidFill>
                      <a:srgbClr val="F4F4F4"/>
                    </a:solidFill>
                  </a:tcPr>
                </a:tc>
                <a:tc>
                  <a:txBody>
                    <a:bodyPr/>
                    <a:lstStyle/>
                    <a:p>
                      <a:pPr algn="l"/>
                      <a:r>
                        <a:rPr sz="1200" b="0">
                          <a:solidFill>
                            <a:srgbClr val="1A1A2E"/>
                          </a:solidFill>
                          <a:latin typeface="游ゴシック"/>
                        </a:rPr>
                        <a:t>LPF フィルタ後の温度値</a:t>
                      </a:r>
                    </a:p>
                  </a:txBody>
                  <a:tcPr>
                    <a:solidFill>
                      <a:srgbClr val="F4F4F4"/>
                    </a:solidFill>
                  </a:tcPr>
                </a:tc>
              </a:tr>
              <a:tr h="365760">
                <a:tc>
                  <a:txBody>
                    <a:bodyPr/>
                    <a:lstStyle/>
                    <a:p>
                      <a:pPr algn="l"/>
                      <a:r>
                        <a:rPr sz="1200" b="0">
                          <a:solidFill>
                            <a:srgbClr val="1A1A2E"/>
                          </a:solidFill>
                          <a:latin typeface="游ゴシック"/>
                        </a:rPr>
                        <a:t>3</a:t>
                      </a:r>
                    </a:p>
                  </a:txBody>
                  <a:tcPr>
                    <a:solidFill>
                      <a:srgbClr val="FFFFFF"/>
                    </a:solidFill>
                  </a:tcPr>
                </a:tc>
                <a:tc>
                  <a:txBody>
                    <a:bodyPr/>
                    <a:lstStyle/>
                    <a:p>
                      <a:pPr algn="l"/>
                      <a:r>
                        <a:rPr sz="1200" b="0">
                          <a:solidFill>
                            <a:srgbClr val="1A1A2E"/>
                          </a:solidFill>
                          <a:latin typeface="游ゴシック"/>
                        </a:rPr>
                        <a:t>State</a:t>
                      </a:r>
                    </a:p>
                  </a:txBody>
                  <a:tcPr>
                    <a:solidFill>
                      <a:srgbClr val="FFFFFF"/>
                    </a:solidFill>
                  </a:tcPr>
                </a:tc>
                <a:tc>
                  <a:txBody>
                    <a:bodyPr/>
                    <a:lstStyle/>
                    <a:p>
                      <a:pPr algn="l"/>
                      <a:r>
                        <a:rPr sz="1200" b="0">
                          <a:solidFill>
                            <a:srgbClr val="1A1A2E"/>
                          </a:solidFill>
                          <a:latin typeface="游ゴシック"/>
                        </a:rPr>
                        <a:t>文字列</a:t>
                      </a:r>
                    </a:p>
                  </a:txBody>
                  <a:tcPr>
                    <a:solidFill>
                      <a:srgbClr val="FFFFFF"/>
                    </a:solidFill>
                  </a:tcPr>
                </a:tc>
                <a:tc>
                  <a:txBody>
                    <a:bodyPr/>
                    <a:lstStyle/>
                    <a:p>
                      <a:pPr algn="l"/>
                      <a:r>
                        <a:rPr sz="1200" b="0">
                          <a:solidFill>
                            <a:srgbClr val="1A1A2E"/>
                          </a:solidFill>
                          <a:latin typeface="游ゴシック"/>
                        </a:rPr>
                        <a:t>現在の状態名（"RUN" 固定）</a:t>
                      </a:r>
                    </a:p>
                  </a:txBody>
                  <a:tcPr>
                    <a:solidFill>
                      <a:srgbClr val="FFFFFF"/>
                    </a:solidFill>
                  </a:tcPr>
                </a:tc>
              </a:tr>
              <a:tr h="365760">
                <a:tc>
                  <a:txBody>
                    <a:bodyPr/>
                    <a:lstStyle/>
                    <a:p>
                      <a:pPr algn="l"/>
                      <a:r>
                        <a:rPr sz="1200" b="0">
                          <a:solidFill>
                            <a:srgbClr val="1A1A2E"/>
                          </a:solidFill>
                          <a:latin typeface="游ゴシック"/>
                        </a:rPr>
                        <a:t>4</a:t>
                      </a:r>
                    </a:p>
                  </a:txBody>
                  <a:tcPr>
                    <a:solidFill>
                      <a:srgbClr val="F4F4F4"/>
                    </a:solidFill>
                  </a:tcPr>
                </a:tc>
                <a:tc>
                  <a:txBody>
                    <a:bodyPr/>
                    <a:lstStyle/>
                    <a:p>
                      <a:pPr algn="l"/>
                      <a:r>
                        <a:rPr sz="1200" b="0">
                          <a:solidFill>
                            <a:srgbClr val="1A1A2E"/>
                          </a:solidFill>
                          <a:latin typeface="游ゴシック"/>
                        </a:rPr>
                        <a:t>Samples</a:t>
                      </a:r>
                    </a:p>
                  </a:txBody>
                  <a:tcPr>
                    <a:solidFill>
                      <a:srgbClr val="F4F4F4"/>
                    </a:solidFill>
                  </a:tcPr>
                </a:tc>
                <a:tc>
                  <a:txBody>
                    <a:bodyPr/>
                    <a:lstStyle/>
                    <a:p>
                      <a:pPr algn="l"/>
                      <a:r>
                        <a:rPr sz="1200" b="0">
                          <a:solidFill>
                            <a:srgbClr val="1A1A2E"/>
                          </a:solidFill>
                          <a:latin typeface="游ゴシック"/>
                        </a:rPr>
                        <a:t>uint32</a:t>
                      </a:r>
                    </a:p>
                  </a:txBody>
                  <a:tcPr>
                    <a:solidFill>
                      <a:srgbClr val="F4F4F4"/>
                    </a:solidFill>
                  </a:tcPr>
                </a:tc>
                <a:tc>
                  <a:txBody>
                    <a:bodyPr/>
                    <a:lstStyle/>
                    <a:p>
                      <a:pPr algn="l"/>
                      <a:r>
                        <a:rPr sz="1200" b="0">
                          <a:solidFill>
                            <a:srgbClr val="1A1A2E"/>
                          </a:solidFill>
                          <a:latin typeface="游ゴシック"/>
                        </a:rPr>
                        <a:t>累積サンプル数（Welford のカウント）</a:t>
                      </a:r>
                    </a:p>
                  </a:txBody>
                  <a:tcPr>
                    <a:solidFill>
                      <a:srgbClr val="F4F4F4"/>
                    </a:solidFill>
                  </a:tcPr>
                </a:tc>
              </a:tr>
              <a:tr h="365760">
                <a:tc>
                  <a:txBody>
                    <a:bodyPr/>
                    <a:lstStyle/>
                    <a:p>
                      <a:pPr algn="l"/>
                      <a:r>
                        <a:rPr sz="1200" b="0">
                          <a:solidFill>
                            <a:srgbClr val="1A1A2E"/>
                          </a:solidFill>
                          <a:latin typeface="游ゴシック"/>
                        </a:rPr>
                        <a:t>5</a:t>
                      </a:r>
                    </a:p>
                  </a:txBody>
                  <a:tcPr>
                    <a:solidFill>
                      <a:srgbClr val="FFFFFF"/>
                    </a:solidFill>
                  </a:tcPr>
                </a:tc>
                <a:tc>
                  <a:txBody>
                    <a:bodyPr/>
                    <a:lstStyle/>
                    <a:p>
                      <a:pPr algn="l"/>
                      <a:r>
                        <a:rPr sz="1200" b="0">
                          <a:solidFill>
                            <a:srgbClr val="1A1A2E"/>
                          </a:solidFill>
                          <a:latin typeface="游ゴシック"/>
                        </a:rPr>
                        <a:t>Average_C</a:t>
                      </a:r>
                    </a:p>
                  </a:txBody>
                  <a:tcPr>
                    <a:solidFill>
                      <a:srgbClr val="FFFFFF"/>
                    </a:solidFill>
                  </a:tcPr>
                </a:tc>
                <a:tc>
                  <a:txBody>
                    <a:bodyPr/>
                    <a:lstStyle/>
                    <a:p>
                      <a:pPr algn="l"/>
                      <a:r>
                        <a:rPr sz="1200" b="0">
                          <a:solidFill>
                            <a:srgbClr val="1A1A2E"/>
                          </a:solidFill>
                          <a:latin typeface="游ゴシック"/>
                        </a:rPr>
                        <a:t>float / °C</a:t>
                      </a:r>
                    </a:p>
                  </a:txBody>
                  <a:tcPr>
                    <a:solidFill>
                      <a:srgbClr val="FFFFFF"/>
                    </a:solidFill>
                  </a:tcPr>
                </a:tc>
                <a:tc>
                  <a:txBody>
                    <a:bodyPr/>
                    <a:lstStyle/>
                    <a:p>
                      <a:pPr algn="l"/>
                      <a:r>
                        <a:rPr sz="1200" b="0">
                          <a:solidFill>
                            <a:srgbClr val="1A1A2E"/>
                          </a:solidFill>
                          <a:latin typeface="游ゴシック"/>
                        </a:rPr>
                        <a:t>累積平均温度（Logic_Task 毎周期更新）</a:t>
                      </a:r>
                    </a:p>
                  </a:txBody>
                  <a:tcPr>
                    <a:solidFill>
                      <a:srgbClr val="FFFFFF"/>
                    </a:solidFill>
                  </a:tcPr>
                </a:tc>
              </a:tr>
              <a:tr h="365760">
                <a:tc>
                  <a:txBody>
                    <a:bodyPr/>
                    <a:lstStyle/>
                    <a:p>
                      <a:pPr algn="l"/>
                      <a:r>
                        <a:rPr sz="1200" b="0">
                          <a:solidFill>
                            <a:srgbClr val="1A1A2E"/>
                          </a:solidFill>
                          <a:latin typeface="游ゴシック"/>
                        </a:rPr>
                        <a:t>6</a:t>
                      </a:r>
                    </a:p>
                  </a:txBody>
                  <a:tcPr>
                    <a:solidFill>
                      <a:srgbClr val="F4F4F4"/>
                    </a:solidFill>
                  </a:tcPr>
                </a:tc>
                <a:tc>
                  <a:txBody>
                    <a:bodyPr/>
                    <a:lstStyle/>
                    <a:p>
                      <a:pPr algn="l"/>
                      <a:r>
                        <a:rPr sz="1200" b="0">
                          <a:solidFill>
                            <a:srgbClr val="1A1A2E"/>
                          </a:solidFill>
                          <a:latin typeface="游ゴシック"/>
                        </a:rPr>
                        <a:t>StdDev_C</a:t>
                      </a:r>
                    </a:p>
                  </a:txBody>
                  <a:tcPr>
                    <a:solidFill>
                      <a:srgbClr val="F4F4F4"/>
                    </a:solidFill>
                  </a:tcPr>
                </a:tc>
                <a:tc>
                  <a:txBody>
                    <a:bodyPr/>
                    <a:lstStyle/>
                    <a:p>
                      <a:pPr algn="l"/>
                      <a:r>
                        <a:rPr sz="1200" b="0">
                          <a:solidFill>
                            <a:srgbClr val="1A1A2E"/>
                          </a:solidFill>
                          <a:latin typeface="游ゴシック"/>
                        </a:rPr>
                        <a:t>float / °C</a:t>
                      </a:r>
                    </a:p>
                  </a:txBody>
                  <a:tcPr>
                    <a:solidFill>
                      <a:srgbClr val="F4F4F4"/>
                    </a:solidFill>
                  </a:tcPr>
                </a:tc>
                <a:tc>
                  <a:txBody>
                    <a:bodyPr/>
                    <a:lstStyle/>
                    <a:p>
                      <a:pPr algn="l"/>
                      <a:r>
                        <a:rPr sz="1200" b="0">
                          <a:solidFill>
                            <a:srgbClr val="1A1A2E"/>
                          </a:solidFill>
                          <a:latin typeface="游ゴシック"/>
                        </a:rPr>
                        <a:t>累積標準偏差（Welford 計算値）</a:t>
                      </a:r>
                    </a:p>
                  </a:txBody>
                  <a:tcPr>
                    <a:solidFill>
                      <a:srgbClr val="F4F4F4"/>
                    </a:solidFill>
                  </a:tcPr>
                </a:tc>
              </a:tr>
              <a:tr h="365760">
                <a:tc>
                  <a:txBody>
                    <a:bodyPr/>
                    <a:lstStyle/>
                    <a:p>
                      <a:pPr algn="l"/>
                      <a:r>
                        <a:rPr sz="1200" b="0">
                          <a:solidFill>
                            <a:srgbClr val="1A1A2E"/>
                          </a:solidFill>
                          <a:latin typeface="游ゴシック"/>
                        </a:rPr>
                        <a:t>7</a:t>
                      </a:r>
                    </a:p>
                  </a:txBody>
                  <a:tcPr>
                    <a:solidFill>
                      <a:srgbClr val="FFFFFF"/>
                    </a:solidFill>
                  </a:tcPr>
                </a:tc>
                <a:tc>
                  <a:txBody>
                    <a:bodyPr/>
                    <a:lstStyle/>
                    <a:p>
                      <a:pPr algn="l"/>
                      <a:r>
                        <a:rPr sz="1200" b="0">
                          <a:solidFill>
                            <a:srgbClr val="1A1A2E"/>
                          </a:solidFill>
                          <a:latin typeface="游ゴシック"/>
                        </a:rPr>
                        <a:t>Max_C</a:t>
                      </a:r>
                    </a:p>
                  </a:txBody>
                  <a:tcPr>
                    <a:solidFill>
                      <a:srgbClr val="FFFFFF"/>
                    </a:solidFill>
                  </a:tcPr>
                </a:tc>
                <a:tc>
                  <a:txBody>
                    <a:bodyPr/>
                    <a:lstStyle/>
                    <a:p>
                      <a:pPr algn="l"/>
                      <a:r>
                        <a:rPr sz="1200" b="0">
                          <a:solidFill>
                            <a:srgbClr val="1A1A2E"/>
                          </a:solidFill>
                          <a:latin typeface="游ゴシック"/>
                        </a:rPr>
                        <a:t>float / °C</a:t>
                      </a:r>
                    </a:p>
                  </a:txBody>
                  <a:tcPr>
                    <a:solidFill>
                      <a:srgbClr val="FFFFFF"/>
                    </a:solidFill>
                  </a:tcPr>
                </a:tc>
                <a:tc>
                  <a:txBody>
                    <a:bodyPr/>
                    <a:lstStyle/>
                    <a:p>
                      <a:pPr algn="l"/>
                      <a:r>
                        <a:rPr sz="1200" b="0">
                          <a:solidFill>
                            <a:srgbClr val="1A1A2E"/>
                          </a:solidFill>
                          <a:latin typeface="游ゴシック"/>
                        </a:rPr>
                        <a:t>計測開始からの最大温度</a:t>
                      </a:r>
                    </a:p>
                  </a:txBody>
                  <a:tcPr>
                    <a:solidFill>
                      <a:srgbClr val="FFFFFF"/>
                    </a:solidFill>
                  </a:tcPr>
                </a:tc>
              </a:tr>
              <a:tr h="365760">
                <a:tc>
                  <a:txBody>
                    <a:bodyPr/>
                    <a:lstStyle/>
                    <a:p>
                      <a:pPr algn="l"/>
                      <a:r>
                        <a:rPr sz="1200" b="0">
                          <a:solidFill>
                            <a:srgbClr val="1A1A2E"/>
                          </a:solidFill>
                          <a:latin typeface="游ゴシック"/>
                        </a:rPr>
                        <a:t>8</a:t>
                      </a:r>
                    </a:p>
                  </a:txBody>
                  <a:tcPr>
                    <a:solidFill>
                      <a:srgbClr val="F4F4F4"/>
                    </a:solidFill>
                  </a:tcPr>
                </a:tc>
                <a:tc>
                  <a:txBody>
                    <a:bodyPr/>
                    <a:lstStyle/>
                    <a:p>
                      <a:pPr algn="l"/>
                      <a:r>
                        <a:rPr sz="1200" b="0">
                          <a:solidFill>
                            <a:srgbClr val="1A1A2E"/>
                          </a:solidFill>
                          <a:latin typeface="游ゴシック"/>
                        </a:rPr>
                        <a:t>Min_C</a:t>
                      </a:r>
                    </a:p>
                  </a:txBody>
                  <a:tcPr>
                    <a:solidFill>
                      <a:srgbClr val="F4F4F4"/>
                    </a:solidFill>
                  </a:tcPr>
                </a:tc>
                <a:tc>
                  <a:txBody>
                    <a:bodyPr/>
                    <a:lstStyle/>
                    <a:p>
                      <a:pPr algn="l"/>
                      <a:r>
                        <a:rPr sz="1200" b="0">
                          <a:solidFill>
                            <a:srgbClr val="1A1A2E"/>
                          </a:solidFill>
                          <a:latin typeface="游ゴシック"/>
                        </a:rPr>
                        <a:t>float / °C</a:t>
                      </a:r>
                    </a:p>
                  </a:txBody>
                  <a:tcPr>
                    <a:solidFill>
                      <a:srgbClr val="F4F4F4"/>
                    </a:solidFill>
                  </a:tcPr>
                </a:tc>
                <a:tc>
                  <a:txBody>
                    <a:bodyPr/>
                    <a:lstStyle/>
                    <a:p>
                      <a:pPr algn="l"/>
                      <a:r>
                        <a:rPr sz="1200" b="0">
                          <a:solidFill>
                            <a:srgbClr val="1A1A2E"/>
                          </a:solidFill>
                          <a:latin typeface="游ゴシック"/>
                        </a:rPr>
                        <a:t>計測開始からの最小温度</a:t>
                      </a:r>
                    </a:p>
                  </a:txBody>
                  <a:tcPr>
                    <a:solidFill>
                      <a:srgbClr val="F4F4F4"/>
                    </a:solidFill>
                  </a:tcPr>
                </a:tc>
              </a:tr>
              <a:tr h="365760">
                <a:tc>
                  <a:txBody>
                    <a:bodyPr/>
                    <a:lstStyle/>
                    <a:p>
                      <a:pPr algn="l"/>
                      <a:r>
                        <a:rPr sz="1200" b="0">
                          <a:solidFill>
                            <a:srgbClr val="1A1A2E"/>
                          </a:solidFill>
                          <a:latin typeface="游ゴシック"/>
                        </a:rPr>
                        <a:t>9</a:t>
                      </a:r>
                    </a:p>
                  </a:txBody>
                  <a:tcPr>
                    <a:solidFill>
                      <a:srgbClr val="FFFFFF"/>
                    </a:solidFill>
                  </a:tcPr>
                </a:tc>
                <a:tc>
                  <a:txBody>
                    <a:bodyPr/>
                    <a:lstStyle/>
                    <a:p>
                      <a:pPr algn="l"/>
                      <a:r>
                        <a:rPr sz="1200" b="0">
                          <a:solidFill>
                            <a:srgbClr val="1A1A2E"/>
                          </a:solidFill>
                          <a:latin typeface="游ゴシック"/>
                        </a:rPr>
                        <a:t>HI_ALARM</a:t>
                      </a:r>
                    </a:p>
                  </a:txBody>
                  <a:tcPr>
                    <a:solidFill>
                      <a:srgbClr val="FFFFFF"/>
                    </a:solidFill>
                  </a:tcPr>
                </a:tc>
                <a:tc>
                  <a:txBody>
                    <a:bodyPr/>
                    <a:lstStyle/>
                    <a:p>
                      <a:pPr algn="l"/>
                      <a:r>
                        <a:rPr sz="1200" b="0">
                          <a:solidFill>
                            <a:srgbClr val="1A1A2E"/>
                          </a:solidFill>
                          <a:latin typeface="游ゴシック"/>
                        </a:rPr>
                        <a:t>true/false</a:t>
                      </a:r>
                    </a:p>
                  </a:txBody>
                  <a:tcPr>
                    <a:solidFill>
                      <a:srgbClr val="FFFFFF"/>
                    </a:solidFill>
                  </a:tcPr>
                </a:tc>
                <a:tc>
                  <a:txBody>
                    <a:bodyPr/>
                    <a:lstStyle/>
                    <a:p>
                      <a:pPr algn="l"/>
                      <a:r>
                        <a:rPr sz="1200" b="0">
                          <a:solidFill>
                            <a:srgbClr val="1A1A2E"/>
                          </a:solidFill>
                          <a:latin typeface="游ゴシック"/>
                        </a:rPr>
                        <a:t>上限アラームフラグ</a:t>
                      </a:r>
                    </a:p>
                  </a:txBody>
                  <a:tcPr>
                    <a:solidFill>
                      <a:srgbClr val="FFFFFF"/>
                    </a:solidFill>
                  </a:tcPr>
                </a:tc>
              </a:tr>
              <a:tr h="365760">
                <a:tc>
                  <a:txBody>
                    <a:bodyPr/>
                    <a:lstStyle/>
                    <a:p>
                      <a:pPr algn="l"/>
                      <a:r>
                        <a:rPr sz="1200" b="0">
                          <a:solidFill>
                            <a:srgbClr val="1A1A2E"/>
                          </a:solidFill>
                          <a:latin typeface="游ゴシック"/>
                        </a:rPr>
                        <a:t>10</a:t>
                      </a:r>
                    </a:p>
                  </a:txBody>
                  <a:tcPr>
                    <a:solidFill>
                      <a:srgbClr val="F4F4F4"/>
                    </a:solidFill>
                  </a:tcPr>
                </a:tc>
                <a:tc>
                  <a:txBody>
                    <a:bodyPr/>
                    <a:lstStyle/>
                    <a:p>
                      <a:pPr algn="l"/>
                      <a:r>
                        <a:rPr sz="1200" b="0">
                          <a:solidFill>
                            <a:srgbClr val="1A1A2E"/>
                          </a:solidFill>
                          <a:latin typeface="游ゴシック"/>
                        </a:rPr>
                        <a:t>LO_ALARM</a:t>
                      </a:r>
                    </a:p>
                  </a:txBody>
                  <a:tcPr>
                    <a:solidFill>
                      <a:srgbClr val="F4F4F4"/>
                    </a:solidFill>
                  </a:tcPr>
                </a:tc>
                <a:tc>
                  <a:txBody>
                    <a:bodyPr/>
                    <a:lstStyle/>
                    <a:p>
                      <a:pPr algn="l"/>
                      <a:r>
                        <a:rPr sz="1200" b="0">
                          <a:solidFill>
                            <a:srgbClr val="1A1A2E"/>
                          </a:solidFill>
                          <a:latin typeface="游ゴシック"/>
                        </a:rPr>
                        <a:t>true/false</a:t>
                      </a:r>
                    </a:p>
                  </a:txBody>
                  <a:tcPr>
                    <a:solidFill>
                      <a:srgbClr val="F4F4F4"/>
                    </a:solidFill>
                  </a:tcPr>
                </a:tc>
                <a:tc>
                  <a:txBody>
                    <a:bodyPr/>
                    <a:lstStyle/>
                    <a:p>
                      <a:pPr algn="l"/>
                      <a:r>
                        <a:rPr sz="1200" b="0">
                          <a:solidFill>
                            <a:srgbClr val="1A1A2E"/>
                          </a:solidFill>
                          <a:latin typeface="游ゴシック"/>
                        </a:rPr>
                        <a:t>下限アラームフラグ</a:t>
                      </a:r>
                    </a:p>
                  </a:txBody>
                  <a:tcPr>
                    <a:solidFill>
                      <a:srgbClr val="F4F4F4"/>
                    </a:solidFill>
                  </a:tcPr>
                </a:tc>
              </a:tr>
            </a:tbl>
          </a:graphicData>
        </a:graphic>
      </p:graphicFrame>
      <p:sp>
        <p:nvSpPr>
          <p:cNvPr id="10" name="Rectangle 9"/>
          <p:cNvSpPr/>
          <p:nvPr/>
        </p:nvSpPr>
        <p:spPr>
          <a:xfrm>
            <a:off x="320040" y="5669280"/>
            <a:ext cx="11548872"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733288"/>
            <a:ext cx="11155680" cy="384048"/>
          </a:xfrm>
          <a:prstGeom prst="rect">
            <a:avLst/>
          </a:prstGeom>
          <a:noFill/>
        </p:spPr>
        <p:txBody>
          <a:bodyPr wrap="square">
            <a:spAutoFit/>
          </a:bodyPr>
          <a:lstStyle/>
          <a:p>
            <a:pPr algn="l"/>
            <a:r>
              <a:rPr sz="1200" b="0" i="0">
                <a:solidFill>
                  <a:srgbClr val="1A1A2E"/>
                </a:solidFill>
                <a:latin typeface="游ゴシック"/>
              </a:rPr>
              <a:t>例: 60,540.2,RUN,120,539.8,0.8,550.0,530.0,false,false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データ管理 — Excel での活用</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5  データ管理</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16</a:t>
            </a:r>
          </a:p>
        </p:txBody>
      </p:sp>
      <p:graphicFrame>
        <p:nvGraphicFramePr>
          <p:cNvPr id="8" name="Table 7"/>
          <p:cNvGraphicFramePr>
            <a:graphicFrameLocks noGrp="1"/>
          </p:cNvGraphicFramePr>
          <p:nvPr/>
        </p:nvGraphicFramePr>
        <p:xfrm>
          <a:off x="320040" y="1051560"/>
          <a:ext cx="11521440" cy="2743200"/>
        </p:xfrm>
        <a:graphic>
          <a:graphicData uri="http://schemas.openxmlformats.org/drawingml/2006/table">
            <a:tbl>
              <a:tblPr firstRow="1" bandRow="1">
                <a:tableStyleId>{5C22544A-7EE6-4342-B048-85BDC9FD1C3A}</a:tableStyleId>
              </a:tblPr>
              <a:tblGrid>
                <a:gridCol w="731520"/>
                <a:gridCol w="4114800"/>
                <a:gridCol w="6675120"/>
              </a:tblGrid>
              <a:tr h="457200">
                <a:tc>
                  <a:txBody>
                    <a:bodyPr/>
                    <a:lstStyle/>
                    <a:p>
                      <a:pPr algn="l"/>
                      <a:r>
                        <a:rPr sz="1300" b="1">
                          <a:solidFill>
                            <a:srgbClr val="FFFFFF"/>
                          </a:solidFill>
                          <a:latin typeface="Segoe UI"/>
                        </a:rPr>
                        <a:t>手順</a:t>
                      </a:r>
                    </a:p>
                  </a:txBody>
                  <a:tcPr>
                    <a:solidFill>
                      <a:srgbClr val="0D477F"/>
                    </a:solidFill>
                  </a:tcPr>
                </a:tc>
                <a:tc>
                  <a:txBody>
                    <a:bodyPr/>
                    <a:lstStyle/>
                    <a:p>
                      <a:pPr algn="l"/>
                      <a:r>
                        <a:rPr sz="1300" b="1">
                          <a:solidFill>
                            <a:srgbClr val="FFFFFF"/>
                          </a:solidFill>
                          <a:latin typeface="Segoe UI"/>
                        </a:rPr>
                        <a:t>操作</a:t>
                      </a:r>
                    </a:p>
                  </a:txBody>
                  <a:tcPr>
                    <a:solidFill>
                      <a:srgbClr val="0D477F"/>
                    </a:solidFill>
                  </a:tcPr>
                </a:tc>
                <a:tc>
                  <a:txBody>
                    <a:bodyPr/>
                    <a:lstStyle/>
                    <a:p>
                      <a:pPr algn="l"/>
                      <a:r>
                        <a:rPr sz="1300" b="1">
                          <a:solidFill>
                            <a:srgbClr val="FFFFFF"/>
                          </a:solidFill>
                          <a:latin typeface="Segoe UI"/>
                        </a:rPr>
                        <a:t>備考</a:t>
                      </a:r>
                    </a:p>
                  </a:txBody>
                  <a:tcPr>
                    <a:solidFill>
                      <a:srgbClr val="0D477F"/>
                    </a:solidFill>
                  </a:tcPr>
                </a:tc>
              </a:tr>
              <a:tr h="457200">
                <a:tc>
                  <a:txBody>
                    <a:bodyPr/>
                    <a:lstStyle/>
                    <a:p>
                      <a:pPr algn="l"/>
                      <a:r>
                        <a:rPr sz="1200" b="0">
                          <a:solidFill>
                            <a:srgbClr val="1A1A2E"/>
                          </a:solidFill>
                          <a:latin typeface="游ゴシック"/>
                        </a:rPr>
                        <a:t>①</a:t>
                      </a:r>
                    </a:p>
                  </a:txBody>
                  <a:tcPr>
                    <a:solidFill>
                      <a:srgbClr val="FFFFFF"/>
                    </a:solidFill>
                  </a:tcPr>
                </a:tc>
                <a:tc>
                  <a:txBody>
                    <a:bodyPr/>
                    <a:lstStyle/>
                    <a:p>
                      <a:pPr algn="l"/>
                      <a:r>
                        <a:rPr sz="1200" b="0">
                          <a:solidFill>
                            <a:srgbClr val="1A1A2E"/>
                          </a:solidFill>
                          <a:latin typeface="游ゴシック"/>
                        </a:rPr>
                        <a:t>BtnA を押して RESULT 状態へ</a:t>
                      </a:r>
                    </a:p>
                  </a:txBody>
                  <a:tcPr>
                    <a:solidFill>
                      <a:srgbClr val="FFFFFF"/>
                    </a:solidFill>
                  </a:tcPr>
                </a:tc>
                <a:tc>
                  <a:txBody>
                    <a:bodyPr/>
                    <a:lstStyle/>
                    <a:p>
                      <a:pPr algn="l"/>
                      <a:r>
                        <a:rPr sz="1200" b="0">
                          <a:solidFill>
                            <a:srgbClr val="1A1A2E"/>
                          </a:solidFill>
                          <a:latin typeface="游ゴシック"/>
                        </a:rPr>
                        <a:t>SD ファイルが自動クローズされる</a:t>
                      </a:r>
                    </a:p>
                  </a:txBody>
                  <a:tcPr>
                    <a:solidFill>
                      <a:srgbClr val="FFFFFF"/>
                    </a:solidFill>
                  </a:tcPr>
                </a:tc>
              </a:tr>
              <a:tr h="457200">
                <a:tc>
                  <a:txBody>
                    <a:bodyPr/>
                    <a:lstStyle/>
                    <a:p>
                      <a:pPr algn="l"/>
                      <a:r>
                        <a:rPr sz="1200" b="0">
                          <a:solidFill>
                            <a:srgbClr val="1A1A2E"/>
                          </a:solidFill>
                          <a:latin typeface="游ゴシック"/>
                        </a:rPr>
                        <a:t>②</a:t>
                      </a:r>
                    </a:p>
                  </a:txBody>
                  <a:tcPr>
                    <a:solidFill>
                      <a:srgbClr val="F4F4F4"/>
                    </a:solidFill>
                  </a:tcPr>
                </a:tc>
                <a:tc>
                  <a:txBody>
                    <a:bodyPr/>
                    <a:lstStyle/>
                    <a:p>
                      <a:pPr algn="l"/>
                      <a:r>
                        <a:rPr sz="1200" b="0">
                          <a:solidFill>
                            <a:srgbClr val="1A1A2E"/>
                          </a:solidFill>
                          <a:latin typeface="游ゴシック"/>
                        </a:rPr>
                        <a:t>MicroSD を PC へ挿入</a:t>
                      </a:r>
                    </a:p>
                  </a:txBody>
                  <a:tcPr>
                    <a:solidFill>
                      <a:srgbClr val="F4F4F4"/>
                    </a:solidFill>
                  </a:tcPr>
                </a:tc>
                <a:tc>
                  <a:txBody>
                    <a:bodyPr/>
                    <a:lstStyle/>
                    <a:p>
                      <a:pPr algn="l"/>
                      <a:r>
                        <a:rPr sz="1200" b="0">
                          <a:solidFill>
                            <a:srgbClr val="1A1A2E"/>
                          </a:solidFill>
                          <a:latin typeface="游ゴシック"/>
                        </a:rPr>
                        <a:t>カードリーダー経由</a:t>
                      </a:r>
                    </a:p>
                  </a:txBody>
                  <a:tcPr>
                    <a:solidFill>
                      <a:srgbClr val="F4F4F4"/>
                    </a:solidFill>
                  </a:tcPr>
                </a:tc>
              </a:tr>
              <a:tr h="457200">
                <a:tc>
                  <a:txBody>
                    <a:bodyPr/>
                    <a:lstStyle/>
                    <a:p>
                      <a:pPr algn="l"/>
                      <a:r>
                        <a:rPr sz="1200" b="0">
                          <a:solidFill>
                            <a:srgbClr val="1A1A2E"/>
                          </a:solidFill>
                          <a:latin typeface="游ゴシック"/>
                        </a:rPr>
                        <a:t>③</a:t>
                      </a:r>
                    </a:p>
                  </a:txBody>
                  <a:tcPr>
                    <a:solidFill>
                      <a:srgbClr val="FFFFFF"/>
                    </a:solidFill>
                  </a:tcPr>
                </a:tc>
                <a:tc>
                  <a:txBody>
                    <a:bodyPr/>
                    <a:lstStyle/>
                    <a:p>
                      <a:pPr algn="l"/>
                      <a:r>
                        <a:rPr sz="1200" b="0">
                          <a:solidFill>
                            <a:srgbClr val="1A1A2E"/>
                          </a:solidFill>
                          <a:latin typeface="游ゴシック"/>
                        </a:rPr>
                        <a:t>DATA_0000.csv を Excel で開く</a:t>
                      </a:r>
                    </a:p>
                  </a:txBody>
                  <a:tcPr>
                    <a:solidFill>
                      <a:srgbClr val="FFFFFF"/>
                    </a:solidFill>
                  </a:tcPr>
                </a:tc>
                <a:tc>
                  <a:txBody>
                    <a:bodyPr/>
                    <a:lstStyle/>
                    <a:p>
                      <a:pPr algn="l"/>
                      <a:r>
                        <a:rPr sz="1200" b="0">
                          <a:solidFill>
                            <a:srgbClr val="1A1A2E"/>
                          </a:solidFill>
                          <a:latin typeface="游ゴシック"/>
                        </a:rPr>
                        <a:t>[ファイル→開く] でカンマ区切り選択</a:t>
                      </a:r>
                    </a:p>
                  </a:txBody>
                  <a:tcPr>
                    <a:solidFill>
                      <a:srgbClr val="FFFFFF"/>
                    </a:solidFill>
                  </a:tcPr>
                </a:tc>
              </a:tr>
              <a:tr h="457200">
                <a:tc>
                  <a:txBody>
                    <a:bodyPr/>
                    <a:lstStyle/>
                    <a:p>
                      <a:pPr algn="l"/>
                      <a:r>
                        <a:rPr sz="1200" b="0">
                          <a:solidFill>
                            <a:srgbClr val="1A1A2E"/>
                          </a:solidFill>
                          <a:latin typeface="游ゴシック"/>
                        </a:rPr>
                        <a:t>④</a:t>
                      </a:r>
                    </a:p>
                  </a:txBody>
                  <a:tcPr>
                    <a:solidFill>
                      <a:srgbClr val="F4F4F4"/>
                    </a:solidFill>
                  </a:tcPr>
                </a:tc>
                <a:tc>
                  <a:txBody>
                    <a:bodyPr/>
                    <a:lstStyle/>
                    <a:p>
                      <a:pPr algn="l"/>
                      <a:r>
                        <a:rPr sz="1200" b="0">
                          <a:solidFill>
                            <a:srgbClr val="1A1A2E"/>
                          </a:solidFill>
                          <a:latin typeface="游ゴシック"/>
                        </a:rPr>
                        <a:t>ElapsedSec 列を横軸に折れ線グラフ</a:t>
                      </a:r>
                    </a:p>
                  </a:txBody>
                  <a:tcPr>
                    <a:solidFill>
                      <a:srgbClr val="F4F4F4"/>
                    </a:solidFill>
                  </a:tcPr>
                </a:tc>
                <a:tc>
                  <a:txBody>
                    <a:bodyPr/>
                    <a:lstStyle/>
                    <a:p>
                      <a:pPr algn="l"/>
                      <a:r>
                        <a:rPr sz="1200" b="0">
                          <a:solidFill>
                            <a:srgbClr val="1A1A2E"/>
                          </a:solidFill>
                          <a:latin typeface="游ゴシック"/>
                        </a:rPr>
                        <a:t>Temp_C, Average_C を Y 軸に追加</a:t>
                      </a:r>
                    </a:p>
                  </a:txBody>
                  <a:tcPr>
                    <a:solidFill>
                      <a:srgbClr val="F4F4F4"/>
                    </a:solidFill>
                  </a:tcPr>
                </a:tc>
              </a:tr>
              <a:tr h="457200">
                <a:tc>
                  <a:txBody>
                    <a:bodyPr/>
                    <a:lstStyle/>
                    <a:p>
                      <a:pPr algn="l"/>
                      <a:r>
                        <a:rPr sz="1200" b="0">
                          <a:solidFill>
                            <a:srgbClr val="1A1A2E"/>
                          </a:solidFill>
                          <a:latin typeface="游ゴシック"/>
                        </a:rPr>
                        <a:t>⑤</a:t>
                      </a:r>
                    </a:p>
                  </a:txBody>
                  <a:tcPr>
                    <a:solidFill>
                      <a:srgbClr val="FFFFFF"/>
                    </a:solidFill>
                  </a:tcPr>
                </a:tc>
                <a:tc>
                  <a:txBody>
                    <a:bodyPr/>
                    <a:lstStyle/>
                    <a:p>
                      <a:pPr algn="l"/>
                      <a:r>
                        <a:rPr sz="1200" b="0">
                          <a:solidFill>
                            <a:srgbClr val="1A1A2E"/>
                          </a:solidFill>
                          <a:latin typeface="游ゴシック"/>
                        </a:rPr>
                        <a:t>HI_ALARM = true の行を条件付き書式</a:t>
                      </a:r>
                    </a:p>
                  </a:txBody>
                  <a:tcPr>
                    <a:solidFill>
                      <a:srgbClr val="FFFFFF"/>
                    </a:solidFill>
                  </a:tcPr>
                </a:tc>
                <a:tc>
                  <a:txBody>
                    <a:bodyPr/>
                    <a:lstStyle/>
                    <a:p>
                      <a:pPr algn="l"/>
                      <a:r>
                        <a:rPr sz="1200" b="0">
                          <a:solidFill>
                            <a:srgbClr val="1A1A2E"/>
                          </a:solidFill>
                          <a:latin typeface="游ゴシック"/>
                        </a:rPr>
                        <a:t>赤背景でハイライト表示</a:t>
                      </a:r>
                    </a:p>
                  </a:txBody>
                  <a:tcPr>
                    <a:solidFill>
                      <a:srgbClr val="FFFFFF"/>
                    </a:solidFill>
                  </a:tcPr>
                </a:tc>
              </a:tr>
            </a:tbl>
          </a:graphicData>
        </a:graphic>
      </p:graphicFrame>
      <p:sp>
        <p:nvSpPr>
          <p:cNvPr id="9" name="Rectangle 8"/>
          <p:cNvSpPr/>
          <p:nvPr/>
        </p:nvSpPr>
        <p:spPr>
          <a:xfrm>
            <a:off x="320040" y="3931920"/>
            <a:ext cx="11548872"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995928"/>
            <a:ext cx="11155680" cy="384048"/>
          </a:xfrm>
          <a:prstGeom prst="rect">
            <a:avLst/>
          </a:prstGeom>
          <a:noFill/>
        </p:spPr>
        <p:txBody>
          <a:bodyPr wrap="square">
            <a:spAutoFit/>
          </a:bodyPr>
          <a:lstStyle/>
          <a:p>
            <a:pPr algn="l"/>
            <a:r>
              <a:rPr sz="1200" b="0" i="0">
                <a:solidFill>
                  <a:srgbClr val="1A1A2E"/>
                </a:solidFill>
                <a:latin typeface="游ゴシック"/>
              </a:rPr>
              <a:t>StdDev と Range を見ることで温度ばらつきの傾向が分かる。ファイルは毎計測ごとに連番で新規作成されるため上書きによるデータ消失なし。</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技術詳細 — タスク設計（3 タスク周期分割）</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6  技術詳細</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17</a:t>
            </a:r>
          </a:p>
        </p:txBody>
      </p:sp>
      <p:sp>
        <p:nvSpPr>
          <p:cNvPr id="8" name="TextBox 7"/>
          <p:cNvSpPr txBox="1"/>
          <p:nvPr/>
        </p:nvSpPr>
        <p:spPr>
          <a:xfrm>
            <a:off x="320040" y="1005840"/>
            <a:ext cx="11548872" cy="411480"/>
          </a:xfrm>
          <a:prstGeom prst="rect">
            <a:avLst/>
          </a:prstGeom>
          <a:noFill/>
        </p:spPr>
        <p:txBody>
          <a:bodyPr wrap="square">
            <a:spAutoFit/>
          </a:bodyPr>
          <a:lstStyle/>
          <a:p>
            <a:pPr algn="l"/>
            <a:r>
              <a:rPr sz="1300" b="0" i="0">
                <a:solidFill>
                  <a:srgbClr val="1A1A2E"/>
                </a:solidFill>
                <a:latin typeface="游ゴシック"/>
              </a:rPr>
              <a:t>loop() 内で millis() のオーバーフロー安全な計算（unsigned 演算）で 3 つの独立した周期タスクを実現。スレッドなし・RTOS なし。</a:t>
            </a:r>
          </a:p>
        </p:txBody>
      </p:sp>
      <p:sp>
        <p:nvSpPr>
          <p:cNvPr id="9" name="Rectangle 8"/>
          <p:cNvSpPr/>
          <p:nvPr/>
        </p:nvSpPr>
        <p:spPr>
          <a:xfrm>
            <a:off x="320040" y="1554480"/>
            <a:ext cx="3566160" cy="4206240"/>
          </a:xfrm>
          <a:prstGeom prst="rect">
            <a:avLst/>
          </a:prstGeom>
          <a:solidFill>
            <a:srgbClr val="FFFFFF"/>
          </a:solidFill>
          <a:ln w="1905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554480"/>
            <a:ext cx="3566160" cy="6400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664208"/>
            <a:ext cx="3383280" cy="457200"/>
          </a:xfrm>
          <a:prstGeom prst="rect">
            <a:avLst/>
          </a:prstGeom>
          <a:noFill/>
        </p:spPr>
        <p:txBody>
          <a:bodyPr wrap="square">
            <a:spAutoFit/>
          </a:bodyPr>
          <a:lstStyle/>
          <a:p>
            <a:pPr algn="ctr"/>
            <a:r>
              <a:rPr sz="1800" b="1" i="0">
                <a:solidFill>
                  <a:srgbClr val="0D477F"/>
                </a:solidFill>
                <a:latin typeface="Segoe UI"/>
              </a:rPr>
              <a:t>IO_Task</a:t>
            </a:r>
          </a:p>
        </p:txBody>
      </p:sp>
      <p:sp>
        <p:nvSpPr>
          <p:cNvPr id="12" name="TextBox 11"/>
          <p:cNvSpPr txBox="1"/>
          <p:nvPr/>
        </p:nvSpPr>
        <p:spPr>
          <a:xfrm>
            <a:off x="411480" y="2148840"/>
            <a:ext cx="3383280" cy="365760"/>
          </a:xfrm>
          <a:prstGeom prst="rect">
            <a:avLst/>
          </a:prstGeom>
          <a:noFill/>
        </p:spPr>
        <p:txBody>
          <a:bodyPr wrap="square">
            <a:spAutoFit/>
          </a:bodyPr>
          <a:lstStyle/>
          <a:p>
            <a:pPr algn="ctr"/>
            <a:r>
              <a:rPr sz="1400" b="1" i="0">
                <a:solidFill>
                  <a:srgbClr val="FF6D00"/>
                </a:solidFill>
                <a:latin typeface="Segoe UI"/>
              </a:rPr>
              <a:t>10 ms</a:t>
            </a:r>
          </a:p>
        </p:txBody>
      </p:sp>
      <p:sp>
        <p:nvSpPr>
          <p:cNvPr id="13" name="TextBox 12"/>
          <p:cNvSpPr txBox="1"/>
          <p:nvPr/>
        </p:nvSpPr>
        <p:spPr>
          <a:xfrm>
            <a:off x="411480" y="2514600"/>
            <a:ext cx="3383280" cy="274320"/>
          </a:xfrm>
          <a:prstGeom prst="rect">
            <a:avLst/>
          </a:prstGeom>
          <a:noFill/>
        </p:spPr>
        <p:txBody>
          <a:bodyPr wrap="square">
            <a:spAutoFit/>
          </a:bodyPr>
          <a:lstStyle/>
          <a:p>
            <a:pPr algn="ctr"/>
            <a:r>
              <a:rPr sz="1200" b="0" i="0">
                <a:solidFill>
                  <a:srgbClr val="27AE60"/>
                </a:solidFill>
                <a:latin typeface="游ゴシック"/>
              </a:rPr>
              <a:t>実行余裕: 95%</a:t>
            </a:r>
          </a:p>
        </p:txBody>
      </p:sp>
      <p:sp>
        <p:nvSpPr>
          <p:cNvPr id="14" name="TextBox 13"/>
          <p:cNvSpPr txBox="1"/>
          <p:nvPr/>
        </p:nvSpPr>
        <p:spPr>
          <a:xfrm>
            <a:off x="457200" y="2852928"/>
            <a:ext cx="3291840" cy="2651760"/>
          </a:xfrm>
          <a:prstGeom prst="rect">
            <a:avLst/>
          </a:prstGeom>
          <a:noFill/>
        </p:spPr>
        <p:txBody>
          <a:bodyPr wrap="square">
            <a:spAutoFit/>
          </a:bodyPr>
          <a:lstStyle/>
          <a:p>
            <a:pPr algn="l"/>
            <a:r>
              <a:rPr sz="1200" b="0" i="0">
                <a:solidFill>
                  <a:srgbClr val="1A1A2E"/>
                </a:solidFill>
                <a:latin typeface="游ゴシック"/>
              </a:rPr>
              <a:t>・MAX31855 センサ読取</a:t>
            </a:r>
          </a:p>
          <a:p>
            <a:pPr algn="l"/>
            <a:r>
              <a:rPr sz="1200" b="0" i="0">
                <a:solidFill>
                  <a:srgbClr val="1A1A2E"/>
                </a:solidFill>
                <a:latin typeface="游ゴシック"/>
              </a:rPr>
              <a:t>・（実際は 500ms 毎）</a:t>
            </a:r>
          </a:p>
          <a:p>
            <a:pPr algn="l"/>
            <a:r>
              <a:rPr sz="1200" b="0" i="0">
                <a:solidFill>
                  <a:srgbClr val="1A1A2E"/>
                </a:solidFill>
                <a:latin typeface="游ゴシック"/>
              </a:rPr>
              <a:t>・LPF フィルタ適用 (α=0.1)</a:t>
            </a:r>
          </a:p>
          <a:p>
            <a:pPr algn="l"/>
            <a:r>
              <a:rPr sz="1200" b="0" i="0">
                <a:solidFill>
                  <a:srgbClr val="1A1A2E"/>
                </a:solidFill>
                <a:latin typeface="游ゴシック"/>
              </a:rPr>
              <a:t>・BtnA/B/C エッジ検出</a:t>
            </a:r>
          </a:p>
          <a:p>
            <a:pPr algn="l"/>
            <a:r>
              <a:rPr sz="1200" b="0" i="0">
                <a:solidFill>
                  <a:srgbClr val="1A1A2E"/>
                </a:solidFill>
                <a:latin typeface="游ゴシック"/>
              </a:rPr>
              <a:t>・ヒステリシス付きアラーム判定</a:t>
            </a:r>
          </a:p>
          <a:p>
            <a:pPr algn="l"/>
            <a:r>
              <a:rPr sz="1200" b="0" i="0">
                <a:solidFill>
                  <a:srgbClr val="1A1A2E"/>
                </a:solidFill>
                <a:latin typeface="游ゴシック"/>
              </a:rPr>
              <a:t>・SD カード書込 (10サンプル毎)</a:t>
            </a:r>
          </a:p>
        </p:txBody>
      </p:sp>
      <p:sp>
        <p:nvSpPr>
          <p:cNvPr id="15" name="Rectangle 14"/>
          <p:cNvSpPr/>
          <p:nvPr/>
        </p:nvSpPr>
        <p:spPr>
          <a:xfrm>
            <a:off x="4160520" y="1554480"/>
            <a:ext cx="3566160" cy="4206240"/>
          </a:xfrm>
          <a:prstGeom prst="rect">
            <a:avLst/>
          </a:prstGeom>
          <a:solidFill>
            <a:srgbClr val="FFFFFF"/>
          </a:solidFill>
          <a:ln w="1905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60520" y="1554480"/>
            <a:ext cx="3566160" cy="6400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1664208"/>
            <a:ext cx="3383280" cy="457200"/>
          </a:xfrm>
          <a:prstGeom prst="rect">
            <a:avLst/>
          </a:prstGeom>
          <a:noFill/>
        </p:spPr>
        <p:txBody>
          <a:bodyPr wrap="square">
            <a:spAutoFit/>
          </a:bodyPr>
          <a:lstStyle/>
          <a:p>
            <a:pPr algn="ctr"/>
            <a:r>
              <a:rPr sz="1800" b="1" i="0">
                <a:solidFill>
                  <a:srgbClr val="0D477F"/>
                </a:solidFill>
                <a:latin typeface="Segoe UI"/>
              </a:rPr>
              <a:t>Logic_Task</a:t>
            </a:r>
          </a:p>
        </p:txBody>
      </p:sp>
      <p:sp>
        <p:nvSpPr>
          <p:cNvPr id="18" name="TextBox 17"/>
          <p:cNvSpPr txBox="1"/>
          <p:nvPr/>
        </p:nvSpPr>
        <p:spPr>
          <a:xfrm>
            <a:off x="4251960" y="2148840"/>
            <a:ext cx="3383280" cy="365760"/>
          </a:xfrm>
          <a:prstGeom prst="rect">
            <a:avLst/>
          </a:prstGeom>
          <a:noFill/>
        </p:spPr>
        <p:txBody>
          <a:bodyPr wrap="square">
            <a:spAutoFit/>
          </a:bodyPr>
          <a:lstStyle/>
          <a:p>
            <a:pPr algn="ctr"/>
            <a:r>
              <a:rPr sz="1400" b="1" i="0">
                <a:solidFill>
                  <a:srgbClr val="FF6D00"/>
                </a:solidFill>
                <a:latin typeface="Segoe UI"/>
              </a:rPr>
              <a:t>50 ms</a:t>
            </a:r>
          </a:p>
        </p:txBody>
      </p:sp>
      <p:sp>
        <p:nvSpPr>
          <p:cNvPr id="19" name="TextBox 18"/>
          <p:cNvSpPr txBox="1"/>
          <p:nvPr/>
        </p:nvSpPr>
        <p:spPr>
          <a:xfrm>
            <a:off x="4251960" y="2514600"/>
            <a:ext cx="3383280" cy="274320"/>
          </a:xfrm>
          <a:prstGeom prst="rect">
            <a:avLst/>
          </a:prstGeom>
          <a:noFill/>
        </p:spPr>
        <p:txBody>
          <a:bodyPr wrap="square">
            <a:spAutoFit/>
          </a:bodyPr>
          <a:lstStyle/>
          <a:p>
            <a:pPr algn="ctr"/>
            <a:r>
              <a:rPr sz="1200" b="0" i="0">
                <a:solidFill>
                  <a:srgbClr val="27AE60"/>
                </a:solidFill>
                <a:latin typeface="游ゴシック"/>
              </a:rPr>
              <a:t>実行余裕: 98%</a:t>
            </a:r>
          </a:p>
        </p:txBody>
      </p:sp>
      <p:sp>
        <p:nvSpPr>
          <p:cNvPr id="20" name="TextBox 19"/>
          <p:cNvSpPr txBox="1"/>
          <p:nvPr/>
        </p:nvSpPr>
        <p:spPr>
          <a:xfrm>
            <a:off x="4297680" y="2852928"/>
            <a:ext cx="3291840" cy="2651760"/>
          </a:xfrm>
          <a:prstGeom prst="rect">
            <a:avLst/>
          </a:prstGeom>
          <a:noFill/>
        </p:spPr>
        <p:txBody>
          <a:bodyPr wrap="square">
            <a:spAutoFit/>
          </a:bodyPr>
          <a:lstStyle/>
          <a:p>
            <a:pPr algn="l"/>
            <a:r>
              <a:rPr sz="1200" b="0" i="0">
                <a:solidFill>
                  <a:srgbClr val="1A1A2E"/>
                </a:solidFill>
                <a:latin typeface="游ゴシック"/>
              </a:rPr>
              <a:t>・Welford 法による逐次統計更新</a:t>
            </a:r>
          </a:p>
          <a:p>
            <a:pPr algn="l"/>
            <a:r>
              <a:rPr sz="1200" b="0" i="0">
                <a:solidFill>
                  <a:srgbClr val="1A1A2E"/>
                </a:solidFill>
                <a:latin typeface="游ゴシック"/>
              </a:rPr>
              <a:t>・BtnA/B/C イベント処理</a:t>
            </a:r>
          </a:p>
          <a:p>
            <a:pPr algn="l"/>
            <a:r>
              <a:rPr sz="1200" b="0" i="0">
                <a:solidFill>
                  <a:srgbClr val="1A1A2E"/>
                </a:solidFill>
                <a:latin typeface="游ゴシック"/>
              </a:rPr>
              <a:t>・状態遷移制御</a:t>
            </a:r>
          </a:p>
          <a:p>
            <a:pPr algn="l"/>
            <a:r>
              <a:rPr sz="1200" b="0" i="0">
                <a:solidFill>
                  <a:srgbClr val="1A1A2E"/>
                </a:solidFill>
                <a:latin typeface="游ゴシック"/>
              </a:rPr>
              <a:t>・EEPROM 保存処理</a:t>
            </a:r>
          </a:p>
        </p:txBody>
      </p:sp>
      <p:sp>
        <p:nvSpPr>
          <p:cNvPr id="21" name="Rectangle 20"/>
          <p:cNvSpPr/>
          <p:nvPr/>
        </p:nvSpPr>
        <p:spPr>
          <a:xfrm>
            <a:off x="8001000" y="1554480"/>
            <a:ext cx="3566160" cy="4206240"/>
          </a:xfrm>
          <a:prstGeom prst="rect">
            <a:avLst/>
          </a:prstGeom>
          <a:solidFill>
            <a:srgbClr val="FFFFFF"/>
          </a:solidFill>
          <a:ln w="1905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01000" y="1554480"/>
            <a:ext cx="3566160" cy="6400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1664208"/>
            <a:ext cx="3383280" cy="457200"/>
          </a:xfrm>
          <a:prstGeom prst="rect">
            <a:avLst/>
          </a:prstGeom>
          <a:noFill/>
        </p:spPr>
        <p:txBody>
          <a:bodyPr wrap="square">
            <a:spAutoFit/>
          </a:bodyPr>
          <a:lstStyle/>
          <a:p>
            <a:pPr algn="ctr"/>
            <a:r>
              <a:rPr sz="1800" b="1" i="0">
                <a:solidFill>
                  <a:srgbClr val="0D477F"/>
                </a:solidFill>
                <a:latin typeface="Segoe UI"/>
              </a:rPr>
              <a:t>UI_Task</a:t>
            </a:r>
          </a:p>
        </p:txBody>
      </p:sp>
      <p:sp>
        <p:nvSpPr>
          <p:cNvPr id="24" name="TextBox 23"/>
          <p:cNvSpPr txBox="1"/>
          <p:nvPr/>
        </p:nvSpPr>
        <p:spPr>
          <a:xfrm>
            <a:off x="8092440" y="2148840"/>
            <a:ext cx="3383280" cy="365760"/>
          </a:xfrm>
          <a:prstGeom prst="rect">
            <a:avLst/>
          </a:prstGeom>
          <a:noFill/>
        </p:spPr>
        <p:txBody>
          <a:bodyPr wrap="square">
            <a:spAutoFit/>
          </a:bodyPr>
          <a:lstStyle/>
          <a:p>
            <a:pPr algn="ctr"/>
            <a:r>
              <a:rPr sz="1400" b="1" i="0">
                <a:solidFill>
                  <a:srgbClr val="FF6D00"/>
                </a:solidFill>
                <a:latin typeface="Segoe UI"/>
              </a:rPr>
              <a:t>200 ms</a:t>
            </a:r>
          </a:p>
        </p:txBody>
      </p:sp>
      <p:sp>
        <p:nvSpPr>
          <p:cNvPr id="25" name="TextBox 24"/>
          <p:cNvSpPr txBox="1"/>
          <p:nvPr/>
        </p:nvSpPr>
        <p:spPr>
          <a:xfrm>
            <a:off x="8092440" y="2514600"/>
            <a:ext cx="3383280" cy="274320"/>
          </a:xfrm>
          <a:prstGeom prst="rect">
            <a:avLst/>
          </a:prstGeom>
          <a:noFill/>
        </p:spPr>
        <p:txBody>
          <a:bodyPr wrap="square">
            <a:spAutoFit/>
          </a:bodyPr>
          <a:lstStyle/>
          <a:p>
            <a:pPr algn="ctr"/>
            <a:r>
              <a:rPr sz="1200" b="0" i="0">
                <a:solidFill>
                  <a:srgbClr val="27AE60"/>
                </a:solidFill>
                <a:latin typeface="游ゴシック"/>
              </a:rPr>
              <a:t>実行余裕: 97.5%</a:t>
            </a:r>
          </a:p>
        </p:txBody>
      </p:sp>
      <p:sp>
        <p:nvSpPr>
          <p:cNvPr id="26" name="TextBox 25"/>
          <p:cNvSpPr txBox="1"/>
          <p:nvPr/>
        </p:nvSpPr>
        <p:spPr>
          <a:xfrm>
            <a:off x="8138160" y="2852928"/>
            <a:ext cx="3291840" cy="2651760"/>
          </a:xfrm>
          <a:prstGeom prst="rect">
            <a:avLst/>
          </a:prstGeom>
          <a:noFill/>
        </p:spPr>
        <p:txBody>
          <a:bodyPr wrap="square">
            <a:spAutoFit/>
          </a:bodyPr>
          <a:lstStyle/>
          <a:p>
            <a:pPr algn="l"/>
            <a:r>
              <a:rPr sz="1200" b="0" i="0">
                <a:solidFill>
                  <a:srgbClr val="1A1A2E"/>
                </a:solidFill>
                <a:latin typeface="游ゴシック"/>
              </a:rPr>
              <a:t>・状態別 LCD 描画</a:t>
            </a:r>
          </a:p>
          <a:p>
            <a:pPr algn="l"/>
            <a:r>
              <a:rPr sz="1200" b="0" i="0">
                <a:solidFill>
                  <a:srgbClr val="1A1A2E"/>
                </a:solidFill>
                <a:latin typeface="游ゴシック"/>
              </a:rPr>
              <a:t>・差分更新（全画面消去は遷移時のみ）</a:t>
            </a:r>
          </a:p>
          <a:p>
            <a:pPr algn="l"/>
            <a:r>
              <a:rPr sz="1200" b="0" i="0">
                <a:solidFill>
                  <a:srgbClr val="1A1A2E"/>
                </a:solidFill>
                <a:latin typeface="游ゴシック"/>
              </a:rPr>
              <a:t>・RESULT 2 ページ描画</a:t>
            </a:r>
          </a:p>
          <a:p>
            <a:pPr algn="l"/>
            <a:r>
              <a:rPr sz="1200" b="0" i="0">
                <a:solidFill>
                  <a:srgbClr val="1A1A2E"/>
                </a:solidFill>
                <a:latin typeface="游ゴシック"/>
              </a:rPr>
              <a:t>・ALARM_SETTING HI/LO 描画</a:t>
            </a:r>
          </a:p>
        </p:txBody>
      </p:sp>
      <p:sp>
        <p:nvSpPr>
          <p:cNvPr id="27" name="TextBox 26"/>
          <p:cNvSpPr txBox="1"/>
          <p:nvPr/>
        </p:nvSpPr>
        <p:spPr>
          <a:xfrm>
            <a:off x="320040" y="5852160"/>
            <a:ext cx="11548872" cy="365760"/>
          </a:xfrm>
          <a:prstGeom prst="rect">
            <a:avLst/>
          </a:prstGeom>
          <a:noFill/>
        </p:spPr>
        <p:txBody>
          <a:bodyPr wrap="square">
            <a:spAutoFit/>
          </a:bodyPr>
          <a:lstStyle/>
          <a:p>
            <a:pPr algn="l"/>
            <a:r>
              <a:rPr sz="1200" b="0" i="0">
                <a:solidFill>
                  <a:srgbClr val="0D477F"/>
                </a:solidFill>
                <a:latin typeface="游ゴシック"/>
              </a:rPr>
              <a:t>IO_Task は 10ms で起動するが、センサ実読取は TC_READ_INTERVAL_MS = 500ms ごとに制限（MAX31855 変換完了待ち）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技術詳細 — センサ読取と LPF フィルタ</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6  技術詳細</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18</a:t>
            </a:r>
          </a:p>
        </p:txBody>
      </p:sp>
      <p:sp>
        <p:nvSpPr>
          <p:cNvPr id="8" name="TextBox 7"/>
          <p:cNvSpPr txBox="1"/>
          <p:nvPr/>
        </p:nvSpPr>
        <p:spPr>
          <a:xfrm>
            <a:off x="320040" y="1051560"/>
            <a:ext cx="5394960" cy="411480"/>
          </a:xfrm>
          <a:prstGeom prst="rect">
            <a:avLst/>
          </a:prstGeom>
          <a:noFill/>
        </p:spPr>
        <p:txBody>
          <a:bodyPr wrap="square">
            <a:spAutoFit/>
          </a:bodyPr>
          <a:lstStyle/>
          <a:p>
            <a:pPr algn="l"/>
            <a:r>
              <a:rPr sz="1600" b="1" i="0">
                <a:solidFill>
                  <a:srgbClr val="0D477F"/>
                </a:solidFill>
                <a:latin typeface="游ゴシック"/>
              </a:rPr>
              <a:t>センサ読取シーケンス</a:t>
            </a:r>
          </a:p>
        </p:txBody>
      </p:sp>
      <p:graphicFrame>
        <p:nvGraphicFramePr>
          <p:cNvPr id="9" name="Table 8"/>
          <p:cNvGraphicFramePr>
            <a:graphicFrameLocks noGrp="1"/>
          </p:cNvGraphicFramePr>
          <p:nvPr/>
        </p:nvGraphicFramePr>
        <p:xfrm>
          <a:off x="320040" y="1508760"/>
          <a:ext cx="5394960" cy="2578608"/>
        </p:xfrm>
        <a:graphic>
          <a:graphicData uri="http://schemas.openxmlformats.org/drawingml/2006/table">
            <a:tbl>
              <a:tblPr firstRow="1" bandRow="1">
                <a:tableStyleId>{5C22544A-7EE6-4342-B048-85BDC9FD1C3A}</a:tableStyleId>
              </a:tblPr>
              <a:tblGrid>
                <a:gridCol w="2011680"/>
                <a:gridCol w="3383280"/>
              </a:tblGrid>
              <a:tr h="429768">
                <a:tc>
                  <a:txBody>
                    <a:bodyPr/>
                    <a:lstStyle/>
                    <a:p>
                      <a:pPr algn="l"/>
                      <a:r>
                        <a:rPr sz="1300" b="1">
                          <a:solidFill>
                            <a:srgbClr val="FFFFFF"/>
                          </a:solidFill>
                          <a:latin typeface="Segoe UI"/>
                        </a:rPr>
                        <a:t>項目</a:t>
                      </a:r>
                    </a:p>
                  </a:txBody>
                  <a:tcPr>
                    <a:solidFill>
                      <a:srgbClr val="0D477F"/>
                    </a:solidFill>
                  </a:tcPr>
                </a:tc>
                <a:tc>
                  <a:txBody>
                    <a:bodyPr/>
                    <a:lstStyle/>
                    <a:p>
                      <a:pPr algn="l"/>
                      <a:r>
                        <a:rPr sz="1300" b="1">
                          <a:solidFill>
                            <a:srgbClr val="FFFFFF"/>
                          </a:solidFill>
                          <a:latin typeface="Segoe UI"/>
                        </a:rPr>
                        <a:t>値/内容</a:t>
                      </a:r>
                    </a:p>
                  </a:txBody>
                  <a:tcPr>
                    <a:solidFill>
                      <a:srgbClr val="0D477F"/>
                    </a:solidFill>
                  </a:tcPr>
                </a:tc>
              </a:tr>
              <a:tr h="429768">
                <a:tc>
                  <a:txBody>
                    <a:bodyPr/>
                    <a:lstStyle/>
                    <a:p>
                      <a:pPr algn="l"/>
                      <a:r>
                        <a:rPr sz="1200" b="0">
                          <a:solidFill>
                            <a:srgbClr val="1A1A2E"/>
                          </a:solidFill>
                          <a:latin typeface="游ゴシック"/>
                        </a:rPr>
                        <a:t>IC</a:t>
                      </a:r>
                    </a:p>
                  </a:txBody>
                  <a:tcPr>
                    <a:solidFill>
                      <a:srgbClr val="FFFFFF"/>
                    </a:solidFill>
                  </a:tcPr>
                </a:tc>
                <a:tc>
                  <a:txBody>
                    <a:bodyPr/>
                    <a:lstStyle/>
                    <a:p>
                      <a:pPr algn="l"/>
                      <a:r>
                        <a:rPr sz="1200" b="0">
                          <a:solidFill>
                            <a:srgbClr val="1A1A2E"/>
                          </a:solidFill>
                          <a:latin typeface="游ゴシック"/>
                        </a:rPr>
                        <a:t>Adafruit MAX31855</a:t>
                      </a:r>
                    </a:p>
                  </a:txBody>
                  <a:tcPr>
                    <a:solidFill>
                      <a:srgbClr val="FFFFFF"/>
                    </a:solidFill>
                  </a:tcPr>
                </a:tc>
              </a:tr>
              <a:tr h="429768">
                <a:tc>
                  <a:txBody>
                    <a:bodyPr/>
                    <a:lstStyle/>
                    <a:p>
                      <a:pPr algn="l"/>
                      <a:r>
                        <a:rPr sz="1200" b="0">
                          <a:solidFill>
                            <a:srgbClr val="1A1A2E"/>
                          </a:solidFill>
                          <a:latin typeface="游ゴシック"/>
                        </a:rPr>
                        <a:t>通信</a:t>
                      </a:r>
                    </a:p>
                  </a:txBody>
                  <a:tcPr>
                    <a:solidFill>
                      <a:srgbClr val="F4F4F4"/>
                    </a:solidFill>
                  </a:tcPr>
                </a:tc>
                <a:tc>
                  <a:txBody>
                    <a:bodyPr/>
                    <a:lstStyle/>
                    <a:p>
                      <a:pPr algn="l"/>
                      <a:r>
                        <a:rPr sz="1200" b="0">
                          <a:solidFill>
                            <a:srgbClr val="1A1A2E"/>
                          </a:solidFill>
                          <a:latin typeface="游ゴシック"/>
                        </a:rPr>
                        <a:t>ハードウェア SPI (SPI.h)</a:t>
                      </a:r>
                    </a:p>
                  </a:txBody>
                  <a:tcPr>
                    <a:solidFill>
                      <a:srgbClr val="F4F4F4"/>
                    </a:solidFill>
                  </a:tcPr>
                </a:tc>
              </a:tr>
              <a:tr h="429768">
                <a:tc>
                  <a:txBody>
                    <a:bodyPr/>
                    <a:lstStyle/>
                    <a:p>
                      <a:pPr algn="l"/>
                      <a:r>
                        <a:rPr sz="1200" b="0">
                          <a:solidFill>
                            <a:srgbClr val="1A1A2E"/>
                          </a:solidFill>
                          <a:latin typeface="游ゴシック"/>
                        </a:rPr>
                        <a:t>変換時間</a:t>
                      </a:r>
                    </a:p>
                  </a:txBody>
                  <a:tcPr>
                    <a:solidFill>
                      <a:srgbClr val="FFFFFF"/>
                    </a:solidFill>
                  </a:tcPr>
                </a:tc>
                <a:tc>
                  <a:txBody>
                    <a:bodyPr/>
                    <a:lstStyle/>
                    <a:p>
                      <a:pPr algn="l"/>
                      <a:r>
                        <a:rPr sz="1200" b="0">
                          <a:solidFill>
                            <a:srgbClr val="1A1A2E"/>
                          </a:solidFill>
                          <a:latin typeface="游ゴシック"/>
                        </a:rPr>
                        <a:t>最大 100ms (データシート)</a:t>
                      </a:r>
                    </a:p>
                  </a:txBody>
                  <a:tcPr>
                    <a:solidFill>
                      <a:srgbClr val="FFFFFF"/>
                    </a:solidFill>
                  </a:tcPr>
                </a:tc>
              </a:tr>
              <a:tr h="429768">
                <a:tc>
                  <a:txBody>
                    <a:bodyPr/>
                    <a:lstStyle/>
                    <a:p>
                      <a:pPr algn="l"/>
                      <a:r>
                        <a:rPr sz="1200" b="0">
                          <a:solidFill>
                            <a:srgbClr val="1A1A2E"/>
                          </a:solidFill>
                          <a:latin typeface="游ゴシック"/>
                        </a:rPr>
                        <a:t>読取間隔</a:t>
                      </a:r>
                    </a:p>
                  </a:txBody>
                  <a:tcPr>
                    <a:solidFill>
                      <a:srgbClr val="F4F4F4"/>
                    </a:solidFill>
                  </a:tcPr>
                </a:tc>
                <a:tc>
                  <a:txBody>
                    <a:bodyPr/>
                    <a:lstStyle/>
                    <a:p>
                      <a:pPr algn="l"/>
                      <a:r>
                        <a:rPr sz="1200" b="0">
                          <a:solidFill>
                            <a:srgbClr val="1A1A2E"/>
                          </a:solidFill>
                          <a:latin typeface="游ゴシック"/>
                        </a:rPr>
                        <a:t>500ms (TC_READ_INTERVAL_MS)</a:t>
                      </a:r>
                    </a:p>
                  </a:txBody>
                  <a:tcPr>
                    <a:solidFill>
                      <a:srgbClr val="F4F4F4"/>
                    </a:solidFill>
                  </a:tcPr>
                </a:tc>
              </a:tr>
              <a:tr h="429768">
                <a:tc>
                  <a:txBody>
                    <a:bodyPr/>
                    <a:lstStyle/>
                    <a:p>
                      <a:pPr algn="l"/>
                      <a:r>
                        <a:rPr sz="1200" b="0">
                          <a:solidFill>
                            <a:srgbClr val="1A1A2E"/>
                          </a:solidFill>
                          <a:latin typeface="游ゴシック"/>
                        </a:rPr>
                        <a:t>失敗時</a:t>
                      </a:r>
                    </a:p>
                  </a:txBody>
                  <a:tcPr>
                    <a:solidFill>
                      <a:srgbClr val="FFFFFF"/>
                    </a:solidFill>
                  </a:tcPr>
                </a:tc>
                <a:tc>
                  <a:txBody>
                    <a:bodyPr/>
                    <a:lstStyle/>
                    <a:p>
                      <a:pPr algn="l"/>
                      <a:r>
                        <a:rPr sz="1200" b="0">
                          <a:solidFill>
                            <a:srgbClr val="1A1A2E"/>
                          </a:solidFill>
                          <a:latin typeface="游ゴシック"/>
                        </a:rPr>
                        <a:t>最大 3 回リトライ</a:t>
                      </a:r>
                    </a:p>
                  </a:txBody>
                  <a:tcPr>
                    <a:solidFill>
                      <a:srgbClr val="FFFFFF"/>
                    </a:solidFill>
                  </a:tcPr>
                </a:tc>
              </a:tr>
            </a:tbl>
          </a:graphicData>
        </a:graphic>
      </p:graphicFrame>
      <p:sp>
        <p:nvSpPr>
          <p:cNvPr id="10" name="TextBox 9"/>
          <p:cNvSpPr txBox="1"/>
          <p:nvPr/>
        </p:nvSpPr>
        <p:spPr>
          <a:xfrm>
            <a:off x="5989320" y="1051560"/>
            <a:ext cx="5577840" cy="411480"/>
          </a:xfrm>
          <a:prstGeom prst="rect">
            <a:avLst/>
          </a:prstGeom>
          <a:noFill/>
        </p:spPr>
        <p:txBody>
          <a:bodyPr wrap="square">
            <a:spAutoFit/>
          </a:bodyPr>
          <a:lstStyle/>
          <a:p>
            <a:pPr algn="l"/>
            <a:r>
              <a:rPr sz="1600" b="1" i="0">
                <a:solidFill>
                  <a:srgbClr val="0D477F"/>
                </a:solidFill>
                <a:latin typeface="游ゴシック"/>
              </a:rPr>
              <a:t>LPF（1次遅れフィルタ）</a:t>
            </a:r>
          </a:p>
        </p:txBody>
      </p:sp>
      <p:sp>
        <p:nvSpPr>
          <p:cNvPr id="11" name="Rectangle 10"/>
          <p:cNvSpPr/>
          <p:nvPr/>
        </p:nvSpPr>
        <p:spPr>
          <a:xfrm>
            <a:off x="5989320" y="1508760"/>
            <a:ext cx="5577840" cy="822959"/>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600200"/>
            <a:ext cx="5303520" cy="640079"/>
          </a:xfrm>
          <a:prstGeom prst="rect">
            <a:avLst/>
          </a:prstGeom>
          <a:noFill/>
        </p:spPr>
        <p:txBody>
          <a:bodyPr wrap="square">
            <a:spAutoFit/>
          </a:bodyPr>
          <a:lstStyle/>
          <a:p>
            <a:pPr algn="ctr"/>
            <a:r>
              <a:rPr sz="1400" b="0" i="0">
                <a:solidFill>
                  <a:srgbClr val="1A1A2E"/>
                </a:solidFill>
                <a:latin typeface="Consolas"/>
              </a:rPr>
              <a:t>y[n] = y[n-1] × (1 − α) + x[n] × α</a:t>
            </a:r>
          </a:p>
          <a:p>
            <a:pPr algn="ctr"/>
            <a:r>
              <a:rPr sz="1400" b="0" i="0">
                <a:solidFill>
                  <a:srgbClr val="1A1A2E"/>
                </a:solidFill>
                <a:latin typeface="Consolas"/>
              </a:rPr>
              <a:t>α = FILTER_ALPHA = 0.1</a:t>
            </a:r>
          </a:p>
        </p:txBody>
      </p:sp>
      <p:graphicFrame>
        <p:nvGraphicFramePr>
          <p:cNvPr id="13" name="Table 12"/>
          <p:cNvGraphicFramePr>
            <a:graphicFrameLocks noGrp="1"/>
          </p:cNvGraphicFramePr>
          <p:nvPr/>
        </p:nvGraphicFramePr>
        <p:xfrm>
          <a:off x="5989320" y="2468879"/>
          <a:ext cx="5577840" cy="1719072"/>
        </p:xfrm>
        <a:graphic>
          <a:graphicData uri="http://schemas.openxmlformats.org/drawingml/2006/table">
            <a:tbl>
              <a:tblPr firstRow="1" bandRow="1">
                <a:tableStyleId>{5C22544A-7EE6-4342-B048-85BDC9FD1C3A}</a:tableStyleId>
              </a:tblPr>
              <a:tblGrid>
                <a:gridCol w="2286000"/>
                <a:gridCol w="3291840"/>
              </a:tblGrid>
              <a:tr h="429768">
                <a:tc>
                  <a:txBody>
                    <a:bodyPr/>
                    <a:lstStyle/>
                    <a:p>
                      <a:pPr algn="l"/>
                      <a:r>
                        <a:rPr sz="1300" b="1">
                          <a:solidFill>
                            <a:srgbClr val="FFFFFF"/>
                          </a:solidFill>
                          <a:latin typeface="Segoe UI"/>
                        </a:rPr>
                        <a:t>項目</a:t>
                      </a:r>
                    </a:p>
                  </a:txBody>
                  <a:tcPr>
                    <a:solidFill>
                      <a:srgbClr val="0D477F"/>
                    </a:solidFill>
                  </a:tcPr>
                </a:tc>
                <a:tc>
                  <a:txBody>
                    <a:bodyPr/>
                    <a:lstStyle/>
                    <a:p>
                      <a:pPr algn="l"/>
                      <a:r>
                        <a:rPr sz="1300" b="1">
                          <a:solidFill>
                            <a:srgbClr val="FFFFFF"/>
                          </a:solidFill>
                          <a:latin typeface="Segoe UI"/>
                        </a:rPr>
                        <a:t>値</a:t>
                      </a:r>
                    </a:p>
                  </a:txBody>
                  <a:tcPr>
                    <a:solidFill>
                      <a:srgbClr val="0D477F"/>
                    </a:solidFill>
                  </a:tcPr>
                </a:tc>
              </a:tr>
              <a:tr h="429768">
                <a:tc>
                  <a:txBody>
                    <a:bodyPr/>
                    <a:lstStyle/>
                    <a:p>
                      <a:pPr algn="l"/>
                      <a:r>
                        <a:rPr sz="1200" b="0">
                          <a:solidFill>
                            <a:srgbClr val="1A1A2E"/>
                          </a:solidFill>
                          <a:latin typeface="游ゴシック"/>
                        </a:rPr>
                        <a:t>収束サンプル数 (新値 90%)</a:t>
                      </a:r>
                    </a:p>
                  </a:txBody>
                  <a:tcPr>
                    <a:solidFill>
                      <a:srgbClr val="FFFFFF"/>
                    </a:solidFill>
                  </a:tcPr>
                </a:tc>
                <a:tc>
                  <a:txBody>
                    <a:bodyPr/>
                    <a:lstStyle/>
                    <a:p>
                      <a:pPr algn="l"/>
                      <a:r>
                        <a:rPr sz="1200" b="0">
                          <a:solidFill>
                            <a:srgbClr val="1A1A2E"/>
                          </a:solidFill>
                          <a:latin typeface="游ゴシック"/>
                        </a:rPr>
                        <a:t>約 22 サンプル（≈ 11 秒）</a:t>
                      </a:r>
                    </a:p>
                  </a:txBody>
                  <a:tcPr>
                    <a:solidFill>
                      <a:srgbClr val="FFFFFF"/>
                    </a:solidFill>
                  </a:tcPr>
                </a:tc>
              </a:tr>
              <a:tr h="429768">
                <a:tc>
                  <a:txBody>
                    <a:bodyPr/>
                    <a:lstStyle/>
                    <a:p>
                      <a:pPr algn="l"/>
                      <a:r>
                        <a:rPr sz="1200" b="0">
                          <a:solidFill>
                            <a:srgbClr val="1A1A2E"/>
                          </a:solidFill>
                          <a:latin typeface="游ゴシック"/>
                        </a:rPr>
                        <a:t>初回起動時</a:t>
                      </a:r>
                    </a:p>
                  </a:txBody>
                  <a:tcPr>
                    <a:solidFill>
                      <a:srgbClr val="F4F4F4"/>
                    </a:solidFill>
                  </a:tcPr>
                </a:tc>
                <a:tc>
                  <a:txBody>
                    <a:bodyPr/>
                    <a:lstStyle/>
                    <a:p>
                      <a:pPr algn="l"/>
                      <a:r>
                        <a:rPr sz="1200" b="0">
                          <a:solidFill>
                            <a:srgbClr val="1A1A2E"/>
                          </a:solidFill>
                          <a:latin typeface="游ゴシック"/>
                        </a:rPr>
                        <a:t>raw 値をそのまま初期値に設定</a:t>
                      </a:r>
                    </a:p>
                  </a:txBody>
                  <a:tcPr>
                    <a:solidFill>
                      <a:srgbClr val="F4F4F4"/>
                    </a:solidFill>
                  </a:tcPr>
                </a:tc>
              </a:tr>
              <a:tr h="429768">
                <a:tc>
                  <a:txBody>
                    <a:bodyPr/>
                    <a:lstStyle/>
                    <a:p>
                      <a:pPr algn="l"/>
                      <a:r>
                        <a:rPr sz="1200" b="0">
                          <a:solidFill>
                            <a:srgbClr val="1A1A2E"/>
                          </a:solidFill>
                          <a:latin typeface="游ゴシック"/>
                        </a:rPr>
                        <a:t>適用タイミング</a:t>
                      </a:r>
                    </a:p>
                  </a:txBody>
                  <a:tcPr>
                    <a:solidFill>
                      <a:srgbClr val="FFFFFF"/>
                    </a:solidFill>
                  </a:tcPr>
                </a:tc>
                <a:tc>
                  <a:txBody>
                    <a:bodyPr/>
                    <a:lstStyle/>
                    <a:p>
                      <a:pPr algn="l"/>
                      <a:r>
                        <a:rPr sz="1200" b="0">
                          <a:solidFill>
                            <a:srgbClr val="1A1A2E"/>
                          </a:solidFill>
                          <a:latin typeface="游ゴシック"/>
                        </a:rPr>
                        <a:t>新データ到着時のみ</a:t>
                      </a:r>
                    </a:p>
                  </a:txBody>
                  <a:tcPr>
                    <a:solidFill>
                      <a:srgbClr val="FFFFFF"/>
                    </a:solidFill>
                  </a:tcPr>
                </a:tc>
              </a:tr>
            </a:tbl>
          </a:graphicData>
        </a:graphic>
      </p:graphicFrame>
      <p:sp>
        <p:nvSpPr>
          <p:cNvPr id="14" name="TextBox 13"/>
          <p:cNvSpPr txBox="1"/>
          <p:nvPr/>
        </p:nvSpPr>
        <p:spPr>
          <a:xfrm>
            <a:off x="320040" y="5760720"/>
            <a:ext cx="11548872" cy="365760"/>
          </a:xfrm>
          <a:prstGeom prst="rect">
            <a:avLst/>
          </a:prstGeom>
          <a:noFill/>
        </p:spPr>
        <p:txBody>
          <a:bodyPr wrap="square">
            <a:spAutoFit/>
          </a:bodyPr>
          <a:lstStyle/>
          <a:p>
            <a:pPr algn="l"/>
            <a:r>
              <a:rPr sz="1200" b="0" i="0">
                <a:solidFill>
                  <a:srgbClr val="999999"/>
                </a:solidFill>
                <a:latin typeface="游ゴシック"/>
              </a:rPr>
              <a:t>α=0.1 は実機検証と CSV データ分析で決定。値が大きいほど応答速、小さいほど平滑</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技術詳細 — Welford 法による逐次統計</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6  技術詳細</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19</a:t>
            </a:r>
          </a:p>
        </p:txBody>
      </p:sp>
      <p:sp>
        <p:nvSpPr>
          <p:cNvPr id="8" name="TextBox 7"/>
          <p:cNvSpPr txBox="1"/>
          <p:nvPr/>
        </p:nvSpPr>
        <p:spPr>
          <a:xfrm>
            <a:off x="320040" y="1051560"/>
            <a:ext cx="5394960" cy="411480"/>
          </a:xfrm>
          <a:prstGeom prst="rect">
            <a:avLst/>
          </a:prstGeom>
          <a:noFill/>
        </p:spPr>
        <p:txBody>
          <a:bodyPr wrap="square">
            <a:spAutoFit/>
          </a:bodyPr>
          <a:lstStyle/>
          <a:p>
            <a:pPr algn="l"/>
            <a:r>
              <a:rPr sz="1600" b="1" i="0">
                <a:solidFill>
                  <a:srgbClr val="0D477F"/>
                </a:solidFill>
                <a:latin typeface="游ゴシック"/>
              </a:rPr>
              <a:t>Welford 法とは</a:t>
            </a:r>
          </a:p>
        </p:txBody>
      </p:sp>
      <p:sp>
        <p:nvSpPr>
          <p:cNvPr id="9" name="TextBox 8"/>
          <p:cNvSpPr txBox="1"/>
          <p:nvPr/>
        </p:nvSpPr>
        <p:spPr>
          <a:xfrm>
            <a:off x="320040" y="1508760"/>
            <a:ext cx="5394960" cy="438912"/>
          </a:xfrm>
          <a:prstGeom prst="rect">
            <a:avLst/>
          </a:prstGeom>
          <a:noFill/>
        </p:spPr>
        <p:txBody>
          <a:bodyPr wrap="square">
            <a:spAutoFit/>
          </a:bodyPr>
          <a:lstStyle/>
          <a:p>
            <a:pPr algn="l"/>
            <a:r>
              <a:rPr sz="1300" b="0" i="0">
                <a:solidFill>
                  <a:srgbClr val="1A1A2E"/>
                </a:solidFill>
                <a:latin typeface="游ゴシック"/>
              </a:rPr>
              <a:t>全データを保存せずに「1 サンプルずつ受け取るたびに」平均・分散・標準偏差を更新するアルゴリズム。メモリ O(1) で長時間計測に最適。</a:t>
            </a:r>
          </a:p>
        </p:txBody>
      </p:sp>
      <p:sp>
        <p:nvSpPr>
          <p:cNvPr id="10" name="Rectangle 9"/>
          <p:cNvSpPr/>
          <p:nvPr/>
        </p:nvSpPr>
        <p:spPr>
          <a:xfrm>
            <a:off x="320040" y="2039112"/>
            <a:ext cx="5394960" cy="2194559"/>
          </a:xfrm>
          <a:prstGeom prst="rect">
            <a:avLst/>
          </a:prstGeom>
          <a:solidFill>
            <a:srgbClr val="FFFFFF"/>
          </a:solidFill>
          <a:ln w="1270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12264"/>
            <a:ext cx="5120640" cy="347472"/>
          </a:xfrm>
          <a:prstGeom prst="rect">
            <a:avLst/>
          </a:prstGeom>
          <a:noFill/>
        </p:spPr>
        <p:txBody>
          <a:bodyPr wrap="square">
            <a:spAutoFit/>
          </a:bodyPr>
          <a:lstStyle/>
          <a:p>
            <a:pPr algn="l"/>
            <a:r>
              <a:rPr sz="1300" b="1" i="0">
                <a:solidFill>
                  <a:srgbClr val="0D477F"/>
                </a:solidFill>
                <a:latin typeface="游ゴシック"/>
              </a:rPr>
              <a:t>更新式（Logic_Task 内）</a:t>
            </a:r>
          </a:p>
        </p:txBody>
      </p:sp>
      <p:sp>
        <p:nvSpPr>
          <p:cNvPr id="12" name="TextBox 11"/>
          <p:cNvSpPr txBox="1"/>
          <p:nvPr/>
        </p:nvSpPr>
        <p:spPr>
          <a:xfrm>
            <a:off x="457200" y="2496312"/>
            <a:ext cx="5120640" cy="1737359"/>
          </a:xfrm>
          <a:prstGeom prst="rect">
            <a:avLst/>
          </a:prstGeom>
          <a:noFill/>
        </p:spPr>
        <p:txBody>
          <a:bodyPr wrap="square">
            <a:spAutoFit/>
          </a:bodyPr>
          <a:lstStyle/>
          <a:p>
            <a:pPr algn="l"/>
            <a:r>
              <a:rPr sz="1200" b="0" i="0">
                <a:solidFill>
                  <a:srgbClr val="1A1A2E"/>
                </a:solidFill>
                <a:latin typeface="Consolas"/>
              </a:rPr>
              <a:t>1. delta = x[n] - prevMean</a:t>
            </a:r>
          </a:p>
          <a:p>
            <a:pPr algn="l"/>
            <a:r>
              <a:rPr sz="1200" b="0" i="0">
                <a:solidFill>
                  <a:srgbClr val="1A1A2E"/>
                </a:solidFill>
                <a:latin typeface="Consolas"/>
              </a:rPr>
              <a:t>2. Sum  += x[n]</a:t>
            </a:r>
          </a:p>
          <a:p>
            <a:pPr algn="l"/>
            <a:r>
              <a:rPr sz="1200" b="0" i="0">
                <a:solidFill>
                  <a:srgbClr val="1A1A2E"/>
                </a:solidFill>
                <a:latin typeface="Consolas"/>
              </a:rPr>
              <a:t>3. newMean = Sum / Count</a:t>
            </a:r>
          </a:p>
          <a:p>
            <a:pPr algn="l"/>
            <a:r>
              <a:rPr sz="1200" b="0" i="0">
                <a:solidFill>
                  <a:srgbClr val="1A1A2E"/>
                </a:solidFill>
                <a:latin typeface="Consolas"/>
              </a:rPr>
              <a:t>4. delta2 = x[n] - newMean</a:t>
            </a:r>
          </a:p>
          <a:p>
            <a:pPr algn="l"/>
            <a:r>
              <a:rPr sz="1200" b="0" i="0">
                <a:solidFill>
                  <a:srgbClr val="1A1A2E"/>
                </a:solidFill>
                <a:latin typeface="Consolas"/>
              </a:rPr>
              <a:t>5. M2 += delta * delta2</a:t>
            </a:r>
          </a:p>
          <a:p>
            <a:pPr algn="l"/>
            <a:r>
              <a:rPr sz="1200" b="0" i="0">
                <a:solidFill>
                  <a:srgbClr val="1A1A2E"/>
                </a:solidFill>
                <a:latin typeface="Consolas"/>
              </a:rPr>
              <a:t>6. StdDev = sqrt(M2 / Count)</a:t>
            </a:r>
          </a:p>
        </p:txBody>
      </p:sp>
      <p:sp>
        <p:nvSpPr>
          <p:cNvPr id="13" name="TextBox 12"/>
          <p:cNvSpPr txBox="1"/>
          <p:nvPr/>
        </p:nvSpPr>
        <p:spPr>
          <a:xfrm>
            <a:off x="5989320" y="1051560"/>
            <a:ext cx="5577840" cy="411480"/>
          </a:xfrm>
          <a:prstGeom prst="rect">
            <a:avLst/>
          </a:prstGeom>
          <a:noFill/>
        </p:spPr>
        <p:txBody>
          <a:bodyPr wrap="square">
            <a:spAutoFit/>
          </a:bodyPr>
          <a:lstStyle/>
          <a:p>
            <a:pPr algn="l"/>
            <a:r>
              <a:rPr sz="1600" b="1" i="0">
                <a:solidFill>
                  <a:srgbClr val="0D477F"/>
                </a:solidFill>
                <a:latin typeface="游ゴシック"/>
              </a:rPr>
              <a:t>採用理由・実装ポイント</a:t>
            </a:r>
          </a:p>
        </p:txBody>
      </p:sp>
      <p:sp>
        <p:nvSpPr>
          <p:cNvPr id="14" name="Rectangle 13"/>
          <p:cNvSpPr/>
          <p:nvPr/>
        </p:nvSpPr>
        <p:spPr>
          <a:xfrm>
            <a:off x="5989320" y="1508760"/>
            <a:ext cx="5577840" cy="1755648"/>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581912"/>
            <a:ext cx="5303520" cy="347472"/>
          </a:xfrm>
          <a:prstGeom prst="rect">
            <a:avLst/>
          </a:prstGeom>
          <a:noFill/>
        </p:spPr>
        <p:txBody>
          <a:bodyPr wrap="square">
            <a:spAutoFit/>
          </a:bodyPr>
          <a:lstStyle/>
          <a:p>
            <a:pPr algn="l"/>
            <a:r>
              <a:rPr sz="1400" b="1" i="0">
                <a:solidFill>
                  <a:srgbClr val="27AE60"/>
                </a:solidFill>
                <a:latin typeface="游ゴシック"/>
              </a:rPr>
              <a:t>採用理由</a:t>
            </a:r>
          </a:p>
        </p:txBody>
      </p:sp>
      <p:sp>
        <p:nvSpPr>
          <p:cNvPr id="16" name="TextBox 15"/>
          <p:cNvSpPr txBox="1"/>
          <p:nvPr/>
        </p:nvSpPr>
        <p:spPr>
          <a:xfrm>
            <a:off x="6126480" y="1965960"/>
            <a:ext cx="5303520" cy="1298448"/>
          </a:xfrm>
          <a:prstGeom prst="rect">
            <a:avLst/>
          </a:prstGeom>
          <a:noFill/>
        </p:spPr>
        <p:txBody>
          <a:bodyPr wrap="square">
            <a:spAutoFit/>
          </a:bodyPr>
          <a:lstStyle/>
          <a:p>
            <a:pPr algn="l"/>
            <a:r>
              <a:rPr sz="1200" b="0" i="0">
                <a:solidFill>
                  <a:srgbClr val="1A1A2E"/>
                </a:solidFill>
                <a:latin typeface="游ゴシック"/>
              </a:rPr>
              <a:t>・メモリ使用量 O(1)（計測時間に依存しない）</a:t>
            </a:r>
          </a:p>
          <a:p>
            <a:pPr algn="l"/>
            <a:r>
              <a:rPr sz="1200" b="0" i="0">
                <a:solidFill>
                  <a:srgbClr val="1A1A2E"/>
                </a:solidFill>
                <a:latin typeface="游ゴシック"/>
              </a:rPr>
              <a:t>・数値安定性: double 型で丸め誤差を最小化</a:t>
            </a:r>
          </a:p>
          <a:p>
            <a:pPr algn="l"/>
            <a:r>
              <a:rPr sz="1200" b="0" i="0">
                <a:solidFill>
                  <a:srgbClr val="1A1A2E"/>
                </a:solidFill>
                <a:latin typeface="游ゴシック"/>
              </a:rPr>
              <a:t>・リアルタイム更新可能（50ms 毎に再計算）</a:t>
            </a:r>
          </a:p>
          <a:p>
            <a:pPr algn="l"/>
            <a:r>
              <a:rPr sz="1200" b="0" i="0">
                <a:solidFill>
                  <a:srgbClr val="1A1A2E"/>
                </a:solidFill>
                <a:latin typeface="游ゴシック"/>
              </a:rPr>
              <a:t>・RAM 使用率: 7.2% を計測時間によらず維持</a:t>
            </a:r>
          </a:p>
        </p:txBody>
      </p:sp>
      <p:sp>
        <p:nvSpPr>
          <p:cNvPr id="17" name="Rectangle 16"/>
          <p:cNvSpPr/>
          <p:nvPr/>
        </p:nvSpPr>
        <p:spPr>
          <a:xfrm>
            <a:off x="5989320" y="3401568"/>
            <a:ext cx="5577840" cy="1060704"/>
          </a:xfrm>
          <a:prstGeom prst="rect">
            <a:avLst/>
          </a:prstGeom>
          <a:solidFill>
            <a:srgbClr val="FFFFFF"/>
          </a:solidFill>
          <a:ln w="1905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474720"/>
            <a:ext cx="5303520" cy="347472"/>
          </a:xfrm>
          <a:prstGeom prst="rect">
            <a:avLst/>
          </a:prstGeom>
          <a:noFill/>
        </p:spPr>
        <p:txBody>
          <a:bodyPr wrap="square">
            <a:spAutoFit/>
          </a:bodyPr>
          <a:lstStyle/>
          <a:p>
            <a:pPr algn="l"/>
            <a:r>
              <a:rPr sz="1400" b="1" i="0">
                <a:solidFill>
                  <a:srgbClr val="0D477F"/>
                </a:solidFill>
                <a:latin typeface="游ゴシック"/>
              </a:rPr>
              <a:t>実装ポイント</a:t>
            </a:r>
          </a:p>
        </p:txBody>
      </p:sp>
      <p:sp>
        <p:nvSpPr>
          <p:cNvPr id="19" name="TextBox 18"/>
          <p:cNvSpPr txBox="1"/>
          <p:nvPr/>
        </p:nvSpPr>
        <p:spPr>
          <a:xfrm>
            <a:off x="6126480" y="3858768"/>
            <a:ext cx="5303520" cy="603504"/>
          </a:xfrm>
          <a:prstGeom prst="rect">
            <a:avLst/>
          </a:prstGeom>
          <a:noFill/>
        </p:spPr>
        <p:txBody>
          <a:bodyPr wrap="square">
            <a:spAutoFit/>
          </a:bodyPr>
          <a:lstStyle/>
          <a:p>
            <a:pPr algn="l"/>
            <a:r>
              <a:rPr sz="1200" b="0" i="0">
                <a:solidFill>
                  <a:srgbClr val="1A1A2E"/>
                </a:solidFill>
                <a:latin typeface="游ゴシック"/>
              </a:rPr>
              <a:t>・D_M2, D_Sum は double 型（精度確保）</a:t>
            </a:r>
          </a:p>
          <a:p>
            <a:pPr algn="l"/>
            <a:r>
              <a:rPr sz="1200" b="0" i="0">
                <a:solidFill>
                  <a:srgbClr val="1A1A2E"/>
                </a:solidFill>
                <a:latin typeface="游ゴシック"/>
              </a:rPr>
              <a:t>・Logic_Task 毎周期（50ms）で D_Average / D_StdDev を更新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技術詳細 — ヒステリシス付きアラーム判定</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6  技術詳細</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20</a:t>
            </a:r>
          </a:p>
        </p:txBody>
      </p:sp>
      <p:sp>
        <p:nvSpPr>
          <p:cNvPr id="8" name="Rectangle 7"/>
          <p:cNvSpPr/>
          <p:nvPr/>
        </p:nvSpPr>
        <p:spPr>
          <a:xfrm>
            <a:off x="320040" y="1051560"/>
            <a:ext cx="11548872"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15568"/>
            <a:ext cx="11155680" cy="365760"/>
          </a:xfrm>
          <a:prstGeom prst="rect">
            <a:avLst/>
          </a:prstGeom>
          <a:noFill/>
        </p:spPr>
        <p:txBody>
          <a:bodyPr wrap="square">
            <a:spAutoFit/>
          </a:bodyPr>
          <a:lstStyle/>
          <a:p>
            <a:pPr algn="l"/>
            <a:r>
              <a:rPr sz="1400" b="0" i="0">
                <a:solidFill>
                  <a:srgbClr val="1A1A2E"/>
                </a:solidFill>
                <a:latin typeface="游ゴシック"/>
              </a:rPr>
              <a:t>デフォルト: HI = 600.0°C ／ LO = 400.0°C ／ ヒステリシス = 5.0°C　※ EEPROM 保存・電源 OFF 後も保持</a:t>
            </a:r>
          </a:p>
        </p:txBody>
      </p:sp>
      <p:graphicFrame>
        <p:nvGraphicFramePr>
          <p:cNvPr id="10" name="Table 9"/>
          <p:cNvGraphicFramePr>
            <a:graphicFrameLocks noGrp="1"/>
          </p:cNvGraphicFramePr>
          <p:nvPr/>
        </p:nvGraphicFramePr>
        <p:xfrm>
          <a:off x="320040" y="1645920"/>
          <a:ext cx="11521440" cy="1828800"/>
        </p:xfrm>
        <a:graphic>
          <a:graphicData uri="http://schemas.openxmlformats.org/drawingml/2006/table">
            <a:tbl>
              <a:tblPr firstRow="1" bandRow="1">
                <a:tableStyleId>{5C22544A-7EE6-4342-B048-85BDC9FD1C3A}</a:tableStyleId>
              </a:tblPr>
              <a:tblGrid>
                <a:gridCol w="1371600"/>
                <a:gridCol w="3200400"/>
                <a:gridCol w="3200400"/>
                <a:gridCol w="1554480"/>
                <a:gridCol w="2194560"/>
              </a:tblGrid>
              <a:tr h="457200">
                <a:tc>
                  <a:txBody>
                    <a:bodyPr/>
                    <a:lstStyle/>
                    <a:p>
                      <a:pPr algn="l"/>
                      <a:r>
                        <a:rPr sz="1300" b="1">
                          <a:solidFill>
                            <a:srgbClr val="FFFFFF"/>
                          </a:solidFill>
                          <a:latin typeface="Segoe UI"/>
                        </a:rPr>
                        <a:t>種別</a:t>
                      </a:r>
                    </a:p>
                  </a:txBody>
                  <a:tcPr>
                    <a:solidFill>
                      <a:srgbClr val="0D477F"/>
                    </a:solidFill>
                  </a:tcPr>
                </a:tc>
                <a:tc>
                  <a:txBody>
                    <a:bodyPr/>
                    <a:lstStyle/>
                    <a:p>
                      <a:pPr algn="l"/>
                      <a:r>
                        <a:rPr sz="1300" b="1">
                          <a:solidFill>
                            <a:srgbClr val="FFFFFF"/>
                          </a:solidFill>
                          <a:latin typeface="Segoe UI"/>
                        </a:rPr>
                        <a:t>トリガー条件</a:t>
                      </a:r>
                    </a:p>
                  </a:txBody>
                  <a:tcPr>
                    <a:solidFill>
                      <a:srgbClr val="0D477F"/>
                    </a:solidFill>
                  </a:tcPr>
                </a:tc>
                <a:tc>
                  <a:txBody>
                    <a:bodyPr/>
                    <a:lstStyle/>
                    <a:p>
                      <a:pPr algn="l"/>
                      <a:r>
                        <a:rPr sz="1300" b="1">
                          <a:solidFill>
                            <a:srgbClr val="FFFFFF"/>
                          </a:solidFill>
                          <a:latin typeface="Segoe UI"/>
                        </a:rPr>
                        <a:t>クリア条件</a:t>
                      </a:r>
                    </a:p>
                  </a:txBody>
                  <a:tcPr>
                    <a:solidFill>
                      <a:srgbClr val="0D477F"/>
                    </a:solidFill>
                  </a:tcPr>
                </a:tc>
                <a:tc>
                  <a:txBody>
                    <a:bodyPr/>
                    <a:lstStyle/>
                    <a:p>
                      <a:pPr algn="l"/>
                      <a:r>
                        <a:rPr sz="1300" b="1">
                          <a:solidFill>
                            <a:srgbClr val="FFFFFF"/>
                          </a:solidFill>
                          <a:latin typeface="Segoe UI"/>
                        </a:rPr>
                        <a:t>音</a:t>
                      </a:r>
                    </a:p>
                  </a:txBody>
                  <a:tcPr>
                    <a:solidFill>
                      <a:srgbClr val="0D477F"/>
                    </a:solidFill>
                  </a:tcPr>
                </a:tc>
                <a:tc>
                  <a:txBody>
                    <a:bodyPr/>
                    <a:lstStyle/>
                    <a:p>
                      <a:pPr algn="l"/>
                      <a:r>
                        <a:rPr sz="1300" b="1">
                          <a:solidFill>
                            <a:srgbClr val="FFFFFF"/>
                          </a:solidFill>
                          <a:latin typeface="Segoe UI"/>
                        </a:rPr>
                        <a:t>LCD 色</a:t>
                      </a:r>
                    </a:p>
                  </a:txBody>
                  <a:tcPr>
                    <a:solidFill>
                      <a:srgbClr val="0D477F"/>
                    </a:solidFill>
                  </a:tcPr>
                </a:tc>
              </a:tr>
              <a:tr h="457200">
                <a:tc>
                  <a:txBody>
                    <a:bodyPr/>
                    <a:lstStyle/>
                    <a:p>
                      <a:pPr algn="l"/>
                      <a:r>
                        <a:rPr sz="1200" b="0">
                          <a:solidFill>
                            <a:srgbClr val="1A1A2E"/>
                          </a:solidFill>
                          <a:latin typeface="游ゴシック"/>
                        </a:rPr>
                        <a:t>HI アラーム</a:t>
                      </a:r>
                    </a:p>
                  </a:txBody>
                  <a:tcPr>
                    <a:solidFill>
                      <a:srgbClr val="FFFFFF"/>
                    </a:solidFill>
                  </a:tcPr>
                </a:tc>
                <a:tc>
                  <a:txBody>
                    <a:bodyPr/>
                    <a:lstStyle/>
                    <a:p>
                      <a:pPr algn="l"/>
                      <a:r>
                        <a:rPr sz="1200" b="0">
                          <a:solidFill>
                            <a:srgbClr val="1A1A2E"/>
                          </a:solidFill>
                          <a:latin typeface="游ゴシック"/>
                        </a:rPr>
                        <a:t>温度 ≥ HI しきい値</a:t>
                      </a:r>
                    </a:p>
                  </a:txBody>
                  <a:tcPr>
                    <a:solidFill>
                      <a:srgbClr val="FFFFFF"/>
                    </a:solidFill>
                  </a:tcPr>
                </a:tc>
                <a:tc>
                  <a:txBody>
                    <a:bodyPr/>
                    <a:lstStyle/>
                    <a:p>
                      <a:pPr algn="l"/>
                      <a:r>
                        <a:rPr sz="1200" b="0">
                          <a:solidFill>
                            <a:srgbClr val="1A1A2E"/>
                          </a:solidFill>
                          <a:latin typeface="游ゴシック"/>
                        </a:rPr>
                        <a:t>温度 &lt; HI − 5°C</a:t>
                      </a:r>
                    </a:p>
                  </a:txBody>
                  <a:tcPr>
                    <a:solidFill>
                      <a:srgbClr val="FFFFFF"/>
                    </a:solidFill>
                  </a:tcPr>
                </a:tc>
                <a:tc>
                  <a:txBody>
                    <a:bodyPr/>
                    <a:lstStyle/>
                    <a:p>
                      <a:pPr algn="l"/>
                      <a:r>
                        <a:rPr sz="1200" b="0">
                          <a:solidFill>
                            <a:srgbClr val="1A1A2E"/>
                          </a:solidFill>
                          <a:latin typeface="游ゴシック"/>
                        </a:rPr>
                        <a:t>2kHz, 500ms</a:t>
                      </a:r>
                    </a:p>
                  </a:txBody>
                  <a:tcPr>
                    <a:solidFill>
                      <a:srgbClr val="FFFFFF"/>
                    </a:solidFill>
                  </a:tcPr>
                </a:tc>
                <a:tc>
                  <a:txBody>
                    <a:bodyPr/>
                    <a:lstStyle/>
                    <a:p>
                      <a:pPr algn="l"/>
                      <a:r>
                        <a:rPr sz="1200" b="0">
                          <a:solidFill>
                            <a:srgbClr val="1A1A2E"/>
                          </a:solidFill>
                          <a:latin typeface="游ゴシック"/>
                        </a:rPr>
                        <a:t>赤 (RED)</a:t>
                      </a:r>
                    </a:p>
                  </a:txBody>
                  <a:tcPr>
                    <a:solidFill>
                      <a:srgbClr val="FFFFFF"/>
                    </a:solidFill>
                  </a:tcPr>
                </a:tc>
              </a:tr>
              <a:tr h="457200">
                <a:tc>
                  <a:txBody>
                    <a:bodyPr/>
                    <a:lstStyle/>
                    <a:p>
                      <a:pPr algn="l"/>
                      <a:r>
                        <a:rPr sz="1200" b="0">
                          <a:solidFill>
                            <a:srgbClr val="1A1A2E"/>
                          </a:solidFill>
                          <a:latin typeface="游ゴシック"/>
                        </a:rPr>
                        <a:t>LO アラーム</a:t>
                      </a:r>
                    </a:p>
                  </a:txBody>
                  <a:tcPr>
                    <a:solidFill>
                      <a:srgbClr val="F4F4F4"/>
                    </a:solidFill>
                  </a:tcPr>
                </a:tc>
                <a:tc>
                  <a:txBody>
                    <a:bodyPr/>
                    <a:lstStyle/>
                    <a:p>
                      <a:pPr algn="l"/>
                      <a:r>
                        <a:rPr sz="1200" b="0">
                          <a:solidFill>
                            <a:srgbClr val="1A1A2E"/>
                          </a:solidFill>
                          <a:latin typeface="游ゴシック"/>
                        </a:rPr>
                        <a:t>温度 ≤ LO しきい値</a:t>
                      </a:r>
                    </a:p>
                  </a:txBody>
                  <a:tcPr>
                    <a:solidFill>
                      <a:srgbClr val="F4F4F4"/>
                    </a:solidFill>
                  </a:tcPr>
                </a:tc>
                <a:tc>
                  <a:txBody>
                    <a:bodyPr/>
                    <a:lstStyle/>
                    <a:p>
                      <a:pPr algn="l"/>
                      <a:r>
                        <a:rPr sz="1200" b="0">
                          <a:solidFill>
                            <a:srgbClr val="1A1A2E"/>
                          </a:solidFill>
                          <a:latin typeface="游ゴシック"/>
                        </a:rPr>
                        <a:t>温度 &gt; LO + 5°C</a:t>
                      </a:r>
                    </a:p>
                  </a:txBody>
                  <a:tcPr>
                    <a:solidFill>
                      <a:srgbClr val="F4F4F4"/>
                    </a:solidFill>
                  </a:tcPr>
                </a:tc>
                <a:tc>
                  <a:txBody>
                    <a:bodyPr/>
                    <a:lstStyle/>
                    <a:p>
                      <a:pPr algn="l"/>
                      <a:r>
                        <a:rPr sz="1200" b="0">
                          <a:solidFill>
                            <a:srgbClr val="1A1A2E"/>
                          </a:solidFill>
                          <a:latin typeface="游ゴシック"/>
                        </a:rPr>
                        <a:t>1kHz, 500ms</a:t>
                      </a:r>
                    </a:p>
                  </a:txBody>
                  <a:tcPr>
                    <a:solidFill>
                      <a:srgbClr val="F4F4F4"/>
                    </a:solidFill>
                  </a:tcPr>
                </a:tc>
                <a:tc>
                  <a:txBody>
                    <a:bodyPr/>
                    <a:lstStyle/>
                    <a:p>
                      <a:pPr algn="l"/>
                      <a:r>
                        <a:rPr sz="1200" b="0">
                          <a:solidFill>
                            <a:srgbClr val="1A1A2E"/>
                          </a:solidFill>
                          <a:latin typeface="游ゴシック"/>
                        </a:rPr>
                        <a:t>青 (BLUE)</a:t>
                      </a:r>
                    </a:p>
                  </a:txBody>
                  <a:tcPr>
                    <a:solidFill>
                      <a:srgbClr val="F4F4F4"/>
                    </a:solidFill>
                  </a:tcPr>
                </a:tc>
              </a:tr>
              <a:tr h="457200">
                <a:tc>
                  <a:txBody>
                    <a:bodyPr/>
                    <a:lstStyle/>
                    <a:p>
                      <a:pPr algn="l"/>
                      <a:r>
                        <a:rPr sz="1200" b="0">
                          <a:solidFill>
                            <a:srgbClr val="1A1A2E"/>
                          </a:solidFill>
                          <a:latin typeface="游ゴシック"/>
                        </a:rPr>
                        <a:t>非アラーム</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c>
                  <a:txBody>
                    <a:bodyPr/>
                    <a:lstStyle/>
                    <a:p>
                      <a:pPr algn="l"/>
                      <a:r>
                        <a:rPr sz="1200" b="0">
                          <a:solidFill>
                            <a:srgbClr val="1A1A2E"/>
                          </a:solidFill>
                          <a:latin typeface="游ゴシック"/>
                        </a:rPr>
                        <a:t>なし</a:t>
                      </a:r>
                    </a:p>
                  </a:txBody>
                  <a:tcPr>
                    <a:solidFill>
                      <a:srgbClr val="FFFFFF"/>
                    </a:solidFill>
                  </a:tcPr>
                </a:tc>
                <a:tc>
                  <a:txBody>
                    <a:bodyPr/>
                    <a:lstStyle/>
                    <a:p>
                      <a:pPr algn="l"/>
                      <a:r>
                        <a:rPr sz="1200" b="0">
                          <a:solidFill>
                            <a:srgbClr val="1A1A2E"/>
                          </a:solidFill>
                          <a:latin typeface="游ゴシック"/>
                        </a:rPr>
                        <a:t>白 (WHITE)</a:t>
                      </a:r>
                    </a:p>
                  </a:txBody>
                  <a:tcPr>
                    <a:solidFill>
                      <a:srgbClr val="FFFFFF"/>
                    </a:solidFill>
                  </a:tcPr>
                </a:tc>
              </a:tr>
            </a:tbl>
          </a:graphicData>
        </a:graphic>
      </p:graphicFrame>
      <p:sp>
        <p:nvSpPr>
          <p:cNvPr id="11" name="Rectangle 10"/>
          <p:cNvSpPr/>
          <p:nvPr/>
        </p:nvSpPr>
        <p:spPr>
          <a:xfrm>
            <a:off x="320040" y="3657600"/>
            <a:ext cx="6217920" cy="2286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749039"/>
            <a:ext cx="5943600" cy="365760"/>
          </a:xfrm>
          <a:prstGeom prst="rect">
            <a:avLst/>
          </a:prstGeom>
          <a:noFill/>
        </p:spPr>
        <p:txBody>
          <a:bodyPr wrap="square">
            <a:spAutoFit/>
          </a:bodyPr>
          <a:lstStyle/>
          <a:p>
            <a:pPr algn="l"/>
            <a:r>
              <a:rPr sz="1400" b="1" i="0">
                <a:solidFill>
                  <a:srgbClr val="0D477F"/>
                </a:solidFill>
                <a:latin typeface="游ゴシック"/>
              </a:rPr>
              <a:t>ヒステリシスの効果</a:t>
            </a:r>
          </a:p>
        </p:txBody>
      </p:sp>
      <p:sp>
        <p:nvSpPr>
          <p:cNvPr id="13" name="TextBox 12"/>
          <p:cNvSpPr txBox="1"/>
          <p:nvPr/>
        </p:nvSpPr>
        <p:spPr>
          <a:xfrm>
            <a:off x="457200" y="4160520"/>
            <a:ext cx="5943600" cy="1600200"/>
          </a:xfrm>
          <a:prstGeom prst="rect">
            <a:avLst/>
          </a:prstGeom>
          <a:noFill/>
        </p:spPr>
        <p:txBody>
          <a:bodyPr wrap="square">
            <a:spAutoFit/>
          </a:bodyPr>
          <a:lstStyle/>
          <a:p>
            <a:pPr algn="l"/>
            <a:r>
              <a:rPr sz="1300" b="0" i="0">
                <a:solidFill>
                  <a:srgbClr val="1A1A2E"/>
                </a:solidFill>
                <a:latin typeface="Consolas"/>
              </a:rPr>
              <a:t>温度   601°C → [HI 発報] ビープ</a:t>
            </a:r>
          </a:p>
          <a:p>
            <a:pPr algn="l"/>
            <a:r>
              <a:rPr sz="1300" b="0" i="0">
                <a:solidFill>
                  <a:srgbClr val="1A1A2E"/>
                </a:solidFill>
                <a:latin typeface="Consolas"/>
              </a:rPr>
              <a:t>       600°C → [継続]（まだクリアされない）</a:t>
            </a:r>
          </a:p>
          <a:p>
            <a:pPr algn="l"/>
            <a:r>
              <a:rPr sz="1300" b="0" i="0">
                <a:solidFill>
                  <a:srgbClr val="1A1A2E"/>
                </a:solidFill>
                <a:latin typeface="Consolas"/>
              </a:rPr>
              <a:t>       596°C → [継続]（&lt; 595°C まで待機）</a:t>
            </a:r>
          </a:p>
          <a:p>
            <a:pPr algn="l"/>
            <a:r>
              <a:rPr sz="1300" b="0" i="0">
                <a:solidFill>
                  <a:srgbClr val="1A1A2E"/>
                </a:solidFill>
                <a:latin typeface="Consolas"/>
              </a:rPr>
              <a:t>       594°C → [HI クリア]</a:t>
            </a:r>
          </a:p>
        </p:txBody>
      </p:sp>
      <p:sp>
        <p:nvSpPr>
          <p:cNvPr id="14" name="Rectangle 13"/>
          <p:cNvSpPr/>
          <p:nvPr/>
        </p:nvSpPr>
        <p:spPr>
          <a:xfrm>
            <a:off x="6858000" y="3657600"/>
            <a:ext cx="5029200" cy="2286000"/>
          </a:xfrm>
          <a:prstGeom prst="rect">
            <a:avLst/>
          </a:prstGeom>
          <a:solidFill>
            <a:srgbClr val="FFFFFF"/>
          </a:solidFill>
          <a:ln w="1270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3749039"/>
            <a:ext cx="4754880" cy="365760"/>
          </a:xfrm>
          <a:prstGeom prst="rect">
            <a:avLst/>
          </a:prstGeom>
          <a:noFill/>
        </p:spPr>
        <p:txBody>
          <a:bodyPr wrap="square">
            <a:spAutoFit/>
          </a:bodyPr>
          <a:lstStyle/>
          <a:p>
            <a:pPr algn="l"/>
            <a:r>
              <a:rPr sz="1400" b="1" i="0">
                <a:solidFill>
                  <a:srgbClr val="0D477F"/>
                </a:solidFill>
                <a:latin typeface="游ゴシック"/>
              </a:rPr>
              <a:t>実装のポイント</a:t>
            </a:r>
          </a:p>
        </p:txBody>
      </p:sp>
      <p:sp>
        <p:nvSpPr>
          <p:cNvPr id="16" name="TextBox 15"/>
          <p:cNvSpPr txBox="1"/>
          <p:nvPr/>
        </p:nvSpPr>
        <p:spPr>
          <a:xfrm>
            <a:off x="6995160" y="4160520"/>
            <a:ext cx="4754880" cy="1600200"/>
          </a:xfrm>
          <a:prstGeom prst="rect">
            <a:avLst/>
          </a:prstGeom>
          <a:noFill/>
        </p:spPr>
        <p:txBody>
          <a:bodyPr wrap="square">
            <a:spAutoFit/>
          </a:bodyPr>
          <a:lstStyle/>
          <a:p>
            <a:pPr algn="l"/>
            <a:r>
              <a:rPr sz="1200" b="0" i="0">
                <a:solidFill>
                  <a:srgbClr val="1A1A2E"/>
                </a:solidFill>
                <a:latin typeface="游ゴシック"/>
              </a:rPr>
              <a:t>・チラつき防止: しきい値近辺での誤発報を抑制</a:t>
            </a:r>
          </a:p>
          <a:p>
            <a:pPr algn="l"/>
            <a:r>
              <a:rPr sz="1200" b="0" i="0">
                <a:solidFill>
                  <a:srgbClr val="1A1A2E"/>
                </a:solidFill>
                <a:latin typeface="游ゴシック"/>
              </a:rPr>
              <a:t>・NaN 値ガード: isnan() で無効値をスキップ</a:t>
            </a:r>
          </a:p>
          <a:p>
            <a:pPr algn="l"/>
            <a:r>
              <a:rPr sz="1200" b="0" i="0">
                <a:solidFill>
                  <a:srgbClr val="1A1A2E"/>
                </a:solidFill>
                <a:latin typeface="游ゴシック"/>
              </a:rPr>
              <a:t>・updateAlarmFlags() は独立関数 → ユニットテスト可能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品質・テスト — デバッグ対応事例</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7  品質・テスト</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21</a:t>
            </a:r>
          </a:p>
        </p:txBody>
      </p:sp>
      <p:graphicFrame>
        <p:nvGraphicFramePr>
          <p:cNvPr id="8" name="Table 7"/>
          <p:cNvGraphicFramePr>
            <a:graphicFrameLocks noGrp="1"/>
          </p:cNvGraphicFramePr>
          <p:nvPr/>
        </p:nvGraphicFramePr>
        <p:xfrm>
          <a:off x="320040" y="1051560"/>
          <a:ext cx="11521440" cy="2743200"/>
        </p:xfrm>
        <a:graphic>
          <a:graphicData uri="http://schemas.openxmlformats.org/drawingml/2006/table">
            <a:tbl>
              <a:tblPr firstRow="1" bandRow="1">
                <a:tableStyleId>{5C22544A-7EE6-4342-B048-85BDC9FD1C3A}</a:tableStyleId>
              </a:tblPr>
              <a:tblGrid>
                <a:gridCol w="457200"/>
                <a:gridCol w="3200400"/>
                <a:gridCol w="3200400"/>
                <a:gridCol w="4663440"/>
              </a:tblGrid>
              <a:tr h="457200">
                <a:tc>
                  <a:txBody>
                    <a:bodyPr/>
                    <a:lstStyle/>
                    <a:p>
                      <a:pPr algn="l"/>
                      <a:r>
                        <a:rPr sz="1300" b="1">
                          <a:solidFill>
                            <a:srgbClr val="FFFFFF"/>
                          </a:solidFill>
                          <a:latin typeface="Segoe UI"/>
                        </a:rPr>
                        <a:t>#</a:t>
                      </a:r>
                    </a:p>
                  </a:txBody>
                  <a:tcPr>
                    <a:solidFill>
                      <a:srgbClr val="0D477F"/>
                    </a:solidFill>
                  </a:tcPr>
                </a:tc>
                <a:tc>
                  <a:txBody>
                    <a:bodyPr/>
                    <a:lstStyle/>
                    <a:p>
                      <a:pPr algn="l"/>
                      <a:r>
                        <a:rPr sz="1300" b="1">
                          <a:solidFill>
                            <a:srgbClr val="FFFFFF"/>
                          </a:solidFill>
                          <a:latin typeface="Segoe UI"/>
                        </a:rPr>
                        <a:t>症状</a:t>
                      </a:r>
                    </a:p>
                  </a:txBody>
                  <a:tcPr>
                    <a:solidFill>
                      <a:srgbClr val="0D477F"/>
                    </a:solidFill>
                  </a:tcPr>
                </a:tc>
                <a:tc>
                  <a:txBody>
                    <a:bodyPr/>
                    <a:lstStyle/>
                    <a:p>
                      <a:pPr algn="l"/>
                      <a:r>
                        <a:rPr sz="1300" b="1">
                          <a:solidFill>
                            <a:srgbClr val="FFFFFF"/>
                          </a:solidFill>
                          <a:latin typeface="Segoe UI"/>
                        </a:rPr>
                        <a:t>原因</a:t>
                      </a:r>
                    </a:p>
                  </a:txBody>
                  <a:tcPr>
                    <a:solidFill>
                      <a:srgbClr val="0D477F"/>
                    </a:solidFill>
                  </a:tcPr>
                </a:tc>
                <a:tc>
                  <a:txBody>
                    <a:bodyPr/>
                    <a:lstStyle/>
                    <a:p>
                      <a:pPr algn="l"/>
                      <a:r>
                        <a:rPr sz="1300" b="1">
                          <a:solidFill>
                            <a:srgbClr val="FFFFFF"/>
                          </a:solidFill>
                          <a:latin typeface="Segoe UI"/>
                        </a:rPr>
                        <a:t>対策</a:t>
                      </a:r>
                    </a:p>
                  </a:txBody>
                  <a:tcPr>
                    <a:solidFill>
                      <a:srgbClr val="0D477F"/>
                    </a:solidFill>
                  </a:tcPr>
                </a:tc>
              </a:tr>
              <a:tr h="457200">
                <a:tc>
                  <a:txBody>
                    <a:bodyPr/>
                    <a:lstStyle/>
                    <a:p>
                      <a:pPr algn="l"/>
                      <a:r>
                        <a:rPr sz="1200" b="0">
                          <a:solidFill>
                            <a:srgbClr val="1A1A2E"/>
                          </a:solidFill>
                          <a:latin typeface="游ゴシック"/>
                        </a:rPr>
                        <a:t>01</a:t>
                      </a:r>
                    </a:p>
                  </a:txBody>
                  <a:tcPr>
                    <a:solidFill>
                      <a:srgbClr val="FFFFFF"/>
                    </a:solidFill>
                  </a:tcPr>
                </a:tc>
                <a:tc>
                  <a:txBody>
                    <a:bodyPr/>
                    <a:lstStyle/>
                    <a:p>
                      <a:pPr algn="l"/>
                      <a:r>
                        <a:rPr sz="1200" b="0">
                          <a:solidFill>
                            <a:srgbClr val="1A1A2E"/>
                          </a:solidFill>
                          <a:latin typeface="游ゴシック"/>
                        </a:rPr>
                        <a:t>温度が全て 0.0°C になる</a:t>
                      </a:r>
                    </a:p>
                  </a:txBody>
                  <a:tcPr>
                    <a:solidFill>
                      <a:srgbClr val="FFFFFF"/>
                    </a:solidFill>
                  </a:tcPr>
                </a:tc>
                <a:tc>
                  <a:txBody>
                    <a:bodyPr/>
                    <a:lstStyle/>
                    <a:p>
                      <a:pPr algn="l"/>
                      <a:r>
                        <a:rPr sz="1200" b="0">
                          <a:solidFill>
                            <a:srgbClr val="1A1A2E"/>
                          </a:solidFill>
                          <a:latin typeface="游ゴシック"/>
                        </a:rPr>
                        <a:t>SD.begin() が GPIO5 既定 → MAX31855 と CS 衝突</a:t>
                      </a:r>
                    </a:p>
                  </a:txBody>
                  <a:tcPr>
                    <a:solidFill>
                      <a:srgbClr val="FFFFFF"/>
                    </a:solidFill>
                  </a:tcPr>
                </a:tc>
                <a:tc>
                  <a:txBody>
                    <a:bodyPr/>
                    <a:lstStyle/>
                    <a:p>
                      <a:pPr algn="l"/>
                      <a:r>
                        <a:rPr sz="1200" b="0">
                          <a:solidFill>
                            <a:srgbClr val="1A1A2E"/>
                          </a:solidFill>
                          <a:latin typeface="游ゴシック"/>
                        </a:rPr>
                        <a:t>SD.begin(TFCARD_CS_PIN, SPI, 40000000) で GPIO4 を明示</a:t>
                      </a:r>
                    </a:p>
                  </a:txBody>
                  <a:tcPr>
                    <a:solidFill>
                      <a:srgbClr val="FFFFFF"/>
                    </a:solidFill>
                  </a:tcPr>
                </a:tc>
              </a:tr>
              <a:tr h="457200">
                <a:tc>
                  <a:txBody>
                    <a:bodyPr/>
                    <a:lstStyle/>
                    <a:p>
                      <a:pPr algn="l"/>
                      <a:r>
                        <a:rPr sz="1200" b="0">
                          <a:solidFill>
                            <a:srgbClr val="1A1A2E"/>
                          </a:solidFill>
                          <a:latin typeface="游ゴシック"/>
                        </a:rPr>
                        <a:t>02</a:t>
                      </a:r>
                    </a:p>
                  </a:txBody>
                  <a:tcPr>
                    <a:solidFill>
                      <a:srgbClr val="F4F4F4"/>
                    </a:solidFill>
                  </a:tcPr>
                </a:tc>
                <a:tc>
                  <a:txBody>
                    <a:bodyPr/>
                    <a:lstStyle/>
                    <a:p>
                      <a:pPr algn="l"/>
                      <a:r>
                        <a:rPr sz="1200" b="0">
                          <a:solidFill>
                            <a:srgbClr val="1A1A2E"/>
                          </a:solidFill>
                          <a:latin typeface="游ゴシック"/>
                        </a:rPr>
                        <a:t>起動直後にアラームが誤発報</a:t>
                      </a:r>
                    </a:p>
                  </a:txBody>
                  <a:tcPr>
                    <a:solidFill>
                      <a:srgbClr val="F4F4F4"/>
                    </a:solidFill>
                  </a:tcPr>
                </a:tc>
                <a:tc>
                  <a:txBody>
                    <a:bodyPr/>
                    <a:lstStyle/>
                    <a:p>
                      <a:pPr algn="l"/>
                      <a:r>
                        <a:rPr sz="1200" b="0">
                          <a:solidFill>
                            <a:srgbClr val="1A1A2E"/>
                          </a:solidFill>
                          <a:latin typeface="游ゴシック"/>
                        </a:rPr>
                        <a:t>setup() 中の IO_Task 呼び出しが閾値を超える値を一時読取</a:t>
                      </a:r>
                    </a:p>
                  </a:txBody>
                  <a:tcPr>
                    <a:solidFill>
                      <a:srgbClr val="F4F4F4"/>
                    </a:solidFill>
                  </a:tcPr>
                </a:tc>
                <a:tc>
                  <a:txBody>
                    <a:bodyPr/>
                    <a:lstStyle/>
                    <a:p>
                      <a:pPr algn="l"/>
                      <a:r>
                        <a:rPr sz="1200" b="0">
                          <a:solidFill>
                            <a:srgbClr val="1A1A2E"/>
                          </a:solidFill>
                          <a:latin typeface="游ゴシック"/>
                        </a:rPr>
                        <a:t>setup() 末尾でアラームフラグを強制リセット</a:t>
                      </a:r>
                    </a:p>
                  </a:txBody>
                  <a:tcPr>
                    <a:solidFill>
                      <a:srgbClr val="F4F4F4"/>
                    </a:solidFill>
                  </a:tcPr>
                </a:tc>
              </a:tr>
              <a:tr h="457200">
                <a:tc>
                  <a:txBody>
                    <a:bodyPr/>
                    <a:lstStyle/>
                    <a:p>
                      <a:pPr algn="l"/>
                      <a:r>
                        <a:rPr sz="1200" b="0">
                          <a:solidFill>
                            <a:srgbClr val="1A1A2E"/>
                          </a:solidFill>
                          <a:latin typeface="游ゴシック"/>
                        </a:rPr>
                        <a:t>03</a:t>
                      </a:r>
                    </a:p>
                  </a:txBody>
                  <a:tcPr>
                    <a:solidFill>
                      <a:srgbClr val="FFFFFF"/>
                    </a:solidFill>
                  </a:tcPr>
                </a:tc>
                <a:tc>
                  <a:txBody>
                    <a:bodyPr/>
                    <a:lstStyle/>
                    <a:p>
                      <a:pPr algn="l"/>
                      <a:r>
                        <a:rPr sz="1200" b="0">
                          <a:solidFill>
                            <a:srgbClr val="1A1A2E"/>
                          </a:solidFill>
                          <a:latin typeface="游ゴシック"/>
                        </a:rPr>
                        <a:t>RUN 中の CSV に Average=0.0 が続く</a:t>
                      </a:r>
                    </a:p>
                  </a:txBody>
                  <a:tcPr>
                    <a:solidFill>
                      <a:srgbClr val="FFFFFF"/>
                    </a:solidFill>
                  </a:tcPr>
                </a:tc>
                <a:tc>
                  <a:txBody>
                    <a:bodyPr/>
                    <a:lstStyle/>
                    <a:p>
                      <a:pPr algn="l"/>
                      <a:r>
                        <a:rPr sz="1200" b="0">
                          <a:solidFill>
                            <a:srgbClr val="1A1A2E"/>
                          </a:solidFill>
                          <a:latin typeface="游ゴシック"/>
                        </a:rPr>
                        <a:t>D_Count&lt;2 のタイミングで書込 → Welford 未完了</a:t>
                      </a:r>
                    </a:p>
                  </a:txBody>
                  <a:tcPr>
                    <a:solidFill>
                      <a:srgbClr val="FFFFFF"/>
                    </a:solidFill>
                  </a:tcPr>
                </a:tc>
                <a:tc>
                  <a:txBody>
                    <a:bodyPr/>
                    <a:lstStyle/>
                    <a:p>
                      <a:pPr algn="l"/>
                      <a:r>
                        <a:rPr sz="1200" b="0">
                          <a:solidFill>
                            <a:srgbClr val="1A1A2E"/>
                          </a:solidFill>
                          <a:latin typeface="游ゴシック"/>
                        </a:rPr>
                        <a:t>SD 書込条件を D_Count≥10 に変更</a:t>
                      </a:r>
                    </a:p>
                  </a:txBody>
                  <a:tcPr>
                    <a:solidFill>
                      <a:srgbClr val="FFFFFF"/>
                    </a:solidFill>
                  </a:tcPr>
                </a:tc>
              </a:tr>
              <a:tr h="457200">
                <a:tc>
                  <a:txBody>
                    <a:bodyPr/>
                    <a:lstStyle/>
                    <a:p>
                      <a:pPr algn="l"/>
                      <a:r>
                        <a:rPr sz="1200" b="0">
                          <a:solidFill>
                            <a:srgbClr val="1A1A2E"/>
                          </a:solidFill>
                          <a:latin typeface="游ゴシック"/>
                        </a:rPr>
                        <a:t>04</a:t>
                      </a:r>
                    </a:p>
                  </a:txBody>
                  <a:tcPr>
                    <a:solidFill>
                      <a:srgbClr val="F4F4F4"/>
                    </a:solidFill>
                  </a:tcPr>
                </a:tc>
                <a:tc>
                  <a:txBody>
                    <a:bodyPr/>
                    <a:lstStyle/>
                    <a:p>
                      <a:pPr algn="l"/>
                      <a:r>
                        <a:rPr sz="1200" b="0">
                          <a:solidFill>
                            <a:srgbClr val="1A1A2E"/>
                          </a:solidFill>
                          <a:latin typeface="游ゴシック"/>
                        </a:rPr>
                        <a:t>SD 書込後に温度が NaN になる</a:t>
                      </a:r>
                    </a:p>
                  </a:txBody>
                  <a:tcPr>
                    <a:solidFill>
                      <a:srgbClr val="F4F4F4"/>
                    </a:solidFill>
                  </a:tcPr>
                </a:tc>
                <a:tc>
                  <a:txBody>
                    <a:bodyPr/>
                    <a:lstStyle/>
                    <a:p>
                      <a:pPr algn="l"/>
                      <a:r>
                        <a:rPr sz="1200" b="0">
                          <a:solidFill>
                            <a:srgbClr val="1A1A2E"/>
                          </a:solidFill>
                          <a:latin typeface="游ゴシック"/>
                        </a:rPr>
                        <a:t>SPI バスが SD 書込後に解放されない</a:t>
                      </a:r>
                    </a:p>
                  </a:txBody>
                  <a:tcPr>
                    <a:solidFill>
                      <a:srgbClr val="F4F4F4"/>
                    </a:solidFill>
                  </a:tcPr>
                </a:tc>
                <a:tc>
                  <a:txBody>
                    <a:bodyPr/>
                    <a:lstStyle/>
                    <a:p>
                      <a:pPr algn="l"/>
                      <a:r>
                        <a:rPr sz="1200" b="0">
                          <a:solidFill>
                            <a:srgbClr val="1A1A2E"/>
                          </a:solidFill>
                          <a:latin typeface="游ゴシック"/>
                        </a:rPr>
                        <a:t>writeData() 後に SPI.end(); SPI.begin() を実行</a:t>
                      </a:r>
                    </a:p>
                  </a:txBody>
                  <a:tcPr>
                    <a:solidFill>
                      <a:srgbClr val="F4F4F4"/>
                    </a:solidFill>
                  </a:tcPr>
                </a:tc>
              </a:tr>
              <a:tr h="457200">
                <a:tc>
                  <a:txBody>
                    <a:bodyPr/>
                    <a:lstStyle/>
                    <a:p>
                      <a:pPr algn="l"/>
                      <a:r>
                        <a:rPr sz="1200" b="0">
                          <a:solidFill>
                            <a:srgbClr val="1A1A2E"/>
                          </a:solidFill>
                          <a:latin typeface="游ゴシック"/>
                        </a:rPr>
                        <a:t>05</a:t>
                      </a:r>
                    </a:p>
                  </a:txBody>
                  <a:tcPr>
                    <a:solidFill>
                      <a:srgbClr val="FFFFFF"/>
                    </a:solidFill>
                  </a:tcPr>
                </a:tc>
                <a:tc>
                  <a:txBody>
                    <a:bodyPr/>
                    <a:lstStyle/>
                    <a:p>
                      <a:pPr algn="l"/>
                      <a:r>
                        <a:rPr sz="1200" b="0">
                          <a:solidFill>
                            <a:srgbClr val="1A1A2E"/>
                          </a:solidFill>
                          <a:latin typeface="游ゴシック"/>
                        </a:rPr>
                        <a:t>フィルタが NaN にはまったまま収束しない</a:t>
                      </a:r>
                    </a:p>
                  </a:txBody>
                  <a:tcPr>
                    <a:solidFill>
                      <a:srgbClr val="FFFFFF"/>
                    </a:solidFill>
                  </a:tcPr>
                </a:tc>
                <a:tc>
                  <a:txBody>
                    <a:bodyPr/>
                    <a:lstStyle/>
                    <a:p>
                      <a:pPr algn="l"/>
                      <a:r>
                        <a:rPr sz="1200" b="0">
                          <a:solidFill>
                            <a:srgbClr val="1A1A2E"/>
                          </a:solidFill>
                          <a:latin typeface="游ゴシック"/>
                        </a:rPr>
                        <a:t>初回読取 NaN を前回値に適用してしまう</a:t>
                      </a:r>
                    </a:p>
                  </a:txBody>
                  <a:tcPr>
                    <a:solidFill>
                      <a:srgbClr val="FFFFFF"/>
                    </a:solidFill>
                  </a:tcPr>
                </a:tc>
                <a:tc>
                  <a:txBody>
                    <a:bodyPr/>
                    <a:lstStyle/>
                    <a:p>
                      <a:pPr algn="l"/>
                      <a:r>
                        <a:rPr sz="1200" b="0">
                          <a:solidFill>
                            <a:srgbClr val="1A1A2E"/>
                          </a:solidFill>
                          <a:latin typeface="游ゴシック"/>
                        </a:rPr>
                        <a:t>初回は raw 値をそのまま代入（isnan チェック追加）</a:t>
                      </a:r>
                    </a:p>
                  </a:txBody>
                  <a:tcPr>
                    <a:solidFill>
                      <a:srgbClr val="FFFFFF"/>
                    </a:solidFill>
                  </a:tcPr>
                </a:tc>
              </a:tr>
            </a:tbl>
          </a:graphicData>
        </a:graphic>
      </p:graphicFrame>
      <p:sp>
        <p:nvSpPr>
          <p:cNvPr id="9" name="Rectangle 8"/>
          <p:cNvSpPr/>
          <p:nvPr/>
        </p:nvSpPr>
        <p:spPr>
          <a:xfrm>
            <a:off x="320040" y="3931920"/>
            <a:ext cx="11548872" cy="6400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995928"/>
            <a:ext cx="11155680" cy="530352"/>
          </a:xfrm>
          <a:prstGeom prst="rect">
            <a:avLst/>
          </a:prstGeom>
          <a:noFill/>
        </p:spPr>
        <p:txBody>
          <a:bodyPr wrap="square">
            <a:spAutoFit/>
          </a:bodyPr>
          <a:lstStyle/>
          <a:p>
            <a:pPr algn="l"/>
            <a:r>
              <a:rPr sz="1300" b="0" i="0">
                <a:solidFill>
                  <a:srgbClr val="1A1A2E"/>
                </a:solidFill>
                <a:latin typeface="游ゴシック"/>
              </a:rPr>
              <a:t>共通パターン: ハードウェアリソース（SPI/GPIO）の競合は CS 指定の明示化で解決。ソフトウェア状態は単体テスト可能な関数に分離することで早期発見。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品質・テスト — テスト実績</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7  品質・テスト</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22</a:t>
            </a:r>
          </a:p>
        </p:txBody>
      </p:sp>
      <p:sp>
        <p:nvSpPr>
          <p:cNvPr id="8" name="TextBox 7"/>
          <p:cNvSpPr txBox="1"/>
          <p:nvPr/>
        </p:nvSpPr>
        <p:spPr>
          <a:xfrm>
            <a:off x="320040" y="1005840"/>
            <a:ext cx="11548872" cy="411480"/>
          </a:xfrm>
          <a:prstGeom prst="rect">
            <a:avLst/>
          </a:prstGeom>
          <a:noFill/>
        </p:spPr>
        <p:txBody>
          <a:bodyPr wrap="square">
            <a:spAutoFit/>
          </a:bodyPr>
          <a:lstStyle/>
          <a:p>
            <a:pPr algn="l"/>
            <a:r>
              <a:rPr sz="1400" b="0" i="0">
                <a:solidFill>
                  <a:srgbClr val="1A1A2E"/>
                </a:solidFill>
                <a:latin typeface="游ゴシック"/>
              </a:rPr>
              <a:t>統合テスト結果: 全 33 件 100% 合格（INTEGRATION_TEST_RESULTS.md 参照）</a:t>
            </a:r>
          </a:p>
        </p:txBody>
      </p:sp>
      <p:graphicFrame>
        <p:nvGraphicFramePr>
          <p:cNvPr id="9" name="Table 8"/>
          <p:cNvGraphicFramePr>
            <a:graphicFrameLocks noGrp="1"/>
          </p:cNvGraphicFramePr>
          <p:nvPr/>
        </p:nvGraphicFramePr>
        <p:xfrm>
          <a:off x="320040" y="1645920"/>
          <a:ext cx="8183880" cy="3364992"/>
        </p:xfrm>
        <a:graphic>
          <a:graphicData uri="http://schemas.openxmlformats.org/drawingml/2006/table">
            <a:tbl>
              <a:tblPr firstRow="1" bandRow="1">
                <a:tableStyleId>{5C22544A-7EE6-4342-B048-85BDC9FD1C3A}</a:tableStyleId>
              </a:tblPr>
              <a:tblGrid>
                <a:gridCol w="2011680"/>
                <a:gridCol w="3657600"/>
                <a:gridCol w="914400"/>
                <a:gridCol w="1600200"/>
              </a:tblGrid>
              <a:tr h="420624">
                <a:tc>
                  <a:txBody>
                    <a:bodyPr/>
                    <a:lstStyle/>
                    <a:p>
                      <a:pPr algn="l"/>
                      <a:r>
                        <a:rPr sz="1300" b="1">
                          <a:solidFill>
                            <a:srgbClr val="FFFFFF"/>
                          </a:solidFill>
                          <a:latin typeface="Segoe UI"/>
                        </a:rPr>
                        <a:t>テスト分類</a:t>
                      </a:r>
                    </a:p>
                  </a:txBody>
                  <a:tcPr>
                    <a:solidFill>
                      <a:srgbClr val="0D477F"/>
                    </a:solidFill>
                  </a:tcPr>
                </a:tc>
                <a:tc>
                  <a:txBody>
                    <a:bodyPr/>
                    <a:lstStyle/>
                    <a:p>
                      <a:pPr algn="l"/>
                      <a:r>
                        <a:rPr sz="1300" b="1">
                          <a:solidFill>
                            <a:srgbClr val="FFFFFF"/>
                          </a:solidFill>
                          <a:latin typeface="Segoe UI"/>
                        </a:rPr>
                        <a:t>テストケース概要</a:t>
                      </a:r>
                    </a:p>
                  </a:txBody>
                  <a:tcPr>
                    <a:solidFill>
                      <a:srgbClr val="0D477F"/>
                    </a:solidFill>
                  </a:tcPr>
                </a:tc>
                <a:tc>
                  <a:txBody>
                    <a:bodyPr/>
                    <a:lstStyle/>
                    <a:p>
                      <a:pPr algn="l"/>
                      <a:r>
                        <a:rPr sz="1300" b="1">
                          <a:solidFill>
                            <a:srgbClr val="FFFFFF"/>
                          </a:solidFill>
                          <a:latin typeface="Segoe UI"/>
                        </a:rPr>
                        <a:t>件数</a:t>
                      </a:r>
                    </a:p>
                  </a:txBody>
                  <a:tcPr>
                    <a:solidFill>
                      <a:srgbClr val="0D477F"/>
                    </a:solidFill>
                  </a:tcPr>
                </a:tc>
                <a:tc>
                  <a:txBody>
                    <a:bodyPr/>
                    <a:lstStyle/>
                    <a:p>
                      <a:pPr algn="l"/>
                      <a:r>
                        <a:rPr sz="1300" b="1">
                          <a:solidFill>
                            <a:srgbClr val="FFFFFF"/>
                          </a:solidFill>
                          <a:latin typeface="Segoe UI"/>
                        </a:rPr>
                        <a:t>結果</a:t>
                      </a:r>
                    </a:p>
                  </a:txBody>
                  <a:tcPr>
                    <a:solidFill>
                      <a:srgbClr val="0D477F"/>
                    </a:solidFill>
                  </a:tcPr>
                </a:tc>
              </a:tr>
              <a:tr h="420624">
                <a:tc>
                  <a:txBody>
                    <a:bodyPr/>
                    <a:lstStyle/>
                    <a:p>
                      <a:pPr algn="l"/>
                      <a:r>
                        <a:rPr sz="1200" b="0">
                          <a:solidFill>
                            <a:srgbClr val="1A1A2E"/>
                          </a:solidFill>
                          <a:latin typeface="游ゴシック"/>
                        </a:rPr>
                        <a:t>初期化テスト</a:t>
                      </a:r>
                    </a:p>
                  </a:txBody>
                  <a:tcPr>
                    <a:solidFill>
                      <a:srgbClr val="FFFFFF"/>
                    </a:solidFill>
                  </a:tcPr>
                </a:tc>
                <a:tc>
                  <a:txBody>
                    <a:bodyPr/>
                    <a:lstStyle/>
                    <a:p>
                      <a:pPr algn="l"/>
                      <a:r>
                        <a:rPr sz="1200" b="0">
                          <a:solidFill>
                            <a:srgbClr val="1A1A2E"/>
                          </a:solidFill>
                          <a:latin typeface="游ゴシック"/>
                        </a:rPr>
                        <a:t>SD カード検出・EEPROM 初期化</a:t>
                      </a:r>
                    </a:p>
                  </a:txBody>
                  <a:tcPr>
                    <a:solidFill>
                      <a:srgbClr val="FFFFFF"/>
                    </a:solidFill>
                  </a:tcPr>
                </a:tc>
                <a:tc>
                  <a:txBody>
                    <a:bodyPr/>
                    <a:lstStyle/>
                    <a:p>
                      <a:pPr algn="l"/>
                      <a:r>
                        <a:rPr sz="1200" b="0">
                          <a:solidFill>
                            <a:srgbClr val="1A1A2E"/>
                          </a:solidFill>
                          <a:latin typeface="游ゴシック"/>
                        </a:rPr>
                        <a:t>4</a:t>
                      </a:r>
                    </a:p>
                  </a:txBody>
                  <a:tcPr>
                    <a:solidFill>
                      <a:srgbClr val="FFFFFF"/>
                    </a:solidFill>
                  </a:tcPr>
                </a:tc>
                <a:tc>
                  <a:txBody>
                    <a:bodyPr/>
                    <a:lstStyle/>
                    <a:p>
                      <a:pPr algn="l"/>
                      <a:r>
                        <a:rPr sz="1200" b="0">
                          <a:solidFill>
                            <a:srgbClr val="1A1A2E"/>
                          </a:solidFill>
                          <a:latin typeface="游ゴシック"/>
                        </a:rPr>
                        <a:t>✓ PASS</a:t>
                      </a:r>
                    </a:p>
                  </a:txBody>
                  <a:tcPr>
                    <a:solidFill>
                      <a:srgbClr val="FFFFFF"/>
                    </a:solidFill>
                  </a:tcPr>
                </a:tc>
              </a:tr>
              <a:tr h="420624">
                <a:tc>
                  <a:txBody>
                    <a:bodyPr/>
                    <a:lstStyle/>
                    <a:p>
                      <a:pPr algn="l"/>
                      <a:r>
                        <a:rPr sz="1200" b="0">
                          <a:solidFill>
                            <a:srgbClr val="1A1A2E"/>
                          </a:solidFill>
                          <a:latin typeface="游ゴシック"/>
                        </a:rPr>
                        <a:t>RUN 状態テスト</a:t>
                      </a:r>
                    </a:p>
                  </a:txBody>
                  <a:tcPr>
                    <a:solidFill>
                      <a:srgbClr val="F4F4F4"/>
                    </a:solidFill>
                  </a:tcPr>
                </a:tc>
                <a:tc>
                  <a:txBody>
                    <a:bodyPr/>
                    <a:lstStyle/>
                    <a:p>
                      <a:pPr algn="l"/>
                      <a:r>
                        <a:rPr sz="1200" b="0">
                          <a:solidFill>
                            <a:srgbClr val="1A1A2E"/>
                          </a:solidFill>
                          <a:latin typeface="游ゴシック"/>
                        </a:rPr>
                        <a:t>ファイル作成・CSV 書込・サンプル蓄積</a:t>
                      </a:r>
                    </a:p>
                  </a:txBody>
                  <a:tcPr>
                    <a:solidFill>
                      <a:srgbClr val="F4F4F4"/>
                    </a:solidFill>
                  </a:tcPr>
                </a:tc>
                <a:tc>
                  <a:txBody>
                    <a:bodyPr/>
                    <a:lstStyle/>
                    <a:p>
                      <a:pPr algn="l"/>
                      <a:r>
                        <a:rPr sz="1200" b="0">
                          <a:solidFill>
                            <a:srgbClr val="1A1A2E"/>
                          </a:solidFill>
                          <a:latin typeface="游ゴシック"/>
                        </a:rPr>
                        <a:t>5</a:t>
                      </a:r>
                    </a:p>
                  </a:txBody>
                  <a:tcPr>
                    <a:solidFill>
                      <a:srgbClr val="F4F4F4"/>
                    </a:solidFill>
                  </a:tcPr>
                </a:tc>
                <a:tc>
                  <a:txBody>
                    <a:bodyPr/>
                    <a:lstStyle/>
                    <a:p>
                      <a:pPr algn="l"/>
                      <a:r>
                        <a:rPr sz="1200" b="0">
                          <a:solidFill>
                            <a:srgbClr val="1A1A2E"/>
                          </a:solidFill>
                          <a:latin typeface="游ゴシック"/>
                        </a:rPr>
                        <a:t>✓ PASS</a:t>
                      </a:r>
                    </a:p>
                  </a:txBody>
                  <a:tcPr>
                    <a:solidFill>
                      <a:srgbClr val="F4F4F4"/>
                    </a:solidFill>
                  </a:tcPr>
                </a:tc>
              </a:tr>
              <a:tr h="420624">
                <a:tc>
                  <a:txBody>
                    <a:bodyPr/>
                    <a:lstStyle/>
                    <a:p>
                      <a:pPr algn="l"/>
                      <a:r>
                        <a:rPr sz="1200" b="0">
                          <a:solidFill>
                            <a:srgbClr val="1A1A2E"/>
                          </a:solidFill>
                          <a:latin typeface="游ゴシック"/>
                        </a:rPr>
                        <a:t>RESULT テスト</a:t>
                      </a:r>
                    </a:p>
                  </a:txBody>
                  <a:tcPr>
                    <a:solidFill>
                      <a:srgbClr val="FFFFFF"/>
                    </a:solidFill>
                  </a:tcPr>
                </a:tc>
                <a:tc>
                  <a:txBody>
                    <a:bodyPr/>
                    <a:lstStyle/>
                    <a:p>
                      <a:pPr algn="l"/>
                      <a:r>
                        <a:rPr sz="1200" b="0">
                          <a:solidFill>
                            <a:srgbClr val="1A1A2E"/>
                          </a:solidFill>
                          <a:latin typeface="游ゴシック"/>
                        </a:rPr>
                        <a:t>ファイルクローズ・複数ラン独立性</a:t>
                      </a:r>
                    </a:p>
                  </a:txBody>
                  <a:tcPr>
                    <a:solidFill>
                      <a:srgbClr val="FFFFFF"/>
                    </a:solidFill>
                  </a:tcPr>
                </a:tc>
                <a:tc>
                  <a:txBody>
                    <a:bodyPr/>
                    <a:lstStyle/>
                    <a:p>
                      <a:pPr algn="l"/>
                      <a:r>
                        <a:rPr sz="1200" b="0">
                          <a:solidFill>
                            <a:srgbClr val="1A1A2E"/>
                          </a:solidFill>
                          <a:latin typeface="游ゴシック"/>
                        </a:rPr>
                        <a:t>3</a:t>
                      </a:r>
                    </a:p>
                  </a:txBody>
                  <a:tcPr>
                    <a:solidFill>
                      <a:srgbClr val="FFFFFF"/>
                    </a:solidFill>
                  </a:tcPr>
                </a:tc>
                <a:tc>
                  <a:txBody>
                    <a:bodyPr/>
                    <a:lstStyle/>
                    <a:p>
                      <a:pPr algn="l"/>
                      <a:r>
                        <a:rPr sz="1200" b="0">
                          <a:solidFill>
                            <a:srgbClr val="1A1A2E"/>
                          </a:solidFill>
                          <a:latin typeface="游ゴシック"/>
                        </a:rPr>
                        <a:t>✓ PASS</a:t>
                      </a:r>
                    </a:p>
                  </a:txBody>
                  <a:tcPr>
                    <a:solidFill>
                      <a:srgbClr val="FFFFFF"/>
                    </a:solidFill>
                  </a:tcPr>
                </a:tc>
              </a:tr>
              <a:tr h="420624">
                <a:tc>
                  <a:txBody>
                    <a:bodyPr/>
                    <a:lstStyle/>
                    <a:p>
                      <a:pPr algn="l"/>
                      <a:r>
                        <a:rPr sz="1200" b="0">
                          <a:solidFill>
                            <a:srgbClr val="1A1A2E"/>
                          </a:solidFill>
                          <a:latin typeface="游ゴシック"/>
                        </a:rPr>
                        <a:t>UI 表示テスト</a:t>
                      </a:r>
                    </a:p>
                  </a:txBody>
                  <a:tcPr>
                    <a:solidFill>
                      <a:srgbClr val="F4F4F4"/>
                    </a:solidFill>
                  </a:tcPr>
                </a:tc>
                <a:tc>
                  <a:txBody>
                    <a:bodyPr/>
                    <a:lstStyle/>
                    <a:p>
                      <a:pPr algn="l"/>
                      <a:r>
                        <a:rPr sz="1200" b="0">
                          <a:solidFill>
                            <a:srgbClr val="1A1A2E"/>
                          </a:solidFill>
                          <a:latin typeface="游ゴシック"/>
                        </a:rPr>
                        <a:t>LCD 画面描画・インジケータ表示</a:t>
                      </a:r>
                    </a:p>
                  </a:txBody>
                  <a:tcPr>
                    <a:solidFill>
                      <a:srgbClr val="F4F4F4"/>
                    </a:solidFill>
                  </a:tcPr>
                </a:tc>
                <a:tc>
                  <a:txBody>
                    <a:bodyPr/>
                    <a:lstStyle/>
                    <a:p>
                      <a:pPr algn="l"/>
                      <a:r>
                        <a:rPr sz="1200" b="0">
                          <a:solidFill>
                            <a:srgbClr val="1A1A2E"/>
                          </a:solidFill>
                          <a:latin typeface="游ゴシック"/>
                        </a:rPr>
                        <a:t>5</a:t>
                      </a:r>
                    </a:p>
                  </a:txBody>
                  <a:tcPr>
                    <a:solidFill>
                      <a:srgbClr val="F4F4F4"/>
                    </a:solidFill>
                  </a:tcPr>
                </a:tc>
                <a:tc>
                  <a:txBody>
                    <a:bodyPr/>
                    <a:lstStyle/>
                    <a:p>
                      <a:pPr algn="l"/>
                      <a:r>
                        <a:rPr sz="1200" b="0">
                          <a:solidFill>
                            <a:srgbClr val="1A1A2E"/>
                          </a:solidFill>
                          <a:latin typeface="游ゴシック"/>
                        </a:rPr>
                        <a:t>✓ PASS</a:t>
                      </a:r>
                    </a:p>
                  </a:txBody>
                  <a:tcPr>
                    <a:solidFill>
                      <a:srgbClr val="F4F4F4"/>
                    </a:solidFill>
                  </a:tcPr>
                </a:tc>
              </a:tr>
              <a:tr h="420624">
                <a:tc>
                  <a:txBody>
                    <a:bodyPr/>
                    <a:lstStyle/>
                    <a:p>
                      <a:pPr algn="l"/>
                      <a:r>
                        <a:rPr sz="1200" b="0">
                          <a:solidFill>
                            <a:srgbClr val="1A1A2E"/>
                          </a:solidFill>
                          <a:latin typeface="游ゴシック"/>
                        </a:rPr>
                        <a:t>エラーハンドリング</a:t>
                      </a:r>
                    </a:p>
                  </a:txBody>
                  <a:tcPr>
                    <a:solidFill>
                      <a:srgbClr val="FFFFFF"/>
                    </a:solidFill>
                  </a:tcPr>
                </a:tc>
                <a:tc>
                  <a:txBody>
                    <a:bodyPr/>
                    <a:lstStyle/>
                    <a:p>
                      <a:pPr algn="l"/>
                      <a:r>
                        <a:rPr sz="1200" b="0">
                          <a:solidFill>
                            <a:srgbClr val="1A1A2E"/>
                          </a:solidFill>
                          <a:latin typeface="游ゴシック"/>
                        </a:rPr>
                        <a:t>SD 未挿入・容量不足・連続実行</a:t>
                      </a:r>
                    </a:p>
                  </a:txBody>
                  <a:tcPr>
                    <a:solidFill>
                      <a:srgbClr val="FFFFFF"/>
                    </a:solidFill>
                  </a:tcPr>
                </a:tc>
                <a:tc>
                  <a:txBody>
                    <a:bodyPr/>
                    <a:lstStyle/>
                    <a:p>
                      <a:pPr algn="l"/>
                      <a:r>
                        <a:rPr sz="1200" b="0">
                          <a:solidFill>
                            <a:srgbClr val="1A1A2E"/>
                          </a:solidFill>
                          <a:latin typeface="游ゴシック"/>
                        </a:rPr>
                        <a:t>5</a:t>
                      </a:r>
                    </a:p>
                  </a:txBody>
                  <a:tcPr>
                    <a:solidFill>
                      <a:srgbClr val="FFFFFF"/>
                    </a:solidFill>
                  </a:tcPr>
                </a:tc>
                <a:tc>
                  <a:txBody>
                    <a:bodyPr/>
                    <a:lstStyle/>
                    <a:p>
                      <a:pPr algn="l"/>
                      <a:r>
                        <a:rPr sz="1200" b="0">
                          <a:solidFill>
                            <a:srgbClr val="1A1A2E"/>
                          </a:solidFill>
                          <a:latin typeface="游ゴシック"/>
                        </a:rPr>
                        <a:t>✓ PASS</a:t>
                      </a:r>
                    </a:p>
                  </a:txBody>
                  <a:tcPr>
                    <a:solidFill>
                      <a:srgbClr val="FFFFFF"/>
                    </a:solidFill>
                  </a:tcPr>
                </a:tc>
              </a:tr>
              <a:tr h="420624">
                <a:tc>
                  <a:txBody>
                    <a:bodyPr/>
                    <a:lstStyle/>
                    <a:p>
                      <a:pPr algn="l"/>
                      <a:r>
                        <a:rPr sz="1200" b="0">
                          <a:solidFill>
                            <a:srgbClr val="1A1A2E"/>
                          </a:solidFill>
                          <a:latin typeface="游ゴシック"/>
                        </a:rPr>
                        <a:t>CSV フォーマット検証</a:t>
                      </a:r>
                    </a:p>
                  </a:txBody>
                  <a:tcPr>
                    <a:solidFill>
                      <a:srgbClr val="F4F4F4"/>
                    </a:solidFill>
                  </a:tcPr>
                </a:tc>
                <a:tc>
                  <a:txBody>
                    <a:bodyPr/>
                    <a:lstStyle/>
                    <a:p>
                      <a:pPr algn="l"/>
                      <a:r>
                        <a:rPr sz="1200" b="0">
                          <a:solidFill>
                            <a:srgbClr val="1A1A2E"/>
                          </a:solidFill>
                          <a:latin typeface="游ゴシック"/>
                        </a:rPr>
                        <a:t>Timestamp・温度値・NaN・統計精度</a:t>
                      </a:r>
                    </a:p>
                  </a:txBody>
                  <a:tcPr>
                    <a:solidFill>
                      <a:srgbClr val="F4F4F4"/>
                    </a:solidFill>
                  </a:tcPr>
                </a:tc>
                <a:tc>
                  <a:txBody>
                    <a:bodyPr/>
                    <a:lstStyle/>
                    <a:p>
                      <a:pPr algn="l"/>
                      <a:r>
                        <a:rPr sz="1200" b="0">
                          <a:solidFill>
                            <a:srgbClr val="1A1A2E"/>
                          </a:solidFill>
                          <a:latin typeface="游ゴシック"/>
                        </a:rPr>
                        <a:t>7</a:t>
                      </a:r>
                    </a:p>
                  </a:txBody>
                  <a:tcPr>
                    <a:solidFill>
                      <a:srgbClr val="F4F4F4"/>
                    </a:solidFill>
                  </a:tcPr>
                </a:tc>
                <a:tc>
                  <a:txBody>
                    <a:bodyPr/>
                    <a:lstStyle/>
                    <a:p>
                      <a:pPr algn="l"/>
                      <a:r>
                        <a:rPr sz="1200" b="0">
                          <a:solidFill>
                            <a:srgbClr val="1A1A2E"/>
                          </a:solidFill>
                          <a:latin typeface="游ゴシック"/>
                        </a:rPr>
                        <a:t>✓ PASS</a:t>
                      </a:r>
                    </a:p>
                  </a:txBody>
                  <a:tcPr>
                    <a:solidFill>
                      <a:srgbClr val="F4F4F4"/>
                    </a:solidFill>
                  </a:tcPr>
                </a:tc>
              </a:tr>
              <a:tr h="420624">
                <a:tc>
                  <a:txBody>
                    <a:bodyPr/>
                    <a:lstStyle/>
                    <a:p>
                      <a:pPr algn="l"/>
                      <a:r>
                        <a:rPr sz="1200" b="0">
                          <a:solidFill>
                            <a:srgbClr val="1A1A2E"/>
                          </a:solidFill>
                          <a:latin typeface="游ゴシック"/>
                        </a:rPr>
                        <a:t>パフォーマンステスト</a:t>
                      </a:r>
                    </a:p>
                  </a:txBody>
                  <a:tcPr>
                    <a:solidFill>
                      <a:srgbClr val="FFFFFF"/>
                    </a:solidFill>
                  </a:tcPr>
                </a:tc>
                <a:tc>
                  <a:txBody>
                    <a:bodyPr/>
                    <a:lstStyle/>
                    <a:p>
                      <a:pPr algn="l"/>
                      <a:r>
                        <a:rPr sz="1200" b="0">
                          <a:solidFill>
                            <a:srgbClr val="1A1A2E"/>
                          </a:solidFill>
                          <a:latin typeface="游ゴシック"/>
                        </a:rPr>
                        <a:t>メモリリーク・Flash 使用率・描画速度</a:t>
                      </a:r>
                    </a:p>
                  </a:txBody>
                  <a:tcPr>
                    <a:solidFill>
                      <a:srgbClr val="FFFFFF"/>
                    </a:solidFill>
                  </a:tcPr>
                </a:tc>
                <a:tc>
                  <a:txBody>
                    <a:bodyPr/>
                    <a:lstStyle/>
                    <a:p>
                      <a:pPr algn="l"/>
                      <a:r>
                        <a:rPr sz="1200" b="0">
                          <a:solidFill>
                            <a:srgbClr val="1A1A2E"/>
                          </a:solidFill>
                          <a:latin typeface="游ゴシック"/>
                        </a:rPr>
                        <a:t>4</a:t>
                      </a:r>
                    </a:p>
                  </a:txBody>
                  <a:tcPr>
                    <a:solidFill>
                      <a:srgbClr val="FFFFFF"/>
                    </a:solidFill>
                  </a:tcPr>
                </a:tc>
                <a:tc>
                  <a:txBody>
                    <a:bodyPr/>
                    <a:lstStyle/>
                    <a:p>
                      <a:pPr algn="l"/>
                      <a:r>
                        <a:rPr sz="1200" b="0">
                          <a:solidFill>
                            <a:srgbClr val="1A1A2E"/>
                          </a:solidFill>
                          <a:latin typeface="游ゴシック"/>
                        </a:rPr>
                        <a:t>✓ PASS</a:t>
                      </a:r>
                    </a:p>
                  </a:txBody>
                  <a:tcPr>
                    <a:solidFill>
                      <a:srgbClr val="FFFFFF"/>
                    </a:solidFill>
                  </a:tcPr>
                </a:tc>
              </a:tr>
            </a:tbl>
          </a:graphicData>
        </a:graphic>
      </p:graphicFrame>
      <p:sp>
        <p:nvSpPr>
          <p:cNvPr id="10" name="Rectangle 9"/>
          <p:cNvSpPr/>
          <p:nvPr/>
        </p:nvSpPr>
        <p:spPr>
          <a:xfrm>
            <a:off x="8686800" y="4983480"/>
            <a:ext cx="2862072" cy="10515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5047488"/>
            <a:ext cx="2862072" cy="594360"/>
          </a:xfrm>
          <a:prstGeom prst="rect">
            <a:avLst/>
          </a:prstGeom>
          <a:noFill/>
        </p:spPr>
        <p:txBody>
          <a:bodyPr wrap="square">
            <a:spAutoFit/>
          </a:bodyPr>
          <a:lstStyle/>
          <a:p>
            <a:pPr algn="ctr"/>
            <a:r>
              <a:rPr sz="2800" b="1" i="0">
                <a:solidFill>
                  <a:srgbClr val="FFFFFF"/>
                </a:solidFill>
                <a:latin typeface="Segoe UI"/>
              </a:rPr>
              <a:t>33 / 33</a:t>
            </a:r>
          </a:p>
        </p:txBody>
      </p:sp>
      <p:sp>
        <p:nvSpPr>
          <p:cNvPr id="12" name="TextBox 11"/>
          <p:cNvSpPr txBox="1"/>
          <p:nvPr/>
        </p:nvSpPr>
        <p:spPr>
          <a:xfrm>
            <a:off x="8686800" y="5641848"/>
            <a:ext cx="2862072" cy="320040"/>
          </a:xfrm>
          <a:prstGeom prst="rect">
            <a:avLst/>
          </a:prstGeom>
          <a:noFill/>
        </p:spPr>
        <p:txBody>
          <a:bodyPr wrap="square">
            <a:spAutoFit/>
          </a:bodyPr>
          <a:lstStyle/>
          <a:p>
            <a:pPr algn="ctr"/>
            <a:r>
              <a:rPr sz="1400" b="0" i="0">
                <a:solidFill>
                  <a:srgbClr val="FFFFFF"/>
                </a:solidFill>
                <a:latin typeface="游ゴシック"/>
              </a:rPr>
              <a:t>100% 合格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まとめ</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Summary</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23</a:t>
            </a:r>
          </a:p>
        </p:txBody>
      </p:sp>
      <p:sp>
        <p:nvSpPr>
          <p:cNvPr id="8" name="Rectangle 7"/>
          <p:cNvSpPr/>
          <p:nvPr/>
        </p:nvSpPr>
        <p:spPr>
          <a:xfrm>
            <a:off x="320040" y="1051560"/>
            <a:ext cx="11548872" cy="219456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15568"/>
            <a:ext cx="11155680" cy="365760"/>
          </a:xfrm>
          <a:prstGeom prst="rect">
            <a:avLst/>
          </a:prstGeom>
          <a:noFill/>
        </p:spPr>
        <p:txBody>
          <a:bodyPr wrap="square">
            <a:spAutoFit/>
          </a:bodyPr>
          <a:lstStyle/>
          <a:p>
            <a:pPr algn="l"/>
            <a:r>
              <a:rPr sz="1800" b="1" i="0">
                <a:solidFill>
                  <a:srgbClr val="FFFFFF"/>
                </a:solidFill>
                <a:latin typeface="游ゴシック"/>
              </a:rPr>
              <a:t>実現したこと</a:t>
            </a:r>
          </a:p>
        </p:txBody>
      </p:sp>
      <p:sp>
        <p:nvSpPr>
          <p:cNvPr id="10" name="TextBox 9"/>
          <p:cNvSpPr txBox="1"/>
          <p:nvPr/>
        </p:nvSpPr>
        <p:spPr>
          <a:xfrm>
            <a:off x="502920" y="1536192"/>
            <a:ext cx="11155680" cy="1600200"/>
          </a:xfrm>
          <a:prstGeom prst="rect">
            <a:avLst/>
          </a:prstGeom>
          <a:noFill/>
        </p:spPr>
        <p:txBody>
          <a:bodyPr wrap="square">
            <a:spAutoFit/>
          </a:bodyPr>
          <a:lstStyle/>
          <a:p>
            <a:pPr algn="l"/>
            <a:r>
              <a:rPr sz="1400" b="0" i="0">
                <a:solidFill>
                  <a:srgbClr val="FFFFFF"/>
                </a:solidFill>
                <a:latin typeface="游ゴシック"/>
              </a:rPr>
              <a:t>・PLC 設計手法（D/M デバイス）を C++ に応用した状態機械の実装</a:t>
            </a:r>
          </a:p>
          <a:p>
            <a:pPr algn="l"/>
            <a:r>
              <a:rPr sz="1400" b="0" i="0">
                <a:solidFill>
                  <a:srgbClr val="FFFFFF"/>
                </a:solidFill>
                <a:latin typeface="游ゴシック"/>
              </a:rPr>
              <a:t>・3 タスク（10 / 50 / 200 ms）のノン・プリエンプティブ周期スケジューリング</a:t>
            </a:r>
          </a:p>
          <a:p>
            <a:pPr algn="l"/>
            <a:r>
              <a:rPr sz="1400" b="0" i="0">
                <a:solidFill>
                  <a:srgbClr val="FFFFFF"/>
                </a:solidFill>
                <a:latin typeface="游ゴシック"/>
              </a:rPr>
              <a:t>・Welford 法によるリアルタイム統計（RAM O(1)、計測時間に無依存）</a:t>
            </a:r>
          </a:p>
          <a:p>
            <a:pPr algn="l"/>
            <a:r>
              <a:rPr sz="1400" b="0" i="0">
                <a:solidFill>
                  <a:srgbClr val="FFFFFF"/>
                </a:solidFill>
                <a:latin typeface="游ゴシック"/>
              </a:rPr>
              <a:t>・SPI バス競合・CS 衝突などハードウェア固有バグの特定と対策</a:t>
            </a:r>
          </a:p>
          <a:p>
            <a:pPr algn="l"/>
            <a:r>
              <a:rPr sz="1400" b="0" i="0">
                <a:solidFill>
                  <a:srgbClr val="FFFFFF"/>
                </a:solidFill>
                <a:latin typeface="游ゴシック"/>
              </a:rPr>
              <a:t>・統合テスト 33 件 100% 合格で品質を担保</a:t>
            </a:r>
          </a:p>
          <a:p>
            <a:pPr algn="l"/>
            <a:r>
              <a:rPr sz="1400" b="0" i="0">
                <a:solidFill>
                  <a:srgbClr val="FFFFFF"/>
                </a:solidFill>
                <a:latin typeface="游ゴシック"/>
              </a:rPr>
              <a:t>・SD カード CSV 自動記録・EEPROM 設定保存で現場即戦力化</a:t>
            </a:r>
          </a:p>
        </p:txBody>
      </p:sp>
      <p:sp>
        <p:nvSpPr>
          <p:cNvPr id="11" name="Rectangle 10"/>
          <p:cNvSpPr/>
          <p:nvPr/>
        </p:nvSpPr>
        <p:spPr>
          <a:xfrm>
            <a:off x="320040" y="3383280"/>
            <a:ext cx="5394960" cy="2560320"/>
          </a:xfrm>
          <a:prstGeom prst="rect">
            <a:avLst/>
          </a:prstGeom>
          <a:solidFill>
            <a:srgbClr val="FFFFFF"/>
          </a:solidFill>
          <a:ln w="190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474720"/>
            <a:ext cx="5029200" cy="365760"/>
          </a:xfrm>
          <a:prstGeom prst="rect">
            <a:avLst/>
          </a:prstGeom>
          <a:noFill/>
        </p:spPr>
        <p:txBody>
          <a:bodyPr wrap="square">
            <a:spAutoFit/>
          </a:bodyPr>
          <a:lstStyle/>
          <a:p>
            <a:pPr algn="l"/>
            <a:r>
              <a:rPr sz="1600" b="1" i="0">
                <a:solidFill>
                  <a:srgbClr val="FF6D00"/>
                </a:solidFill>
                <a:latin typeface="游ゴシック"/>
              </a:rPr>
              <a:t>学んだこと</a:t>
            </a:r>
          </a:p>
        </p:txBody>
      </p:sp>
      <p:sp>
        <p:nvSpPr>
          <p:cNvPr id="13" name="TextBox 12"/>
          <p:cNvSpPr txBox="1"/>
          <p:nvPr/>
        </p:nvSpPr>
        <p:spPr>
          <a:xfrm>
            <a:off x="502920" y="3913632"/>
            <a:ext cx="5212080" cy="1920240"/>
          </a:xfrm>
          <a:prstGeom prst="rect">
            <a:avLst/>
          </a:prstGeom>
          <a:noFill/>
        </p:spPr>
        <p:txBody>
          <a:bodyPr wrap="square">
            <a:spAutoFit/>
          </a:bodyPr>
          <a:lstStyle/>
          <a:p>
            <a:pPr algn="l"/>
            <a:r>
              <a:rPr sz="1300" b="0" i="0">
                <a:solidFill>
                  <a:srgbClr val="1A1A2E"/>
                </a:solidFill>
                <a:latin typeface="游ゴシック"/>
              </a:rPr>
              <a:t>・ハードウェアとソフトウェアの境界を意識した設計の重要性</a:t>
            </a:r>
          </a:p>
          <a:p>
            <a:pPr algn="l"/>
            <a:r>
              <a:rPr sz="1300" b="0" i="0">
                <a:solidFill>
                  <a:srgbClr val="1A1A2E"/>
                </a:solidFill>
                <a:latin typeface="游ゴシック"/>
              </a:rPr>
              <a:t>・CS ピン確定の重要性（GPIO4 / GPIO5 衝突防止）</a:t>
            </a:r>
          </a:p>
          <a:p>
            <a:pPr algn="l"/>
            <a:r>
              <a:rPr sz="1300" b="0" i="0">
                <a:solidFill>
                  <a:srgbClr val="1A1A2E"/>
                </a:solidFill>
                <a:latin typeface="游ゴシック"/>
              </a:rPr>
              <a:t>・Welford 法による逐次統計で メモリ効率と精度の両立</a:t>
            </a:r>
          </a:p>
          <a:p>
            <a:pPr algn="l"/>
            <a:r>
              <a:rPr sz="1300" b="0" i="0">
                <a:solidFill>
                  <a:srgbClr val="1A1A2E"/>
                </a:solidFill>
                <a:latin typeface="游ゴシック"/>
              </a:rPr>
              <a:t>・ヒステリシス付きアラーム判定で信頼性向上</a:t>
            </a:r>
          </a:p>
          <a:p>
            <a:pPr algn="l"/>
            <a:r>
              <a:rPr sz="1300" b="0" i="0">
                <a:solidFill>
                  <a:srgbClr val="1A1A2E"/>
                </a:solidFill>
                <a:latin typeface="游ゴシック"/>
              </a:rPr>
              <a:t>・単体テスト可能な関数設計で不具合を早期発見</a:t>
            </a:r>
          </a:p>
        </p:txBody>
      </p:sp>
      <p:sp>
        <p:nvSpPr>
          <p:cNvPr id="14" name="Rectangle 13"/>
          <p:cNvSpPr/>
          <p:nvPr/>
        </p:nvSpPr>
        <p:spPr>
          <a:xfrm>
            <a:off x="6035040" y="3383280"/>
            <a:ext cx="5532120" cy="256032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3474720"/>
            <a:ext cx="5212080" cy="365760"/>
          </a:xfrm>
          <a:prstGeom prst="rect">
            <a:avLst/>
          </a:prstGeom>
          <a:noFill/>
        </p:spPr>
        <p:txBody>
          <a:bodyPr wrap="square">
            <a:spAutoFit/>
          </a:bodyPr>
          <a:lstStyle/>
          <a:p>
            <a:pPr algn="l"/>
            <a:r>
              <a:rPr sz="1600" b="1" i="0">
                <a:solidFill>
                  <a:srgbClr val="27AE60"/>
                </a:solidFill>
                <a:latin typeface="游ゴシック"/>
              </a:rPr>
              <a:t>次のステップ</a:t>
            </a:r>
          </a:p>
        </p:txBody>
      </p:sp>
      <p:sp>
        <p:nvSpPr>
          <p:cNvPr id="16" name="TextBox 15"/>
          <p:cNvSpPr txBox="1"/>
          <p:nvPr/>
        </p:nvSpPr>
        <p:spPr>
          <a:xfrm>
            <a:off x="6172200" y="3913632"/>
            <a:ext cx="5212080" cy="1920240"/>
          </a:xfrm>
          <a:prstGeom prst="rect">
            <a:avLst/>
          </a:prstGeom>
          <a:noFill/>
        </p:spPr>
        <p:txBody>
          <a:bodyPr wrap="square">
            <a:spAutoFit/>
          </a:bodyPr>
          <a:lstStyle/>
          <a:p>
            <a:pPr algn="l"/>
            <a:r>
              <a:rPr sz="1300" b="0" i="0">
                <a:solidFill>
                  <a:srgbClr val="1A1A2E"/>
                </a:solidFill>
                <a:latin typeface="游ゴシック"/>
              </a:rPr>
              <a:t>・RTC（DS3231）追加でファイル名を YYYYMMDD_HHMMSS 形式に</a:t>
            </a:r>
          </a:p>
          <a:p>
            <a:pPr algn="l"/>
            <a:r>
              <a:rPr sz="1300" b="0" i="0">
                <a:solidFill>
                  <a:srgbClr val="1A1A2E"/>
                </a:solidFill>
                <a:latin typeface="游ゴシック"/>
              </a:rPr>
              <a:t>・多チャネル化（同時 8ch 計測）※実装設計より除外（本体スロットがないため）</a:t>
            </a:r>
          </a:p>
          <a:p>
            <a:pPr algn="l"/>
            <a:r>
              <a:rPr sz="1300" b="0" i="0">
                <a:solidFill>
                  <a:srgbClr val="1A1A2E"/>
                </a:solidFill>
                <a:latin typeface="游ゴシック"/>
              </a:rPr>
              <a:t>・WiFi / MQTT でクラウド送信</a:t>
            </a:r>
          </a:p>
          <a:p>
            <a:pPr algn="l"/>
            <a:r>
              <a:rPr sz="1300" b="0" i="0">
                <a:solidFill>
                  <a:srgbClr val="1A1A2E"/>
                </a:solidFill>
                <a:latin typeface="游ゴシック"/>
              </a:rPr>
              <a:t>・FreeRTOS 移行でより精密なタスク管理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