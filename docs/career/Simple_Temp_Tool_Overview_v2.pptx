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Lst>
  <p:sldSz cx="12188952"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D477F"/>
        </a:solidFill>
        <a:effectLst/>
      </p:bgPr>
    </p:bg>
    <p:spTree>
      <p:nvGrpSpPr>
        <p:cNvPr id="1" name=""/>
        <p:cNvGrpSpPr/>
        <p:nvPr/>
      </p:nvGrpSpPr>
      <p:grpSpPr/>
      <p:sp>
        <p:nvSpPr>
          <p:cNvPr id="2" name="TextBox 1"/>
          <p:cNvSpPr txBox="1"/>
          <p:nvPr/>
        </p:nvSpPr>
        <p:spPr>
          <a:xfrm>
            <a:off x="914400" y="1645920"/>
            <a:ext cx="10332720" cy="822960"/>
          </a:xfrm>
          <a:prstGeom prst="rect">
            <a:avLst/>
          </a:prstGeom>
          <a:noFill/>
        </p:spPr>
        <p:txBody>
          <a:bodyPr wrap="square">
            <a:spAutoFit/>
          </a:bodyPr>
          <a:lstStyle/>
          <a:p>
            <a:pPr algn="ctr"/>
            <a:r>
              <a:rPr sz="3600" b="1" i="0">
                <a:solidFill>
                  <a:srgbClr val="FFFFFF"/>
                </a:solidFill>
                <a:latin typeface="Segoe UI"/>
              </a:rPr>
              <a:t>Simple Temperature Evaluation Tool</a:t>
            </a:r>
          </a:p>
        </p:txBody>
      </p:sp>
      <p:sp>
        <p:nvSpPr>
          <p:cNvPr id="3" name="TextBox 2"/>
          <p:cNvSpPr txBox="1"/>
          <p:nvPr/>
        </p:nvSpPr>
        <p:spPr>
          <a:xfrm>
            <a:off x="914400" y="2651760"/>
            <a:ext cx="10332720" cy="502920"/>
          </a:xfrm>
          <a:prstGeom prst="rect">
            <a:avLst/>
          </a:prstGeom>
          <a:noFill/>
        </p:spPr>
        <p:txBody>
          <a:bodyPr wrap="square">
            <a:spAutoFit/>
          </a:bodyPr>
          <a:lstStyle/>
          <a:p>
            <a:pPr algn="ctr"/>
            <a:r>
              <a:rPr sz="1800" b="0" i="0">
                <a:solidFill>
                  <a:srgbClr val="FFFFFF"/>
                </a:solidFill>
                <a:latin typeface="游ゴシック"/>
              </a:rPr>
              <a:t>M5Stack Basic V2.7 × MAX31855  熱電対温度計測システム</a:t>
            </a:r>
          </a:p>
        </p:txBody>
      </p:sp>
      <p:sp>
        <p:nvSpPr>
          <p:cNvPr id="4" name="Rectangle 3"/>
          <p:cNvSpPr/>
          <p:nvPr/>
        </p:nvSpPr>
        <p:spPr>
          <a:xfrm>
            <a:off x="914400" y="3310128"/>
            <a:ext cx="10332720" cy="36576"/>
          </a:xfrm>
          <a:prstGeom prst="rect">
            <a:avLst/>
          </a:prstGeom>
          <a:solidFill>
            <a:srgbClr val="FF6D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3474720"/>
            <a:ext cx="10332720" cy="411480"/>
          </a:xfrm>
          <a:prstGeom prst="rect">
            <a:avLst/>
          </a:prstGeom>
          <a:noFill/>
        </p:spPr>
        <p:txBody>
          <a:bodyPr wrap="square">
            <a:spAutoFit/>
          </a:bodyPr>
          <a:lstStyle/>
          <a:p>
            <a:pPr algn="ctr"/>
            <a:r>
              <a:rPr sz="1500" b="0" i="0">
                <a:solidFill>
                  <a:srgbClr val="FF6D00"/>
                </a:solidFill>
                <a:latin typeface="游ゴシック"/>
              </a:rPr>
              <a:t>リアルタイム計測 ／ 統計解析 ／ SD カード記録 ／ アラーム機能</a:t>
            </a:r>
          </a:p>
        </p:txBody>
      </p:sp>
      <p:sp>
        <p:nvSpPr>
          <p:cNvPr id="6" name="TextBox 5"/>
          <p:cNvSpPr txBox="1"/>
          <p:nvPr/>
        </p:nvSpPr>
        <p:spPr>
          <a:xfrm>
            <a:off x="914400" y="3931920"/>
            <a:ext cx="10332720" cy="411480"/>
          </a:xfrm>
          <a:prstGeom prst="rect">
            <a:avLst/>
          </a:prstGeom>
          <a:noFill/>
        </p:spPr>
        <p:txBody>
          <a:bodyPr wrap="square">
            <a:spAutoFit/>
          </a:bodyPr>
          <a:lstStyle/>
          <a:p>
            <a:pPr algn="ctr"/>
            <a:r>
              <a:rPr sz="1400" b="0" i="0">
                <a:solidFill>
                  <a:srgbClr val="999999"/>
                </a:solidFill>
                <a:latin typeface="Segoe UI"/>
              </a:rPr>
              <a:t>ESP32  /  C++ (Arduino)  /  PlatformIO</a:t>
            </a:r>
          </a:p>
        </p:txBody>
      </p:sp>
      <p:sp>
        <p:nvSpPr>
          <p:cNvPr id="7" name="TextBox 6"/>
          <p:cNvSpPr txBox="1"/>
          <p:nvPr/>
        </p:nvSpPr>
        <p:spPr>
          <a:xfrm>
            <a:off x="914400" y="4754880"/>
            <a:ext cx="10332720" cy="365760"/>
          </a:xfrm>
          <a:prstGeom prst="rect">
            <a:avLst/>
          </a:prstGeom>
          <a:noFill/>
        </p:spPr>
        <p:txBody>
          <a:bodyPr wrap="square">
            <a:spAutoFit/>
          </a:bodyPr>
          <a:lstStyle/>
          <a:p>
            <a:pPr algn="ctr"/>
            <a:r>
              <a:rPr sz="1300" b="0" i="0">
                <a:solidFill>
                  <a:srgbClr val="FFFFFF"/>
                </a:solidFill>
                <a:latin typeface="游ゴシック"/>
              </a:rPr>
              <a:t>v1.0.0  ｜  2026 年 3 月</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914400"/>
          </a:xfrm>
          <a:prstGeom prst="rect">
            <a:avLst/>
          </a:prstGeom>
          <a:solidFill>
            <a:srgbClr val="0D477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73152"/>
            <a:ext cx="11430000" cy="502920"/>
          </a:xfrm>
          <a:prstGeom prst="rect">
            <a:avLst/>
          </a:prstGeom>
          <a:noFill/>
        </p:spPr>
        <p:txBody>
          <a:bodyPr wrap="square">
            <a:spAutoFit/>
          </a:bodyPr>
          <a:lstStyle/>
          <a:p>
            <a:pPr algn="l"/>
            <a:r>
              <a:rPr sz="2400" b="1" i="0">
                <a:solidFill>
                  <a:srgbClr val="FFFFFF"/>
                </a:solidFill>
                <a:latin typeface="Segoe UI"/>
              </a:rPr>
              <a:t>目次</a:t>
            </a:r>
          </a:p>
        </p:txBody>
      </p:sp>
      <p:sp>
        <p:nvSpPr>
          <p:cNvPr id="4" name="TextBox 3"/>
          <p:cNvSpPr txBox="1"/>
          <p:nvPr/>
        </p:nvSpPr>
        <p:spPr>
          <a:xfrm>
            <a:off x="274320" y="594360"/>
            <a:ext cx="11430000" cy="274320"/>
          </a:xfrm>
          <a:prstGeom prst="rect">
            <a:avLst/>
          </a:prstGeom>
          <a:noFill/>
        </p:spPr>
        <p:txBody>
          <a:bodyPr wrap="square">
            <a:spAutoFit/>
          </a:bodyPr>
          <a:lstStyle/>
          <a:p>
            <a:pPr algn="l"/>
            <a:r>
              <a:rPr sz="1200" b="0" i="0">
                <a:solidFill>
                  <a:srgbClr val="FF6D00"/>
                </a:solidFill>
                <a:latin typeface="游ゴシック"/>
              </a:rPr>
              <a:t>Table of Contents</a:t>
            </a:r>
          </a:p>
        </p:txBody>
      </p:sp>
      <p:sp>
        <p:nvSpPr>
          <p:cNvPr id="5" name="Rectangle 4"/>
          <p:cNvSpPr/>
          <p:nvPr/>
        </p:nvSpPr>
        <p:spPr>
          <a:xfrm>
            <a:off x="0" y="6309360"/>
            <a:ext cx="12188952" cy="548640"/>
          </a:xfrm>
          <a:prstGeom prst="rect">
            <a:avLst/>
          </a:prstGeom>
          <a:solidFill>
            <a:srgbClr val="0D477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74320" y="6336792"/>
            <a:ext cx="7315200" cy="320040"/>
          </a:xfrm>
          <a:prstGeom prst="rect">
            <a:avLst/>
          </a:prstGeom>
          <a:noFill/>
        </p:spPr>
        <p:txBody>
          <a:bodyPr wrap="square">
            <a:spAutoFit/>
          </a:bodyPr>
          <a:lstStyle/>
          <a:p>
            <a:pPr algn="l"/>
            <a:r>
              <a:rPr sz="1100" b="0" i="0">
                <a:solidFill>
                  <a:srgbClr val="FF6D00"/>
                </a:solidFill>
                <a:latin typeface="Segoe UI"/>
              </a:rPr>
              <a:t>Simple Temperature Evaluation Tool</a:t>
            </a:r>
          </a:p>
        </p:txBody>
      </p:sp>
      <p:sp>
        <p:nvSpPr>
          <p:cNvPr id="7" name="TextBox 6"/>
          <p:cNvSpPr txBox="1"/>
          <p:nvPr/>
        </p:nvSpPr>
        <p:spPr>
          <a:xfrm>
            <a:off x="10515600" y="6336792"/>
            <a:ext cx="1371600" cy="320040"/>
          </a:xfrm>
          <a:prstGeom prst="rect">
            <a:avLst/>
          </a:prstGeom>
          <a:noFill/>
        </p:spPr>
        <p:txBody>
          <a:bodyPr wrap="square">
            <a:spAutoFit/>
          </a:bodyPr>
          <a:lstStyle/>
          <a:p>
            <a:pPr algn="r"/>
            <a:r>
              <a:rPr sz="1100" b="0" i="0">
                <a:solidFill>
                  <a:srgbClr val="FFFFFF"/>
                </a:solidFill>
                <a:latin typeface="Segoe UI"/>
              </a:rPr>
              <a:t>2</a:t>
            </a:r>
          </a:p>
        </p:txBody>
      </p:sp>
      <p:sp>
        <p:nvSpPr>
          <p:cNvPr id="8" name="Rectangle 7"/>
          <p:cNvSpPr/>
          <p:nvPr/>
        </p:nvSpPr>
        <p:spPr>
          <a:xfrm>
            <a:off x="320040" y="1097280"/>
            <a:ext cx="822960" cy="320040"/>
          </a:xfrm>
          <a:prstGeom prst="rect">
            <a:avLst/>
          </a:prstGeom>
          <a:solidFill>
            <a:srgbClr val="0D477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65760" y="1115568"/>
            <a:ext cx="731520" cy="292608"/>
          </a:xfrm>
          <a:prstGeom prst="rect">
            <a:avLst/>
          </a:prstGeom>
          <a:noFill/>
        </p:spPr>
        <p:txBody>
          <a:bodyPr wrap="square">
            <a:spAutoFit/>
          </a:bodyPr>
          <a:lstStyle/>
          <a:p>
            <a:pPr algn="ctr"/>
            <a:r>
              <a:rPr sz="1100" b="1" i="0">
                <a:solidFill>
                  <a:srgbClr val="FFFFFF"/>
                </a:solidFill>
                <a:latin typeface="Segoe UI"/>
              </a:rPr>
              <a:t>S1</a:t>
            </a:r>
          </a:p>
        </p:txBody>
      </p:sp>
      <p:sp>
        <p:nvSpPr>
          <p:cNvPr id="10" name="TextBox 9"/>
          <p:cNvSpPr txBox="1"/>
          <p:nvPr/>
        </p:nvSpPr>
        <p:spPr>
          <a:xfrm>
            <a:off x="1234440" y="1097280"/>
            <a:ext cx="3200400" cy="320040"/>
          </a:xfrm>
          <a:prstGeom prst="rect">
            <a:avLst/>
          </a:prstGeom>
          <a:noFill/>
        </p:spPr>
        <p:txBody>
          <a:bodyPr wrap="square">
            <a:spAutoFit/>
          </a:bodyPr>
          <a:lstStyle/>
          <a:p>
            <a:pPr algn="l"/>
            <a:r>
              <a:rPr sz="1400" b="0" i="0">
                <a:solidFill>
                  <a:srgbClr val="1A1A2E"/>
                </a:solidFill>
                <a:latin typeface="游ゴシック"/>
              </a:rPr>
              <a:t>プロジェクト概要</a:t>
            </a:r>
          </a:p>
        </p:txBody>
      </p:sp>
      <p:sp>
        <p:nvSpPr>
          <p:cNvPr id="11" name="TextBox 10"/>
          <p:cNvSpPr txBox="1"/>
          <p:nvPr/>
        </p:nvSpPr>
        <p:spPr>
          <a:xfrm>
            <a:off x="4526280" y="1097280"/>
            <a:ext cx="1188720" cy="320040"/>
          </a:xfrm>
          <a:prstGeom prst="rect">
            <a:avLst/>
          </a:prstGeom>
          <a:noFill/>
        </p:spPr>
        <p:txBody>
          <a:bodyPr wrap="square">
            <a:spAutoFit/>
          </a:bodyPr>
          <a:lstStyle/>
          <a:p>
            <a:pPr algn="r"/>
            <a:r>
              <a:rPr sz="1300" b="0" i="0">
                <a:solidFill>
                  <a:srgbClr val="999999"/>
                </a:solidFill>
                <a:latin typeface="Segoe UI"/>
              </a:rPr>
              <a:t>Slides  3-5</a:t>
            </a:r>
          </a:p>
        </p:txBody>
      </p:sp>
      <p:sp>
        <p:nvSpPr>
          <p:cNvPr id="12" name="Rectangle 11"/>
          <p:cNvSpPr/>
          <p:nvPr/>
        </p:nvSpPr>
        <p:spPr>
          <a:xfrm>
            <a:off x="320040" y="1737360"/>
            <a:ext cx="822960" cy="320040"/>
          </a:xfrm>
          <a:prstGeom prst="rect">
            <a:avLst/>
          </a:prstGeom>
          <a:solidFill>
            <a:srgbClr val="0D477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65760" y="1755648"/>
            <a:ext cx="731520" cy="292608"/>
          </a:xfrm>
          <a:prstGeom prst="rect">
            <a:avLst/>
          </a:prstGeom>
          <a:noFill/>
        </p:spPr>
        <p:txBody>
          <a:bodyPr wrap="square">
            <a:spAutoFit/>
          </a:bodyPr>
          <a:lstStyle/>
          <a:p>
            <a:pPr algn="ctr"/>
            <a:r>
              <a:rPr sz="1100" b="1" i="0">
                <a:solidFill>
                  <a:srgbClr val="FFFFFF"/>
                </a:solidFill>
                <a:latin typeface="Segoe UI"/>
              </a:rPr>
              <a:t>S2</a:t>
            </a:r>
          </a:p>
        </p:txBody>
      </p:sp>
      <p:sp>
        <p:nvSpPr>
          <p:cNvPr id="14" name="TextBox 13"/>
          <p:cNvSpPr txBox="1"/>
          <p:nvPr/>
        </p:nvSpPr>
        <p:spPr>
          <a:xfrm>
            <a:off x="1234440" y="1737360"/>
            <a:ext cx="3200400" cy="320040"/>
          </a:xfrm>
          <a:prstGeom prst="rect">
            <a:avLst/>
          </a:prstGeom>
          <a:noFill/>
        </p:spPr>
        <p:txBody>
          <a:bodyPr wrap="square">
            <a:spAutoFit/>
          </a:bodyPr>
          <a:lstStyle/>
          <a:p>
            <a:pPr algn="l"/>
            <a:r>
              <a:rPr sz="1400" b="0" i="0">
                <a:solidFill>
                  <a:srgbClr val="1A1A2E"/>
                </a:solidFill>
                <a:latin typeface="游ゴシック"/>
              </a:rPr>
              <a:t>ハードウェア</a:t>
            </a:r>
          </a:p>
        </p:txBody>
      </p:sp>
      <p:sp>
        <p:nvSpPr>
          <p:cNvPr id="15" name="TextBox 14"/>
          <p:cNvSpPr txBox="1"/>
          <p:nvPr/>
        </p:nvSpPr>
        <p:spPr>
          <a:xfrm>
            <a:off x="4526280" y="1737360"/>
            <a:ext cx="1188720" cy="320040"/>
          </a:xfrm>
          <a:prstGeom prst="rect">
            <a:avLst/>
          </a:prstGeom>
          <a:noFill/>
        </p:spPr>
        <p:txBody>
          <a:bodyPr wrap="square">
            <a:spAutoFit/>
          </a:bodyPr>
          <a:lstStyle/>
          <a:p>
            <a:pPr algn="r"/>
            <a:r>
              <a:rPr sz="1300" b="0" i="0">
                <a:solidFill>
                  <a:srgbClr val="999999"/>
                </a:solidFill>
                <a:latin typeface="Segoe UI"/>
              </a:rPr>
              <a:t>Slides  6-7</a:t>
            </a:r>
          </a:p>
        </p:txBody>
      </p:sp>
      <p:sp>
        <p:nvSpPr>
          <p:cNvPr id="16" name="Rectangle 15"/>
          <p:cNvSpPr/>
          <p:nvPr/>
        </p:nvSpPr>
        <p:spPr>
          <a:xfrm>
            <a:off x="320040" y="2377440"/>
            <a:ext cx="822960" cy="320040"/>
          </a:xfrm>
          <a:prstGeom prst="rect">
            <a:avLst/>
          </a:prstGeom>
          <a:solidFill>
            <a:srgbClr val="0D477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5760" y="2395728"/>
            <a:ext cx="731520" cy="292608"/>
          </a:xfrm>
          <a:prstGeom prst="rect">
            <a:avLst/>
          </a:prstGeom>
          <a:noFill/>
        </p:spPr>
        <p:txBody>
          <a:bodyPr wrap="square">
            <a:spAutoFit/>
          </a:bodyPr>
          <a:lstStyle/>
          <a:p>
            <a:pPr algn="ctr"/>
            <a:r>
              <a:rPr sz="1100" b="1" i="0">
                <a:solidFill>
                  <a:srgbClr val="FFFFFF"/>
                </a:solidFill>
                <a:latin typeface="Segoe UI"/>
              </a:rPr>
              <a:t>S3</a:t>
            </a:r>
          </a:p>
        </p:txBody>
      </p:sp>
      <p:sp>
        <p:nvSpPr>
          <p:cNvPr id="18" name="TextBox 17"/>
          <p:cNvSpPr txBox="1"/>
          <p:nvPr/>
        </p:nvSpPr>
        <p:spPr>
          <a:xfrm>
            <a:off x="1234440" y="2377440"/>
            <a:ext cx="3200400" cy="320040"/>
          </a:xfrm>
          <a:prstGeom prst="rect">
            <a:avLst/>
          </a:prstGeom>
          <a:noFill/>
        </p:spPr>
        <p:txBody>
          <a:bodyPr wrap="square">
            <a:spAutoFit/>
          </a:bodyPr>
          <a:lstStyle/>
          <a:p>
            <a:pPr algn="l"/>
            <a:r>
              <a:rPr sz="1400" b="0" i="0">
                <a:solidFill>
                  <a:srgbClr val="1A1A2E"/>
                </a:solidFill>
                <a:latin typeface="游ゴシック"/>
              </a:rPr>
              <a:t>ソフトウェア設計</a:t>
            </a:r>
          </a:p>
        </p:txBody>
      </p:sp>
      <p:sp>
        <p:nvSpPr>
          <p:cNvPr id="19" name="TextBox 18"/>
          <p:cNvSpPr txBox="1"/>
          <p:nvPr/>
        </p:nvSpPr>
        <p:spPr>
          <a:xfrm>
            <a:off x="4526280" y="2377440"/>
            <a:ext cx="1188720" cy="320040"/>
          </a:xfrm>
          <a:prstGeom prst="rect">
            <a:avLst/>
          </a:prstGeom>
          <a:noFill/>
        </p:spPr>
        <p:txBody>
          <a:bodyPr wrap="square">
            <a:spAutoFit/>
          </a:bodyPr>
          <a:lstStyle/>
          <a:p>
            <a:pPr algn="r"/>
            <a:r>
              <a:rPr sz="1300" b="0" i="0">
                <a:solidFill>
                  <a:srgbClr val="999999"/>
                </a:solidFill>
                <a:latin typeface="Segoe UI"/>
              </a:rPr>
              <a:t>Slides  8-9</a:t>
            </a:r>
          </a:p>
        </p:txBody>
      </p:sp>
      <p:sp>
        <p:nvSpPr>
          <p:cNvPr id="20" name="Rectangle 19"/>
          <p:cNvSpPr/>
          <p:nvPr/>
        </p:nvSpPr>
        <p:spPr>
          <a:xfrm>
            <a:off x="320040" y="3017520"/>
            <a:ext cx="822960" cy="320040"/>
          </a:xfrm>
          <a:prstGeom prst="rect">
            <a:avLst/>
          </a:prstGeom>
          <a:solidFill>
            <a:srgbClr val="0D477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65760" y="3035808"/>
            <a:ext cx="731520" cy="292608"/>
          </a:xfrm>
          <a:prstGeom prst="rect">
            <a:avLst/>
          </a:prstGeom>
          <a:noFill/>
        </p:spPr>
        <p:txBody>
          <a:bodyPr wrap="square">
            <a:spAutoFit/>
          </a:bodyPr>
          <a:lstStyle/>
          <a:p>
            <a:pPr algn="ctr"/>
            <a:r>
              <a:rPr sz="1100" b="1" i="0">
                <a:solidFill>
                  <a:srgbClr val="FFFFFF"/>
                </a:solidFill>
                <a:latin typeface="Segoe UI"/>
              </a:rPr>
              <a:t>S4</a:t>
            </a:r>
          </a:p>
        </p:txBody>
      </p:sp>
      <p:sp>
        <p:nvSpPr>
          <p:cNvPr id="22" name="TextBox 21"/>
          <p:cNvSpPr txBox="1"/>
          <p:nvPr/>
        </p:nvSpPr>
        <p:spPr>
          <a:xfrm>
            <a:off x="1234440" y="3017520"/>
            <a:ext cx="3200400" cy="320040"/>
          </a:xfrm>
          <a:prstGeom prst="rect">
            <a:avLst/>
          </a:prstGeom>
          <a:noFill/>
        </p:spPr>
        <p:txBody>
          <a:bodyPr wrap="square">
            <a:spAutoFit/>
          </a:bodyPr>
          <a:lstStyle/>
          <a:p>
            <a:pPr algn="l"/>
            <a:r>
              <a:rPr sz="1400" b="0" i="0">
                <a:solidFill>
                  <a:srgbClr val="1A1A2E"/>
                </a:solidFill>
                <a:latin typeface="游ゴシック"/>
              </a:rPr>
              <a:t>操作マニュアル</a:t>
            </a:r>
          </a:p>
        </p:txBody>
      </p:sp>
      <p:sp>
        <p:nvSpPr>
          <p:cNvPr id="23" name="TextBox 22"/>
          <p:cNvSpPr txBox="1"/>
          <p:nvPr/>
        </p:nvSpPr>
        <p:spPr>
          <a:xfrm>
            <a:off x="4526280" y="3017520"/>
            <a:ext cx="1188720" cy="320040"/>
          </a:xfrm>
          <a:prstGeom prst="rect">
            <a:avLst/>
          </a:prstGeom>
          <a:noFill/>
        </p:spPr>
        <p:txBody>
          <a:bodyPr wrap="square">
            <a:spAutoFit/>
          </a:bodyPr>
          <a:lstStyle/>
          <a:p>
            <a:pPr algn="r"/>
            <a:r>
              <a:rPr sz="1300" b="0" i="0">
                <a:solidFill>
                  <a:srgbClr val="999999"/>
                </a:solidFill>
                <a:latin typeface="Segoe UI"/>
              </a:rPr>
              <a:t>Slides 10-14</a:t>
            </a:r>
          </a:p>
        </p:txBody>
      </p:sp>
      <p:sp>
        <p:nvSpPr>
          <p:cNvPr id="24" name="Rectangle 23"/>
          <p:cNvSpPr/>
          <p:nvPr/>
        </p:nvSpPr>
        <p:spPr>
          <a:xfrm>
            <a:off x="6126480" y="1097280"/>
            <a:ext cx="822960" cy="320040"/>
          </a:xfrm>
          <a:prstGeom prst="rect">
            <a:avLst/>
          </a:prstGeom>
          <a:solidFill>
            <a:srgbClr val="0D477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172200" y="1115568"/>
            <a:ext cx="731520" cy="292608"/>
          </a:xfrm>
          <a:prstGeom prst="rect">
            <a:avLst/>
          </a:prstGeom>
          <a:noFill/>
        </p:spPr>
        <p:txBody>
          <a:bodyPr wrap="square">
            <a:spAutoFit/>
          </a:bodyPr>
          <a:lstStyle/>
          <a:p>
            <a:pPr algn="ctr"/>
            <a:r>
              <a:rPr sz="1100" b="1" i="0">
                <a:solidFill>
                  <a:srgbClr val="FFFFFF"/>
                </a:solidFill>
                <a:latin typeface="Segoe UI"/>
              </a:rPr>
              <a:t>S5</a:t>
            </a:r>
          </a:p>
        </p:txBody>
      </p:sp>
      <p:sp>
        <p:nvSpPr>
          <p:cNvPr id="26" name="TextBox 25"/>
          <p:cNvSpPr txBox="1"/>
          <p:nvPr/>
        </p:nvSpPr>
        <p:spPr>
          <a:xfrm>
            <a:off x="7040880" y="1097280"/>
            <a:ext cx="3200400" cy="320040"/>
          </a:xfrm>
          <a:prstGeom prst="rect">
            <a:avLst/>
          </a:prstGeom>
          <a:noFill/>
        </p:spPr>
        <p:txBody>
          <a:bodyPr wrap="square">
            <a:spAutoFit/>
          </a:bodyPr>
          <a:lstStyle/>
          <a:p>
            <a:pPr algn="l"/>
            <a:r>
              <a:rPr sz="1400" b="0" i="0">
                <a:solidFill>
                  <a:srgbClr val="1A1A2E"/>
                </a:solidFill>
                <a:latin typeface="游ゴシック"/>
              </a:rPr>
              <a:t>データ管理</a:t>
            </a:r>
          </a:p>
        </p:txBody>
      </p:sp>
      <p:sp>
        <p:nvSpPr>
          <p:cNvPr id="27" name="TextBox 26"/>
          <p:cNvSpPr txBox="1"/>
          <p:nvPr/>
        </p:nvSpPr>
        <p:spPr>
          <a:xfrm>
            <a:off x="10332720" y="1097280"/>
            <a:ext cx="1188720" cy="320040"/>
          </a:xfrm>
          <a:prstGeom prst="rect">
            <a:avLst/>
          </a:prstGeom>
          <a:noFill/>
        </p:spPr>
        <p:txBody>
          <a:bodyPr wrap="square">
            <a:spAutoFit/>
          </a:bodyPr>
          <a:lstStyle/>
          <a:p>
            <a:pPr algn="r"/>
            <a:r>
              <a:rPr sz="1300" b="0" i="0">
                <a:solidFill>
                  <a:srgbClr val="999999"/>
                </a:solidFill>
                <a:latin typeface="Segoe UI"/>
              </a:rPr>
              <a:t>Slides 15-16</a:t>
            </a:r>
          </a:p>
        </p:txBody>
      </p:sp>
      <p:sp>
        <p:nvSpPr>
          <p:cNvPr id="28" name="Rectangle 27"/>
          <p:cNvSpPr/>
          <p:nvPr/>
        </p:nvSpPr>
        <p:spPr>
          <a:xfrm>
            <a:off x="6126480" y="1737360"/>
            <a:ext cx="822960" cy="320040"/>
          </a:xfrm>
          <a:prstGeom prst="rect">
            <a:avLst/>
          </a:prstGeom>
          <a:solidFill>
            <a:srgbClr val="0D477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172200" y="1755648"/>
            <a:ext cx="731520" cy="292608"/>
          </a:xfrm>
          <a:prstGeom prst="rect">
            <a:avLst/>
          </a:prstGeom>
          <a:noFill/>
        </p:spPr>
        <p:txBody>
          <a:bodyPr wrap="square">
            <a:spAutoFit/>
          </a:bodyPr>
          <a:lstStyle/>
          <a:p>
            <a:pPr algn="ctr"/>
            <a:r>
              <a:rPr sz="1100" b="1" i="0">
                <a:solidFill>
                  <a:srgbClr val="FFFFFF"/>
                </a:solidFill>
                <a:latin typeface="Segoe UI"/>
              </a:rPr>
              <a:t>S6</a:t>
            </a:r>
          </a:p>
        </p:txBody>
      </p:sp>
      <p:sp>
        <p:nvSpPr>
          <p:cNvPr id="30" name="TextBox 29"/>
          <p:cNvSpPr txBox="1"/>
          <p:nvPr/>
        </p:nvSpPr>
        <p:spPr>
          <a:xfrm>
            <a:off x="7040880" y="1737360"/>
            <a:ext cx="3200400" cy="320040"/>
          </a:xfrm>
          <a:prstGeom prst="rect">
            <a:avLst/>
          </a:prstGeom>
          <a:noFill/>
        </p:spPr>
        <p:txBody>
          <a:bodyPr wrap="square">
            <a:spAutoFit/>
          </a:bodyPr>
          <a:lstStyle/>
          <a:p>
            <a:pPr algn="l"/>
            <a:r>
              <a:rPr sz="1400" b="0" i="0">
                <a:solidFill>
                  <a:srgbClr val="1A1A2E"/>
                </a:solidFill>
                <a:latin typeface="游ゴシック"/>
              </a:rPr>
              <a:t>技術詳細</a:t>
            </a:r>
          </a:p>
        </p:txBody>
      </p:sp>
      <p:sp>
        <p:nvSpPr>
          <p:cNvPr id="31" name="TextBox 30"/>
          <p:cNvSpPr txBox="1"/>
          <p:nvPr/>
        </p:nvSpPr>
        <p:spPr>
          <a:xfrm>
            <a:off x="10332720" y="1737360"/>
            <a:ext cx="1188720" cy="320040"/>
          </a:xfrm>
          <a:prstGeom prst="rect">
            <a:avLst/>
          </a:prstGeom>
          <a:noFill/>
        </p:spPr>
        <p:txBody>
          <a:bodyPr wrap="square">
            <a:spAutoFit/>
          </a:bodyPr>
          <a:lstStyle/>
          <a:p>
            <a:pPr algn="r"/>
            <a:r>
              <a:rPr sz="1300" b="0" i="0">
                <a:solidFill>
                  <a:srgbClr val="999999"/>
                </a:solidFill>
                <a:latin typeface="Segoe UI"/>
              </a:rPr>
              <a:t>Slides 17-20</a:t>
            </a:r>
          </a:p>
        </p:txBody>
      </p:sp>
      <p:sp>
        <p:nvSpPr>
          <p:cNvPr id="32" name="Rectangle 31"/>
          <p:cNvSpPr/>
          <p:nvPr/>
        </p:nvSpPr>
        <p:spPr>
          <a:xfrm>
            <a:off x="6126480" y="2377440"/>
            <a:ext cx="822960" cy="320040"/>
          </a:xfrm>
          <a:prstGeom prst="rect">
            <a:avLst/>
          </a:prstGeom>
          <a:solidFill>
            <a:srgbClr val="0D477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172200" y="2395728"/>
            <a:ext cx="731520" cy="292608"/>
          </a:xfrm>
          <a:prstGeom prst="rect">
            <a:avLst/>
          </a:prstGeom>
          <a:noFill/>
        </p:spPr>
        <p:txBody>
          <a:bodyPr wrap="square">
            <a:spAutoFit/>
          </a:bodyPr>
          <a:lstStyle/>
          <a:p>
            <a:pPr algn="ctr"/>
            <a:r>
              <a:rPr sz="1100" b="1" i="0">
                <a:solidFill>
                  <a:srgbClr val="FFFFFF"/>
                </a:solidFill>
                <a:latin typeface="Segoe UI"/>
              </a:rPr>
              <a:t>S7</a:t>
            </a:r>
          </a:p>
        </p:txBody>
      </p:sp>
      <p:sp>
        <p:nvSpPr>
          <p:cNvPr id="34" name="TextBox 33"/>
          <p:cNvSpPr txBox="1"/>
          <p:nvPr/>
        </p:nvSpPr>
        <p:spPr>
          <a:xfrm>
            <a:off x="7040880" y="2377440"/>
            <a:ext cx="3200400" cy="320040"/>
          </a:xfrm>
          <a:prstGeom prst="rect">
            <a:avLst/>
          </a:prstGeom>
          <a:noFill/>
        </p:spPr>
        <p:txBody>
          <a:bodyPr wrap="square">
            <a:spAutoFit/>
          </a:bodyPr>
          <a:lstStyle/>
          <a:p>
            <a:pPr algn="l"/>
            <a:r>
              <a:rPr sz="1400" b="0" i="0">
                <a:solidFill>
                  <a:srgbClr val="1A1A2E"/>
                </a:solidFill>
                <a:latin typeface="游ゴシック"/>
              </a:rPr>
              <a:t>品質・テスト</a:t>
            </a:r>
          </a:p>
        </p:txBody>
      </p:sp>
      <p:sp>
        <p:nvSpPr>
          <p:cNvPr id="35" name="TextBox 34"/>
          <p:cNvSpPr txBox="1"/>
          <p:nvPr/>
        </p:nvSpPr>
        <p:spPr>
          <a:xfrm>
            <a:off x="10332720" y="2377440"/>
            <a:ext cx="1188720" cy="320040"/>
          </a:xfrm>
          <a:prstGeom prst="rect">
            <a:avLst/>
          </a:prstGeom>
          <a:noFill/>
        </p:spPr>
        <p:txBody>
          <a:bodyPr wrap="square">
            <a:spAutoFit/>
          </a:bodyPr>
          <a:lstStyle/>
          <a:p>
            <a:pPr algn="r"/>
            <a:r>
              <a:rPr sz="1300" b="0" i="0">
                <a:solidFill>
                  <a:srgbClr val="999999"/>
                </a:solidFill>
                <a:latin typeface="Segoe UI"/>
              </a:rPr>
              <a:t>Slides 21-22</a:t>
            </a:r>
          </a:p>
        </p:txBody>
      </p:sp>
      <p:sp>
        <p:nvSpPr>
          <p:cNvPr id="36" name="Rectangle 35"/>
          <p:cNvSpPr/>
          <p:nvPr/>
        </p:nvSpPr>
        <p:spPr>
          <a:xfrm>
            <a:off x="6126480" y="3017520"/>
            <a:ext cx="822960" cy="320040"/>
          </a:xfrm>
          <a:prstGeom prst="rect">
            <a:avLst/>
          </a:prstGeom>
          <a:solidFill>
            <a:srgbClr val="0D477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172200" y="3035808"/>
            <a:ext cx="731520" cy="292608"/>
          </a:xfrm>
          <a:prstGeom prst="rect">
            <a:avLst/>
          </a:prstGeom>
          <a:noFill/>
        </p:spPr>
        <p:txBody>
          <a:bodyPr wrap="square">
            <a:spAutoFit/>
          </a:bodyPr>
          <a:lstStyle/>
          <a:p>
            <a:pPr algn="ctr"/>
            <a:r>
              <a:rPr sz="1100" b="1" i="0">
                <a:solidFill>
                  <a:srgbClr val="FFFFFF"/>
                </a:solidFill>
                <a:latin typeface="Segoe UI"/>
              </a:rPr>
              <a:t>Sum</a:t>
            </a:r>
          </a:p>
        </p:txBody>
      </p:sp>
      <p:sp>
        <p:nvSpPr>
          <p:cNvPr id="38" name="TextBox 37"/>
          <p:cNvSpPr txBox="1"/>
          <p:nvPr/>
        </p:nvSpPr>
        <p:spPr>
          <a:xfrm>
            <a:off x="7040880" y="3017520"/>
            <a:ext cx="3200400" cy="320040"/>
          </a:xfrm>
          <a:prstGeom prst="rect">
            <a:avLst/>
          </a:prstGeom>
          <a:noFill/>
        </p:spPr>
        <p:txBody>
          <a:bodyPr wrap="square">
            <a:spAutoFit/>
          </a:bodyPr>
          <a:lstStyle/>
          <a:p>
            <a:pPr algn="l"/>
            <a:r>
              <a:rPr sz="1400" b="0" i="0">
                <a:solidFill>
                  <a:srgbClr val="1A1A2E"/>
                </a:solidFill>
                <a:latin typeface="游ゴシック"/>
              </a:rPr>
              <a:t>Summary</a:t>
            </a:r>
          </a:p>
        </p:txBody>
      </p:sp>
      <p:sp>
        <p:nvSpPr>
          <p:cNvPr id="39" name="TextBox 38"/>
          <p:cNvSpPr txBox="1"/>
          <p:nvPr/>
        </p:nvSpPr>
        <p:spPr>
          <a:xfrm>
            <a:off x="10332720" y="3017520"/>
            <a:ext cx="1188720" cy="320040"/>
          </a:xfrm>
          <a:prstGeom prst="rect">
            <a:avLst/>
          </a:prstGeom>
          <a:noFill/>
        </p:spPr>
        <p:txBody>
          <a:bodyPr wrap="square">
            <a:spAutoFit/>
          </a:bodyPr>
          <a:lstStyle/>
          <a:p>
            <a:pPr algn="r"/>
            <a:r>
              <a:rPr sz="1300" b="0" i="0">
                <a:solidFill>
                  <a:srgbClr val="999999"/>
                </a:solidFill>
                <a:latin typeface="Segoe UI"/>
              </a:rPr>
              <a:t>Slide  23</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914400"/>
          </a:xfrm>
          <a:prstGeom prst="rect">
            <a:avLst/>
          </a:prstGeom>
          <a:solidFill>
            <a:srgbClr val="0D477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73152"/>
            <a:ext cx="11430000" cy="502920"/>
          </a:xfrm>
          <a:prstGeom prst="rect">
            <a:avLst/>
          </a:prstGeom>
          <a:noFill/>
        </p:spPr>
        <p:txBody>
          <a:bodyPr wrap="square">
            <a:spAutoFit/>
          </a:bodyPr>
          <a:lstStyle/>
          <a:p>
            <a:pPr algn="l"/>
            <a:r>
              <a:rPr sz="2400" b="1" i="0">
                <a:solidFill>
                  <a:srgbClr val="FFFFFF"/>
                </a:solidFill>
                <a:latin typeface="Segoe UI"/>
              </a:rPr>
              <a:t>背景と目的</a:t>
            </a:r>
          </a:p>
        </p:txBody>
      </p:sp>
      <p:sp>
        <p:nvSpPr>
          <p:cNvPr id="4" name="TextBox 3"/>
          <p:cNvSpPr txBox="1"/>
          <p:nvPr/>
        </p:nvSpPr>
        <p:spPr>
          <a:xfrm>
            <a:off x="274320" y="594360"/>
            <a:ext cx="11430000" cy="274320"/>
          </a:xfrm>
          <a:prstGeom prst="rect">
            <a:avLst/>
          </a:prstGeom>
          <a:noFill/>
        </p:spPr>
        <p:txBody>
          <a:bodyPr wrap="square">
            <a:spAutoFit/>
          </a:bodyPr>
          <a:lstStyle/>
          <a:p>
            <a:pPr algn="l"/>
            <a:r>
              <a:rPr sz="1200" b="0" i="0">
                <a:solidFill>
                  <a:srgbClr val="FF6D00"/>
                </a:solidFill>
                <a:latin typeface="游ゴシック"/>
              </a:rPr>
              <a:t>Section 1  プロジェクト概要</a:t>
            </a:r>
          </a:p>
        </p:txBody>
      </p:sp>
      <p:sp>
        <p:nvSpPr>
          <p:cNvPr id="5" name="Rectangle 4"/>
          <p:cNvSpPr/>
          <p:nvPr/>
        </p:nvSpPr>
        <p:spPr>
          <a:xfrm>
            <a:off x="0" y="6309360"/>
            <a:ext cx="12188952" cy="548640"/>
          </a:xfrm>
          <a:prstGeom prst="rect">
            <a:avLst/>
          </a:prstGeom>
          <a:solidFill>
            <a:srgbClr val="0D477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74320" y="6336792"/>
            <a:ext cx="7315200" cy="320040"/>
          </a:xfrm>
          <a:prstGeom prst="rect">
            <a:avLst/>
          </a:prstGeom>
          <a:noFill/>
        </p:spPr>
        <p:txBody>
          <a:bodyPr wrap="square">
            <a:spAutoFit/>
          </a:bodyPr>
          <a:lstStyle/>
          <a:p>
            <a:pPr algn="l"/>
            <a:r>
              <a:rPr sz="1100" b="0" i="0">
                <a:solidFill>
                  <a:srgbClr val="FF6D00"/>
                </a:solidFill>
                <a:latin typeface="Segoe UI"/>
              </a:rPr>
              <a:t>Simple Temperature Evaluation Tool</a:t>
            </a:r>
          </a:p>
        </p:txBody>
      </p:sp>
      <p:sp>
        <p:nvSpPr>
          <p:cNvPr id="7" name="TextBox 6"/>
          <p:cNvSpPr txBox="1"/>
          <p:nvPr/>
        </p:nvSpPr>
        <p:spPr>
          <a:xfrm>
            <a:off x="10515600" y="6336792"/>
            <a:ext cx="1371600" cy="320040"/>
          </a:xfrm>
          <a:prstGeom prst="rect">
            <a:avLst/>
          </a:prstGeom>
          <a:noFill/>
        </p:spPr>
        <p:txBody>
          <a:bodyPr wrap="square">
            <a:spAutoFit/>
          </a:bodyPr>
          <a:lstStyle/>
          <a:p>
            <a:pPr algn="r"/>
            <a:r>
              <a:rPr sz="1100" b="0" i="0">
                <a:solidFill>
                  <a:srgbClr val="FFFFFF"/>
                </a:solidFill>
                <a:latin typeface="Segoe UI"/>
              </a:rPr>
              <a:t>3</a:t>
            </a:r>
          </a:p>
        </p:txBody>
      </p:sp>
      <p:sp>
        <p:nvSpPr>
          <p:cNvPr id="8" name="Rectangle 7"/>
          <p:cNvSpPr/>
          <p:nvPr/>
        </p:nvSpPr>
        <p:spPr>
          <a:xfrm>
            <a:off x="320040" y="1005840"/>
            <a:ext cx="11521440" cy="1463040"/>
          </a:xfrm>
          <a:prstGeom prst="rect">
            <a:avLst/>
          </a:prstGeom>
          <a:solidFill>
            <a:srgbClr val="F4F4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1078992"/>
            <a:ext cx="11155680" cy="1298448"/>
          </a:xfrm>
          <a:prstGeom prst="rect">
            <a:avLst/>
          </a:prstGeom>
          <a:noFill/>
        </p:spPr>
        <p:txBody>
          <a:bodyPr wrap="square">
            <a:spAutoFit/>
          </a:bodyPr>
          <a:lstStyle/>
          <a:p>
            <a:pPr algn="l"/>
            <a:r>
              <a:rPr sz="1400" b="0" i="0">
                <a:solidFill>
                  <a:srgbClr val="1A1A2E"/>
                </a:solidFill>
                <a:latin typeface="游ゴシック"/>
              </a:rPr>
              <a:t>・現場での K 型熱電対温度モニタリングを簡単に行いたい</a:t>
            </a:r>
          </a:p>
          <a:p>
            <a:pPr algn="l"/>
            <a:r>
              <a:rPr sz="1400" b="0" i="0">
                <a:solidFill>
                  <a:srgbClr val="1A1A2E"/>
                </a:solidFill>
                <a:latin typeface="游ゴシック"/>
              </a:rPr>
              <a:t>・既製品は機能過多・高価。M5Stack + MAX31855 で必要最小限のツールを自作</a:t>
            </a:r>
          </a:p>
          <a:p>
            <a:pPr algn="l"/>
            <a:r>
              <a:rPr sz="1400" b="0" i="0">
                <a:solidFill>
                  <a:srgbClr val="1A1A2E"/>
                </a:solidFill>
                <a:latin typeface="游ゴシック"/>
              </a:rPr>
              <a:t>・PLC ラダー設計の知識を C++ に落とし込む練習として開発</a:t>
            </a:r>
          </a:p>
        </p:txBody>
      </p:sp>
      <p:sp>
        <p:nvSpPr>
          <p:cNvPr id="10" name="Rectangle 9"/>
          <p:cNvSpPr/>
          <p:nvPr/>
        </p:nvSpPr>
        <p:spPr>
          <a:xfrm>
            <a:off x="320040" y="2606040"/>
            <a:ext cx="5486400" cy="2560320"/>
          </a:xfrm>
          <a:prstGeom prst="rect">
            <a:avLst/>
          </a:prstGeom>
          <a:solidFill>
            <a:srgbClr val="FFFFFF"/>
          </a:solidFill>
          <a:ln w="1905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7200" y="2679192"/>
            <a:ext cx="5029200" cy="365760"/>
          </a:xfrm>
          <a:prstGeom prst="rect">
            <a:avLst/>
          </a:prstGeom>
          <a:noFill/>
        </p:spPr>
        <p:txBody>
          <a:bodyPr wrap="square">
            <a:spAutoFit/>
          </a:bodyPr>
          <a:lstStyle/>
          <a:p>
            <a:pPr algn="l"/>
            <a:r>
              <a:rPr sz="1600" b="1" i="0">
                <a:solidFill>
                  <a:srgbClr val="C0392B"/>
                </a:solidFill>
                <a:latin typeface="游ゴシック"/>
              </a:rPr>
              <a:t>従来の課題</a:t>
            </a:r>
          </a:p>
        </p:txBody>
      </p:sp>
      <p:sp>
        <p:nvSpPr>
          <p:cNvPr id="12" name="TextBox 11"/>
          <p:cNvSpPr txBox="1"/>
          <p:nvPr/>
        </p:nvSpPr>
        <p:spPr>
          <a:xfrm>
            <a:off x="457200" y="3108960"/>
            <a:ext cx="5212080" cy="1920240"/>
          </a:xfrm>
          <a:prstGeom prst="rect">
            <a:avLst/>
          </a:prstGeom>
          <a:noFill/>
        </p:spPr>
        <p:txBody>
          <a:bodyPr wrap="square">
            <a:spAutoFit/>
          </a:bodyPr>
          <a:lstStyle/>
          <a:p>
            <a:pPr algn="l"/>
            <a:r>
              <a:rPr sz="1300" b="0" i="0">
                <a:solidFill>
                  <a:srgbClr val="1A1A2E"/>
                </a:solidFill>
                <a:latin typeface="游ゴシック"/>
              </a:rPr>
              <a:t>・手書き記録 → 転記ミス・工数大</a:t>
            </a:r>
          </a:p>
          <a:p>
            <a:pPr algn="l"/>
            <a:r>
              <a:rPr sz="1300" b="0" i="0">
                <a:solidFill>
                  <a:srgbClr val="1A1A2E"/>
                </a:solidFill>
                <a:latin typeface="游ゴシック"/>
              </a:rPr>
              <a:t>・既製ロガーは PC 接続必須で現場には不向き</a:t>
            </a:r>
          </a:p>
          <a:p>
            <a:pPr algn="l"/>
            <a:r>
              <a:rPr sz="1300" b="0" i="0">
                <a:solidFill>
                  <a:srgbClr val="1A1A2E"/>
                </a:solidFill>
                <a:latin typeface="游ゴシック"/>
              </a:rPr>
              <a:t>・データをその場で確認できない</a:t>
            </a:r>
          </a:p>
        </p:txBody>
      </p:sp>
      <p:sp>
        <p:nvSpPr>
          <p:cNvPr id="13" name="Rectangle 12"/>
          <p:cNvSpPr/>
          <p:nvPr/>
        </p:nvSpPr>
        <p:spPr>
          <a:xfrm>
            <a:off x="6126480" y="2606040"/>
            <a:ext cx="5486400" cy="2560320"/>
          </a:xfrm>
          <a:prstGeom prst="rect">
            <a:avLst/>
          </a:prstGeom>
          <a:solidFill>
            <a:srgbClr val="FFFFFF"/>
          </a:solidFill>
          <a:ln w="1905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263640" y="2679192"/>
            <a:ext cx="5029200" cy="365760"/>
          </a:xfrm>
          <a:prstGeom prst="rect">
            <a:avLst/>
          </a:prstGeom>
          <a:noFill/>
        </p:spPr>
        <p:txBody>
          <a:bodyPr wrap="square">
            <a:spAutoFit/>
          </a:bodyPr>
          <a:lstStyle/>
          <a:p>
            <a:pPr algn="l"/>
            <a:r>
              <a:rPr sz="1600" b="1" i="0">
                <a:solidFill>
                  <a:srgbClr val="27AE60"/>
                </a:solidFill>
                <a:latin typeface="游ゴシック"/>
              </a:rPr>
              <a:t>本ツールで解決</a:t>
            </a:r>
          </a:p>
        </p:txBody>
      </p:sp>
      <p:sp>
        <p:nvSpPr>
          <p:cNvPr id="15" name="TextBox 14"/>
          <p:cNvSpPr txBox="1"/>
          <p:nvPr/>
        </p:nvSpPr>
        <p:spPr>
          <a:xfrm>
            <a:off x="6263640" y="3108960"/>
            <a:ext cx="5212080" cy="1920240"/>
          </a:xfrm>
          <a:prstGeom prst="rect">
            <a:avLst/>
          </a:prstGeom>
          <a:noFill/>
        </p:spPr>
        <p:txBody>
          <a:bodyPr wrap="square">
            <a:spAutoFit/>
          </a:bodyPr>
          <a:lstStyle/>
          <a:p>
            <a:pPr algn="l"/>
            <a:r>
              <a:rPr sz="1300" b="0" i="0">
                <a:solidFill>
                  <a:srgbClr val="1A1A2E"/>
                </a:solidFill>
                <a:latin typeface="游ゴシック"/>
              </a:rPr>
              <a:t>・MicroSD に自動 CSV 記録（手書き不要）</a:t>
            </a:r>
          </a:p>
          <a:p>
            <a:pPr algn="l"/>
            <a:r>
              <a:rPr sz="1300" b="0" i="0">
                <a:solidFill>
                  <a:srgbClr val="1A1A2E"/>
                </a:solidFill>
                <a:latin typeface="游ゴシック"/>
              </a:rPr>
              <a:t>・スタンドアロン動作（PC 不要）</a:t>
            </a:r>
          </a:p>
          <a:p>
            <a:pPr algn="l"/>
            <a:r>
              <a:rPr sz="1300" b="0" i="0">
                <a:solidFill>
                  <a:srgbClr val="1A1A2E"/>
                </a:solidFill>
                <a:latin typeface="游ゴシック"/>
              </a:rPr>
              <a:t>・LCD でリアルタイム確認 + アラーム通知</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914400"/>
          </a:xfrm>
          <a:prstGeom prst="rect">
            <a:avLst/>
          </a:prstGeom>
          <a:solidFill>
            <a:srgbClr val="0D477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73152"/>
            <a:ext cx="11430000" cy="502920"/>
          </a:xfrm>
          <a:prstGeom prst="rect">
            <a:avLst/>
          </a:prstGeom>
          <a:noFill/>
        </p:spPr>
        <p:txBody>
          <a:bodyPr wrap="square">
            <a:spAutoFit/>
          </a:bodyPr>
          <a:lstStyle/>
          <a:p>
            <a:pPr algn="l"/>
            <a:r>
              <a:rPr sz="2400" b="1" i="0">
                <a:solidFill>
                  <a:srgbClr val="FFFFFF"/>
                </a:solidFill>
                <a:latin typeface="Segoe UI"/>
              </a:rPr>
              <a:t>コストメリット — 自作 vs. 市販品</a:t>
            </a:r>
          </a:p>
        </p:txBody>
      </p:sp>
      <p:sp>
        <p:nvSpPr>
          <p:cNvPr id="4" name="TextBox 3"/>
          <p:cNvSpPr txBox="1"/>
          <p:nvPr/>
        </p:nvSpPr>
        <p:spPr>
          <a:xfrm>
            <a:off x="274320" y="594360"/>
            <a:ext cx="11430000" cy="274320"/>
          </a:xfrm>
          <a:prstGeom prst="rect">
            <a:avLst/>
          </a:prstGeom>
          <a:noFill/>
        </p:spPr>
        <p:txBody>
          <a:bodyPr wrap="square">
            <a:spAutoFit/>
          </a:bodyPr>
          <a:lstStyle/>
          <a:p>
            <a:pPr algn="l"/>
            <a:r>
              <a:rPr sz="1200" b="0" i="0">
                <a:solidFill>
                  <a:srgbClr val="FF6D00"/>
                </a:solidFill>
                <a:latin typeface="游ゴシック"/>
              </a:rPr>
              <a:t>Section 1  プロジェクト概要</a:t>
            </a:r>
          </a:p>
        </p:txBody>
      </p:sp>
      <p:sp>
        <p:nvSpPr>
          <p:cNvPr id="5" name="Rectangle 4"/>
          <p:cNvSpPr/>
          <p:nvPr/>
        </p:nvSpPr>
        <p:spPr>
          <a:xfrm>
            <a:off x="0" y="6309360"/>
            <a:ext cx="12188952" cy="548640"/>
          </a:xfrm>
          <a:prstGeom prst="rect">
            <a:avLst/>
          </a:prstGeom>
          <a:solidFill>
            <a:srgbClr val="0D477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74320" y="6336792"/>
            <a:ext cx="7315200" cy="320040"/>
          </a:xfrm>
          <a:prstGeom prst="rect">
            <a:avLst/>
          </a:prstGeom>
          <a:noFill/>
        </p:spPr>
        <p:txBody>
          <a:bodyPr wrap="square">
            <a:spAutoFit/>
          </a:bodyPr>
          <a:lstStyle/>
          <a:p>
            <a:pPr algn="l"/>
            <a:r>
              <a:rPr sz="1100" b="0" i="0">
                <a:solidFill>
                  <a:srgbClr val="FF6D00"/>
                </a:solidFill>
                <a:latin typeface="Segoe UI"/>
              </a:rPr>
              <a:t>Simple Temperature Evaluation Tool</a:t>
            </a:r>
          </a:p>
        </p:txBody>
      </p:sp>
      <p:sp>
        <p:nvSpPr>
          <p:cNvPr id="7" name="TextBox 6"/>
          <p:cNvSpPr txBox="1"/>
          <p:nvPr/>
        </p:nvSpPr>
        <p:spPr>
          <a:xfrm>
            <a:off x="10515600" y="6336792"/>
            <a:ext cx="1371600" cy="320040"/>
          </a:xfrm>
          <a:prstGeom prst="rect">
            <a:avLst/>
          </a:prstGeom>
          <a:noFill/>
        </p:spPr>
        <p:txBody>
          <a:bodyPr wrap="square">
            <a:spAutoFit/>
          </a:bodyPr>
          <a:lstStyle/>
          <a:p>
            <a:pPr algn="r"/>
            <a:r>
              <a:rPr sz="1100" b="0" i="0">
                <a:solidFill>
                  <a:srgbClr val="FFFFFF"/>
                </a:solidFill>
                <a:latin typeface="Segoe UI"/>
              </a:rPr>
              <a:t>4</a:t>
            </a:r>
          </a:p>
        </p:txBody>
      </p:sp>
      <p:sp>
        <p:nvSpPr>
          <p:cNvPr id="8" name="TextBox 7"/>
          <p:cNvSpPr txBox="1"/>
          <p:nvPr/>
        </p:nvSpPr>
        <p:spPr>
          <a:xfrm>
            <a:off x="320040" y="1005840"/>
            <a:ext cx="5303520" cy="320040"/>
          </a:xfrm>
          <a:prstGeom prst="rect">
            <a:avLst/>
          </a:prstGeom>
          <a:noFill/>
        </p:spPr>
        <p:txBody>
          <a:bodyPr wrap="square">
            <a:spAutoFit/>
          </a:bodyPr>
          <a:lstStyle/>
          <a:p>
            <a:pPr algn="l"/>
            <a:r>
              <a:rPr sz="1500" b="1" i="0">
                <a:solidFill>
                  <a:srgbClr val="0D477F"/>
                </a:solidFill>
                <a:latin typeface="游ゴシック"/>
              </a:rPr>
              <a:t>本ツール 品目別コスト</a:t>
            </a:r>
          </a:p>
        </p:txBody>
      </p:sp>
      <p:graphicFrame>
        <p:nvGraphicFramePr>
          <p:cNvPr id="9" name="Table 8"/>
          <p:cNvGraphicFramePr>
            <a:graphicFrameLocks noGrp="1"/>
          </p:cNvGraphicFramePr>
          <p:nvPr/>
        </p:nvGraphicFramePr>
        <p:xfrm>
          <a:off x="320040" y="1371600"/>
          <a:ext cx="5303520" cy="2560320"/>
        </p:xfrm>
        <a:graphic>
          <a:graphicData uri="http://schemas.openxmlformats.org/drawingml/2006/table">
            <a:tbl>
              <a:tblPr firstRow="1" bandRow="1">
                <a:tableStyleId>{5C22544A-7EE6-4342-B048-85BDC9FD1C3A}</a:tableStyleId>
              </a:tblPr>
              <a:tblGrid>
                <a:gridCol w="2651760"/>
                <a:gridCol w="1371600"/>
                <a:gridCol w="1280160"/>
              </a:tblGrid>
              <a:tr h="365760">
                <a:tc>
                  <a:txBody>
                    <a:bodyPr/>
                    <a:lstStyle/>
                    <a:p>
                      <a:pPr algn="l"/>
                      <a:r>
                        <a:rPr sz="1300" b="1">
                          <a:solidFill>
                            <a:srgbClr val="FFFFFF"/>
                          </a:solidFill>
                          <a:latin typeface="Segoe UI"/>
                        </a:rPr>
                        <a:t>部品</a:t>
                      </a:r>
                    </a:p>
                  </a:txBody>
                  <a:tcPr>
                    <a:solidFill>
                      <a:srgbClr val="0D477F"/>
                    </a:solidFill>
                  </a:tcPr>
                </a:tc>
                <a:tc>
                  <a:txBody>
                    <a:bodyPr/>
                    <a:lstStyle/>
                    <a:p>
                      <a:pPr algn="l"/>
                      <a:r>
                        <a:rPr sz="1300" b="1">
                          <a:solidFill>
                            <a:srgbClr val="FFFFFF"/>
                          </a:solidFill>
                          <a:latin typeface="Segoe UI"/>
                        </a:rPr>
                        <a:t>購入先目安</a:t>
                      </a:r>
                    </a:p>
                  </a:txBody>
                  <a:tcPr>
                    <a:solidFill>
                      <a:srgbClr val="0D477F"/>
                    </a:solidFill>
                  </a:tcPr>
                </a:tc>
                <a:tc>
                  <a:txBody>
                    <a:bodyPr/>
                    <a:lstStyle/>
                    <a:p>
                      <a:pPr algn="l"/>
                      <a:r>
                        <a:rPr sz="1300" b="1">
                          <a:solidFill>
                            <a:srgbClr val="FFFFFF"/>
                          </a:solidFill>
                          <a:latin typeface="Segoe UI"/>
                        </a:rPr>
                        <a:t>価格（税込）</a:t>
                      </a:r>
                    </a:p>
                  </a:txBody>
                  <a:tcPr>
                    <a:solidFill>
                      <a:srgbClr val="0D477F"/>
                    </a:solidFill>
                  </a:tcPr>
                </a:tc>
              </a:tr>
              <a:tr h="365760">
                <a:tc>
                  <a:txBody>
                    <a:bodyPr/>
                    <a:lstStyle/>
                    <a:p>
                      <a:pPr algn="l"/>
                      <a:r>
                        <a:rPr sz="1200" b="0">
                          <a:solidFill>
                            <a:srgbClr val="1A1A2E"/>
                          </a:solidFill>
                          <a:latin typeface="游ゴシック"/>
                        </a:rPr>
                        <a:t>M5Stack Basic V2.7</a:t>
                      </a:r>
                    </a:p>
                  </a:txBody>
                  <a:tcPr>
                    <a:solidFill>
                      <a:srgbClr val="FFFFFF"/>
                    </a:solidFill>
                  </a:tcPr>
                </a:tc>
                <a:tc>
                  <a:txBody>
                    <a:bodyPr/>
                    <a:lstStyle/>
                    <a:p>
                      <a:pPr algn="l"/>
                      <a:r>
                        <a:rPr sz="1200" b="0">
                          <a:solidFill>
                            <a:srgbClr val="1A1A2E"/>
                          </a:solidFill>
                          <a:latin typeface="游ゴシック"/>
                        </a:rPr>
                        <a:t>Amazon</a:t>
                      </a:r>
                    </a:p>
                  </a:txBody>
                  <a:tcPr>
                    <a:solidFill>
                      <a:srgbClr val="FFFFFF"/>
                    </a:solidFill>
                  </a:tcPr>
                </a:tc>
                <a:tc>
                  <a:txBody>
                    <a:bodyPr/>
                    <a:lstStyle/>
                    <a:p>
                      <a:pPr algn="l"/>
                      <a:r>
                        <a:rPr sz="1200" b="0">
                          <a:solidFill>
                            <a:srgbClr val="1A1A2E"/>
                          </a:solidFill>
                          <a:latin typeface="游ゴシック"/>
                        </a:rPr>
                        <a:t>¥7,990</a:t>
                      </a:r>
                    </a:p>
                  </a:txBody>
                  <a:tcPr>
                    <a:solidFill>
                      <a:srgbClr val="FFFFFF"/>
                    </a:solidFill>
                  </a:tcPr>
                </a:tc>
              </a:tr>
              <a:tr h="365760">
                <a:tc>
                  <a:txBody>
                    <a:bodyPr/>
                    <a:lstStyle/>
                    <a:p>
                      <a:pPr algn="l"/>
                      <a:r>
                        <a:rPr sz="1200" b="0">
                          <a:solidFill>
                            <a:srgbClr val="1A1A2E"/>
                          </a:solidFill>
                          <a:latin typeface="游ゴシック"/>
                        </a:rPr>
                        <a:t>MAX31855 ブレークアウト</a:t>
                      </a:r>
                    </a:p>
                  </a:txBody>
                  <a:tcPr>
                    <a:solidFill>
                      <a:srgbClr val="F4F4F4"/>
                    </a:solidFill>
                  </a:tcPr>
                </a:tc>
                <a:tc>
                  <a:txBody>
                    <a:bodyPr/>
                    <a:lstStyle/>
                    <a:p>
                      <a:pPr algn="l"/>
                      <a:r>
                        <a:rPr sz="1200" b="0">
                          <a:solidFill>
                            <a:srgbClr val="1A1A2E"/>
                          </a:solidFill>
                          <a:latin typeface="游ゴシック"/>
                        </a:rPr>
                        <a:t>秋月電子</a:t>
                      </a:r>
                    </a:p>
                  </a:txBody>
                  <a:tcPr>
                    <a:solidFill>
                      <a:srgbClr val="F4F4F4"/>
                    </a:solidFill>
                  </a:tcPr>
                </a:tc>
                <a:tc>
                  <a:txBody>
                    <a:bodyPr/>
                    <a:lstStyle/>
                    <a:p>
                      <a:pPr algn="l"/>
                      <a:r>
                        <a:rPr sz="1200" b="0">
                          <a:solidFill>
                            <a:srgbClr val="1A1A2E"/>
                          </a:solidFill>
                          <a:latin typeface="游ゴシック"/>
                        </a:rPr>
                        <a:t>¥980</a:t>
                      </a:r>
                    </a:p>
                  </a:txBody>
                  <a:tcPr>
                    <a:solidFill>
                      <a:srgbClr val="F4F4F4"/>
                    </a:solidFill>
                  </a:tcPr>
                </a:tc>
              </a:tr>
              <a:tr h="365760">
                <a:tc>
                  <a:txBody>
                    <a:bodyPr/>
                    <a:lstStyle/>
                    <a:p>
                      <a:pPr algn="l"/>
                      <a:r>
                        <a:rPr sz="1200" b="0">
                          <a:solidFill>
                            <a:srgbClr val="1A1A2E"/>
                          </a:solidFill>
                          <a:latin typeface="游ゴシック"/>
                        </a:rPr>
                        <a:t>K型熱電対 (1m)</a:t>
                      </a:r>
                    </a:p>
                  </a:txBody>
                  <a:tcPr>
                    <a:solidFill>
                      <a:srgbClr val="FFFFFF"/>
                    </a:solidFill>
                  </a:tcPr>
                </a:tc>
                <a:tc>
                  <a:txBody>
                    <a:bodyPr/>
                    <a:lstStyle/>
                    <a:p>
                      <a:pPr algn="l"/>
                      <a:r>
                        <a:rPr sz="1200" b="0">
                          <a:solidFill>
                            <a:srgbClr val="1A1A2E"/>
                          </a:solidFill>
                          <a:latin typeface="游ゴシック"/>
                        </a:rPr>
                        <a:t>Amazon 等</a:t>
                      </a:r>
                    </a:p>
                  </a:txBody>
                  <a:tcPr>
                    <a:solidFill>
                      <a:srgbClr val="FFFFFF"/>
                    </a:solidFill>
                  </a:tcPr>
                </a:tc>
                <a:tc>
                  <a:txBody>
                    <a:bodyPr/>
                    <a:lstStyle/>
                    <a:p>
                      <a:pPr algn="l"/>
                      <a:r>
                        <a:rPr sz="1200" b="0">
                          <a:solidFill>
                            <a:srgbClr val="1A1A2E"/>
                          </a:solidFill>
                          <a:latin typeface="游ゴシック"/>
                        </a:rPr>
                        <a:t>¥700</a:t>
                      </a:r>
                    </a:p>
                  </a:txBody>
                  <a:tcPr>
                    <a:solidFill>
                      <a:srgbClr val="FFFFFF"/>
                    </a:solidFill>
                  </a:tcPr>
                </a:tc>
              </a:tr>
              <a:tr h="365760">
                <a:tc>
                  <a:txBody>
                    <a:bodyPr/>
                    <a:lstStyle/>
                    <a:p>
                      <a:pPr algn="l"/>
                      <a:r>
                        <a:rPr sz="1200" b="0">
                          <a:solidFill>
                            <a:srgbClr val="1A1A2E"/>
                          </a:solidFill>
                          <a:latin typeface="游ゴシック"/>
                        </a:rPr>
                        <a:t>MicroSD (16GB)</a:t>
                      </a:r>
                    </a:p>
                  </a:txBody>
                  <a:tcPr>
                    <a:solidFill>
                      <a:srgbClr val="F4F4F4"/>
                    </a:solidFill>
                  </a:tcPr>
                </a:tc>
                <a:tc>
                  <a:txBody>
                    <a:bodyPr/>
                    <a:lstStyle/>
                    <a:p>
                      <a:pPr algn="l"/>
                      <a:r>
                        <a:rPr sz="1200" b="0">
                          <a:solidFill>
                            <a:srgbClr val="1A1A2E"/>
                          </a:solidFill>
                          <a:latin typeface="游ゴシック"/>
                        </a:rPr>
                        <a:t>量販店</a:t>
                      </a:r>
                    </a:p>
                  </a:txBody>
                  <a:tcPr>
                    <a:solidFill>
                      <a:srgbClr val="F4F4F4"/>
                    </a:solidFill>
                  </a:tcPr>
                </a:tc>
                <a:tc>
                  <a:txBody>
                    <a:bodyPr/>
                    <a:lstStyle/>
                    <a:p>
                      <a:pPr algn="l"/>
                      <a:r>
                        <a:rPr sz="1200" b="0">
                          <a:solidFill>
                            <a:srgbClr val="1A1A2E"/>
                          </a:solidFill>
                          <a:latin typeface="游ゴシック"/>
                        </a:rPr>
                        <a:t>¥600</a:t>
                      </a:r>
                    </a:p>
                  </a:txBody>
                  <a:tcPr>
                    <a:solidFill>
                      <a:srgbClr val="F4F4F4"/>
                    </a:solidFill>
                  </a:tcPr>
                </a:tc>
              </a:tr>
              <a:tr h="365760">
                <a:tc>
                  <a:txBody>
                    <a:bodyPr/>
                    <a:lstStyle/>
                    <a:p>
                      <a:pPr algn="l"/>
                      <a:r>
                        <a:rPr sz="1200" b="0">
                          <a:solidFill>
                            <a:srgbClr val="1A1A2E"/>
                          </a:solidFill>
                          <a:latin typeface="游ゴシック"/>
                        </a:rPr>
                        <a:t>ジャンパワイヤ</a:t>
                      </a:r>
                    </a:p>
                  </a:txBody>
                  <a:tcPr>
                    <a:solidFill>
                      <a:srgbClr val="FFFFFF"/>
                    </a:solidFill>
                  </a:tcPr>
                </a:tc>
                <a:tc>
                  <a:txBody>
                    <a:bodyPr/>
                    <a:lstStyle/>
                    <a:p>
                      <a:pPr algn="l"/>
                      <a:r>
                        <a:rPr sz="1200" b="0">
                          <a:solidFill>
                            <a:srgbClr val="1A1A2E"/>
                          </a:solidFill>
                          <a:latin typeface="游ゴシック"/>
                        </a:rPr>
                        <a:t>秋月電子</a:t>
                      </a:r>
                    </a:p>
                  </a:txBody>
                  <a:tcPr>
                    <a:solidFill>
                      <a:srgbClr val="FFFFFF"/>
                    </a:solidFill>
                  </a:tcPr>
                </a:tc>
                <a:tc>
                  <a:txBody>
                    <a:bodyPr/>
                    <a:lstStyle/>
                    <a:p>
                      <a:pPr algn="l"/>
                      <a:r>
                        <a:rPr sz="1200" b="0">
                          <a:solidFill>
                            <a:srgbClr val="1A1A2E"/>
                          </a:solidFill>
                          <a:latin typeface="游ゴシック"/>
                        </a:rPr>
                        <a:t>¥200</a:t>
                      </a:r>
                    </a:p>
                  </a:txBody>
                  <a:tcPr>
                    <a:solidFill>
                      <a:srgbClr val="FFFFFF"/>
                    </a:solidFill>
                  </a:tcPr>
                </a:tc>
              </a:tr>
              <a:tr h="365760">
                <a:tc>
                  <a:txBody>
                    <a:bodyPr/>
                    <a:lstStyle/>
                    <a:p>
                      <a:pPr algn="l"/>
                      <a:r>
                        <a:rPr sz="1200" b="1">
                          <a:solidFill>
                            <a:srgbClr val="FFFFFF"/>
                          </a:solidFill>
                          <a:latin typeface="游ゴシック"/>
                        </a:rPr>
                        <a:t>合計</a:t>
                      </a:r>
                    </a:p>
                  </a:txBody>
                  <a:tcPr>
                    <a:solidFill>
                      <a:srgbClr val="FF6D00"/>
                    </a:solidFill>
                  </a:tcPr>
                </a:tc>
                <a:tc>
                  <a:txBody>
                    <a:bodyPr/>
                    <a:lstStyle/>
                    <a:p>
                      <a:pPr algn="l"/>
                      <a:r>
                        <a:rPr sz="1200" b="1">
                          <a:solidFill>
                            <a:srgbClr val="FFFFFF"/>
                          </a:solidFill>
                          <a:latin typeface="游ゴシック"/>
                        </a:rPr>
                        <a:t>—</a:t>
                      </a:r>
                    </a:p>
                  </a:txBody>
                  <a:tcPr>
                    <a:solidFill>
                      <a:srgbClr val="FF6D00"/>
                    </a:solidFill>
                  </a:tcPr>
                </a:tc>
                <a:tc>
                  <a:txBody>
                    <a:bodyPr/>
                    <a:lstStyle/>
                    <a:p>
                      <a:pPr algn="l"/>
                      <a:r>
                        <a:rPr sz="1200" b="1">
                          <a:solidFill>
                            <a:srgbClr val="FFFFFF"/>
                          </a:solidFill>
                          <a:latin typeface="游ゴシック"/>
                        </a:rPr>
                        <a:t>¥9,570</a:t>
                      </a:r>
                    </a:p>
                  </a:txBody>
                  <a:tcPr>
                    <a:solidFill>
                      <a:srgbClr val="FF6D00"/>
                    </a:solidFill>
                  </a:tcPr>
                </a:tc>
              </a:tr>
            </a:tbl>
          </a:graphicData>
        </a:graphic>
      </p:graphicFrame>
      <p:sp>
        <p:nvSpPr>
          <p:cNvPr id="10" name="TextBox 9"/>
          <p:cNvSpPr txBox="1"/>
          <p:nvPr/>
        </p:nvSpPr>
        <p:spPr>
          <a:xfrm>
            <a:off x="5943600" y="1005840"/>
            <a:ext cx="5925312" cy="320040"/>
          </a:xfrm>
          <a:prstGeom prst="rect">
            <a:avLst/>
          </a:prstGeom>
          <a:noFill/>
        </p:spPr>
        <p:txBody>
          <a:bodyPr wrap="square">
            <a:spAutoFit/>
          </a:bodyPr>
          <a:lstStyle/>
          <a:p>
            <a:pPr algn="l"/>
            <a:r>
              <a:rPr sz="1500" b="1" i="0">
                <a:solidFill>
                  <a:srgbClr val="0D477F"/>
                </a:solidFill>
                <a:latin typeface="游ゴシック"/>
              </a:rPr>
              <a:t>市販温度ロガーとの価格比較</a:t>
            </a:r>
          </a:p>
        </p:txBody>
      </p:sp>
      <p:graphicFrame>
        <p:nvGraphicFramePr>
          <p:cNvPr id="11" name="Table 10"/>
          <p:cNvGraphicFramePr>
            <a:graphicFrameLocks noGrp="1"/>
          </p:cNvGraphicFramePr>
          <p:nvPr/>
        </p:nvGraphicFramePr>
        <p:xfrm>
          <a:off x="5943600" y="1371600"/>
          <a:ext cx="5925312" cy="1463040"/>
        </p:xfrm>
        <a:graphic>
          <a:graphicData uri="http://schemas.openxmlformats.org/drawingml/2006/table">
            <a:tbl>
              <a:tblPr firstRow="1" bandRow="1">
                <a:tableStyleId>{5C22544A-7EE6-4342-B048-85BDC9FD1C3A}</a:tableStyleId>
              </a:tblPr>
              <a:tblGrid>
                <a:gridCol w="2560320"/>
                <a:gridCol w="1993392"/>
                <a:gridCol w="1371600"/>
              </a:tblGrid>
              <a:tr h="365760">
                <a:tc>
                  <a:txBody>
                    <a:bodyPr/>
                    <a:lstStyle/>
                    <a:p>
                      <a:pPr algn="l"/>
                      <a:r>
                        <a:rPr sz="1300" b="1">
                          <a:solidFill>
                            <a:srgbClr val="FFFFFF"/>
                          </a:solidFill>
                          <a:latin typeface="Segoe UI"/>
                        </a:rPr>
                        <a:t>カテゴリ</a:t>
                      </a:r>
                    </a:p>
                  </a:txBody>
                  <a:tcPr>
                    <a:solidFill>
                      <a:srgbClr val="0D477F"/>
                    </a:solidFill>
                  </a:tcPr>
                </a:tc>
                <a:tc>
                  <a:txBody>
                    <a:bodyPr/>
                    <a:lstStyle/>
                    <a:p>
                      <a:pPr algn="l"/>
                      <a:r>
                        <a:rPr sz="1300" b="1">
                          <a:solidFill>
                            <a:srgbClr val="FFFFFF"/>
                          </a:solidFill>
                          <a:latin typeface="Segoe UI"/>
                        </a:rPr>
                        <a:t>代表製品</a:t>
                      </a:r>
                    </a:p>
                  </a:txBody>
                  <a:tcPr>
                    <a:solidFill>
                      <a:srgbClr val="0D477F"/>
                    </a:solidFill>
                  </a:tcPr>
                </a:tc>
                <a:tc>
                  <a:txBody>
                    <a:bodyPr/>
                    <a:lstStyle/>
                    <a:p>
                      <a:pPr algn="l"/>
                      <a:r>
                        <a:rPr sz="1300" b="1">
                          <a:solidFill>
                            <a:srgbClr val="FFFFFF"/>
                          </a:solidFill>
                          <a:latin typeface="Segoe UI"/>
                        </a:rPr>
                        <a:t>概算価格</a:t>
                      </a:r>
                    </a:p>
                  </a:txBody>
                  <a:tcPr>
                    <a:solidFill>
                      <a:srgbClr val="0D477F"/>
                    </a:solidFill>
                  </a:tcPr>
                </a:tc>
              </a:tr>
              <a:tr h="365760">
                <a:tc>
                  <a:txBody>
                    <a:bodyPr/>
                    <a:lstStyle/>
                    <a:p>
                      <a:pPr algn="l"/>
                      <a:r>
                        <a:rPr sz="1200" b="1">
                          <a:solidFill>
                            <a:srgbClr val="FFFFFF"/>
                          </a:solidFill>
                          <a:latin typeface="游ゴシック"/>
                        </a:rPr>
                        <a:t>本ツール（自作）</a:t>
                      </a:r>
                    </a:p>
                  </a:txBody>
                  <a:tcPr>
                    <a:solidFill>
                      <a:srgbClr val="0D477F"/>
                    </a:solidFill>
                  </a:tcPr>
                </a:tc>
                <a:tc>
                  <a:txBody>
                    <a:bodyPr/>
                    <a:lstStyle/>
                    <a:p>
                      <a:pPr algn="l"/>
                      <a:r>
                        <a:rPr sz="1200" b="1">
                          <a:solidFill>
                            <a:srgbClr val="FFFFFF"/>
                          </a:solidFill>
                          <a:latin typeface="游ゴシック"/>
                        </a:rPr>
                        <a:t>M5Stack + MAX31855</a:t>
                      </a:r>
                    </a:p>
                  </a:txBody>
                  <a:tcPr>
                    <a:solidFill>
                      <a:srgbClr val="0D477F"/>
                    </a:solidFill>
                  </a:tcPr>
                </a:tc>
                <a:tc>
                  <a:txBody>
                    <a:bodyPr/>
                    <a:lstStyle/>
                    <a:p>
                      <a:pPr algn="l"/>
                      <a:r>
                        <a:rPr sz="1200" b="1">
                          <a:solidFill>
                            <a:srgbClr val="FFFFFF"/>
                          </a:solidFill>
                          <a:latin typeface="游ゴシック"/>
                        </a:rPr>
                        <a:t>¥9,570</a:t>
                      </a:r>
                    </a:p>
                  </a:txBody>
                  <a:tcPr>
                    <a:solidFill>
                      <a:srgbClr val="0D477F"/>
                    </a:solidFill>
                  </a:tcPr>
                </a:tc>
              </a:tr>
              <a:tr h="365760">
                <a:tc>
                  <a:txBody>
                    <a:bodyPr/>
                    <a:lstStyle/>
                    <a:p>
                      <a:pPr algn="l"/>
                      <a:r>
                        <a:rPr sz="1200" b="0">
                          <a:solidFill>
                            <a:srgbClr val="1A1A2E"/>
                          </a:solidFill>
                          <a:latin typeface="游ゴシック"/>
                        </a:rPr>
                        <a:t>標準製品</a:t>
                      </a:r>
                    </a:p>
                  </a:txBody>
                  <a:tcPr>
                    <a:solidFill>
                      <a:srgbClr val="F4F4F4"/>
                    </a:solidFill>
                  </a:tcPr>
                </a:tc>
                <a:tc>
                  <a:txBody>
                    <a:bodyPr/>
                    <a:lstStyle/>
                    <a:p>
                      <a:pPr algn="l"/>
                      <a:r>
                        <a:rPr sz="1200" b="0">
                          <a:solidFill>
                            <a:srgbClr val="1A1A2E"/>
                          </a:solidFill>
                          <a:latin typeface="游ゴシック"/>
                        </a:rPr>
                        <a:t>USB データロガー</a:t>
                      </a:r>
                    </a:p>
                  </a:txBody>
                  <a:tcPr>
                    <a:solidFill>
                      <a:srgbClr val="F4F4F4"/>
                    </a:solidFill>
                  </a:tcPr>
                </a:tc>
                <a:tc>
                  <a:txBody>
                    <a:bodyPr/>
                    <a:lstStyle/>
                    <a:p>
                      <a:pPr algn="l"/>
                      <a:r>
                        <a:rPr sz="1200" b="0">
                          <a:solidFill>
                            <a:srgbClr val="1A1A2E"/>
                          </a:solidFill>
                          <a:latin typeface="游ゴシック"/>
                        </a:rPr>
                        <a:t>¥30,000〜¥50,000</a:t>
                      </a:r>
                    </a:p>
                  </a:txBody>
                  <a:tcPr>
                    <a:solidFill>
                      <a:srgbClr val="F4F4F4"/>
                    </a:solidFill>
                  </a:tcPr>
                </a:tc>
              </a:tr>
              <a:tr h="365760">
                <a:tc>
                  <a:txBody>
                    <a:bodyPr/>
                    <a:lstStyle/>
                    <a:p>
                      <a:pPr algn="l"/>
                      <a:r>
                        <a:rPr sz="1200" b="0">
                          <a:solidFill>
                            <a:srgbClr val="1A1A2E"/>
                          </a:solidFill>
                          <a:latin typeface="游ゴシック"/>
                        </a:rPr>
                        <a:t>プロフェッショナル</a:t>
                      </a:r>
                    </a:p>
                  </a:txBody>
                  <a:tcPr>
                    <a:solidFill>
                      <a:srgbClr val="FFFFFF"/>
                    </a:solidFill>
                  </a:tcPr>
                </a:tc>
                <a:tc>
                  <a:txBody>
                    <a:bodyPr/>
                    <a:lstStyle/>
                    <a:p>
                      <a:pPr algn="l"/>
                      <a:r>
                        <a:rPr sz="1200" b="0">
                          <a:solidFill>
                            <a:srgbClr val="1A1A2E"/>
                          </a:solidFill>
                          <a:latin typeface="游ゴシック"/>
                        </a:rPr>
                        <a:t>産業用データロガー</a:t>
                      </a:r>
                    </a:p>
                  </a:txBody>
                  <a:tcPr>
                    <a:solidFill>
                      <a:srgbClr val="FFFFFF"/>
                    </a:solidFill>
                  </a:tcPr>
                </a:tc>
                <a:tc>
                  <a:txBody>
                    <a:bodyPr/>
                    <a:lstStyle/>
                    <a:p>
                      <a:pPr algn="l"/>
                      <a:r>
                        <a:rPr sz="1200" b="0">
                          <a:solidFill>
                            <a:srgbClr val="1A1A2E"/>
                          </a:solidFill>
                          <a:latin typeface="游ゴシック"/>
                        </a:rPr>
                        <a:t>¥100,000〜¥250,000+</a:t>
                      </a:r>
                    </a:p>
                  </a:txBody>
                  <a:tcPr>
                    <a:solidFill>
                      <a:srgbClr val="FFFFFF"/>
                    </a:solidFill>
                  </a:tcPr>
                </a:tc>
              </a:tr>
            </a:tbl>
          </a:graphicData>
        </a:graphic>
      </p:graphicFrame>
      <p:sp>
        <p:nvSpPr>
          <p:cNvPr id="12" name="Rectangle 11"/>
          <p:cNvSpPr/>
          <p:nvPr/>
        </p:nvSpPr>
        <p:spPr>
          <a:xfrm>
            <a:off x="320040" y="3977639"/>
            <a:ext cx="11521440" cy="1280160"/>
          </a:xfrm>
          <a:prstGeom prst="rect">
            <a:avLst/>
          </a:prstGeom>
          <a:solidFill>
            <a:srgbClr val="0D477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7200" y="4069080"/>
            <a:ext cx="11247120" cy="548640"/>
          </a:xfrm>
          <a:prstGeom prst="rect">
            <a:avLst/>
          </a:prstGeom>
          <a:noFill/>
        </p:spPr>
        <p:txBody>
          <a:bodyPr wrap="square">
            <a:spAutoFit/>
          </a:bodyPr>
          <a:lstStyle/>
          <a:p>
            <a:pPr algn="ctr"/>
            <a:r>
              <a:rPr sz="2200" b="1" i="0">
                <a:solidFill>
                  <a:srgbClr val="FFFFFF"/>
                </a:solidFill>
                <a:latin typeface="游ゴシック"/>
              </a:rPr>
              <a:t>標準製品の 1/3.1 の価格で同等機能を実現</a:t>
            </a:r>
          </a:p>
        </p:txBody>
      </p:sp>
      <p:sp>
        <p:nvSpPr>
          <p:cNvPr id="14" name="TextBox 13"/>
          <p:cNvSpPr txBox="1"/>
          <p:nvPr/>
        </p:nvSpPr>
        <p:spPr>
          <a:xfrm>
            <a:off x="457200" y="4709160"/>
            <a:ext cx="11247120" cy="457200"/>
          </a:xfrm>
          <a:prstGeom prst="rect">
            <a:avLst/>
          </a:prstGeom>
          <a:noFill/>
        </p:spPr>
        <p:txBody>
          <a:bodyPr wrap="square">
            <a:spAutoFit/>
          </a:bodyPr>
          <a:lstStyle/>
          <a:p>
            <a:pPr algn="ctr"/>
            <a:r>
              <a:rPr sz="1500" b="0" i="0">
                <a:solidFill>
                  <a:srgbClr val="FF6D00"/>
                </a:solidFill>
                <a:latin typeface="游ゴシック"/>
              </a:rPr>
              <a:t>本ツール ¥9,570 vs 標準ロガー ¥30,000〜 → 最大 ¥20,000 以上削減</a:t>
            </a:r>
          </a:p>
        </p:txBody>
      </p:sp>
      <p:sp>
        <p:nvSpPr>
          <p:cNvPr id="15" name="TextBox 14"/>
          <p:cNvSpPr txBox="1"/>
          <p:nvPr/>
        </p:nvSpPr>
        <p:spPr>
          <a:xfrm>
            <a:off x="457200" y="5212080"/>
            <a:ext cx="11247120" cy="320040"/>
          </a:xfrm>
          <a:prstGeom prst="rect">
            <a:avLst/>
          </a:prstGeom>
          <a:noFill/>
        </p:spPr>
        <p:txBody>
          <a:bodyPr wrap="square">
            <a:spAutoFit/>
          </a:bodyPr>
          <a:lstStyle/>
          <a:p>
            <a:pPr algn="ctr"/>
            <a:r>
              <a:rPr sz="1200" b="0" i="0">
                <a:solidFill>
                  <a:srgbClr val="FFFFFF"/>
                </a:solidFill>
                <a:latin typeface="游ゴシック"/>
              </a:rPr>
              <a:t>（SD 自動記録 ・ LCD リアルタイム表示 ・ 上下限アラーム機能 完全実装）</a:t>
            </a:r>
          </a:p>
        </p:txBody>
      </p:sp>
      <p:sp>
        <p:nvSpPr>
          <p:cNvPr id="16" name="Rectangle 15"/>
          <p:cNvSpPr/>
          <p:nvPr/>
        </p:nvSpPr>
        <p:spPr>
          <a:xfrm>
            <a:off x="320040" y="5349240"/>
            <a:ext cx="11521440" cy="914400"/>
          </a:xfrm>
          <a:prstGeom prst="rect">
            <a:avLst/>
          </a:prstGeom>
          <a:solidFill>
            <a:srgbClr val="F4F4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02920" y="5413248"/>
            <a:ext cx="11155680" cy="749808"/>
          </a:xfrm>
          <a:prstGeom prst="rect">
            <a:avLst/>
          </a:prstGeom>
          <a:noFill/>
        </p:spPr>
        <p:txBody>
          <a:bodyPr wrap="square">
            <a:spAutoFit/>
          </a:bodyPr>
          <a:lstStyle/>
          <a:p>
            <a:pPr algn="ctr"/>
            <a:r>
              <a:rPr sz="1200" b="0" i="0">
                <a:solidFill>
                  <a:srgbClr val="1A1A2E"/>
                </a:solidFill>
                <a:latin typeface="游ゴシック"/>
              </a:rPr>
              <a:t>✓ SD 自動記録  ✓ LCD リアルタイム表示  ✓ 上下限アラーム（ビープ音）</a:t>
            </a:r>
          </a:p>
          <a:p>
            <a:pPr algn="ctr"/>
            <a:r>
              <a:rPr sz="1200" b="0" i="0">
                <a:solidFill>
                  <a:srgbClr val="1A1A2E"/>
                </a:solidFill>
                <a:latin typeface="游ゴシック"/>
              </a:rPr>
              <a:t>✓ スタンドアロン動作  ✓ EEPROM 設定保存  ✓ 統計解析（平均・σ・Max/Min）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914400"/>
          </a:xfrm>
          <a:prstGeom prst="rect">
            <a:avLst/>
          </a:prstGeom>
          <a:solidFill>
            <a:srgbClr val="0D477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73152"/>
            <a:ext cx="11430000" cy="502920"/>
          </a:xfrm>
          <a:prstGeom prst="rect">
            <a:avLst/>
          </a:prstGeom>
          <a:noFill/>
        </p:spPr>
        <p:txBody>
          <a:bodyPr wrap="square">
            <a:spAutoFit/>
          </a:bodyPr>
          <a:lstStyle/>
          <a:p>
            <a:pPr algn="l"/>
            <a:r>
              <a:rPr sz="2400" b="1" i="0">
                <a:solidFill>
                  <a:srgbClr val="FFFFFF"/>
                </a:solidFill>
                <a:latin typeface="Segoe UI"/>
              </a:rPr>
              <a:t>システム全体像</a:t>
            </a:r>
          </a:p>
        </p:txBody>
      </p:sp>
      <p:sp>
        <p:nvSpPr>
          <p:cNvPr id="4" name="TextBox 3"/>
          <p:cNvSpPr txBox="1"/>
          <p:nvPr/>
        </p:nvSpPr>
        <p:spPr>
          <a:xfrm>
            <a:off x="274320" y="594360"/>
            <a:ext cx="11430000" cy="274320"/>
          </a:xfrm>
          <a:prstGeom prst="rect">
            <a:avLst/>
          </a:prstGeom>
          <a:noFill/>
        </p:spPr>
        <p:txBody>
          <a:bodyPr wrap="square">
            <a:spAutoFit/>
          </a:bodyPr>
          <a:lstStyle/>
          <a:p>
            <a:pPr algn="l"/>
            <a:r>
              <a:rPr sz="1200" b="0" i="0">
                <a:solidFill>
                  <a:srgbClr val="FF6D00"/>
                </a:solidFill>
                <a:latin typeface="游ゴシック"/>
              </a:rPr>
              <a:t>Section 1  プロジェクト概要</a:t>
            </a:r>
          </a:p>
        </p:txBody>
      </p:sp>
      <p:sp>
        <p:nvSpPr>
          <p:cNvPr id="5" name="Rectangle 4"/>
          <p:cNvSpPr/>
          <p:nvPr/>
        </p:nvSpPr>
        <p:spPr>
          <a:xfrm>
            <a:off x="0" y="6309360"/>
            <a:ext cx="12188952" cy="548640"/>
          </a:xfrm>
          <a:prstGeom prst="rect">
            <a:avLst/>
          </a:prstGeom>
          <a:solidFill>
            <a:srgbClr val="0D477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74320" y="6336792"/>
            <a:ext cx="7315200" cy="320040"/>
          </a:xfrm>
          <a:prstGeom prst="rect">
            <a:avLst/>
          </a:prstGeom>
          <a:noFill/>
        </p:spPr>
        <p:txBody>
          <a:bodyPr wrap="square">
            <a:spAutoFit/>
          </a:bodyPr>
          <a:lstStyle/>
          <a:p>
            <a:pPr algn="l"/>
            <a:r>
              <a:rPr sz="1100" b="0" i="0">
                <a:solidFill>
                  <a:srgbClr val="FF6D00"/>
                </a:solidFill>
                <a:latin typeface="Segoe UI"/>
              </a:rPr>
              <a:t>Simple Temperature Evaluation Tool</a:t>
            </a:r>
          </a:p>
        </p:txBody>
      </p:sp>
      <p:sp>
        <p:nvSpPr>
          <p:cNvPr id="7" name="TextBox 6"/>
          <p:cNvSpPr txBox="1"/>
          <p:nvPr/>
        </p:nvSpPr>
        <p:spPr>
          <a:xfrm>
            <a:off x="10515600" y="6336792"/>
            <a:ext cx="1371600" cy="320040"/>
          </a:xfrm>
          <a:prstGeom prst="rect">
            <a:avLst/>
          </a:prstGeom>
          <a:noFill/>
        </p:spPr>
        <p:txBody>
          <a:bodyPr wrap="square">
            <a:spAutoFit/>
          </a:bodyPr>
          <a:lstStyle/>
          <a:p>
            <a:pPr algn="r"/>
            <a:r>
              <a:rPr sz="1100" b="0" i="0">
                <a:solidFill>
                  <a:srgbClr val="FFFFFF"/>
                </a:solidFill>
                <a:latin typeface="Segoe UI"/>
              </a:rPr>
              <a:t>5</a:t>
            </a:r>
          </a:p>
        </p:txBody>
      </p:sp>
      <p:sp>
        <p:nvSpPr>
          <p:cNvPr id="8" name="Rectangle 7"/>
          <p:cNvSpPr/>
          <p:nvPr/>
        </p:nvSpPr>
        <p:spPr>
          <a:xfrm>
            <a:off x="320040" y="1051560"/>
            <a:ext cx="3200400" cy="5029200"/>
          </a:xfrm>
          <a:prstGeom prst="rect">
            <a:avLst/>
          </a:prstGeom>
          <a:solidFill>
            <a:srgbClr val="F4F4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11480" y="1143000"/>
            <a:ext cx="3017520" cy="365760"/>
          </a:xfrm>
          <a:prstGeom prst="rect">
            <a:avLst/>
          </a:prstGeom>
          <a:noFill/>
        </p:spPr>
        <p:txBody>
          <a:bodyPr wrap="square">
            <a:spAutoFit/>
          </a:bodyPr>
          <a:lstStyle/>
          <a:p>
            <a:pPr algn="l"/>
            <a:r>
              <a:rPr sz="1400" b="1" i="0">
                <a:solidFill>
                  <a:srgbClr val="0D477F"/>
                </a:solidFill>
                <a:latin typeface="游ゴシック"/>
              </a:rPr>
              <a:t>入力</a:t>
            </a:r>
          </a:p>
        </p:txBody>
      </p:sp>
      <p:sp>
        <p:nvSpPr>
          <p:cNvPr id="10" name="TextBox 9"/>
          <p:cNvSpPr txBox="1"/>
          <p:nvPr/>
        </p:nvSpPr>
        <p:spPr>
          <a:xfrm>
            <a:off x="457200" y="1600200"/>
            <a:ext cx="2926080" cy="4206240"/>
          </a:xfrm>
          <a:prstGeom prst="rect">
            <a:avLst/>
          </a:prstGeom>
          <a:noFill/>
        </p:spPr>
        <p:txBody>
          <a:bodyPr wrap="square">
            <a:spAutoFit/>
          </a:bodyPr>
          <a:lstStyle/>
          <a:p>
            <a:pPr algn="ctr"/>
            <a:r>
              <a:rPr sz="1300" b="0" i="0">
                <a:solidFill>
                  <a:srgbClr val="1A1A2E"/>
                </a:solidFill>
                <a:latin typeface="游ゴシック"/>
              </a:rPr>
              <a:t>K型熱電対</a:t>
            </a:r>
          </a:p>
          <a:p>
            <a:pPr algn="ctr"/>
            <a:r>
              <a:rPr sz="1300" b="0" i="0">
                <a:solidFill>
                  <a:srgbClr val="1A1A2E"/>
                </a:solidFill>
                <a:latin typeface="游ゴシック"/>
              </a:rPr>
              <a:t>↓</a:t>
            </a:r>
          </a:p>
          <a:p>
            <a:pPr algn="ctr"/>
            <a:r>
              <a:rPr sz="1300" b="0" i="0">
                <a:solidFill>
                  <a:srgbClr val="1A1A2E"/>
                </a:solidFill>
                <a:latin typeface="游ゴシック"/>
              </a:rPr>
              <a:t>MAX31855</a:t>
            </a:r>
          </a:p>
          <a:p>
            <a:pPr algn="ctr"/>
            <a:r>
              <a:rPr sz="1300" b="0" i="0">
                <a:solidFill>
                  <a:srgbClr val="1A1A2E"/>
                </a:solidFill>
                <a:latin typeface="游ゴシック"/>
              </a:rPr>
              <a:t>↓</a:t>
            </a:r>
          </a:p>
          <a:p>
            <a:pPr algn="ctr"/>
            <a:r>
              <a:rPr sz="1300" b="0" i="0">
                <a:solidFill>
                  <a:srgbClr val="1A1A2E"/>
                </a:solidFill>
                <a:latin typeface="游ゴシック"/>
              </a:rPr>
              <a:t>GPIO5 (CS)</a:t>
            </a:r>
          </a:p>
          <a:p>
            <a:pPr algn="ctr"/>
            <a:r>
              <a:rPr sz="1300" b="0" i="0">
                <a:solidFill>
                  <a:srgbClr val="1A1A2E"/>
                </a:solidFill>
                <a:latin typeface="游ゴシック"/>
              </a:rPr>
              <a:t/>
            </a:r>
          </a:p>
          <a:p>
            <a:pPr algn="ctr"/>
            <a:r>
              <a:rPr sz="1300" b="0" i="0">
                <a:solidFill>
                  <a:srgbClr val="1A1A2E"/>
                </a:solidFill>
                <a:latin typeface="游ゴシック"/>
              </a:rPr>
              <a:t>電源:</a:t>
            </a:r>
          </a:p>
          <a:p>
            <a:pPr algn="ctr"/>
            <a:r>
              <a:rPr sz="1300" b="0" i="0">
                <a:solidFill>
                  <a:srgbClr val="1A1A2E"/>
                </a:solidFill>
                <a:latin typeface="游ゴシック"/>
              </a:rPr>
              <a:t>USB-C or</a:t>
            </a:r>
          </a:p>
          <a:p>
            <a:pPr algn="ctr"/>
            <a:r>
              <a:rPr sz="1300" b="0" i="0">
                <a:solidFill>
                  <a:srgbClr val="1A1A2E"/>
                </a:solidFill>
                <a:latin typeface="游ゴシック"/>
              </a:rPr>
              <a:t>バッテリー</a:t>
            </a:r>
          </a:p>
        </p:txBody>
      </p:sp>
      <p:sp>
        <p:nvSpPr>
          <p:cNvPr id="11" name="TextBox 10"/>
          <p:cNvSpPr txBox="1"/>
          <p:nvPr/>
        </p:nvSpPr>
        <p:spPr>
          <a:xfrm>
            <a:off x="3566160" y="3200400"/>
            <a:ext cx="228600" cy="457200"/>
          </a:xfrm>
          <a:prstGeom prst="rect">
            <a:avLst/>
          </a:prstGeom>
          <a:noFill/>
        </p:spPr>
        <p:txBody>
          <a:bodyPr wrap="square">
            <a:spAutoFit/>
          </a:bodyPr>
          <a:lstStyle/>
          <a:p>
            <a:pPr algn="ctr"/>
            <a:r>
              <a:rPr sz="2400" b="0" i="0">
                <a:solidFill>
                  <a:srgbClr val="FF6D00"/>
                </a:solidFill>
                <a:latin typeface="Segoe UI"/>
              </a:rPr>
              <a:t>→</a:t>
            </a:r>
          </a:p>
        </p:txBody>
      </p:sp>
      <p:sp>
        <p:nvSpPr>
          <p:cNvPr id="12" name="Rectangle 11"/>
          <p:cNvSpPr/>
          <p:nvPr/>
        </p:nvSpPr>
        <p:spPr>
          <a:xfrm>
            <a:off x="3840480" y="1051560"/>
            <a:ext cx="4572000" cy="5029200"/>
          </a:xfrm>
          <a:prstGeom prst="rect">
            <a:avLst/>
          </a:prstGeom>
          <a:solidFill>
            <a:srgbClr val="0D477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931920" y="1143000"/>
            <a:ext cx="4389120" cy="457200"/>
          </a:xfrm>
          <a:prstGeom prst="rect">
            <a:avLst/>
          </a:prstGeom>
          <a:noFill/>
        </p:spPr>
        <p:txBody>
          <a:bodyPr wrap="square">
            <a:spAutoFit/>
          </a:bodyPr>
          <a:lstStyle/>
          <a:p>
            <a:pPr algn="ctr"/>
            <a:r>
              <a:rPr sz="1600" b="1" i="0">
                <a:solidFill>
                  <a:srgbClr val="FFFFFF"/>
                </a:solidFill>
                <a:latin typeface="Segoe UI"/>
              </a:rPr>
              <a:t>M5Stack Basic V2.7</a:t>
            </a:r>
          </a:p>
        </p:txBody>
      </p:sp>
      <p:sp>
        <p:nvSpPr>
          <p:cNvPr id="14" name="TextBox 13"/>
          <p:cNvSpPr txBox="1"/>
          <p:nvPr/>
        </p:nvSpPr>
        <p:spPr>
          <a:xfrm>
            <a:off x="4023360" y="1691640"/>
            <a:ext cx="4206240" cy="4114800"/>
          </a:xfrm>
          <a:prstGeom prst="rect">
            <a:avLst/>
          </a:prstGeom>
          <a:noFill/>
        </p:spPr>
        <p:txBody>
          <a:bodyPr wrap="square">
            <a:spAutoFit/>
          </a:bodyPr>
          <a:lstStyle/>
          <a:p>
            <a:pPr algn="ctr"/>
            <a:r>
              <a:rPr sz="1300" b="0" i="0">
                <a:solidFill>
                  <a:srgbClr val="FFFFFF"/>
                </a:solidFill>
                <a:latin typeface="游ゴシック"/>
              </a:rPr>
              <a:t>ESP32 (Xtensa LX6 × 2, 240MHz)</a:t>
            </a:r>
          </a:p>
          <a:p>
            <a:pPr algn="ctr"/>
            <a:r>
              <a:rPr sz="1300" b="0" i="0">
                <a:solidFill>
                  <a:srgbClr val="FFFFFF"/>
                </a:solidFill>
                <a:latin typeface="游ゴシック"/>
              </a:rPr>
              <a:t>RAM:   520 KB SRAM</a:t>
            </a:r>
          </a:p>
          <a:p>
            <a:pPr algn="ctr"/>
            <a:r>
              <a:rPr sz="1300" b="0" i="0">
                <a:solidFill>
                  <a:srgbClr val="FFFFFF"/>
                </a:solidFill>
                <a:latin typeface="游ゴシック"/>
              </a:rPr>
              <a:t>Flash: 16 MB</a:t>
            </a:r>
          </a:p>
          <a:p>
            <a:pPr algn="ctr"/>
            <a:r>
              <a:rPr sz="1300" b="0" i="0">
                <a:solidFill>
                  <a:srgbClr val="FFFFFF"/>
                </a:solidFill>
                <a:latin typeface="游ゴシック"/>
              </a:rPr>
              <a:t>LCD:   320×240 TFT (ILI9342)</a:t>
            </a:r>
          </a:p>
          <a:p>
            <a:pPr algn="ctr"/>
            <a:r>
              <a:rPr sz="1300" b="0" i="0">
                <a:solidFill>
                  <a:srgbClr val="FFFFFF"/>
                </a:solidFill>
                <a:latin typeface="游ゴシック"/>
              </a:rPr>
              <a:t>EEPROM: 4 KB (仮想)</a:t>
            </a:r>
          </a:p>
          <a:p>
            <a:pPr algn="ctr"/>
            <a:r>
              <a:rPr sz="1300" b="0" i="0">
                <a:solidFill>
                  <a:srgbClr val="FFFFFF"/>
                </a:solidFill>
                <a:latin typeface="游ゴシック"/>
              </a:rPr>
              <a:t>Speaker 内蔵</a:t>
            </a:r>
          </a:p>
        </p:txBody>
      </p:sp>
      <p:sp>
        <p:nvSpPr>
          <p:cNvPr id="15" name="TextBox 14"/>
          <p:cNvSpPr txBox="1"/>
          <p:nvPr/>
        </p:nvSpPr>
        <p:spPr>
          <a:xfrm>
            <a:off x="8458200" y="3200400"/>
            <a:ext cx="228600" cy="457200"/>
          </a:xfrm>
          <a:prstGeom prst="rect">
            <a:avLst/>
          </a:prstGeom>
          <a:noFill/>
        </p:spPr>
        <p:txBody>
          <a:bodyPr wrap="square">
            <a:spAutoFit/>
          </a:bodyPr>
          <a:lstStyle/>
          <a:p>
            <a:pPr algn="ctr"/>
            <a:r>
              <a:rPr sz="2400" b="0" i="0">
                <a:solidFill>
                  <a:srgbClr val="FF6D00"/>
                </a:solidFill>
                <a:latin typeface="Segoe UI"/>
              </a:rPr>
              <a:t>→</a:t>
            </a:r>
          </a:p>
        </p:txBody>
      </p:sp>
      <p:sp>
        <p:nvSpPr>
          <p:cNvPr id="16" name="Rectangle 15"/>
          <p:cNvSpPr/>
          <p:nvPr/>
        </p:nvSpPr>
        <p:spPr>
          <a:xfrm>
            <a:off x="8732520" y="1051560"/>
            <a:ext cx="2926080" cy="5029200"/>
          </a:xfrm>
          <a:prstGeom prst="rect">
            <a:avLst/>
          </a:prstGeom>
          <a:solidFill>
            <a:srgbClr val="F4F4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823960" y="1143000"/>
            <a:ext cx="2743200" cy="365760"/>
          </a:xfrm>
          <a:prstGeom prst="rect">
            <a:avLst/>
          </a:prstGeom>
          <a:noFill/>
        </p:spPr>
        <p:txBody>
          <a:bodyPr wrap="square">
            <a:spAutoFit/>
          </a:bodyPr>
          <a:lstStyle/>
          <a:p>
            <a:pPr algn="l"/>
            <a:r>
              <a:rPr sz="1400" b="1" i="0">
                <a:solidFill>
                  <a:srgbClr val="0D477F"/>
                </a:solidFill>
                <a:latin typeface="游ゴシック"/>
              </a:rPr>
              <a:t>出力</a:t>
            </a:r>
          </a:p>
        </p:txBody>
      </p:sp>
      <p:sp>
        <p:nvSpPr>
          <p:cNvPr id="18" name="TextBox 17"/>
          <p:cNvSpPr txBox="1"/>
          <p:nvPr/>
        </p:nvSpPr>
        <p:spPr>
          <a:xfrm>
            <a:off x="8869680" y="1600200"/>
            <a:ext cx="2651760" cy="4206240"/>
          </a:xfrm>
          <a:prstGeom prst="rect">
            <a:avLst/>
          </a:prstGeom>
          <a:noFill/>
        </p:spPr>
        <p:txBody>
          <a:bodyPr wrap="square">
            <a:spAutoFit/>
          </a:bodyPr>
          <a:lstStyle/>
          <a:p>
            <a:pPr algn="ctr"/>
            <a:r>
              <a:rPr sz="1300" b="0" i="0">
                <a:solidFill>
                  <a:srgbClr val="1A1A2E"/>
                </a:solidFill>
                <a:latin typeface="游ゴシック"/>
              </a:rPr>
              <a:t>MicroSD</a:t>
            </a:r>
          </a:p>
          <a:p>
            <a:pPr algn="ctr"/>
            <a:r>
              <a:rPr sz="1300" b="0" i="0">
                <a:solidFill>
                  <a:srgbClr val="1A1A2E"/>
                </a:solidFill>
                <a:latin typeface="游ゴシック"/>
              </a:rPr>
              <a:t>→ CSV ファイル</a:t>
            </a:r>
          </a:p>
          <a:p>
            <a:pPr algn="ctr"/>
            <a:r>
              <a:rPr sz="1300" b="0" i="0">
                <a:solidFill>
                  <a:srgbClr val="1A1A2E"/>
                </a:solidFill>
                <a:latin typeface="游ゴシック"/>
              </a:rPr>
              <a:t/>
            </a:r>
          </a:p>
          <a:p>
            <a:pPr algn="ctr"/>
            <a:r>
              <a:rPr sz="1300" b="0" i="0">
                <a:solidFill>
                  <a:srgbClr val="1A1A2E"/>
                </a:solidFill>
                <a:latin typeface="游ゴシック"/>
              </a:rPr>
              <a:t>LCD</a:t>
            </a:r>
          </a:p>
          <a:p>
            <a:pPr algn="ctr"/>
            <a:r>
              <a:rPr sz="1300" b="0" i="0">
                <a:solidFill>
                  <a:srgbClr val="1A1A2E"/>
                </a:solidFill>
                <a:latin typeface="游ゴシック"/>
              </a:rPr>
              <a:t>→ リアルタイム表示</a:t>
            </a:r>
          </a:p>
          <a:p>
            <a:pPr algn="ctr"/>
            <a:r>
              <a:rPr sz="1300" b="0" i="0">
                <a:solidFill>
                  <a:srgbClr val="1A1A2E"/>
                </a:solidFill>
                <a:latin typeface="游ゴシック"/>
              </a:rPr>
              <a:t/>
            </a:r>
          </a:p>
          <a:p>
            <a:pPr algn="ctr"/>
            <a:r>
              <a:rPr sz="1300" b="0" i="0">
                <a:solidFill>
                  <a:srgbClr val="1A1A2E"/>
                </a:solidFill>
                <a:latin typeface="游ゴシック"/>
              </a:rPr>
              <a:t>Speaker</a:t>
            </a:r>
          </a:p>
          <a:p>
            <a:pPr algn="ctr"/>
            <a:r>
              <a:rPr sz="1300" b="0" i="0">
                <a:solidFill>
                  <a:srgbClr val="1A1A2E"/>
                </a:solidFill>
                <a:latin typeface="游ゴシック"/>
              </a:rPr>
              <a:t>→ アラーム音</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914400"/>
          </a:xfrm>
          <a:prstGeom prst="rect">
            <a:avLst/>
          </a:prstGeom>
          <a:solidFill>
            <a:srgbClr val="0D477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73152"/>
            <a:ext cx="11430000" cy="502920"/>
          </a:xfrm>
          <a:prstGeom prst="rect">
            <a:avLst/>
          </a:prstGeom>
          <a:noFill/>
        </p:spPr>
        <p:txBody>
          <a:bodyPr wrap="square">
            <a:spAutoFit/>
          </a:bodyPr>
          <a:lstStyle/>
          <a:p>
            <a:pPr algn="l"/>
            <a:r>
              <a:rPr sz="2400" b="1" i="0">
                <a:solidFill>
                  <a:srgbClr val="FFFFFF"/>
                </a:solidFill>
                <a:latin typeface="Segoe UI"/>
              </a:rPr>
              <a:t>ハードウェア構成</a:t>
            </a:r>
          </a:p>
        </p:txBody>
      </p:sp>
      <p:sp>
        <p:nvSpPr>
          <p:cNvPr id="4" name="TextBox 3"/>
          <p:cNvSpPr txBox="1"/>
          <p:nvPr/>
        </p:nvSpPr>
        <p:spPr>
          <a:xfrm>
            <a:off x="274320" y="594360"/>
            <a:ext cx="11430000" cy="274320"/>
          </a:xfrm>
          <a:prstGeom prst="rect">
            <a:avLst/>
          </a:prstGeom>
          <a:noFill/>
        </p:spPr>
        <p:txBody>
          <a:bodyPr wrap="square">
            <a:spAutoFit/>
          </a:bodyPr>
          <a:lstStyle/>
          <a:p>
            <a:pPr algn="l"/>
            <a:r>
              <a:rPr sz="1200" b="0" i="0">
                <a:solidFill>
                  <a:srgbClr val="FF6D00"/>
                </a:solidFill>
                <a:latin typeface="游ゴシック"/>
              </a:rPr>
              <a:t>Section 2  ハードウェア</a:t>
            </a:r>
          </a:p>
        </p:txBody>
      </p:sp>
      <p:sp>
        <p:nvSpPr>
          <p:cNvPr id="5" name="Rectangle 4"/>
          <p:cNvSpPr/>
          <p:nvPr/>
        </p:nvSpPr>
        <p:spPr>
          <a:xfrm>
            <a:off x="0" y="6309360"/>
            <a:ext cx="12188952" cy="548640"/>
          </a:xfrm>
          <a:prstGeom prst="rect">
            <a:avLst/>
          </a:prstGeom>
          <a:solidFill>
            <a:srgbClr val="0D477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74320" y="6336792"/>
            <a:ext cx="7315200" cy="320040"/>
          </a:xfrm>
          <a:prstGeom prst="rect">
            <a:avLst/>
          </a:prstGeom>
          <a:noFill/>
        </p:spPr>
        <p:txBody>
          <a:bodyPr wrap="square">
            <a:spAutoFit/>
          </a:bodyPr>
          <a:lstStyle/>
          <a:p>
            <a:pPr algn="l"/>
            <a:r>
              <a:rPr sz="1100" b="0" i="0">
                <a:solidFill>
                  <a:srgbClr val="FF6D00"/>
                </a:solidFill>
                <a:latin typeface="Segoe UI"/>
              </a:rPr>
              <a:t>Simple Temperature Evaluation Tool</a:t>
            </a:r>
          </a:p>
        </p:txBody>
      </p:sp>
      <p:sp>
        <p:nvSpPr>
          <p:cNvPr id="7" name="TextBox 6"/>
          <p:cNvSpPr txBox="1"/>
          <p:nvPr/>
        </p:nvSpPr>
        <p:spPr>
          <a:xfrm>
            <a:off x="10515600" y="6336792"/>
            <a:ext cx="1371600" cy="320040"/>
          </a:xfrm>
          <a:prstGeom prst="rect">
            <a:avLst/>
          </a:prstGeom>
          <a:noFill/>
        </p:spPr>
        <p:txBody>
          <a:bodyPr wrap="square">
            <a:spAutoFit/>
          </a:bodyPr>
          <a:lstStyle/>
          <a:p>
            <a:pPr algn="r"/>
            <a:r>
              <a:rPr sz="1100" b="0" i="0">
                <a:solidFill>
                  <a:srgbClr val="FFFFFF"/>
                </a:solidFill>
                <a:latin typeface="Segoe UI"/>
              </a:rPr>
              <a:t>6</a:t>
            </a:r>
          </a:p>
        </p:txBody>
      </p:sp>
      <p:graphicFrame>
        <p:nvGraphicFramePr>
          <p:cNvPr id="8" name="Table 7"/>
          <p:cNvGraphicFramePr>
            <a:graphicFrameLocks noGrp="1"/>
          </p:cNvGraphicFramePr>
          <p:nvPr/>
        </p:nvGraphicFramePr>
        <p:xfrm>
          <a:off x="320040" y="1051560"/>
          <a:ext cx="11521440" cy="3657600"/>
        </p:xfrm>
        <a:graphic>
          <a:graphicData uri="http://schemas.openxmlformats.org/drawingml/2006/table">
            <a:tbl>
              <a:tblPr firstRow="1" bandRow="1">
                <a:tableStyleId>{5C22544A-7EE6-4342-B048-85BDC9FD1C3A}</a:tableStyleId>
              </a:tblPr>
              <a:tblGrid>
                <a:gridCol w="2286000"/>
                <a:gridCol w="4114800"/>
                <a:gridCol w="5120640"/>
              </a:tblGrid>
              <a:tr h="457200">
                <a:tc>
                  <a:txBody>
                    <a:bodyPr/>
                    <a:lstStyle/>
                    <a:p>
                      <a:pPr algn="l"/>
                      <a:r>
                        <a:rPr sz="1300" b="1">
                          <a:solidFill>
                            <a:srgbClr val="FFFFFF"/>
                          </a:solidFill>
                          <a:latin typeface="Segoe UI"/>
                        </a:rPr>
                        <a:t>部品名</a:t>
                      </a:r>
                    </a:p>
                  </a:txBody>
                  <a:tcPr>
                    <a:solidFill>
                      <a:srgbClr val="0D477F"/>
                    </a:solidFill>
                  </a:tcPr>
                </a:tc>
                <a:tc>
                  <a:txBody>
                    <a:bodyPr/>
                    <a:lstStyle/>
                    <a:p>
                      <a:pPr algn="l"/>
                      <a:r>
                        <a:rPr sz="1300" b="1">
                          <a:solidFill>
                            <a:srgbClr val="FFFFFF"/>
                          </a:solidFill>
                          <a:latin typeface="Segoe UI"/>
                        </a:rPr>
                        <a:t>型番・仕様</a:t>
                      </a:r>
                    </a:p>
                  </a:txBody>
                  <a:tcPr>
                    <a:solidFill>
                      <a:srgbClr val="0D477F"/>
                    </a:solidFill>
                  </a:tcPr>
                </a:tc>
                <a:tc>
                  <a:txBody>
                    <a:bodyPr/>
                    <a:lstStyle/>
                    <a:p>
                      <a:pPr algn="l"/>
                      <a:r>
                        <a:rPr sz="1300" b="1">
                          <a:solidFill>
                            <a:srgbClr val="FFFFFF"/>
                          </a:solidFill>
                          <a:latin typeface="Segoe UI"/>
                        </a:rPr>
                        <a:t>役割</a:t>
                      </a:r>
                    </a:p>
                  </a:txBody>
                  <a:tcPr>
                    <a:solidFill>
                      <a:srgbClr val="0D477F"/>
                    </a:solidFill>
                  </a:tcPr>
                </a:tc>
              </a:tr>
              <a:tr h="457200">
                <a:tc>
                  <a:txBody>
                    <a:bodyPr/>
                    <a:lstStyle/>
                    <a:p>
                      <a:pPr algn="l"/>
                      <a:r>
                        <a:rPr sz="1200" b="0">
                          <a:solidFill>
                            <a:srgbClr val="1A1A2E"/>
                          </a:solidFill>
                          <a:latin typeface="游ゴシック"/>
                        </a:rPr>
                        <a:t>メイン基板</a:t>
                      </a:r>
                    </a:p>
                  </a:txBody>
                  <a:tcPr>
                    <a:solidFill>
                      <a:srgbClr val="FFFFFF"/>
                    </a:solidFill>
                  </a:tcPr>
                </a:tc>
                <a:tc>
                  <a:txBody>
                    <a:bodyPr/>
                    <a:lstStyle/>
                    <a:p>
                      <a:pPr algn="l"/>
                      <a:r>
                        <a:rPr sz="1200" b="0">
                          <a:solidFill>
                            <a:srgbClr val="1A1A2E"/>
                          </a:solidFill>
                          <a:latin typeface="游ゴシック"/>
                        </a:rPr>
                        <a:t>M5Stack Core2 (ESP32)</a:t>
                      </a:r>
                    </a:p>
                  </a:txBody>
                  <a:tcPr>
                    <a:solidFill>
                      <a:srgbClr val="FFFFFF"/>
                    </a:solidFill>
                  </a:tcPr>
                </a:tc>
                <a:tc>
                  <a:txBody>
                    <a:bodyPr/>
                    <a:lstStyle/>
                    <a:p>
                      <a:pPr algn="l"/>
                      <a:r>
                        <a:rPr sz="1200" b="0">
                          <a:solidFill>
                            <a:srgbClr val="1A1A2E"/>
                          </a:solidFill>
                          <a:latin typeface="游ゴシック"/>
                        </a:rPr>
                        <a:t>メイン制御・LCD・ボタン・Speaker</a:t>
                      </a:r>
                    </a:p>
                  </a:txBody>
                  <a:tcPr>
                    <a:solidFill>
                      <a:srgbClr val="FFFFFF"/>
                    </a:solidFill>
                  </a:tcPr>
                </a:tc>
              </a:tr>
              <a:tr h="457200">
                <a:tc>
                  <a:txBody>
                    <a:bodyPr/>
                    <a:lstStyle/>
                    <a:p>
                      <a:pPr algn="l"/>
                      <a:r>
                        <a:rPr sz="1200" b="0">
                          <a:solidFill>
                            <a:srgbClr val="1A1A2E"/>
                          </a:solidFill>
                          <a:latin typeface="游ゴシック"/>
                        </a:rPr>
                        <a:t>温度センサー変換</a:t>
                      </a:r>
                    </a:p>
                  </a:txBody>
                  <a:tcPr>
                    <a:solidFill>
                      <a:srgbClr val="F4F4F4"/>
                    </a:solidFill>
                  </a:tcPr>
                </a:tc>
                <a:tc>
                  <a:txBody>
                    <a:bodyPr/>
                    <a:lstStyle/>
                    <a:p>
                      <a:pPr algn="l"/>
                      <a:r>
                        <a:rPr sz="1200" b="0">
                          <a:solidFill>
                            <a:srgbClr val="1A1A2E"/>
                          </a:solidFill>
                          <a:latin typeface="游ゴシック"/>
                        </a:rPr>
                        <a:t>Adafruit MAX31855</a:t>
                      </a:r>
                    </a:p>
                  </a:txBody>
                  <a:tcPr>
                    <a:solidFill>
                      <a:srgbClr val="F4F4F4"/>
                    </a:solidFill>
                  </a:tcPr>
                </a:tc>
                <a:tc>
                  <a:txBody>
                    <a:bodyPr/>
                    <a:lstStyle/>
                    <a:p>
                      <a:pPr algn="l"/>
                      <a:r>
                        <a:rPr sz="1200" b="0">
                          <a:solidFill>
                            <a:srgbClr val="1A1A2E"/>
                          </a:solidFill>
                          <a:latin typeface="游ゴシック"/>
                        </a:rPr>
                        <a:t>K型熱電対→デジタル変換 (SPI)</a:t>
                      </a:r>
                    </a:p>
                  </a:txBody>
                  <a:tcPr>
                    <a:solidFill>
                      <a:srgbClr val="F4F4F4"/>
                    </a:solidFill>
                  </a:tcPr>
                </a:tc>
              </a:tr>
              <a:tr h="457200">
                <a:tc>
                  <a:txBody>
                    <a:bodyPr/>
                    <a:lstStyle/>
                    <a:p>
                      <a:pPr algn="l"/>
                      <a:r>
                        <a:rPr sz="1200" b="0">
                          <a:solidFill>
                            <a:srgbClr val="1A1A2E"/>
                          </a:solidFill>
                          <a:latin typeface="游ゴシック"/>
                        </a:rPr>
                        <a:t>熱電対</a:t>
                      </a:r>
                    </a:p>
                  </a:txBody>
                  <a:tcPr>
                    <a:solidFill>
                      <a:srgbClr val="FFFFFF"/>
                    </a:solidFill>
                  </a:tcPr>
                </a:tc>
                <a:tc>
                  <a:txBody>
                    <a:bodyPr/>
                    <a:lstStyle/>
                    <a:p>
                      <a:pPr algn="l"/>
                      <a:r>
                        <a:rPr sz="1200" b="0">
                          <a:solidFill>
                            <a:srgbClr val="1A1A2E"/>
                          </a:solidFill>
                          <a:latin typeface="游ゴシック"/>
                        </a:rPr>
                        <a:t>K型 (∅1.0mm 等)</a:t>
                      </a:r>
                    </a:p>
                  </a:txBody>
                  <a:tcPr>
                    <a:solidFill>
                      <a:srgbClr val="FFFFFF"/>
                    </a:solidFill>
                  </a:tcPr>
                </a:tc>
                <a:tc>
                  <a:txBody>
                    <a:bodyPr/>
                    <a:lstStyle/>
                    <a:p>
                      <a:pPr algn="l"/>
                      <a:r>
                        <a:rPr sz="1200" b="0">
                          <a:solidFill>
                            <a:srgbClr val="1A1A2E"/>
                          </a:solidFill>
                          <a:latin typeface="游ゴシック"/>
                        </a:rPr>
                        <a:t>温度計測 (−200〜+1350°C)</a:t>
                      </a:r>
                    </a:p>
                  </a:txBody>
                  <a:tcPr>
                    <a:solidFill>
                      <a:srgbClr val="FFFFFF"/>
                    </a:solidFill>
                  </a:tcPr>
                </a:tc>
              </a:tr>
              <a:tr h="457200">
                <a:tc>
                  <a:txBody>
                    <a:bodyPr/>
                    <a:lstStyle/>
                    <a:p>
                      <a:pPr algn="l"/>
                      <a:r>
                        <a:rPr sz="1200" b="0">
                          <a:solidFill>
                            <a:srgbClr val="1A1A2E"/>
                          </a:solidFill>
                          <a:latin typeface="游ゴシック"/>
                        </a:rPr>
                        <a:t>ストレージ</a:t>
                      </a:r>
                    </a:p>
                  </a:txBody>
                  <a:tcPr>
                    <a:solidFill>
                      <a:srgbClr val="F4F4F4"/>
                    </a:solidFill>
                  </a:tcPr>
                </a:tc>
                <a:tc>
                  <a:txBody>
                    <a:bodyPr/>
                    <a:lstStyle/>
                    <a:p>
                      <a:pPr algn="l"/>
                      <a:r>
                        <a:rPr sz="1200" b="0">
                          <a:solidFill>
                            <a:srgbClr val="1A1A2E"/>
                          </a:solidFill>
                          <a:latin typeface="游ゴシック"/>
                        </a:rPr>
                        <a:t>MicroSD カード (FAT32)</a:t>
                      </a:r>
                    </a:p>
                  </a:txBody>
                  <a:tcPr>
                    <a:solidFill>
                      <a:srgbClr val="F4F4F4"/>
                    </a:solidFill>
                  </a:tcPr>
                </a:tc>
                <a:tc>
                  <a:txBody>
                    <a:bodyPr/>
                    <a:lstStyle/>
                    <a:p>
                      <a:pPr algn="l"/>
                      <a:r>
                        <a:rPr sz="1200" b="0">
                          <a:solidFill>
                            <a:srgbClr val="1A1A2E"/>
                          </a:solidFill>
                          <a:latin typeface="游ゴシック"/>
                        </a:rPr>
                        <a:t>CSV データ記録</a:t>
                      </a:r>
                    </a:p>
                  </a:txBody>
                  <a:tcPr>
                    <a:solidFill>
                      <a:srgbClr val="F4F4F4"/>
                    </a:solidFill>
                  </a:tcPr>
                </a:tc>
              </a:tr>
              <a:tr h="457200">
                <a:tc>
                  <a:txBody>
                    <a:bodyPr/>
                    <a:lstStyle/>
                    <a:p>
                      <a:pPr algn="l"/>
                      <a:r>
                        <a:rPr sz="1200" b="0">
                          <a:solidFill>
                            <a:srgbClr val="1A1A2E"/>
                          </a:solidFill>
                          <a:latin typeface="游ゴシック"/>
                        </a:rPr>
                        <a:t>不揮発メモリ</a:t>
                      </a:r>
                    </a:p>
                  </a:txBody>
                  <a:tcPr>
                    <a:solidFill>
                      <a:srgbClr val="FFFFFF"/>
                    </a:solidFill>
                  </a:tcPr>
                </a:tc>
                <a:tc>
                  <a:txBody>
                    <a:bodyPr/>
                    <a:lstStyle/>
                    <a:p>
                      <a:pPr algn="l"/>
                      <a:r>
                        <a:rPr sz="1200" b="0">
                          <a:solidFill>
                            <a:srgbClr val="1A1A2E"/>
                          </a:solidFill>
                          <a:latin typeface="游ゴシック"/>
                        </a:rPr>
                        <a:t>ESP32 内蔵 EEPROM 仮想 (4KB)</a:t>
                      </a:r>
                    </a:p>
                  </a:txBody>
                  <a:tcPr>
                    <a:solidFill>
                      <a:srgbClr val="FFFFFF"/>
                    </a:solidFill>
                  </a:tcPr>
                </a:tc>
                <a:tc>
                  <a:txBody>
                    <a:bodyPr/>
                    <a:lstStyle/>
                    <a:p>
                      <a:pPr algn="l"/>
                      <a:r>
                        <a:rPr sz="1200" b="0">
                          <a:solidFill>
                            <a:srgbClr val="1A1A2E"/>
                          </a:solidFill>
                          <a:latin typeface="游ゴシック"/>
                        </a:rPr>
                        <a:t>アラーム設定値の保存</a:t>
                      </a:r>
                    </a:p>
                  </a:txBody>
                  <a:tcPr>
                    <a:solidFill>
                      <a:srgbClr val="FFFFFF"/>
                    </a:solidFill>
                  </a:tcPr>
                </a:tc>
              </a:tr>
              <a:tr h="457200">
                <a:tc>
                  <a:txBody>
                    <a:bodyPr/>
                    <a:lstStyle/>
                    <a:p>
                      <a:pPr algn="l"/>
                      <a:r>
                        <a:rPr sz="1200" b="0">
                          <a:solidFill>
                            <a:srgbClr val="1A1A2E"/>
                          </a:solidFill>
                          <a:latin typeface="游ゴシック"/>
                        </a:rPr>
                        <a:t>電源</a:t>
                      </a:r>
                    </a:p>
                  </a:txBody>
                  <a:tcPr>
                    <a:solidFill>
                      <a:srgbClr val="F4F4F4"/>
                    </a:solidFill>
                  </a:tcPr>
                </a:tc>
                <a:tc>
                  <a:txBody>
                    <a:bodyPr/>
                    <a:lstStyle/>
                    <a:p>
                      <a:pPr algn="l"/>
                      <a:r>
                        <a:rPr sz="1200" b="0">
                          <a:solidFill>
                            <a:srgbClr val="1A1A2E"/>
                          </a:solidFill>
                          <a:latin typeface="游ゴシック"/>
                        </a:rPr>
                        <a:t>USB-C 5V or Lipo バッテリー</a:t>
                      </a:r>
                    </a:p>
                  </a:txBody>
                  <a:tcPr>
                    <a:solidFill>
                      <a:srgbClr val="F4F4F4"/>
                    </a:solidFill>
                  </a:tcPr>
                </a:tc>
                <a:tc>
                  <a:txBody>
                    <a:bodyPr/>
                    <a:lstStyle/>
                    <a:p>
                      <a:pPr algn="l"/>
                      <a:r>
                        <a:rPr sz="1200" b="0">
                          <a:solidFill>
                            <a:srgbClr val="1A1A2E"/>
                          </a:solidFill>
                          <a:latin typeface="游ゴシック"/>
                        </a:rPr>
                        <a:t>電源供給</a:t>
                      </a:r>
                    </a:p>
                  </a:txBody>
                  <a:tcPr>
                    <a:solidFill>
                      <a:srgbClr val="F4F4F4"/>
                    </a:solidFill>
                  </a:tcPr>
                </a:tc>
              </a:tr>
              <a:tr h="457200">
                <a:tc>
                  <a:txBody>
                    <a:bodyPr/>
                    <a:lstStyle/>
                    <a:p>
                      <a:pPr algn="l"/>
                      <a:r>
                        <a:rPr sz="1200" b="0">
                          <a:solidFill>
                            <a:srgbClr val="1A1A2E"/>
                          </a:solidFill>
                          <a:latin typeface="游ゴシック"/>
                        </a:rPr>
                        <a:t>接続</a:t>
                      </a:r>
                    </a:p>
                  </a:txBody>
                  <a:tcPr>
                    <a:solidFill>
                      <a:srgbClr val="FFFFFF"/>
                    </a:solidFill>
                  </a:tcPr>
                </a:tc>
                <a:tc>
                  <a:txBody>
                    <a:bodyPr/>
                    <a:lstStyle/>
                    <a:p>
                      <a:pPr algn="l"/>
                      <a:r>
                        <a:rPr sz="1200" b="0">
                          <a:solidFill>
                            <a:srgbClr val="1A1A2E"/>
                          </a:solidFill>
                          <a:latin typeface="游ゴシック"/>
                        </a:rPr>
                        <a:t>ジャンパワイヤ + ブレッドボード</a:t>
                      </a:r>
                    </a:p>
                  </a:txBody>
                  <a:tcPr>
                    <a:solidFill>
                      <a:srgbClr val="FFFFFF"/>
                    </a:solidFill>
                  </a:tcPr>
                </a:tc>
                <a:tc>
                  <a:txBody>
                    <a:bodyPr/>
                    <a:lstStyle/>
                    <a:p>
                      <a:pPr algn="l"/>
                      <a:r>
                        <a:rPr sz="1200" b="0">
                          <a:solidFill>
                            <a:srgbClr val="1A1A2E"/>
                          </a:solidFill>
                          <a:latin typeface="游ゴシック"/>
                        </a:rPr>
                        <a:t>センサー配線（ハンダ不要）</a:t>
                      </a:r>
                    </a:p>
                  </a:txBody>
                  <a:tcPr>
                    <a:solidFill>
                      <a:srgbClr val="FFFFFF"/>
                    </a:solidFill>
                  </a:tcPr>
                </a:tc>
              </a:tr>
            </a:tbl>
          </a:graphicData>
        </a:graphic>
      </p:graphicFrame>
      <p:sp>
        <p:nvSpPr>
          <p:cNvPr id="9" name="TextBox 8"/>
          <p:cNvSpPr txBox="1"/>
          <p:nvPr/>
        </p:nvSpPr>
        <p:spPr>
          <a:xfrm>
            <a:off x="320040" y="5166360"/>
            <a:ext cx="11521440" cy="365760"/>
          </a:xfrm>
          <a:prstGeom prst="rect">
            <a:avLst/>
          </a:prstGeom>
          <a:noFill/>
        </p:spPr>
        <p:txBody>
          <a:bodyPr wrap="square">
            <a:spAutoFit/>
          </a:bodyPr>
          <a:lstStyle/>
          <a:p>
            <a:pPr algn="l"/>
            <a:r>
              <a:rPr sz="1200" b="0" i="1">
                <a:solidFill>
                  <a:srgbClr val="999999"/>
                </a:solidFill>
                <a:latin typeface="游ゴシック"/>
              </a:rPr>
              <a:t>※ MicroSD ジャケットは M5Stack 本体内蔵。MAX31855 は別途 SPI 接続ブレークアウト基板を使用。</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914400"/>
          </a:xfrm>
          <a:prstGeom prst="rect">
            <a:avLst/>
          </a:prstGeom>
          <a:solidFill>
            <a:srgbClr val="0D477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73152"/>
            <a:ext cx="11430000" cy="502920"/>
          </a:xfrm>
          <a:prstGeom prst="rect">
            <a:avLst/>
          </a:prstGeom>
          <a:noFill/>
        </p:spPr>
        <p:txBody>
          <a:bodyPr wrap="square">
            <a:spAutoFit/>
          </a:bodyPr>
          <a:lstStyle/>
          <a:p>
            <a:pPr algn="l"/>
            <a:r>
              <a:rPr sz="2400" b="1" i="0">
                <a:solidFill>
                  <a:srgbClr val="FFFFFF"/>
                </a:solidFill>
                <a:latin typeface="Segoe UI"/>
              </a:rPr>
              <a:t>配線・ピン割当</a:t>
            </a:r>
          </a:p>
        </p:txBody>
      </p:sp>
      <p:sp>
        <p:nvSpPr>
          <p:cNvPr id="4" name="TextBox 3"/>
          <p:cNvSpPr txBox="1"/>
          <p:nvPr/>
        </p:nvSpPr>
        <p:spPr>
          <a:xfrm>
            <a:off x="274320" y="594360"/>
            <a:ext cx="11430000" cy="274320"/>
          </a:xfrm>
          <a:prstGeom prst="rect">
            <a:avLst/>
          </a:prstGeom>
          <a:noFill/>
        </p:spPr>
        <p:txBody>
          <a:bodyPr wrap="square">
            <a:spAutoFit/>
          </a:bodyPr>
          <a:lstStyle/>
          <a:p>
            <a:pPr algn="l"/>
            <a:r>
              <a:rPr sz="1200" b="0" i="0">
                <a:solidFill>
                  <a:srgbClr val="FF6D00"/>
                </a:solidFill>
                <a:latin typeface="游ゴシック"/>
              </a:rPr>
              <a:t>Section 2  ハードウェア</a:t>
            </a:r>
          </a:p>
        </p:txBody>
      </p:sp>
      <p:sp>
        <p:nvSpPr>
          <p:cNvPr id="5" name="Rectangle 4"/>
          <p:cNvSpPr/>
          <p:nvPr/>
        </p:nvSpPr>
        <p:spPr>
          <a:xfrm>
            <a:off x="0" y="6309360"/>
            <a:ext cx="12188952" cy="548640"/>
          </a:xfrm>
          <a:prstGeom prst="rect">
            <a:avLst/>
          </a:prstGeom>
          <a:solidFill>
            <a:srgbClr val="0D477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74320" y="6336792"/>
            <a:ext cx="7315200" cy="320040"/>
          </a:xfrm>
          <a:prstGeom prst="rect">
            <a:avLst/>
          </a:prstGeom>
          <a:noFill/>
        </p:spPr>
        <p:txBody>
          <a:bodyPr wrap="square">
            <a:spAutoFit/>
          </a:bodyPr>
          <a:lstStyle/>
          <a:p>
            <a:pPr algn="l"/>
            <a:r>
              <a:rPr sz="1100" b="0" i="0">
                <a:solidFill>
                  <a:srgbClr val="FF6D00"/>
                </a:solidFill>
                <a:latin typeface="Segoe UI"/>
              </a:rPr>
              <a:t>Simple Temperature Evaluation Tool</a:t>
            </a:r>
          </a:p>
        </p:txBody>
      </p:sp>
      <p:sp>
        <p:nvSpPr>
          <p:cNvPr id="7" name="TextBox 6"/>
          <p:cNvSpPr txBox="1"/>
          <p:nvPr/>
        </p:nvSpPr>
        <p:spPr>
          <a:xfrm>
            <a:off x="10515600" y="6336792"/>
            <a:ext cx="1371600" cy="320040"/>
          </a:xfrm>
          <a:prstGeom prst="rect">
            <a:avLst/>
          </a:prstGeom>
          <a:noFill/>
        </p:spPr>
        <p:txBody>
          <a:bodyPr wrap="square">
            <a:spAutoFit/>
          </a:bodyPr>
          <a:lstStyle/>
          <a:p>
            <a:pPr algn="r"/>
            <a:r>
              <a:rPr sz="1100" b="0" i="0">
                <a:solidFill>
                  <a:srgbClr val="FFFFFF"/>
                </a:solidFill>
                <a:latin typeface="Segoe UI"/>
              </a:rPr>
              <a:t>7</a:t>
            </a:r>
          </a:p>
        </p:txBody>
      </p:sp>
      <p:sp>
        <p:nvSpPr>
          <p:cNvPr id="8" name="TextBox 7"/>
          <p:cNvSpPr txBox="1"/>
          <p:nvPr/>
        </p:nvSpPr>
        <p:spPr>
          <a:xfrm>
            <a:off x="320040" y="1051560"/>
            <a:ext cx="11521440" cy="320040"/>
          </a:xfrm>
          <a:prstGeom prst="rect">
            <a:avLst/>
          </a:prstGeom>
          <a:noFill/>
        </p:spPr>
        <p:txBody>
          <a:bodyPr wrap="square">
            <a:spAutoFit/>
          </a:bodyPr>
          <a:lstStyle/>
          <a:p>
            <a:pPr algn="l"/>
            <a:r>
              <a:rPr sz="1600" b="1" i="0">
                <a:solidFill>
                  <a:srgbClr val="0D477F"/>
                </a:solidFill>
                <a:latin typeface="游ゴシック"/>
              </a:rPr>
              <a:t>SPI バス共有（LCD + MAX31855）</a:t>
            </a:r>
          </a:p>
        </p:txBody>
      </p:sp>
      <p:graphicFrame>
        <p:nvGraphicFramePr>
          <p:cNvPr id="9" name="Table 8"/>
          <p:cNvGraphicFramePr>
            <a:graphicFrameLocks noGrp="1"/>
          </p:cNvGraphicFramePr>
          <p:nvPr/>
        </p:nvGraphicFramePr>
        <p:xfrm>
          <a:off x="320040" y="1417320"/>
          <a:ext cx="11521439" cy="2468880"/>
        </p:xfrm>
        <a:graphic>
          <a:graphicData uri="http://schemas.openxmlformats.org/drawingml/2006/table">
            <a:tbl>
              <a:tblPr firstRow="1" bandRow="1">
                <a:tableStyleId>{5C22544A-7EE6-4342-B048-85BDC9FD1C3A}</a:tableStyleId>
              </a:tblPr>
              <a:tblGrid>
                <a:gridCol w="1828800"/>
                <a:gridCol w="2286000"/>
                <a:gridCol w="3657600"/>
                <a:gridCol w="3749039"/>
              </a:tblGrid>
              <a:tr h="411480">
                <a:tc>
                  <a:txBody>
                    <a:bodyPr/>
                    <a:lstStyle/>
                    <a:p>
                      <a:pPr algn="l"/>
                      <a:r>
                        <a:rPr sz="1300" b="1">
                          <a:solidFill>
                            <a:srgbClr val="FFFFFF"/>
                          </a:solidFill>
                          <a:latin typeface="Segoe UI"/>
                        </a:rPr>
                        <a:t>GPIO</a:t>
                      </a:r>
                    </a:p>
                  </a:txBody>
                  <a:tcPr>
                    <a:solidFill>
                      <a:srgbClr val="0D477F"/>
                    </a:solidFill>
                  </a:tcPr>
                </a:tc>
                <a:tc>
                  <a:txBody>
                    <a:bodyPr/>
                    <a:lstStyle/>
                    <a:p>
                      <a:pPr algn="l"/>
                      <a:r>
                        <a:rPr sz="1300" b="1">
                          <a:solidFill>
                            <a:srgbClr val="FFFFFF"/>
                          </a:solidFill>
                          <a:latin typeface="Segoe UI"/>
                        </a:rPr>
                        <a:t>信号名</a:t>
                      </a:r>
                    </a:p>
                  </a:txBody>
                  <a:tcPr>
                    <a:solidFill>
                      <a:srgbClr val="0D477F"/>
                    </a:solidFill>
                  </a:tcPr>
                </a:tc>
                <a:tc>
                  <a:txBody>
                    <a:bodyPr/>
                    <a:lstStyle/>
                    <a:p>
                      <a:pPr algn="l"/>
                      <a:r>
                        <a:rPr sz="1300" b="1">
                          <a:solidFill>
                            <a:srgbClr val="FFFFFF"/>
                          </a:solidFill>
                          <a:latin typeface="Segoe UI"/>
                        </a:rPr>
                        <a:t>接続先</a:t>
                      </a:r>
                    </a:p>
                  </a:txBody>
                  <a:tcPr>
                    <a:solidFill>
                      <a:srgbClr val="0D477F"/>
                    </a:solidFill>
                  </a:tcPr>
                </a:tc>
                <a:tc>
                  <a:txBody>
                    <a:bodyPr/>
                    <a:lstStyle/>
                    <a:p>
                      <a:pPr algn="l"/>
                      <a:r>
                        <a:rPr sz="1300" b="1">
                          <a:solidFill>
                            <a:srgbClr val="FFFFFF"/>
                          </a:solidFill>
                          <a:latin typeface="Segoe UI"/>
                        </a:rPr>
                        <a:t>備考</a:t>
                      </a:r>
                    </a:p>
                  </a:txBody>
                  <a:tcPr>
                    <a:solidFill>
                      <a:srgbClr val="0D477F"/>
                    </a:solidFill>
                  </a:tcPr>
                </a:tc>
              </a:tr>
              <a:tr h="411480">
                <a:tc>
                  <a:txBody>
                    <a:bodyPr/>
                    <a:lstStyle/>
                    <a:p>
                      <a:pPr algn="l"/>
                      <a:r>
                        <a:rPr sz="1200" b="0">
                          <a:solidFill>
                            <a:srgbClr val="1A1A2E"/>
                          </a:solidFill>
                          <a:latin typeface="游ゴシック"/>
                        </a:rPr>
                        <a:t>GPIO 18</a:t>
                      </a:r>
                    </a:p>
                  </a:txBody>
                  <a:tcPr>
                    <a:solidFill>
                      <a:srgbClr val="FFFFFF"/>
                    </a:solidFill>
                  </a:tcPr>
                </a:tc>
                <a:tc>
                  <a:txBody>
                    <a:bodyPr/>
                    <a:lstStyle/>
                    <a:p>
                      <a:pPr algn="l"/>
                      <a:r>
                        <a:rPr sz="1200" b="0">
                          <a:solidFill>
                            <a:srgbClr val="1A1A2E"/>
                          </a:solidFill>
                          <a:latin typeface="游ゴシック"/>
                        </a:rPr>
                        <a:t>SCK (SPI Clock)</a:t>
                      </a:r>
                    </a:p>
                  </a:txBody>
                  <a:tcPr>
                    <a:solidFill>
                      <a:srgbClr val="FFFFFF"/>
                    </a:solidFill>
                  </a:tcPr>
                </a:tc>
                <a:tc>
                  <a:txBody>
                    <a:bodyPr/>
                    <a:lstStyle/>
                    <a:p>
                      <a:pPr algn="l"/>
                      <a:r>
                        <a:rPr sz="1200" b="0">
                          <a:solidFill>
                            <a:srgbClr val="1A1A2E"/>
                          </a:solidFill>
                          <a:latin typeface="游ゴシック"/>
                        </a:rPr>
                        <a:t>MAX31855 CLK</a:t>
                      </a:r>
                    </a:p>
                  </a:txBody>
                  <a:tcPr>
                    <a:solidFill>
                      <a:srgbClr val="FFFFFF"/>
                    </a:solidFill>
                  </a:tcPr>
                </a:tc>
                <a:tc>
                  <a:txBody>
                    <a:bodyPr/>
                    <a:lstStyle/>
                    <a:p>
                      <a:pPr algn="l"/>
                      <a:r>
                        <a:rPr sz="1200" b="0">
                          <a:solidFill>
                            <a:srgbClr val="1A1A2E"/>
                          </a:solidFill>
                          <a:latin typeface="游ゴシック"/>
                        </a:rPr>
                        <a:t>LCD と共有</a:t>
                      </a:r>
                    </a:p>
                  </a:txBody>
                  <a:tcPr>
                    <a:solidFill>
                      <a:srgbClr val="FFFFFF"/>
                    </a:solidFill>
                  </a:tcPr>
                </a:tc>
              </a:tr>
              <a:tr h="411480">
                <a:tc>
                  <a:txBody>
                    <a:bodyPr/>
                    <a:lstStyle/>
                    <a:p>
                      <a:pPr algn="l"/>
                      <a:r>
                        <a:rPr sz="1200" b="0">
                          <a:solidFill>
                            <a:srgbClr val="1A1A2E"/>
                          </a:solidFill>
                          <a:latin typeface="游ゴシック"/>
                        </a:rPr>
                        <a:t>GPIO 19</a:t>
                      </a:r>
                    </a:p>
                  </a:txBody>
                  <a:tcPr>
                    <a:solidFill>
                      <a:srgbClr val="F4F4F4"/>
                    </a:solidFill>
                  </a:tcPr>
                </a:tc>
                <a:tc>
                  <a:txBody>
                    <a:bodyPr/>
                    <a:lstStyle/>
                    <a:p>
                      <a:pPr algn="l"/>
                      <a:r>
                        <a:rPr sz="1200" b="0">
                          <a:solidFill>
                            <a:srgbClr val="1A1A2E"/>
                          </a:solidFill>
                          <a:latin typeface="游ゴシック"/>
                        </a:rPr>
                        <a:t>MISO (SPI Data)</a:t>
                      </a:r>
                    </a:p>
                  </a:txBody>
                  <a:tcPr>
                    <a:solidFill>
                      <a:srgbClr val="F4F4F4"/>
                    </a:solidFill>
                  </a:tcPr>
                </a:tc>
                <a:tc>
                  <a:txBody>
                    <a:bodyPr/>
                    <a:lstStyle/>
                    <a:p>
                      <a:pPr algn="l"/>
                      <a:r>
                        <a:rPr sz="1200" b="0">
                          <a:solidFill>
                            <a:srgbClr val="1A1A2E"/>
                          </a:solidFill>
                          <a:latin typeface="游ゴシック"/>
                        </a:rPr>
                        <a:t>MAX31855 DO</a:t>
                      </a:r>
                    </a:p>
                  </a:txBody>
                  <a:tcPr>
                    <a:solidFill>
                      <a:srgbClr val="F4F4F4"/>
                    </a:solidFill>
                  </a:tcPr>
                </a:tc>
                <a:tc>
                  <a:txBody>
                    <a:bodyPr/>
                    <a:lstStyle/>
                    <a:p>
                      <a:pPr algn="l"/>
                      <a:r>
                        <a:rPr sz="1200" b="0">
                          <a:solidFill>
                            <a:srgbClr val="1A1A2E"/>
                          </a:solidFill>
                          <a:latin typeface="游ゴシック"/>
                        </a:rPr>
                        <a:t>LCD と共有</a:t>
                      </a:r>
                    </a:p>
                  </a:txBody>
                  <a:tcPr>
                    <a:solidFill>
                      <a:srgbClr val="F4F4F4"/>
                    </a:solidFill>
                  </a:tcPr>
                </a:tc>
              </a:tr>
              <a:tr h="411480">
                <a:tc>
                  <a:txBody>
                    <a:bodyPr/>
                    <a:lstStyle/>
                    <a:p>
                      <a:pPr algn="l"/>
                      <a:r>
                        <a:rPr sz="1200" b="0">
                          <a:solidFill>
                            <a:srgbClr val="1A1A2E"/>
                          </a:solidFill>
                          <a:latin typeface="游ゴシック"/>
                        </a:rPr>
                        <a:t>GPIO 23</a:t>
                      </a:r>
                    </a:p>
                  </a:txBody>
                  <a:tcPr>
                    <a:solidFill>
                      <a:srgbClr val="FFFFFF"/>
                    </a:solidFill>
                  </a:tcPr>
                </a:tc>
                <a:tc>
                  <a:txBody>
                    <a:bodyPr/>
                    <a:lstStyle/>
                    <a:p>
                      <a:pPr algn="l"/>
                      <a:r>
                        <a:rPr sz="1200" b="0">
                          <a:solidFill>
                            <a:srgbClr val="1A1A2E"/>
                          </a:solidFill>
                          <a:latin typeface="游ゴシック"/>
                        </a:rPr>
                        <a:t>MOSI (SPI Data out)</a:t>
                      </a:r>
                    </a:p>
                  </a:txBody>
                  <a:tcPr>
                    <a:solidFill>
                      <a:srgbClr val="FFFFFF"/>
                    </a:solidFill>
                  </a:tcPr>
                </a:tc>
                <a:tc>
                  <a:txBody>
                    <a:bodyPr/>
                    <a:lstStyle/>
                    <a:p>
                      <a:pPr algn="l"/>
                      <a:r>
                        <a:rPr sz="1200" b="0">
                          <a:solidFill>
                            <a:srgbClr val="1A1A2E"/>
                          </a:solidFill>
                          <a:latin typeface="游ゴシック"/>
                        </a:rPr>
                        <a:t>(LCD のみ)</a:t>
                      </a:r>
                    </a:p>
                  </a:txBody>
                  <a:tcPr>
                    <a:solidFill>
                      <a:srgbClr val="FFFFFF"/>
                    </a:solidFill>
                  </a:tcPr>
                </a:tc>
                <a:tc>
                  <a:txBody>
                    <a:bodyPr/>
                    <a:lstStyle/>
                    <a:p>
                      <a:pPr algn="l"/>
                      <a:r>
                        <a:rPr sz="1200" b="0">
                          <a:solidFill>
                            <a:srgbClr val="1A1A2E"/>
                          </a:solidFill>
                          <a:latin typeface="游ゴシック"/>
                        </a:rPr>
                        <a:t>MAX31855 は MOSI 不要</a:t>
                      </a:r>
                    </a:p>
                  </a:txBody>
                  <a:tcPr>
                    <a:solidFill>
                      <a:srgbClr val="FFFFFF"/>
                    </a:solidFill>
                  </a:tcPr>
                </a:tc>
              </a:tr>
              <a:tr h="411480">
                <a:tc>
                  <a:txBody>
                    <a:bodyPr/>
                    <a:lstStyle/>
                    <a:p>
                      <a:pPr algn="l"/>
                      <a:r>
                        <a:rPr sz="1200" b="0">
                          <a:solidFill>
                            <a:srgbClr val="1A1A2E"/>
                          </a:solidFill>
                          <a:latin typeface="游ゴシック"/>
                        </a:rPr>
                        <a:t>GPIO 5</a:t>
                      </a:r>
                    </a:p>
                  </a:txBody>
                  <a:tcPr>
                    <a:solidFill>
                      <a:srgbClr val="F4F4F4"/>
                    </a:solidFill>
                  </a:tcPr>
                </a:tc>
                <a:tc>
                  <a:txBody>
                    <a:bodyPr/>
                    <a:lstStyle/>
                    <a:p>
                      <a:pPr algn="l"/>
                      <a:r>
                        <a:rPr sz="1200" b="0">
                          <a:solidFill>
                            <a:srgbClr val="1A1A2E"/>
                          </a:solidFill>
                          <a:latin typeface="游ゴシック"/>
                        </a:rPr>
                        <a:t>CS (Chip Select)</a:t>
                      </a:r>
                    </a:p>
                  </a:txBody>
                  <a:tcPr>
                    <a:solidFill>
                      <a:srgbClr val="F4F4F4"/>
                    </a:solidFill>
                  </a:tcPr>
                </a:tc>
                <a:tc>
                  <a:txBody>
                    <a:bodyPr/>
                    <a:lstStyle/>
                    <a:p>
                      <a:pPr algn="l"/>
                      <a:r>
                        <a:rPr sz="1200" b="0">
                          <a:solidFill>
                            <a:srgbClr val="1A1A2E"/>
                          </a:solidFill>
                          <a:latin typeface="游ゴシック"/>
                        </a:rPr>
                        <a:t>MAX31855 CS</a:t>
                      </a:r>
                    </a:p>
                  </a:txBody>
                  <a:tcPr>
                    <a:solidFill>
                      <a:srgbClr val="F4F4F4"/>
                    </a:solidFill>
                  </a:tcPr>
                </a:tc>
                <a:tc>
                  <a:txBody>
                    <a:bodyPr/>
                    <a:lstStyle/>
                    <a:p>
                      <a:pPr algn="l"/>
                      <a:r>
                        <a:rPr sz="1200" b="0">
                          <a:solidFill>
                            <a:srgbClr val="1A1A2E"/>
                          </a:solidFill>
                          <a:latin typeface="游ゴシック"/>
                        </a:rPr>
                        <a:t>MAX31855_CS 定数</a:t>
                      </a:r>
                    </a:p>
                  </a:txBody>
                  <a:tcPr>
                    <a:solidFill>
                      <a:srgbClr val="F4F4F4"/>
                    </a:solidFill>
                  </a:tcPr>
                </a:tc>
              </a:tr>
              <a:tr h="411480">
                <a:tc>
                  <a:txBody>
                    <a:bodyPr/>
                    <a:lstStyle/>
                    <a:p>
                      <a:pPr algn="l"/>
                      <a:r>
                        <a:rPr sz="1200" b="0">
                          <a:solidFill>
                            <a:srgbClr val="1A1A2E"/>
                          </a:solidFill>
                          <a:latin typeface="游ゴシック"/>
                        </a:rPr>
                        <a:t>GPIO 4</a:t>
                      </a:r>
                    </a:p>
                  </a:txBody>
                  <a:tcPr>
                    <a:solidFill>
                      <a:srgbClr val="FFFFFF"/>
                    </a:solidFill>
                  </a:tcPr>
                </a:tc>
                <a:tc>
                  <a:txBody>
                    <a:bodyPr/>
                    <a:lstStyle/>
                    <a:p>
                      <a:pPr algn="l"/>
                      <a:r>
                        <a:rPr sz="1200" b="0">
                          <a:solidFill>
                            <a:srgbClr val="1A1A2E"/>
                          </a:solidFill>
                          <a:latin typeface="游ゴシック"/>
                        </a:rPr>
                        <a:t>CS (SD Card)</a:t>
                      </a:r>
                    </a:p>
                  </a:txBody>
                  <a:tcPr>
                    <a:solidFill>
                      <a:srgbClr val="FFFFFF"/>
                    </a:solidFill>
                  </a:tcPr>
                </a:tc>
                <a:tc>
                  <a:txBody>
                    <a:bodyPr/>
                    <a:lstStyle/>
                    <a:p>
                      <a:pPr algn="l"/>
                      <a:r>
                        <a:rPr sz="1200" b="0">
                          <a:solidFill>
                            <a:srgbClr val="1A1A2E"/>
                          </a:solidFill>
                          <a:latin typeface="游ゴシック"/>
                        </a:rPr>
                        <a:t>MicroSD CS</a:t>
                      </a:r>
                    </a:p>
                  </a:txBody>
                  <a:tcPr>
                    <a:solidFill>
                      <a:srgbClr val="FFFFFF"/>
                    </a:solidFill>
                  </a:tcPr>
                </a:tc>
                <a:tc>
                  <a:txBody>
                    <a:bodyPr/>
                    <a:lstStyle/>
                    <a:p>
                      <a:pPr algn="l"/>
                      <a:r>
                        <a:rPr sz="1200" b="0">
                          <a:solidFill>
                            <a:srgbClr val="1A1A2E"/>
                          </a:solidFill>
                          <a:latin typeface="游ゴシック"/>
                        </a:rPr>
                        <a:t>TFCARD_CS_PIN 定数</a:t>
                      </a:r>
                    </a:p>
                  </a:txBody>
                  <a:tcPr>
                    <a:solidFill>
                      <a:srgbClr val="FFFFFF"/>
                    </a:solidFill>
                  </a:tcPr>
                </a:tc>
              </a:tr>
            </a:tbl>
          </a:graphicData>
        </a:graphic>
      </p:graphicFrame>
      <p:sp>
        <p:nvSpPr>
          <p:cNvPr id="10" name="Rectangle 9"/>
          <p:cNvSpPr/>
          <p:nvPr/>
        </p:nvSpPr>
        <p:spPr>
          <a:xfrm>
            <a:off x="320040" y="3931920"/>
            <a:ext cx="11521440" cy="960120"/>
          </a:xfrm>
          <a:prstGeom prst="rect">
            <a:avLst/>
          </a:prstGeom>
          <a:solidFill>
            <a:srgbClr val="FFE0E0"/>
          </a:solidFill>
          <a:ln w="1905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02920" y="3977639"/>
            <a:ext cx="11155680" cy="365760"/>
          </a:xfrm>
          <a:prstGeom prst="rect">
            <a:avLst/>
          </a:prstGeom>
          <a:noFill/>
        </p:spPr>
        <p:txBody>
          <a:bodyPr wrap="square">
            <a:spAutoFit/>
          </a:bodyPr>
          <a:lstStyle/>
          <a:p>
            <a:pPr algn="l"/>
            <a:r>
              <a:rPr sz="1300" b="1" i="0">
                <a:solidFill>
                  <a:srgbClr val="C0392B"/>
                </a:solidFill>
                <a:latin typeface="游ゴシック"/>
              </a:rPr>
              <a:t>⚠ SD カードの CS は GPIO4 (TFCARD_CS_PIN) を明示指定すること</a:t>
            </a:r>
          </a:p>
        </p:txBody>
      </p:sp>
      <p:sp>
        <p:nvSpPr>
          <p:cNvPr id="12" name="TextBox 11"/>
          <p:cNvSpPr txBox="1"/>
          <p:nvPr/>
        </p:nvSpPr>
        <p:spPr>
          <a:xfrm>
            <a:off x="502920" y="4370832"/>
            <a:ext cx="11155680" cy="411480"/>
          </a:xfrm>
          <a:prstGeom prst="rect">
            <a:avLst/>
          </a:prstGeom>
          <a:noFill/>
        </p:spPr>
        <p:txBody>
          <a:bodyPr wrap="square">
            <a:spAutoFit/>
          </a:bodyPr>
          <a:lstStyle/>
          <a:p>
            <a:pPr algn="l"/>
            <a:r>
              <a:rPr sz="1200" b="0" i="0">
                <a:solidFill>
                  <a:srgbClr val="1A1A2E"/>
                </a:solidFill>
                <a:latin typeface="Consolas"/>
              </a:rPr>
              <a:t>SD.begin(TFCARD_CS_PIN, SPI, 40000000);  // ← GPIO5 デフォルトでは MAX31855 と衝突！</a:t>
            </a:r>
          </a:p>
        </p:txBody>
      </p:sp>
      <p:sp>
        <p:nvSpPr>
          <p:cNvPr id="13" name="Rectangle 12"/>
          <p:cNvSpPr/>
          <p:nvPr/>
        </p:nvSpPr>
        <p:spPr>
          <a:xfrm>
            <a:off x="320040" y="4983480"/>
            <a:ext cx="11521440" cy="640080"/>
          </a:xfrm>
          <a:prstGeom prst="rect">
            <a:avLst/>
          </a:prstGeom>
          <a:solidFill>
            <a:srgbClr val="F4F4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02920" y="5047488"/>
            <a:ext cx="11155680" cy="502920"/>
          </a:xfrm>
          <a:prstGeom prst="rect">
            <a:avLst/>
          </a:prstGeom>
          <a:noFill/>
        </p:spPr>
        <p:txBody>
          <a:bodyPr wrap="square">
            <a:spAutoFit/>
          </a:bodyPr>
          <a:lstStyle/>
          <a:p>
            <a:pPr algn="l"/>
            <a:r>
              <a:rPr sz="1200" b="0" i="0">
                <a:solidFill>
                  <a:srgbClr val="1A1A2E"/>
                </a:solidFill>
                <a:latin typeface="游ゴシック"/>
              </a:rPr>
              <a:t>EEPROM: ESP32 内蔵フラッシュを仮想 EEPROM として使用（外部配線なし）</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914400"/>
          </a:xfrm>
          <a:prstGeom prst="rect">
            <a:avLst/>
          </a:prstGeom>
          <a:solidFill>
            <a:srgbClr val="0D477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73152"/>
            <a:ext cx="11430000" cy="502920"/>
          </a:xfrm>
          <a:prstGeom prst="rect">
            <a:avLst/>
          </a:prstGeom>
          <a:noFill/>
        </p:spPr>
        <p:txBody>
          <a:bodyPr wrap="square">
            <a:spAutoFit/>
          </a:bodyPr>
          <a:lstStyle/>
          <a:p>
            <a:pPr algn="l"/>
            <a:r>
              <a:rPr sz="2400" b="1" i="0">
                <a:solidFill>
                  <a:srgbClr val="FFFFFF"/>
                </a:solidFill>
                <a:latin typeface="Segoe UI"/>
              </a:rPr>
              <a:t>ソフトウェアアーキテクチャ</a:t>
            </a:r>
          </a:p>
        </p:txBody>
      </p:sp>
      <p:sp>
        <p:nvSpPr>
          <p:cNvPr id="4" name="TextBox 3"/>
          <p:cNvSpPr txBox="1"/>
          <p:nvPr/>
        </p:nvSpPr>
        <p:spPr>
          <a:xfrm>
            <a:off x="274320" y="594360"/>
            <a:ext cx="11430000" cy="274320"/>
          </a:xfrm>
          <a:prstGeom prst="rect">
            <a:avLst/>
          </a:prstGeom>
          <a:noFill/>
        </p:spPr>
        <p:txBody>
          <a:bodyPr wrap="square">
            <a:spAutoFit/>
          </a:bodyPr>
          <a:lstStyle/>
          <a:p>
            <a:pPr algn="l"/>
            <a:r>
              <a:rPr sz="1200" b="0" i="0">
                <a:solidFill>
                  <a:srgbClr val="FF6D00"/>
                </a:solidFill>
                <a:latin typeface="游ゴシック"/>
              </a:rPr>
              <a:t>Section 3  ソフトウェア設計</a:t>
            </a:r>
          </a:p>
        </p:txBody>
      </p:sp>
      <p:sp>
        <p:nvSpPr>
          <p:cNvPr id="5" name="Rectangle 4"/>
          <p:cNvSpPr/>
          <p:nvPr/>
        </p:nvSpPr>
        <p:spPr>
          <a:xfrm>
            <a:off x="0" y="6309360"/>
            <a:ext cx="12188952" cy="548640"/>
          </a:xfrm>
          <a:prstGeom prst="rect">
            <a:avLst/>
          </a:prstGeom>
          <a:solidFill>
            <a:srgbClr val="0D477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74320" y="6336792"/>
            <a:ext cx="7315200" cy="320040"/>
          </a:xfrm>
          <a:prstGeom prst="rect">
            <a:avLst/>
          </a:prstGeom>
          <a:noFill/>
        </p:spPr>
        <p:txBody>
          <a:bodyPr wrap="square">
            <a:spAutoFit/>
          </a:bodyPr>
          <a:lstStyle/>
          <a:p>
            <a:pPr algn="l"/>
            <a:r>
              <a:rPr sz="1100" b="0" i="0">
                <a:solidFill>
                  <a:srgbClr val="FF6D00"/>
                </a:solidFill>
                <a:latin typeface="Segoe UI"/>
              </a:rPr>
              <a:t>Simple Temperature Evaluation Tool</a:t>
            </a:r>
          </a:p>
        </p:txBody>
      </p:sp>
      <p:sp>
        <p:nvSpPr>
          <p:cNvPr id="7" name="TextBox 6"/>
          <p:cNvSpPr txBox="1"/>
          <p:nvPr/>
        </p:nvSpPr>
        <p:spPr>
          <a:xfrm>
            <a:off x="10515600" y="6336792"/>
            <a:ext cx="1371600" cy="320040"/>
          </a:xfrm>
          <a:prstGeom prst="rect">
            <a:avLst/>
          </a:prstGeom>
          <a:noFill/>
        </p:spPr>
        <p:txBody>
          <a:bodyPr wrap="square">
            <a:spAutoFit/>
          </a:bodyPr>
          <a:lstStyle/>
          <a:p>
            <a:pPr algn="r"/>
            <a:r>
              <a:rPr sz="1100" b="0" i="0">
                <a:solidFill>
                  <a:srgbClr val="FFFFFF"/>
                </a:solidFill>
                <a:latin typeface="Segoe UI"/>
              </a:rPr>
              <a:t>8</a:t>
            </a:r>
          </a:p>
        </p:txBody>
      </p:sp>
      <p:graphicFrame>
        <p:nvGraphicFramePr>
          <p:cNvPr id="8" name="Table 7"/>
          <p:cNvGraphicFramePr>
            <a:graphicFrameLocks noGrp="1"/>
          </p:cNvGraphicFramePr>
          <p:nvPr/>
        </p:nvGraphicFramePr>
        <p:xfrm>
          <a:off x="320040" y="1051560"/>
          <a:ext cx="11521440" cy="3511296"/>
        </p:xfrm>
        <a:graphic>
          <a:graphicData uri="http://schemas.openxmlformats.org/drawingml/2006/table">
            <a:tbl>
              <a:tblPr firstRow="1" bandRow="1">
                <a:tableStyleId>{5C22544A-7EE6-4342-B048-85BDC9FD1C3A}</a:tableStyleId>
              </a:tblPr>
              <a:tblGrid>
                <a:gridCol w="2560320"/>
                <a:gridCol w="2743200"/>
                <a:gridCol w="6217920"/>
              </a:tblGrid>
              <a:tr h="438912">
                <a:tc>
                  <a:txBody>
                    <a:bodyPr/>
                    <a:lstStyle/>
                    <a:p>
                      <a:pPr algn="l"/>
                      <a:r>
                        <a:rPr sz="1300" b="1">
                          <a:solidFill>
                            <a:srgbClr val="FFFFFF"/>
                          </a:solidFill>
                          <a:latin typeface="Segoe UI"/>
                        </a:rPr>
                        <a:t>ファイル</a:t>
                      </a:r>
                    </a:p>
                  </a:txBody>
                  <a:tcPr>
                    <a:solidFill>
                      <a:srgbClr val="0D477F"/>
                    </a:solidFill>
                  </a:tcPr>
                </a:tc>
                <a:tc>
                  <a:txBody>
                    <a:bodyPr/>
                    <a:lstStyle/>
                    <a:p>
                      <a:pPr algn="l"/>
                      <a:r>
                        <a:rPr sz="1300" b="1">
                          <a:solidFill>
                            <a:srgbClr val="FFFFFF"/>
                          </a:solidFill>
                          <a:latin typeface="Segoe UI"/>
                        </a:rPr>
                        <a:t>クラス / 関数</a:t>
                      </a:r>
                    </a:p>
                  </a:txBody>
                  <a:tcPr>
                    <a:solidFill>
                      <a:srgbClr val="0D477F"/>
                    </a:solidFill>
                  </a:tcPr>
                </a:tc>
                <a:tc>
                  <a:txBody>
                    <a:bodyPr/>
                    <a:lstStyle/>
                    <a:p>
                      <a:pPr algn="l"/>
                      <a:r>
                        <a:rPr sz="1300" b="1">
                          <a:solidFill>
                            <a:srgbClr val="FFFFFF"/>
                          </a:solidFill>
                          <a:latin typeface="Segoe UI"/>
                        </a:rPr>
                        <a:t>責務</a:t>
                      </a:r>
                    </a:p>
                  </a:txBody>
                  <a:tcPr>
                    <a:solidFill>
                      <a:srgbClr val="0D477F"/>
                    </a:solidFill>
                  </a:tcPr>
                </a:tc>
              </a:tr>
              <a:tr h="438912">
                <a:tc>
                  <a:txBody>
                    <a:bodyPr/>
                    <a:lstStyle/>
                    <a:p>
                      <a:pPr algn="l"/>
                      <a:r>
                        <a:rPr sz="1200" b="0">
                          <a:solidFill>
                            <a:srgbClr val="1A1A2E"/>
                          </a:solidFill>
                          <a:latin typeface="游ゴシック"/>
                        </a:rPr>
                        <a:t>main.cpp</a:t>
                      </a:r>
                    </a:p>
                  </a:txBody>
                  <a:tcPr>
                    <a:solidFill>
                      <a:srgbClr val="FFFFFF"/>
                    </a:solidFill>
                  </a:tcPr>
                </a:tc>
                <a:tc>
                  <a:txBody>
                    <a:bodyPr/>
                    <a:lstStyle/>
                    <a:p>
                      <a:pPr algn="l"/>
                      <a:r>
                        <a:rPr sz="1200" b="0">
                          <a:solidFill>
                            <a:srgbClr val="1A1A2E"/>
                          </a:solidFill>
                          <a:latin typeface="游ゴシック"/>
                        </a:rPr>
                        <a:t>setup() / loop()</a:t>
                      </a:r>
                    </a:p>
                  </a:txBody>
                  <a:tcPr>
                    <a:solidFill>
                      <a:srgbClr val="FFFFFF"/>
                    </a:solidFill>
                  </a:tcPr>
                </a:tc>
                <a:tc>
                  <a:txBody>
                    <a:bodyPr/>
                    <a:lstStyle/>
                    <a:p>
                      <a:pPr algn="l"/>
                      <a:r>
                        <a:rPr sz="1200" b="0">
                          <a:solidFill>
                            <a:srgbClr val="1A1A2E"/>
                          </a:solidFill>
                          <a:latin typeface="游ゴシック"/>
                        </a:rPr>
                        <a:t>起動処理・3タスクのスケジューリング</a:t>
                      </a:r>
                    </a:p>
                  </a:txBody>
                  <a:tcPr>
                    <a:solidFill>
                      <a:srgbClr val="FFFFFF"/>
                    </a:solidFill>
                  </a:tcPr>
                </a:tc>
              </a:tr>
              <a:tr h="438912">
                <a:tc>
                  <a:txBody>
                    <a:bodyPr/>
                    <a:lstStyle/>
                    <a:p>
                      <a:pPr algn="l"/>
                      <a:r>
                        <a:rPr sz="1200" b="0">
                          <a:solidFill>
                            <a:srgbClr val="1A1A2E"/>
                          </a:solidFill>
                          <a:latin typeface="游ゴシック"/>
                        </a:rPr>
                        <a:t>Tasks.cpp</a:t>
                      </a:r>
                    </a:p>
                  </a:txBody>
                  <a:tcPr>
                    <a:solidFill>
                      <a:srgbClr val="F4F4F4"/>
                    </a:solidFill>
                  </a:tcPr>
                </a:tc>
                <a:tc>
                  <a:txBody>
                    <a:bodyPr/>
                    <a:lstStyle/>
                    <a:p>
                      <a:pPr algn="l"/>
                      <a:r>
                        <a:rPr sz="1200" b="0">
                          <a:solidFill>
                            <a:srgbClr val="1A1A2E"/>
                          </a:solidFill>
                          <a:latin typeface="游ゴシック"/>
                        </a:rPr>
                        <a:t>IO_Task()</a:t>
                      </a:r>
                    </a:p>
                  </a:txBody>
                  <a:tcPr>
                    <a:solidFill>
                      <a:srgbClr val="F4F4F4"/>
                    </a:solidFill>
                  </a:tcPr>
                </a:tc>
                <a:tc>
                  <a:txBody>
                    <a:bodyPr/>
                    <a:lstStyle/>
                    <a:p>
                      <a:pPr algn="l"/>
                      <a:r>
                        <a:rPr sz="1200" b="0">
                          <a:solidFill>
                            <a:srgbClr val="1A1A2E"/>
                          </a:solidFill>
                          <a:latin typeface="游ゴシック"/>
                        </a:rPr>
                        <a:t>センサ読取・ボタン検出・アラーム判定 (10ms)</a:t>
                      </a:r>
                    </a:p>
                  </a:txBody>
                  <a:tcPr>
                    <a:solidFill>
                      <a:srgbClr val="F4F4F4"/>
                    </a:solidFill>
                  </a:tcPr>
                </a:tc>
              </a:tr>
              <a:tr h="438912">
                <a:tc>
                  <a:txBody>
                    <a:bodyPr/>
                    <a:lstStyle/>
                    <a:p>
                      <a:pPr algn="l"/>
                      <a:r>
                        <a:rPr sz="1200" b="0">
                          <a:solidFill>
                            <a:srgbClr val="1A1A2E"/>
                          </a:solidFill>
                          <a:latin typeface="游ゴシック"/>
                        </a:rPr>
                        <a:t>Tasks.cpp</a:t>
                      </a:r>
                    </a:p>
                  </a:txBody>
                  <a:tcPr>
                    <a:solidFill>
                      <a:srgbClr val="FFFFFF"/>
                    </a:solidFill>
                  </a:tcPr>
                </a:tc>
                <a:tc>
                  <a:txBody>
                    <a:bodyPr/>
                    <a:lstStyle/>
                    <a:p>
                      <a:pPr algn="l"/>
                      <a:r>
                        <a:rPr sz="1200" b="0">
                          <a:solidFill>
                            <a:srgbClr val="1A1A2E"/>
                          </a:solidFill>
                          <a:latin typeface="游ゴシック"/>
                        </a:rPr>
                        <a:t>Logic_Task()</a:t>
                      </a:r>
                    </a:p>
                  </a:txBody>
                  <a:tcPr>
                    <a:solidFill>
                      <a:srgbClr val="FFFFFF"/>
                    </a:solidFill>
                  </a:tcPr>
                </a:tc>
                <a:tc>
                  <a:txBody>
                    <a:bodyPr/>
                    <a:lstStyle/>
                    <a:p>
                      <a:pPr algn="l"/>
                      <a:r>
                        <a:rPr sz="1200" b="0">
                          <a:solidFill>
                            <a:srgbClr val="1A1A2E"/>
                          </a:solidFill>
                          <a:latin typeface="游ゴシック"/>
                        </a:rPr>
                        <a:t>状態遷移・Welford統計演算 (50ms)</a:t>
                      </a:r>
                    </a:p>
                  </a:txBody>
                  <a:tcPr>
                    <a:solidFill>
                      <a:srgbClr val="FFFFFF"/>
                    </a:solidFill>
                  </a:tcPr>
                </a:tc>
              </a:tr>
              <a:tr h="438912">
                <a:tc>
                  <a:txBody>
                    <a:bodyPr/>
                    <a:lstStyle/>
                    <a:p>
                      <a:pPr algn="l"/>
                      <a:r>
                        <a:rPr sz="1200" b="0">
                          <a:solidFill>
                            <a:srgbClr val="1A1A2E"/>
                          </a:solidFill>
                          <a:latin typeface="游ゴシック"/>
                        </a:rPr>
                        <a:t>Tasks.cpp</a:t>
                      </a:r>
                    </a:p>
                  </a:txBody>
                  <a:tcPr>
                    <a:solidFill>
                      <a:srgbClr val="F4F4F4"/>
                    </a:solidFill>
                  </a:tcPr>
                </a:tc>
                <a:tc>
                  <a:txBody>
                    <a:bodyPr/>
                    <a:lstStyle/>
                    <a:p>
                      <a:pPr algn="l"/>
                      <a:r>
                        <a:rPr sz="1200" b="0">
                          <a:solidFill>
                            <a:srgbClr val="1A1A2E"/>
                          </a:solidFill>
                          <a:latin typeface="游ゴシック"/>
                        </a:rPr>
                        <a:t>UI_Task()</a:t>
                      </a:r>
                    </a:p>
                  </a:txBody>
                  <a:tcPr>
                    <a:solidFill>
                      <a:srgbClr val="F4F4F4"/>
                    </a:solidFill>
                  </a:tcPr>
                </a:tc>
                <a:tc>
                  <a:txBody>
                    <a:bodyPr/>
                    <a:lstStyle/>
                    <a:p>
                      <a:pPr algn="l"/>
                      <a:r>
                        <a:rPr sz="1200" b="0">
                          <a:solidFill>
                            <a:srgbClr val="1A1A2E"/>
                          </a:solidFill>
                          <a:latin typeface="游ゴシック"/>
                        </a:rPr>
                        <a:t>LCD 描画（差分更新） (200ms)</a:t>
                      </a:r>
                    </a:p>
                  </a:txBody>
                  <a:tcPr>
                    <a:solidFill>
                      <a:srgbClr val="F4F4F4"/>
                    </a:solidFill>
                  </a:tcPr>
                </a:tc>
              </a:tr>
              <a:tr h="438912">
                <a:tc>
                  <a:txBody>
                    <a:bodyPr/>
                    <a:lstStyle/>
                    <a:p>
                      <a:pPr algn="l"/>
                      <a:r>
                        <a:rPr sz="1200" b="0">
                          <a:solidFill>
                            <a:srgbClr val="1A1A2E"/>
                          </a:solidFill>
                          <a:latin typeface="游ゴシック"/>
                        </a:rPr>
                        <a:t>SDManager.cpp</a:t>
                      </a:r>
                    </a:p>
                  </a:txBody>
                  <a:tcPr>
                    <a:solidFill>
                      <a:srgbClr val="FFFFFF"/>
                    </a:solidFill>
                  </a:tcPr>
                </a:tc>
                <a:tc>
                  <a:txBody>
                    <a:bodyPr/>
                    <a:lstStyle/>
                    <a:p>
                      <a:pPr algn="l"/>
                      <a:r>
                        <a:rPr sz="1200" b="0">
                          <a:solidFill>
                            <a:srgbClr val="1A1A2E"/>
                          </a:solidFill>
                          <a:latin typeface="游ゴシック"/>
                        </a:rPr>
                        <a:t>SDManager クラス</a:t>
                      </a:r>
                    </a:p>
                  </a:txBody>
                  <a:tcPr>
                    <a:solidFill>
                      <a:srgbClr val="FFFFFF"/>
                    </a:solidFill>
                  </a:tcPr>
                </a:tc>
                <a:tc>
                  <a:txBody>
                    <a:bodyPr/>
                    <a:lstStyle/>
                    <a:p>
                      <a:pPr algn="l"/>
                      <a:r>
                        <a:rPr sz="1200" b="0">
                          <a:solidFill>
                            <a:srgbClr val="1A1A2E"/>
                          </a:solidFill>
                          <a:latin typeface="游ゴシック"/>
                        </a:rPr>
                        <a:t>CSV ファイル作成・ヘッダ/データ書込</a:t>
                      </a:r>
                    </a:p>
                  </a:txBody>
                  <a:tcPr>
                    <a:solidFill>
                      <a:srgbClr val="FFFFFF"/>
                    </a:solidFill>
                  </a:tcPr>
                </a:tc>
              </a:tr>
              <a:tr h="438912">
                <a:tc>
                  <a:txBody>
                    <a:bodyPr/>
                    <a:lstStyle/>
                    <a:p>
                      <a:pPr algn="l"/>
                      <a:r>
                        <a:rPr sz="1200" b="0">
                          <a:solidFill>
                            <a:srgbClr val="1A1A2E"/>
                          </a:solidFill>
                          <a:latin typeface="游ゴシック"/>
                        </a:rPr>
                        <a:t>EEPROMManager.cpp</a:t>
                      </a:r>
                    </a:p>
                  </a:txBody>
                  <a:tcPr>
                    <a:solidFill>
                      <a:srgbClr val="F4F4F4"/>
                    </a:solidFill>
                  </a:tcPr>
                </a:tc>
                <a:tc>
                  <a:txBody>
                    <a:bodyPr/>
                    <a:lstStyle/>
                    <a:p>
                      <a:pPr algn="l"/>
                      <a:r>
                        <a:rPr sz="1200" b="0">
                          <a:solidFill>
                            <a:srgbClr val="1A1A2E"/>
                          </a:solidFill>
                          <a:latin typeface="游ゴシック"/>
                        </a:rPr>
                        <a:t>EEPROMManager クラス</a:t>
                      </a:r>
                    </a:p>
                  </a:txBody>
                  <a:tcPr>
                    <a:solidFill>
                      <a:srgbClr val="F4F4F4"/>
                    </a:solidFill>
                  </a:tcPr>
                </a:tc>
                <a:tc>
                  <a:txBody>
                    <a:bodyPr/>
                    <a:lstStyle/>
                    <a:p>
                      <a:pPr algn="l"/>
                      <a:r>
                        <a:rPr sz="1200" b="0">
                          <a:solidFill>
                            <a:srgbClr val="1A1A2E"/>
                          </a:solidFill>
                          <a:latin typeface="游ゴシック"/>
                        </a:rPr>
                        <a:t>アラーム値の読書き・チェックサム検証</a:t>
                      </a:r>
                    </a:p>
                  </a:txBody>
                  <a:tcPr>
                    <a:solidFill>
                      <a:srgbClr val="F4F4F4"/>
                    </a:solidFill>
                  </a:tcPr>
                </a:tc>
              </a:tr>
              <a:tr h="438912">
                <a:tc>
                  <a:txBody>
                    <a:bodyPr/>
                    <a:lstStyle/>
                    <a:p>
                      <a:pPr algn="l"/>
                      <a:r>
                        <a:rPr sz="1200" b="0">
                          <a:solidFill>
                            <a:srgbClr val="1A1A2E"/>
                          </a:solidFill>
                          <a:latin typeface="游ゴシック"/>
                        </a:rPr>
                        <a:t>MeasurementCore.cpp</a:t>
                      </a:r>
                    </a:p>
                  </a:txBody>
                  <a:tcPr>
                    <a:solidFill>
                      <a:srgbClr val="FFFFFF"/>
                    </a:solidFill>
                  </a:tcPr>
                </a:tc>
                <a:tc>
                  <a:txBody>
                    <a:bodyPr/>
                    <a:lstStyle/>
                    <a:p>
                      <a:pPr algn="l"/>
                      <a:r>
                        <a:rPr sz="1200" b="0">
                          <a:solidFill>
                            <a:srgbClr val="1A1A2E"/>
                          </a:solidFill>
                          <a:latin typeface="游ゴシック"/>
                        </a:rPr>
                        <a:t>MeasurementCore クラス</a:t>
                      </a:r>
                    </a:p>
                  </a:txBody>
                  <a:tcPr>
                    <a:solidFill>
                      <a:srgbClr val="FFFFFF"/>
                    </a:solidFill>
                  </a:tcPr>
                </a:tc>
                <a:tc>
                  <a:txBody>
                    <a:bodyPr/>
                    <a:lstStyle/>
                    <a:p>
                      <a:pPr algn="l"/>
                      <a:r>
                        <a:rPr sz="1200" b="0">
                          <a:solidFill>
                            <a:srgbClr val="1A1A2E"/>
                          </a:solidFill>
                          <a:latin typeface="游ゴシック"/>
                        </a:rPr>
                        <a:t>純粋ロジック（ユニットテスト用）</a:t>
                      </a:r>
                    </a:p>
                  </a:txBody>
                  <a:tcPr>
                    <a:solidFill>
                      <a:srgbClr val="FFFFFF"/>
                    </a:solidFill>
                  </a:tcPr>
                </a:tc>
              </a:tr>
            </a:tbl>
          </a:graphicData>
        </a:graphic>
      </p:graphicFrame>
      <p:sp>
        <p:nvSpPr>
          <p:cNvPr id="9" name="Rectangle 8"/>
          <p:cNvSpPr/>
          <p:nvPr/>
        </p:nvSpPr>
        <p:spPr>
          <a:xfrm>
            <a:off x="320040" y="4983480"/>
            <a:ext cx="11521440" cy="914400"/>
          </a:xfrm>
          <a:prstGeom prst="rect">
            <a:avLst/>
          </a:prstGeom>
          <a:solidFill>
            <a:srgbClr val="F4F4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02920" y="5047488"/>
            <a:ext cx="11155680" cy="804672"/>
          </a:xfrm>
          <a:prstGeom prst="rect">
            <a:avLst/>
          </a:prstGeom>
          <a:noFill/>
        </p:spPr>
        <p:txBody>
          <a:bodyPr wrap="square">
            <a:spAutoFit/>
          </a:bodyPr>
          <a:lstStyle/>
          <a:p>
            <a:pPr algn="l"/>
            <a:r>
              <a:rPr sz="1300" b="0" i="0">
                <a:solidFill>
                  <a:srgbClr val="1A1A2E"/>
                </a:solidFill>
                <a:latin typeface="游ゴシック"/>
              </a:rPr>
              <a:t>・「単一 loop()」ではなく millis() による周期分割で処理の干渉を防止</a:t>
            </a:r>
          </a:p>
          <a:p>
            <a:pPr algn="l"/>
            <a:r>
              <a:rPr sz="1300" b="0" i="0">
                <a:solidFill>
                  <a:srgbClr val="1A1A2E"/>
                </a:solidFill>
                <a:latin typeface="游ゴシック"/>
              </a:rPr>
              <a:t>・グローバル構造体 GlobalData (G) で各タスク間のデータを共有（PLC の D/M デバイス設計に着想）</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914400"/>
          </a:xfrm>
          <a:prstGeom prst="rect">
            <a:avLst/>
          </a:prstGeom>
          <a:solidFill>
            <a:srgbClr val="0D477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73152"/>
            <a:ext cx="11430000" cy="502920"/>
          </a:xfrm>
          <a:prstGeom prst="rect">
            <a:avLst/>
          </a:prstGeom>
          <a:noFill/>
        </p:spPr>
        <p:txBody>
          <a:bodyPr wrap="square">
            <a:spAutoFit/>
          </a:bodyPr>
          <a:lstStyle/>
          <a:p>
            <a:pPr algn="l"/>
            <a:r>
              <a:rPr sz="2400" b="1" i="0">
                <a:solidFill>
                  <a:srgbClr val="FFFFFF"/>
                </a:solidFill>
                <a:latin typeface="Segoe UI"/>
              </a:rPr>
              <a:t>状態機械（4 状態）</a:t>
            </a:r>
          </a:p>
        </p:txBody>
      </p:sp>
      <p:sp>
        <p:nvSpPr>
          <p:cNvPr id="4" name="TextBox 3"/>
          <p:cNvSpPr txBox="1"/>
          <p:nvPr/>
        </p:nvSpPr>
        <p:spPr>
          <a:xfrm>
            <a:off x="274320" y="594360"/>
            <a:ext cx="11430000" cy="274320"/>
          </a:xfrm>
          <a:prstGeom prst="rect">
            <a:avLst/>
          </a:prstGeom>
          <a:noFill/>
        </p:spPr>
        <p:txBody>
          <a:bodyPr wrap="square">
            <a:spAutoFit/>
          </a:bodyPr>
          <a:lstStyle/>
          <a:p>
            <a:pPr algn="l"/>
            <a:r>
              <a:rPr sz="1200" b="0" i="0">
                <a:solidFill>
                  <a:srgbClr val="FF6D00"/>
                </a:solidFill>
                <a:latin typeface="游ゴシック"/>
              </a:rPr>
              <a:t>Section 3  ソフトウェア設計</a:t>
            </a:r>
          </a:p>
        </p:txBody>
      </p:sp>
      <p:sp>
        <p:nvSpPr>
          <p:cNvPr id="5" name="Rectangle 4"/>
          <p:cNvSpPr/>
          <p:nvPr/>
        </p:nvSpPr>
        <p:spPr>
          <a:xfrm>
            <a:off x="0" y="6309360"/>
            <a:ext cx="12188952" cy="548640"/>
          </a:xfrm>
          <a:prstGeom prst="rect">
            <a:avLst/>
          </a:prstGeom>
          <a:solidFill>
            <a:srgbClr val="0D477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74320" y="6336792"/>
            <a:ext cx="7315200" cy="320040"/>
          </a:xfrm>
          <a:prstGeom prst="rect">
            <a:avLst/>
          </a:prstGeom>
          <a:noFill/>
        </p:spPr>
        <p:txBody>
          <a:bodyPr wrap="square">
            <a:spAutoFit/>
          </a:bodyPr>
          <a:lstStyle/>
          <a:p>
            <a:pPr algn="l"/>
            <a:r>
              <a:rPr sz="1100" b="0" i="0">
                <a:solidFill>
                  <a:srgbClr val="FF6D00"/>
                </a:solidFill>
                <a:latin typeface="Segoe UI"/>
              </a:rPr>
              <a:t>Simple Temperature Evaluation Tool</a:t>
            </a:r>
          </a:p>
        </p:txBody>
      </p:sp>
      <p:sp>
        <p:nvSpPr>
          <p:cNvPr id="7" name="TextBox 6"/>
          <p:cNvSpPr txBox="1"/>
          <p:nvPr/>
        </p:nvSpPr>
        <p:spPr>
          <a:xfrm>
            <a:off x="10515600" y="6336792"/>
            <a:ext cx="1371600" cy="320040"/>
          </a:xfrm>
          <a:prstGeom prst="rect">
            <a:avLst/>
          </a:prstGeom>
          <a:noFill/>
        </p:spPr>
        <p:txBody>
          <a:bodyPr wrap="square">
            <a:spAutoFit/>
          </a:bodyPr>
          <a:lstStyle/>
          <a:p>
            <a:pPr algn="r"/>
            <a:r>
              <a:rPr sz="1100" b="0" i="0">
                <a:solidFill>
                  <a:srgbClr val="FFFFFF"/>
                </a:solidFill>
                <a:latin typeface="Segoe UI"/>
              </a:rPr>
              <a:t>9</a:t>
            </a:r>
          </a:p>
        </p:txBody>
      </p:sp>
      <p:sp>
        <p:nvSpPr>
          <p:cNvPr id="8" name="Rectangle 7"/>
          <p:cNvSpPr/>
          <p:nvPr/>
        </p:nvSpPr>
        <p:spPr>
          <a:xfrm>
            <a:off x="320040" y="1051560"/>
            <a:ext cx="2560320" cy="2743200"/>
          </a:xfrm>
          <a:prstGeom prst="rect">
            <a:avLst/>
          </a:prstGeom>
          <a:solidFill>
            <a:srgbClr val="0D477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11480" y="1188720"/>
            <a:ext cx="2377440" cy="548640"/>
          </a:xfrm>
          <a:prstGeom prst="rect">
            <a:avLst/>
          </a:prstGeom>
          <a:noFill/>
        </p:spPr>
        <p:txBody>
          <a:bodyPr wrap="square">
            <a:spAutoFit/>
          </a:bodyPr>
          <a:lstStyle/>
          <a:p>
            <a:pPr algn="ctr"/>
            <a:r>
              <a:rPr sz="1800" b="1" i="0">
                <a:solidFill>
                  <a:srgbClr val="FFFFFF"/>
                </a:solidFill>
                <a:latin typeface="Segoe UI"/>
              </a:rPr>
              <a:t>IDLE</a:t>
            </a:r>
          </a:p>
        </p:txBody>
      </p:sp>
      <p:sp>
        <p:nvSpPr>
          <p:cNvPr id="10" name="TextBox 9"/>
          <p:cNvSpPr txBox="1"/>
          <p:nvPr/>
        </p:nvSpPr>
        <p:spPr>
          <a:xfrm>
            <a:off x="411480" y="1783080"/>
            <a:ext cx="2377440" cy="502920"/>
          </a:xfrm>
          <a:prstGeom prst="rect">
            <a:avLst/>
          </a:prstGeom>
          <a:noFill/>
        </p:spPr>
        <p:txBody>
          <a:bodyPr wrap="square">
            <a:spAutoFit/>
          </a:bodyPr>
          <a:lstStyle/>
          <a:p>
            <a:pPr algn="ctr"/>
            <a:r>
              <a:rPr sz="1200" b="0" i="0">
                <a:solidFill>
                  <a:srgbClr val="FFFFFF"/>
                </a:solidFill>
                <a:latin typeface="游ゴシック"/>
              </a:rPr>
              <a:t>待機中 / 温度監視</a:t>
            </a:r>
          </a:p>
        </p:txBody>
      </p:sp>
      <p:sp>
        <p:nvSpPr>
          <p:cNvPr id="11" name="TextBox 10"/>
          <p:cNvSpPr txBox="1"/>
          <p:nvPr/>
        </p:nvSpPr>
        <p:spPr>
          <a:xfrm>
            <a:off x="411480" y="2331720"/>
            <a:ext cx="2377440" cy="457200"/>
          </a:xfrm>
          <a:prstGeom prst="rect">
            <a:avLst/>
          </a:prstGeom>
          <a:noFill/>
        </p:spPr>
        <p:txBody>
          <a:bodyPr wrap="square">
            <a:spAutoFit/>
          </a:bodyPr>
          <a:lstStyle/>
          <a:p>
            <a:pPr algn="ctr"/>
            <a:r>
              <a:rPr sz="1100" b="0" i="0">
                <a:solidFill>
                  <a:srgbClr val="FF6D00"/>
                </a:solidFill>
                <a:latin typeface="游ゴシック"/>
              </a:rPr>
              <a:t>起動直後 / RESULT 後
/ 設定終了後</a:t>
            </a:r>
          </a:p>
        </p:txBody>
      </p:sp>
      <p:sp>
        <p:nvSpPr>
          <p:cNvPr id="12" name="TextBox 11"/>
          <p:cNvSpPr txBox="1"/>
          <p:nvPr/>
        </p:nvSpPr>
        <p:spPr>
          <a:xfrm>
            <a:off x="2971800" y="2286000"/>
            <a:ext cx="228600" cy="457200"/>
          </a:xfrm>
          <a:prstGeom prst="rect">
            <a:avLst/>
          </a:prstGeom>
          <a:noFill/>
        </p:spPr>
        <p:txBody>
          <a:bodyPr wrap="square">
            <a:spAutoFit/>
          </a:bodyPr>
          <a:lstStyle/>
          <a:p>
            <a:pPr algn="ctr"/>
            <a:r>
              <a:rPr sz="1600" b="0" i="0">
                <a:solidFill>
                  <a:srgbClr val="999999"/>
                </a:solidFill>
                <a:latin typeface="Segoe UI"/>
              </a:rPr>
              <a:t>▶</a:t>
            </a:r>
          </a:p>
        </p:txBody>
      </p:sp>
      <p:sp>
        <p:nvSpPr>
          <p:cNvPr id="13" name="Rectangle 12"/>
          <p:cNvSpPr/>
          <p:nvPr/>
        </p:nvSpPr>
        <p:spPr>
          <a:xfrm>
            <a:off x="3154680" y="1051560"/>
            <a:ext cx="2560320" cy="2743200"/>
          </a:xfrm>
          <a:prstGeom prst="rect">
            <a:avLst/>
          </a:prstGeom>
          <a:solidFill>
            <a:srgbClr val="FF6D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246120" y="1188720"/>
            <a:ext cx="2377440" cy="548640"/>
          </a:xfrm>
          <a:prstGeom prst="rect">
            <a:avLst/>
          </a:prstGeom>
          <a:noFill/>
        </p:spPr>
        <p:txBody>
          <a:bodyPr wrap="square">
            <a:spAutoFit/>
          </a:bodyPr>
          <a:lstStyle/>
          <a:p>
            <a:pPr algn="ctr"/>
            <a:r>
              <a:rPr sz="1800" b="1" i="0">
                <a:solidFill>
                  <a:srgbClr val="FFFFFF"/>
                </a:solidFill>
                <a:latin typeface="Segoe UI"/>
              </a:rPr>
              <a:t>RUN</a:t>
            </a:r>
          </a:p>
        </p:txBody>
      </p:sp>
      <p:sp>
        <p:nvSpPr>
          <p:cNvPr id="15" name="TextBox 14"/>
          <p:cNvSpPr txBox="1"/>
          <p:nvPr/>
        </p:nvSpPr>
        <p:spPr>
          <a:xfrm>
            <a:off x="3246120" y="1783080"/>
            <a:ext cx="2377440" cy="502920"/>
          </a:xfrm>
          <a:prstGeom prst="rect">
            <a:avLst/>
          </a:prstGeom>
          <a:noFill/>
        </p:spPr>
        <p:txBody>
          <a:bodyPr wrap="square">
            <a:spAutoFit/>
          </a:bodyPr>
          <a:lstStyle/>
          <a:p>
            <a:pPr algn="ctr"/>
            <a:r>
              <a:rPr sz="1200" b="0" i="0">
                <a:solidFill>
                  <a:srgbClr val="FFFFFF"/>
                </a:solidFill>
                <a:latin typeface="游ゴシック"/>
              </a:rPr>
              <a:t>計測中 / CSV 記録</a:t>
            </a:r>
          </a:p>
        </p:txBody>
      </p:sp>
      <p:sp>
        <p:nvSpPr>
          <p:cNvPr id="16" name="TextBox 15"/>
          <p:cNvSpPr txBox="1"/>
          <p:nvPr/>
        </p:nvSpPr>
        <p:spPr>
          <a:xfrm>
            <a:off x="3246120" y="2331720"/>
            <a:ext cx="2377440" cy="457200"/>
          </a:xfrm>
          <a:prstGeom prst="rect">
            <a:avLst/>
          </a:prstGeom>
          <a:noFill/>
        </p:spPr>
        <p:txBody>
          <a:bodyPr wrap="square">
            <a:spAutoFit/>
          </a:bodyPr>
          <a:lstStyle/>
          <a:p>
            <a:pPr algn="ctr"/>
            <a:r>
              <a:rPr sz="1100" b="0" i="0">
                <a:solidFill>
                  <a:srgbClr val="FFFFFF"/>
                </a:solidFill>
                <a:latin typeface="游ゴシック"/>
              </a:rPr>
              <a:t>IDLE → BtnA</a:t>
            </a:r>
          </a:p>
        </p:txBody>
      </p:sp>
      <p:sp>
        <p:nvSpPr>
          <p:cNvPr id="17" name="TextBox 16"/>
          <p:cNvSpPr txBox="1"/>
          <p:nvPr/>
        </p:nvSpPr>
        <p:spPr>
          <a:xfrm>
            <a:off x="5806440" y="2286000"/>
            <a:ext cx="228600" cy="457200"/>
          </a:xfrm>
          <a:prstGeom prst="rect">
            <a:avLst/>
          </a:prstGeom>
          <a:noFill/>
        </p:spPr>
        <p:txBody>
          <a:bodyPr wrap="square">
            <a:spAutoFit/>
          </a:bodyPr>
          <a:lstStyle/>
          <a:p>
            <a:pPr algn="ctr"/>
            <a:r>
              <a:rPr sz="1600" b="0" i="0">
                <a:solidFill>
                  <a:srgbClr val="999999"/>
                </a:solidFill>
                <a:latin typeface="Segoe UI"/>
              </a:rPr>
              <a:t>▶</a:t>
            </a:r>
          </a:p>
        </p:txBody>
      </p:sp>
      <p:sp>
        <p:nvSpPr>
          <p:cNvPr id="18" name="Rectangle 17"/>
          <p:cNvSpPr/>
          <p:nvPr/>
        </p:nvSpPr>
        <p:spPr>
          <a:xfrm>
            <a:off x="5989320" y="1051560"/>
            <a:ext cx="2560320" cy="2743200"/>
          </a:xfrm>
          <a:prstGeom prst="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080760" y="1188720"/>
            <a:ext cx="2377440" cy="548640"/>
          </a:xfrm>
          <a:prstGeom prst="rect">
            <a:avLst/>
          </a:prstGeom>
          <a:noFill/>
        </p:spPr>
        <p:txBody>
          <a:bodyPr wrap="square">
            <a:spAutoFit/>
          </a:bodyPr>
          <a:lstStyle/>
          <a:p>
            <a:pPr algn="ctr"/>
            <a:r>
              <a:rPr sz="1800" b="1" i="0">
                <a:solidFill>
                  <a:srgbClr val="FFFFFF"/>
                </a:solidFill>
                <a:latin typeface="Segoe UI"/>
              </a:rPr>
              <a:t>RESULT</a:t>
            </a:r>
          </a:p>
        </p:txBody>
      </p:sp>
      <p:sp>
        <p:nvSpPr>
          <p:cNvPr id="20" name="TextBox 19"/>
          <p:cNvSpPr txBox="1"/>
          <p:nvPr/>
        </p:nvSpPr>
        <p:spPr>
          <a:xfrm>
            <a:off x="6080760" y="1783080"/>
            <a:ext cx="2377440" cy="502920"/>
          </a:xfrm>
          <a:prstGeom prst="rect">
            <a:avLst/>
          </a:prstGeom>
          <a:noFill/>
        </p:spPr>
        <p:txBody>
          <a:bodyPr wrap="square">
            <a:spAutoFit/>
          </a:bodyPr>
          <a:lstStyle/>
          <a:p>
            <a:pPr algn="ctr"/>
            <a:r>
              <a:rPr sz="1200" b="0" i="0">
                <a:solidFill>
                  <a:srgbClr val="FFFFFF"/>
                </a:solidFill>
                <a:latin typeface="游ゴシック"/>
              </a:rPr>
              <a:t>統計結果表示 2ページ</a:t>
            </a:r>
          </a:p>
        </p:txBody>
      </p:sp>
      <p:sp>
        <p:nvSpPr>
          <p:cNvPr id="21" name="TextBox 20"/>
          <p:cNvSpPr txBox="1"/>
          <p:nvPr/>
        </p:nvSpPr>
        <p:spPr>
          <a:xfrm>
            <a:off x="6080760" y="2331720"/>
            <a:ext cx="2377440" cy="457200"/>
          </a:xfrm>
          <a:prstGeom prst="rect">
            <a:avLst/>
          </a:prstGeom>
          <a:noFill/>
        </p:spPr>
        <p:txBody>
          <a:bodyPr wrap="square">
            <a:spAutoFit/>
          </a:bodyPr>
          <a:lstStyle/>
          <a:p>
            <a:pPr algn="ctr"/>
            <a:r>
              <a:rPr sz="1100" b="0" i="0">
                <a:solidFill>
                  <a:srgbClr val="FFFFFF"/>
                </a:solidFill>
                <a:latin typeface="游ゴシック"/>
              </a:rPr>
              <a:t>RUN → BtnA</a:t>
            </a:r>
          </a:p>
        </p:txBody>
      </p:sp>
      <p:sp>
        <p:nvSpPr>
          <p:cNvPr id="22" name="TextBox 21"/>
          <p:cNvSpPr txBox="1"/>
          <p:nvPr/>
        </p:nvSpPr>
        <p:spPr>
          <a:xfrm>
            <a:off x="8641080" y="2286000"/>
            <a:ext cx="228600" cy="457200"/>
          </a:xfrm>
          <a:prstGeom prst="rect">
            <a:avLst/>
          </a:prstGeom>
          <a:noFill/>
        </p:spPr>
        <p:txBody>
          <a:bodyPr wrap="square">
            <a:spAutoFit/>
          </a:bodyPr>
          <a:lstStyle/>
          <a:p>
            <a:pPr algn="ctr"/>
            <a:r>
              <a:rPr sz="1600" b="0" i="0">
                <a:solidFill>
                  <a:srgbClr val="999999"/>
                </a:solidFill>
                <a:latin typeface="Segoe UI"/>
              </a:rPr>
              <a:t>▶</a:t>
            </a:r>
          </a:p>
        </p:txBody>
      </p:sp>
      <p:sp>
        <p:nvSpPr>
          <p:cNvPr id="23" name="Rectangle 22"/>
          <p:cNvSpPr/>
          <p:nvPr/>
        </p:nvSpPr>
        <p:spPr>
          <a:xfrm>
            <a:off x="8823960" y="1051560"/>
            <a:ext cx="2560320" cy="2743200"/>
          </a:xfrm>
          <a:prstGeom prst="rect">
            <a:avLst/>
          </a:prstGeom>
          <a:solidFill>
            <a:srgbClr val="7B27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915400" y="1188720"/>
            <a:ext cx="2377440" cy="548640"/>
          </a:xfrm>
          <a:prstGeom prst="rect">
            <a:avLst/>
          </a:prstGeom>
          <a:noFill/>
        </p:spPr>
        <p:txBody>
          <a:bodyPr wrap="square">
            <a:spAutoFit/>
          </a:bodyPr>
          <a:lstStyle/>
          <a:p>
            <a:pPr algn="ctr"/>
            <a:r>
              <a:rPr sz="1800" b="1" i="0">
                <a:solidFill>
                  <a:srgbClr val="FFFFFF"/>
                </a:solidFill>
                <a:latin typeface="Segoe UI"/>
              </a:rPr>
              <a:t>ALARM
SETTING</a:t>
            </a:r>
          </a:p>
        </p:txBody>
      </p:sp>
      <p:sp>
        <p:nvSpPr>
          <p:cNvPr id="25" name="TextBox 24"/>
          <p:cNvSpPr txBox="1"/>
          <p:nvPr/>
        </p:nvSpPr>
        <p:spPr>
          <a:xfrm>
            <a:off x="8915400" y="1783080"/>
            <a:ext cx="2377440" cy="502920"/>
          </a:xfrm>
          <a:prstGeom prst="rect">
            <a:avLst/>
          </a:prstGeom>
          <a:noFill/>
        </p:spPr>
        <p:txBody>
          <a:bodyPr wrap="square">
            <a:spAutoFit/>
          </a:bodyPr>
          <a:lstStyle/>
          <a:p>
            <a:pPr algn="ctr"/>
            <a:r>
              <a:rPr sz="1200" b="0" i="0">
                <a:solidFill>
                  <a:srgbClr val="FFFFFF"/>
                </a:solidFill>
                <a:latin typeface="游ゴシック"/>
              </a:rPr>
              <a:t>HI/LO 閾値設定</a:t>
            </a:r>
          </a:p>
        </p:txBody>
      </p:sp>
      <p:sp>
        <p:nvSpPr>
          <p:cNvPr id="26" name="TextBox 25"/>
          <p:cNvSpPr txBox="1"/>
          <p:nvPr/>
        </p:nvSpPr>
        <p:spPr>
          <a:xfrm>
            <a:off x="8915400" y="2331720"/>
            <a:ext cx="2377440" cy="457200"/>
          </a:xfrm>
          <a:prstGeom prst="rect">
            <a:avLst/>
          </a:prstGeom>
          <a:noFill/>
        </p:spPr>
        <p:txBody>
          <a:bodyPr wrap="square">
            <a:spAutoFit/>
          </a:bodyPr>
          <a:lstStyle/>
          <a:p>
            <a:pPr algn="ctr"/>
            <a:r>
              <a:rPr sz="1100" b="0" i="0">
                <a:solidFill>
                  <a:srgbClr val="FFFFFF"/>
                </a:solidFill>
                <a:latin typeface="游ゴシック"/>
              </a:rPr>
              <a:t>IDLE → BtnB</a:t>
            </a:r>
          </a:p>
        </p:txBody>
      </p:sp>
      <p:graphicFrame>
        <p:nvGraphicFramePr>
          <p:cNvPr id="27" name="Table 26"/>
          <p:cNvGraphicFramePr>
            <a:graphicFrameLocks noGrp="1"/>
          </p:cNvGraphicFramePr>
          <p:nvPr/>
        </p:nvGraphicFramePr>
        <p:xfrm>
          <a:off x="320040" y="3931920"/>
          <a:ext cx="11521440" cy="2414016"/>
        </p:xfrm>
        <a:graphic>
          <a:graphicData uri="http://schemas.openxmlformats.org/drawingml/2006/table">
            <a:tbl>
              <a:tblPr firstRow="1" bandRow="1">
                <a:tableStyleId>{5C22544A-7EE6-4342-B048-85BDC9FD1C3A}</a:tableStyleId>
              </a:tblPr>
              <a:tblGrid>
                <a:gridCol w="1828800"/>
                <a:gridCol w="1828800"/>
                <a:gridCol w="3657600"/>
                <a:gridCol w="4206240"/>
              </a:tblGrid>
              <a:tr h="402336">
                <a:tc>
                  <a:txBody>
                    <a:bodyPr/>
                    <a:lstStyle/>
                    <a:p>
                      <a:pPr algn="l"/>
                      <a:r>
                        <a:rPr sz="1300" b="1">
                          <a:solidFill>
                            <a:srgbClr val="FFFFFF"/>
                          </a:solidFill>
                          <a:latin typeface="Segoe UI"/>
                        </a:rPr>
                        <a:t>遷移元</a:t>
                      </a:r>
                    </a:p>
                  </a:txBody>
                  <a:tcPr>
                    <a:solidFill>
                      <a:srgbClr val="0D477F"/>
                    </a:solidFill>
                  </a:tcPr>
                </a:tc>
                <a:tc>
                  <a:txBody>
                    <a:bodyPr/>
                    <a:lstStyle/>
                    <a:p>
                      <a:pPr algn="l"/>
                      <a:r>
                        <a:rPr sz="1300" b="1">
                          <a:solidFill>
                            <a:srgbClr val="FFFFFF"/>
                          </a:solidFill>
                          <a:latin typeface="Segoe UI"/>
                        </a:rPr>
                        <a:t>遷移先</a:t>
                      </a:r>
                    </a:p>
                  </a:txBody>
                  <a:tcPr>
                    <a:solidFill>
                      <a:srgbClr val="0D477F"/>
                    </a:solidFill>
                  </a:tcPr>
                </a:tc>
                <a:tc>
                  <a:txBody>
                    <a:bodyPr/>
                    <a:lstStyle/>
                    <a:p>
                      <a:pPr algn="l"/>
                      <a:r>
                        <a:rPr sz="1300" b="1">
                          <a:solidFill>
                            <a:srgbClr val="FFFFFF"/>
                          </a:solidFill>
                          <a:latin typeface="Segoe UI"/>
                        </a:rPr>
                        <a:t>トリガー</a:t>
                      </a:r>
                    </a:p>
                  </a:txBody>
                  <a:tcPr>
                    <a:solidFill>
                      <a:srgbClr val="0D477F"/>
                    </a:solidFill>
                  </a:tcPr>
                </a:tc>
                <a:tc>
                  <a:txBody>
                    <a:bodyPr/>
                    <a:lstStyle/>
                    <a:p>
                      <a:pPr algn="l"/>
                      <a:r>
                        <a:rPr sz="1300" b="1">
                          <a:solidFill>
                            <a:srgbClr val="FFFFFF"/>
                          </a:solidFill>
                          <a:latin typeface="Segoe UI"/>
                        </a:rPr>
                        <a:t>備考</a:t>
                      </a:r>
                    </a:p>
                  </a:txBody>
                  <a:tcPr>
                    <a:solidFill>
                      <a:srgbClr val="0D477F"/>
                    </a:solidFill>
                  </a:tcPr>
                </a:tc>
              </a:tr>
              <a:tr h="402336">
                <a:tc>
                  <a:txBody>
                    <a:bodyPr/>
                    <a:lstStyle/>
                    <a:p>
                      <a:pPr algn="l"/>
                      <a:r>
                        <a:rPr sz="1200" b="0">
                          <a:solidFill>
                            <a:srgbClr val="1A1A2E"/>
                          </a:solidFill>
                          <a:latin typeface="游ゴシック"/>
                        </a:rPr>
                        <a:t>IDLE</a:t>
                      </a:r>
                    </a:p>
                  </a:txBody>
                  <a:tcPr>
                    <a:solidFill>
                      <a:srgbClr val="FFFFFF"/>
                    </a:solidFill>
                  </a:tcPr>
                </a:tc>
                <a:tc>
                  <a:txBody>
                    <a:bodyPr/>
                    <a:lstStyle/>
                    <a:p>
                      <a:pPr algn="l"/>
                      <a:r>
                        <a:rPr sz="1200" b="0">
                          <a:solidFill>
                            <a:srgbClr val="1A1A2E"/>
                          </a:solidFill>
                          <a:latin typeface="游ゴシック"/>
                        </a:rPr>
                        <a:t>RUN</a:t>
                      </a:r>
                    </a:p>
                  </a:txBody>
                  <a:tcPr>
                    <a:solidFill>
                      <a:srgbClr val="FFFFFF"/>
                    </a:solidFill>
                  </a:tcPr>
                </a:tc>
                <a:tc>
                  <a:txBody>
                    <a:bodyPr/>
                    <a:lstStyle/>
                    <a:p>
                      <a:pPr algn="l"/>
                      <a:r>
                        <a:rPr sz="1200" b="0">
                          <a:solidFill>
                            <a:srgbClr val="1A1A2E"/>
                          </a:solidFill>
                          <a:latin typeface="游ゴシック"/>
                        </a:rPr>
                        <a:t>BtnA 短押し</a:t>
                      </a:r>
                    </a:p>
                  </a:txBody>
                  <a:tcPr>
                    <a:solidFill>
                      <a:srgbClr val="FFFFFF"/>
                    </a:solidFill>
                  </a:tcPr>
                </a:tc>
                <a:tc>
                  <a:txBody>
                    <a:bodyPr/>
                    <a:lstStyle/>
                    <a:p>
                      <a:pPr algn="l"/>
                      <a:r>
                        <a:rPr sz="1200" b="0">
                          <a:solidFill>
                            <a:srgbClr val="1A1A2E"/>
                          </a:solidFill>
                          <a:latin typeface="游ゴシック"/>
                        </a:rPr>
                        <a:t>統計値・SD ファイルを初期化</a:t>
                      </a:r>
                    </a:p>
                  </a:txBody>
                  <a:tcPr>
                    <a:solidFill>
                      <a:srgbClr val="FFFFFF"/>
                    </a:solidFill>
                  </a:tcPr>
                </a:tc>
              </a:tr>
              <a:tr h="402336">
                <a:tc>
                  <a:txBody>
                    <a:bodyPr/>
                    <a:lstStyle/>
                    <a:p>
                      <a:pPr algn="l"/>
                      <a:r>
                        <a:rPr sz="1200" b="0">
                          <a:solidFill>
                            <a:srgbClr val="1A1A2E"/>
                          </a:solidFill>
                          <a:latin typeface="游ゴシック"/>
                        </a:rPr>
                        <a:t>RUN</a:t>
                      </a:r>
                    </a:p>
                  </a:txBody>
                  <a:tcPr>
                    <a:solidFill>
                      <a:srgbClr val="F4F4F4"/>
                    </a:solidFill>
                  </a:tcPr>
                </a:tc>
                <a:tc>
                  <a:txBody>
                    <a:bodyPr/>
                    <a:lstStyle/>
                    <a:p>
                      <a:pPr algn="l"/>
                      <a:r>
                        <a:rPr sz="1200" b="0">
                          <a:solidFill>
                            <a:srgbClr val="1A1A2E"/>
                          </a:solidFill>
                          <a:latin typeface="游ゴシック"/>
                        </a:rPr>
                        <a:t>RESULT</a:t>
                      </a:r>
                    </a:p>
                  </a:txBody>
                  <a:tcPr>
                    <a:solidFill>
                      <a:srgbClr val="F4F4F4"/>
                    </a:solidFill>
                  </a:tcPr>
                </a:tc>
                <a:tc>
                  <a:txBody>
                    <a:bodyPr/>
                    <a:lstStyle/>
                    <a:p>
                      <a:pPr algn="l"/>
                      <a:r>
                        <a:rPr sz="1200" b="0">
                          <a:solidFill>
                            <a:srgbClr val="1A1A2E"/>
                          </a:solidFill>
                          <a:latin typeface="游ゴシック"/>
                        </a:rPr>
                        <a:t>BtnA 短押し</a:t>
                      </a:r>
                    </a:p>
                  </a:txBody>
                  <a:tcPr>
                    <a:solidFill>
                      <a:srgbClr val="F4F4F4"/>
                    </a:solidFill>
                  </a:tcPr>
                </a:tc>
                <a:tc>
                  <a:txBody>
                    <a:bodyPr/>
                    <a:lstStyle/>
                    <a:p>
                      <a:pPr algn="l"/>
                      <a:r>
                        <a:rPr sz="1200" b="0">
                          <a:solidFill>
                            <a:srgbClr val="1A1A2E"/>
                          </a:solidFill>
                          <a:latin typeface="游ゴシック"/>
                        </a:rPr>
                        <a:t>SD ファイルをクローズ</a:t>
                      </a:r>
                    </a:p>
                  </a:txBody>
                  <a:tcPr>
                    <a:solidFill>
                      <a:srgbClr val="F4F4F4"/>
                    </a:solidFill>
                  </a:tcPr>
                </a:tc>
              </a:tr>
              <a:tr h="402336">
                <a:tc>
                  <a:txBody>
                    <a:bodyPr/>
                    <a:lstStyle/>
                    <a:p>
                      <a:pPr algn="l"/>
                      <a:r>
                        <a:rPr sz="1200" b="0">
                          <a:solidFill>
                            <a:srgbClr val="1A1A2E"/>
                          </a:solidFill>
                          <a:latin typeface="游ゴシック"/>
                        </a:rPr>
                        <a:t>RESULT</a:t>
                      </a:r>
                    </a:p>
                  </a:txBody>
                  <a:tcPr>
                    <a:solidFill>
                      <a:srgbClr val="FFFFFF"/>
                    </a:solidFill>
                  </a:tcPr>
                </a:tc>
                <a:tc>
                  <a:txBody>
                    <a:bodyPr/>
                    <a:lstStyle/>
                    <a:p>
                      <a:pPr algn="l"/>
                      <a:r>
                        <a:rPr sz="1200" b="0">
                          <a:solidFill>
                            <a:srgbClr val="1A1A2E"/>
                          </a:solidFill>
                          <a:latin typeface="游ゴシック"/>
                        </a:rPr>
                        <a:t>IDLE</a:t>
                      </a:r>
                    </a:p>
                  </a:txBody>
                  <a:tcPr>
                    <a:solidFill>
                      <a:srgbClr val="FFFFFF"/>
                    </a:solidFill>
                  </a:tcPr>
                </a:tc>
                <a:tc>
                  <a:txBody>
                    <a:bodyPr/>
                    <a:lstStyle/>
                    <a:p>
                      <a:pPr algn="l"/>
                      <a:r>
                        <a:rPr sz="1200" b="0">
                          <a:solidFill>
                            <a:srgbClr val="1A1A2E"/>
                          </a:solidFill>
                          <a:latin typeface="游ゴシック"/>
                        </a:rPr>
                        <a:t>BtnA 短押し</a:t>
                      </a:r>
                    </a:p>
                  </a:txBody>
                  <a:tcPr>
                    <a:solidFill>
                      <a:srgbClr val="FFFFFF"/>
                    </a:solidFill>
                  </a:tcPr>
                </a:tc>
                <a:tc>
                  <a:txBody>
                    <a:bodyPr/>
                    <a:lstStyle/>
                    <a:p>
                      <a:pPr algn="l"/>
                      <a:r>
                        <a:rPr sz="1200" b="0">
                          <a:solidFill>
                            <a:srgbClr val="1A1A2E"/>
                          </a:solidFill>
                          <a:latin typeface="游ゴシック"/>
                        </a:rPr>
                        <a:t>—</a:t>
                      </a:r>
                    </a:p>
                  </a:txBody>
                  <a:tcPr>
                    <a:solidFill>
                      <a:srgbClr val="FFFFFF"/>
                    </a:solidFill>
                  </a:tcPr>
                </a:tc>
              </a:tr>
              <a:tr h="402336">
                <a:tc>
                  <a:txBody>
                    <a:bodyPr/>
                    <a:lstStyle/>
                    <a:p>
                      <a:pPr algn="l"/>
                      <a:r>
                        <a:rPr sz="1200" b="0">
                          <a:solidFill>
                            <a:srgbClr val="1A1A2E"/>
                          </a:solidFill>
                          <a:latin typeface="游ゴシック"/>
                        </a:rPr>
                        <a:t>IDLE</a:t>
                      </a:r>
                    </a:p>
                  </a:txBody>
                  <a:tcPr>
                    <a:solidFill>
                      <a:srgbClr val="F4F4F4"/>
                    </a:solidFill>
                  </a:tcPr>
                </a:tc>
                <a:tc>
                  <a:txBody>
                    <a:bodyPr/>
                    <a:lstStyle/>
                    <a:p>
                      <a:pPr algn="l"/>
                      <a:r>
                        <a:rPr sz="1200" b="0">
                          <a:solidFill>
                            <a:srgbClr val="1A1A2E"/>
                          </a:solidFill>
                          <a:latin typeface="游ゴシック"/>
                        </a:rPr>
                        <a:t>ALARM_SETTING</a:t>
                      </a:r>
                    </a:p>
                  </a:txBody>
                  <a:tcPr>
                    <a:solidFill>
                      <a:srgbClr val="F4F4F4"/>
                    </a:solidFill>
                  </a:tcPr>
                </a:tc>
                <a:tc>
                  <a:txBody>
                    <a:bodyPr/>
                    <a:lstStyle/>
                    <a:p>
                      <a:pPr algn="l"/>
                      <a:r>
                        <a:rPr sz="1200" b="0">
                          <a:solidFill>
                            <a:srgbClr val="1A1A2E"/>
                          </a:solidFill>
                          <a:latin typeface="游ゴシック"/>
                        </a:rPr>
                        <a:t>BtnB 短押し</a:t>
                      </a:r>
                    </a:p>
                  </a:txBody>
                  <a:tcPr>
                    <a:solidFill>
                      <a:srgbClr val="F4F4F4"/>
                    </a:solidFill>
                  </a:tcPr>
                </a:tc>
                <a:tc>
                  <a:txBody>
                    <a:bodyPr/>
                    <a:lstStyle/>
                    <a:p>
                      <a:pPr algn="l"/>
                      <a:r>
                        <a:rPr sz="1200" b="0">
                          <a:solidFill>
                            <a:srgbClr val="1A1A2E"/>
                          </a:solidFill>
                          <a:latin typeface="游ゴシック"/>
                        </a:rPr>
                        <a:t>SettingIndex=0 (HI側) から開始</a:t>
                      </a:r>
                    </a:p>
                  </a:txBody>
                  <a:tcPr>
                    <a:solidFill>
                      <a:srgbClr val="F4F4F4"/>
                    </a:solidFill>
                  </a:tcPr>
                </a:tc>
              </a:tr>
              <a:tr h="402336">
                <a:tc>
                  <a:txBody>
                    <a:bodyPr/>
                    <a:lstStyle/>
                    <a:p>
                      <a:pPr algn="l"/>
                      <a:r>
                        <a:rPr sz="1200" b="0">
                          <a:solidFill>
                            <a:srgbClr val="1A1A2E"/>
                          </a:solidFill>
                          <a:latin typeface="游ゴシック"/>
                        </a:rPr>
                        <a:t>ALARM_SETTING</a:t>
                      </a:r>
                    </a:p>
                  </a:txBody>
                  <a:tcPr>
                    <a:solidFill>
                      <a:srgbClr val="FFFFFF"/>
                    </a:solidFill>
                  </a:tcPr>
                </a:tc>
                <a:tc>
                  <a:txBody>
                    <a:bodyPr/>
                    <a:lstStyle/>
                    <a:p>
                      <a:pPr algn="l"/>
                      <a:r>
                        <a:rPr sz="1200" b="0">
                          <a:solidFill>
                            <a:srgbClr val="1A1A2E"/>
                          </a:solidFill>
                          <a:latin typeface="游ゴシック"/>
                        </a:rPr>
                        <a:t>IDLE</a:t>
                      </a:r>
                    </a:p>
                  </a:txBody>
                  <a:tcPr>
                    <a:solidFill>
                      <a:srgbClr val="FFFFFF"/>
                    </a:solidFill>
                  </a:tcPr>
                </a:tc>
                <a:tc>
                  <a:txBody>
                    <a:bodyPr/>
                    <a:lstStyle/>
                    <a:p>
                      <a:pPr algn="l"/>
                      <a:r>
                        <a:rPr sz="1200" b="0">
                          <a:solidFill>
                            <a:srgbClr val="1A1A2E"/>
                          </a:solidFill>
                          <a:latin typeface="游ゴシック"/>
                        </a:rPr>
                        <a:t>BtnA 短押し × 2</a:t>
                      </a:r>
                    </a:p>
                  </a:txBody>
                  <a:tcPr>
                    <a:solidFill>
                      <a:srgbClr val="FFFFFF"/>
                    </a:solidFill>
                  </a:tcPr>
                </a:tc>
                <a:tc>
                  <a:txBody>
                    <a:bodyPr/>
                    <a:lstStyle/>
                    <a:p>
                      <a:pPr algn="l"/>
                      <a:r>
                        <a:rPr sz="1200" b="0">
                          <a:solidFill>
                            <a:srgbClr val="1A1A2E"/>
                          </a:solidFill>
                          <a:latin typeface="游ゴシック"/>
                        </a:rPr>
                        <a:t>LO 確定時に EEPROM 保存</a:t>
                      </a:r>
                    </a:p>
                  </a:txBody>
                  <a:tcPr>
                    <a:solidFill>
                      <a:srgbClr val="FFFFFF"/>
                    </a:solidFill>
                  </a:tcPr>
                </a:tc>
              </a:tr>
            </a:tbl>
          </a:graphicData>
        </a:graphic>
      </p:graphicFrame>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914400"/>
          </a:xfrm>
          <a:prstGeom prst="rect">
            <a:avLst/>
          </a:prstGeom>
          <a:solidFill>
            <a:srgbClr val="0D477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73152"/>
            <a:ext cx="11430000" cy="502920"/>
          </a:xfrm>
          <a:prstGeom prst="rect">
            <a:avLst/>
          </a:prstGeom>
          <a:noFill/>
        </p:spPr>
        <p:txBody>
          <a:bodyPr wrap="square">
            <a:spAutoFit/>
          </a:bodyPr>
          <a:lstStyle/>
          <a:p>
            <a:pPr algn="l"/>
            <a:r>
              <a:rPr sz="2400" b="1" i="0">
                <a:solidFill>
                  <a:srgbClr val="FFFFFF"/>
                </a:solidFill>
                <a:latin typeface="Segoe UI"/>
              </a:rPr>
              <a:t>ボタン操作一覧</a:t>
            </a:r>
          </a:p>
        </p:txBody>
      </p:sp>
      <p:sp>
        <p:nvSpPr>
          <p:cNvPr id="4" name="TextBox 3"/>
          <p:cNvSpPr txBox="1"/>
          <p:nvPr/>
        </p:nvSpPr>
        <p:spPr>
          <a:xfrm>
            <a:off x="274320" y="594360"/>
            <a:ext cx="11430000" cy="274320"/>
          </a:xfrm>
          <a:prstGeom prst="rect">
            <a:avLst/>
          </a:prstGeom>
          <a:noFill/>
        </p:spPr>
        <p:txBody>
          <a:bodyPr wrap="square">
            <a:spAutoFit/>
          </a:bodyPr>
          <a:lstStyle/>
          <a:p>
            <a:pPr algn="l"/>
            <a:r>
              <a:rPr sz="1200" b="0" i="0">
                <a:solidFill>
                  <a:srgbClr val="FF6D00"/>
                </a:solidFill>
                <a:latin typeface="游ゴシック"/>
              </a:rPr>
              <a:t>Section 4  操作マニュアル</a:t>
            </a:r>
          </a:p>
        </p:txBody>
      </p:sp>
      <p:sp>
        <p:nvSpPr>
          <p:cNvPr id="5" name="Rectangle 4"/>
          <p:cNvSpPr/>
          <p:nvPr/>
        </p:nvSpPr>
        <p:spPr>
          <a:xfrm>
            <a:off x="0" y="6309360"/>
            <a:ext cx="12188952" cy="548640"/>
          </a:xfrm>
          <a:prstGeom prst="rect">
            <a:avLst/>
          </a:prstGeom>
          <a:solidFill>
            <a:srgbClr val="0D477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74320" y="6336792"/>
            <a:ext cx="7315200" cy="320040"/>
          </a:xfrm>
          <a:prstGeom prst="rect">
            <a:avLst/>
          </a:prstGeom>
          <a:noFill/>
        </p:spPr>
        <p:txBody>
          <a:bodyPr wrap="square">
            <a:spAutoFit/>
          </a:bodyPr>
          <a:lstStyle/>
          <a:p>
            <a:pPr algn="l"/>
            <a:r>
              <a:rPr sz="1100" b="0" i="0">
                <a:solidFill>
                  <a:srgbClr val="FF6D00"/>
                </a:solidFill>
                <a:latin typeface="Segoe UI"/>
              </a:rPr>
              <a:t>Simple Temperature Evaluation Tool</a:t>
            </a:r>
          </a:p>
        </p:txBody>
      </p:sp>
      <p:sp>
        <p:nvSpPr>
          <p:cNvPr id="7" name="TextBox 6"/>
          <p:cNvSpPr txBox="1"/>
          <p:nvPr/>
        </p:nvSpPr>
        <p:spPr>
          <a:xfrm>
            <a:off x="10515600" y="6336792"/>
            <a:ext cx="1371600" cy="320040"/>
          </a:xfrm>
          <a:prstGeom prst="rect">
            <a:avLst/>
          </a:prstGeom>
          <a:noFill/>
        </p:spPr>
        <p:txBody>
          <a:bodyPr wrap="square">
            <a:spAutoFit/>
          </a:bodyPr>
          <a:lstStyle/>
          <a:p>
            <a:pPr algn="r"/>
            <a:r>
              <a:rPr sz="1100" b="0" i="0">
                <a:solidFill>
                  <a:srgbClr val="FFFFFF"/>
                </a:solidFill>
                <a:latin typeface="Segoe UI"/>
              </a:rPr>
              <a:t>10</a:t>
            </a:r>
          </a:p>
        </p:txBody>
      </p:sp>
      <p:sp>
        <p:nvSpPr>
          <p:cNvPr id="8" name="TextBox 7"/>
          <p:cNvSpPr txBox="1"/>
          <p:nvPr/>
        </p:nvSpPr>
        <p:spPr>
          <a:xfrm>
            <a:off x="320040" y="1051560"/>
            <a:ext cx="11521440" cy="457200"/>
          </a:xfrm>
          <a:prstGeom prst="rect">
            <a:avLst/>
          </a:prstGeom>
          <a:noFill/>
        </p:spPr>
        <p:txBody>
          <a:bodyPr wrap="square">
            <a:spAutoFit/>
          </a:bodyPr>
          <a:lstStyle/>
          <a:p>
            <a:pPr algn="l"/>
            <a:r>
              <a:rPr sz="1400" b="0" i="0">
                <a:solidFill>
                  <a:srgbClr val="1A1A2E"/>
                </a:solidFill>
                <a:latin typeface="游ゴシック"/>
              </a:rPr>
              <a:t>M5Stack 前面の物理ボタン 3 個（左から BtnA / BtnB / BtnC）。短押し（エッジ検出）のみ。長押し機能なし。</a:t>
            </a:r>
          </a:p>
        </p:txBody>
      </p:sp>
      <p:graphicFrame>
        <p:nvGraphicFramePr>
          <p:cNvPr id="9" name="Table 8"/>
          <p:cNvGraphicFramePr>
            <a:graphicFrameLocks noGrp="1"/>
          </p:cNvGraphicFramePr>
          <p:nvPr/>
        </p:nvGraphicFramePr>
        <p:xfrm>
          <a:off x="320040" y="1600200"/>
          <a:ext cx="11521440" cy="2523744"/>
        </p:xfrm>
        <a:graphic>
          <a:graphicData uri="http://schemas.openxmlformats.org/drawingml/2006/table">
            <a:tbl>
              <a:tblPr firstRow="1" bandRow="1">
                <a:tableStyleId>{5C22544A-7EE6-4342-B048-85BDC9FD1C3A}</a:tableStyleId>
              </a:tblPr>
              <a:tblGrid>
                <a:gridCol w="1828800"/>
                <a:gridCol w="3108960"/>
                <a:gridCol w="3108960"/>
                <a:gridCol w="3474720"/>
              </a:tblGrid>
              <a:tr h="420624">
                <a:tc>
                  <a:txBody>
                    <a:bodyPr/>
                    <a:lstStyle/>
                    <a:p>
                      <a:pPr algn="l"/>
                      <a:r>
                        <a:rPr sz="1300" b="1">
                          <a:solidFill>
                            <a:srgbClr val="FFFFFF"/>
                          </a:solidFill>
                          <a:latin typeface="Segoe UI"/>
                        </a:rPr>
                        <a:t>状態</a:t>
                      </a:r>
                    </a:p>
                  </a:txBody>
                  <a:tcPr>
                    <a:solidFill>
                      <a:srgbClr val="0D477F"/>
                    </a:solidFill>
                  </a:tcPr>
                </a:tc>
                <a:tc>
                  <a:txBody>
                    <a:bodyPr/>
                    <a:lstStyle/>
                    <a:p>
                      <a:pPr algn="l"/>
                      <a:r>
                        <a:rPr sz="1300" b="1">
                          <a:solidFill>
                            <a:srgbClr val="FFFFFF"/>
                          </a:solidFill>
                          <a:latin typeface="Segoe UI"/>
                        </a:rPr>
                        <a:t>BtnA (左)</a:t>
                      </a:r>
                    </a:p>
                  </a:txBody>
                  <a:tcPr>
                    <a:solidFill>
                      <a:srgbClr val="0D477F"/>
                    </a:solidFill>
                  </a:tcPr>
                </a:tc>
                <a:tc>
                  <a:txBody>
                    <a:bodyPr/>
                    <a:lstStyle/>
                    <a:p>
                      <a:pPr algn="l"/>
                      <a:r>
                        <a:rPr sz="1300" b="1">
                          <a:solidFill>
                            <a:srgbClr val="FFFFFF"/>
                          </a:solidFill>
                          <a:latin typeface="Segoe UI"/>
                        </a:rPr>
                        <a:t>BtnB (中)</a:t>
                      </a:r>
                    </a:p>
                  </a:txBody>
                  <a:tcPr>
                    <a:solidFill>
                      <a:srgbClr val="0D477F"/>
                    </a:solidFill>
                  </a:tcPr>
                </a:tc>
                <a:tc>
                  <a:txBody>
                    <a:bodyPr/>
                    <a:lstStyle/>
                    <a:p>
                      <a:pPr algn="l"/>
                      <a:r>
                        <a:rPr sz="1300" b="1">
                          <a:solidFill>
                            <a:srgbClr val="FFFFFF"/>
                          </a:solidFill>
                          <a:latin typeface="Segoe UI"/>
                        </a:rPr>
                        <a:t>BtnC (右)</a:t>
                      </a:r>
                    </a:p>
                  </a:txBody>
                  <a:tcPr>
                    <a:solidFill>
                      <a:srgbClr val="0D477F"/>
                    </a:solidFill>
                  </a:tcPr>
                </a:tc>
              </a:tr>
              <a:tr h="420624">
                <a:tc>
                  <a:txBody>
                    <a:bodyPr/>
                    <a:lstStyle/>
                    <a:p>
                      <a:pPr algn="l"/>
                      <a:r>
                        <a:rPr sz="1200" b="0">
                          <a:solidFill>
                            <a:srgbClr val="1A1A2E"/>
                          </a:solidFill>
                          <a:latin typeface="游ゴシック"/>
                        </a:rPr>
                        <a:t>IDLE</a:t>
                      </a:r>
                    </a:p>
                  </a:txBody>
                  <a:tcPr>
                    <a:solidFill>
                      <a:srgbClr val="FFFFFF"/>
                    </a:solidFill>
                  </a:tcPr>
                </a:tc>
                <a:tc>
                  <a:txBody>
                    <a:bodyPr/>
                    <a:lstStyle/>
                    <a:p>
                      <a:pPr algn="l"/>
                      <a:r>
                        <a:rPr sz="1200" b="0">
                          <a:solidFill>
                            <a:srgbClr val="1A1A2E"/>
                          </a:solidFill>
                          <a:latin typeface="游ゴシック"/>
                        </a:rPr>
                        <a:t>→ RUN（計測開始）</a:t>
                      </a:r>
                    </a:p>
                  </a:txBody>
                  <a:tcPr>
                    <a:solidFill>
                      <a:srgbClr val="FFFFFF"/>
                    </a:solidFill>
                  </a:tcPr>
                </a:tc>
                <a:tc>
                  <a:txBody>
                    <a:bodyPr/>
                    <a:lstStyle/>
                    <a:p>
                      <a:pPr algn="l"/>
                      <a:r>
                        <a:rPr sz="1200" b="0">
                          <a:solidFill>
                            <a:srgbClr val="1A1A2E"/>
                          </a:solidFill>
                          <a:latin typeface="游ゴシック"/>
                        </a:rPr>
                        <a:t>→ ALARM_SETTING</a:t>
                      </a:r>
                    </a:p>
                  </a:txBody>
                  <a:tcPr>
                    <a:solidFill>
                      <a:srgbClr val="FFFFFF"/>
                    </a:solidFill>
                  </a:tcPr>
                </a:tc>
                <a:tc>
                  <a:txBody>
                    <a:bodyPr/>
                    <a:lstStyle/>
                    <a:p>
                      <a:pPr algn="l"/>
                      <a:r>
                        <a:rPr sz="1200" b="0">
                          <a:solidFill>
                            <a:srgbClr val="1A1A2E"/>
                          </a:solidFill>
                          <a:latin typeface="游ゴシック"/>
                        </a:rPr>
                        <a:t>（なし）</a:t>
                      </a:r>
                    </a:p>
                  </a:txBody>
                  <a:tcPr>
                    <a:solidFill>
                      <a:srgbClr val="FFFFFF"/>
                    </a:solidFill>
                  </a:tcPr>
                </a:tc>
              </a:tr>
              <a:tr h="420624">
                <a:tc>
                  <a:txBody>
                    <a:bodyPr/>
                    <a:lstStyle/>
                    <a:p>
                      <a:pPr algn="l"/>
                      <a:r>
                        <a:rPr sz="1200" b="0">
                          <a:solidFill>
                            <a:srgbClr val="1A1A2E"/>
                          </a:solidFill>
                          <a:latin typeface="游ゴシック"/>
                        </a:rPr>
                        <a:t>RUN</a:t>
                      </a:r>
                    </a:p>
                  </a:txBody>
                  <a:tcPr>
                    <a:solidFill>
                      <a:srgbClr val="F4F4F4"/>
                    </a:solidFill>
                  </a:tcPr>
                </a:tc>
                <a:tc>
                  <a:txBody>
                    <a:bodyPr/>
                    <a:lstStyle/>
                    <a:p>
                      <a:pPr algn="l"/>
                      <a:r>
                        <a:rPr sz="1200" b="0">
                          <a:solidFill>
                            <a:srgbClr val="1A1A2E"/>
                          </a:solidFill>
                          <a:latin typeface="游ゴシック"/>
                        </a:rPr>
                        <a:t>→ RESULT（計測終了）</a:t>
                      </a:r>
                    </a:p>
                  </a:txBody>
                  <a:tcPr>
                    <a:solidFill>
                      <a:srgbClr val="F4F4F4"/>
                    </a:solidFill>
                  </a:tcPr>
                </a:tc>
                <a:tc>
                  <a:txBody>
                    <a:bodyPr/>
                    <a:lstStyle/>
                    <a:p>
                      <a:pPr algn="l"/>
                      <a:r>
                        <a:rPr sz="1200" b="0">
                          <a:solidFill>
                            <a:srgbClr val="1A1A2E"/>
                          </a:solidFill>
                          <a:latin typeface="游ゴシック"/>
                        </a:rPr>
                        <a:t>（なし）</a:t>
                      </a:r>
                    </a:p>
                  </a:txBody>
                  <a:tcPr>
                    <a:solidFill>
                      <a:srgbClr val="F4F4F4"/>
                    </a:solidFill>
                  </a:tcPr>
                </a:tc>
                <a:tc>
                  <a:txBody>
                    <a:bodyPr/>
                    <a:lstStyle/>
                    <a:p>
                      <a:pPr algn="l"/>
                      <a:r>
                        <a:rPr sz="1200" b="0">
                          <a:solidFill>
                            <a:srgbClr val="1A1A2E"/>
                          </a:solidFill>
                          <a:latin typeface="游ゴシック"/>
                        </a:rPr>
                        <a:t>（なし）</a:t>
                      </a:r>
                    </a:p>
                  </a:txBody>
                  <a:tcPr>
                    <a:solidFill>
                      <a:srgbClr val="F4F4F4"/>
                    </a:solidFill>
                  </a:tcPr>
                </a:tc>
              </a:tr>
              <a:tr h="420624">
                <a:tc>
                  <a:txBody>
                    <a:bodyPr/>
                    <a:lstStyle/>
                    <a:p>
                      <a:pPr algn="l"/>
                      <a:r>
                        <a:rPr sz="1200" b="0">
                          <a:solidFill>
                            <a:srgbClr val="1A1A2E"/>
                          </a:solidFill>
                          <a:latin typeface="游ゴシック"/>
                        </a:rPr>
                        <a:t>RESULT</a:t>
                      </a:r>
                    </a:p>
                  </a:txBody>
                  <a:tcPr>
                    <a:solidFill>
                      <a:srgbClr val="FFFFFF"/>
                    </a:solidFill>
                  </a:tcPr>
                </a:tc>
                <a:tc>
                  <a:txBody>
                    <a:bodyPr/>
                    <a:lstStyle/>
                    <a:p>
                      <a:pPr algn="l"/>
                      <a:r>
                        <a:rPr sz="1200" b="0">
                          <a:solidFill>
                            <a:srgbClr val="1A1A2E"/>
                          </a:solidFill>
                          <a:latin typeface="游ゴシック"/>
                        </a:rPr>
                        <a:t>→ IDLE（リセット）</a:t>
                      </a:r>
                    </a:p>
                  </a:txBody>
                  <a:tcPr>
                    <a:solidFill>
                      <a:srgbClr val="FFFFFF"/>
                    </a:solidFill>
                  </a:tcPr>
                </a:tc>
                <a:tc>
                  <a:txBody>
                    <a:bodyPr/>
                    <a:lstStyle/>
                    <a:p>
                      <a:pPr algn="l"/>
                      <a:r>
                        <a:rPr sz="1200" b="0">
                          <a:solidFill>
                            <a:srgbClr val="1A1A2E"/>
                          </a:solidFill>
                          <a:latin typeface="游ゴシック"/>
                        </a:rPr>
                        <a:t>ページ切替 1/2↔2/2</a:t>
                      </a:r>
                    </a:p>
                  </a:txBody>
                  <a:tcPr>
                    <a:solidFill>
                      <a:srgbClr val="FFFFFF"/>
                    </a:solidFill>
                  </a:tcPr>
                </a:tc>
                <a:tc>
                  <a:txBody>
                    <a:bodyPr/>
                    <a:lstStyle/>
                    <a:p>
                      <a:pPr algn="l"/>
                      <a:r>
                        <a:rPr sz="1200" b="0">
                          <a:solidFill>
                            <a:srgbClr val="1A1A2E"/>
                          </a:solidFill>
                          <a:latin typeface="游ゴシック"/>
                        </a:rPr>
                        <a:t>（なし）</a:t>
                      </a:r>
                    </a:p>
                  </a:txBody>
                  <a:tcPr>
                    <a:solidFill>
                      <a:srgbClr val="FFFFFF"/>
                    </a:solidFill>
                  </a:tcPr>
                </a:tc>
              </a:tr>
              <a:tr h="420624">
                <a:tc>
                  <a:txBody>
                    <a:bodyPr/>
                    <a:lstStyle/>
                    <a:p>
                      <a:pPr algn="l"/>
                      <a:r>
                        <a:rPr sz="1200" b="0">
                          <a:solidFill>
                            <a:srgbClr val="1A1A2E"/>
                          </a:solidFill>
                          <a:latin typeface="游ゴシック"/>
                        </a:rPr>
                        <a:t>ALARM HI</a:t>
                      </a:r>
                    </a:p>
                  </a:txBody>
                  <a:tcPr>
                    <a:solidFill>
                      <a:srgbClr val="F4F4F4"/>
                    </a:solidFill>
                  </a:tcPr>
                </a:tc>
                <a:tc>
                  <a:txBody>
                    <a:bodyPr/>
                    <a:lstStyle/>
                    <a:p>
                      <a:pPr algn="l"/>
                      <a:r>
                        <a:rPr sz="1200" b="0">
                          <a:solidFill>
                            <a:srgbClr val="1A1A2E"/>
                          </a:solidFill>
                          <a:latin typeface="游ゴシック"/>
                        </a:rPr>
                        <a:t>→ LO 設定へ移行</a:t>
                      </a:r>
                    </a:p>
                  </a:txBody>
                  <a:tcPr>
                    <a:solidFill>
                      <a:srgbClr val="F4F4F4"/>
                    </a:solidFill>
                  </a:tcPr>
                </a:tc>
                <a:tc>
                  <a:txBody>
                    <a:bodyPr/>
                    <a:lstStyle/>
                    <a:p>
                      <a:pPr algn="l"/>
                      <a:r>
                        <a:rPr sz="1200" b="0">
                          <a:solidFill>
                            <a:srgbClr val="1A1A2E"/>
                          </a:solidFill>
                          <a:latin typeface="游ゴシック"/>
                        </a:rPr>
                        <a:t>+5°C</a:t>
                      </a:r>
                    </a:p>
                  </a:txBody>
                  <a:tcPr>
                    <a:solidFill>
                      <a:srgbClr val="F4F4F4"/>
                    </a:solidFill>
                  </a:tcPr>
                </a:tc>
                <a:tc>
                  <a:txBody>
                    <a:bodyPr/>
                    <a:lstStyle/>
                    <a:p>
                      <a:pPr algn="l"/>
                      <a:r>
                        <a:rPr sz="1200" b="0">
                          <a:solidFill>
                            <a:srgbClr val="1A1A2E"/>
                          </a:solidFill>
                          <a:latin typeface="游ゴシック"/>
                        </a:rPr>
                        <a:t>−5°C</a:t>
                      </a:r>
                    </a:p>
                  </a:txBody>
                  <a:tcPr>
                    <a:solidFill>
                      <a:srgbClr val="F4F4F4"/>
                    </a:solidFill>
                  </a:tcPr>
                </a:tc>
              </a:tr>
              <a:tr h="420624">
                <a:tc>
                  <a:txBody>
                    <a:bodyPr/>
                    <a:lstStyle/>
                    <a:p>
                      <a:pPr algn="l"/>
                      <a:r>
                        <a:rPr sz="1200" b="0">
                          <a:solidFill>
                            <a:srgbClr val="1A1A2E"/>
                          </a:solidFill>
                          <a:latin typeface="游ゴシック"/>
                        </a:rPr>
                        <a:t>ALARM LO</a:t>
                      </a:r>
                    </a:p>
                  </a:txBody>
                  <a:tcPr>
                    <a:solidFill>
                      <a:srgbClr val="FFFFFF"/>
                    </a:solidFill>
                  </a:tcPr>
                </a:tc>
                <a:tc>
                  <a:txBody>
                    <a:bodyPr/>
                    <a:lstStyle/>
                    <a:p>
                      <a:pPr algn="l"/>
                      <a:r>
                        <a:rPr sz="1200" b="0">
                          <a:solidFill>
                            <a:srgbClr val="1A1A2E"/>
                          </a:solidFill>
                          <a:latin typeface="游ゴシック"/>
                        </a:rPr>
                        <a:t>→ IDLE（EEPROM 保存）</a:t>
                      </a:r>
                    </a:p>
                  </a:txBody>
                  <a:tcPr>
                    <a:solidFill>
                      <a:srgbClr val="FFFFFF"/>
                    </a:solidFill>
                  </a:tcPr>
                </a:tc>
                <a:tc>
                  <a:txBody>
                    <a:bodyPr/>
                    <a:lstStyle/>
                    <a:p>
                      <a:pPr algn="l"/>
                      <a:r>
                        <a:rPr sz="1200" b="0">
                          <a:solidFill>
                            <a:srgbClr val="1A1A2E"/>
                          </a:solidFill>
                          <a:latin typeface="游ゴシック"/>
                        </a:rPr>
                        <a:t>+5°C</a:t>
                      </a:r>
                    </a:p>
                  </a:txBody>
                  <a:tcPr>
                    <a:solidFill>
                      <a:srgbClr val="FFFFFF"/>
                    </a:solidFill>
                  </a:tcPr>
                </a:tc>
                <a:tc>
                  <a:txBody>
                    <a:bodyPr/>
                    <a:lstStyle/>
                    <a:p>
                      <a:pPr algn="l"/>
                      <a:r>
                        <a:rPr sz="1200" b="0">
                          <a:solidFill>
                            <a:srgbClr val="1A1A2E"/>
                          </a:solidFill>
                          <a:latin typeface="游ゴシック"/>
                        </a:rPr>
                        <a:t>−5°C</a:t>
                      </a:r>
                    </a:p>
                  </a:txBody>
                  <a:tcPr>
                    <a:solidFill>
                      <a:srgbClr val="FFFFFF"/>
                    </a:solidFill>
                  </a:tcPr>
                </a:tc>
              </a:tr>
            </a:tbl>
          </a:graphicData>
        </a:graphic>
      </p:graphicFrame>
      <p:sp>
        <p:nvSpPr>
          <p:cNvPr id="10" name="TextBox 9"/>
          <p:cNvSpPr txBox="1"/>
          <p:nvPr/>
        </p:nvSpPr>
        <p:spPr>
          <a:xfrm>
            <a:off x="320040" y="4663440"/>
            <a:ext cx="11521440" cy="365760"/>
          </a:xfrm>
          <a:prstGeom prst="rect">
            <a:avLst/>
          </a:prstGeom>
          <a:noFill/>
        </p:spPr>
        <p:txBody>
          <a:bodyPr wrap="square">
            <a:spAutoFit/>
          </a:bodyPr>
          <a:lstStyle/>
          <a:p>
            <a:pPr algn="l"/>
            <a:r>
              <a:rPr sz="1200" b="0" i="1">
                <a:solidFill>
                  <a:srgbClr val="999999"/>
                </a:solidFill>
                <a:latin typeface="游ゴシック"/>
              </a:rPr>
              <a:t>※ ALARM_SETTING は IDLE からのみ進入可。RUN / RESULT 中はボタン非対応。</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914400"/>
          </a:xfrm>
          <a:prstGeom prst="rect">
            <a:avLst/>
          </a:prstGeom>
          <a:solidFill>
            <a:srgbClr val="0D477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73152"/>
            <a:ext cx="11430000" cy="502920"/>
          </a:xfrm>
          <a:prstGeom prst="rect">
            <a:avLst/>
          </a:prstGeom>
          <a:noFill/>
        </p:spPr>
        <p:txBody>
          <a:bodyPr wrap="square">
            <a:spAutoFit/>
          </a:bodyPr>
          <a:lstStyle/>
          <a:p>
            <a:pPr algn="l"/>
            <a:r>
              <a:rPr sz="2400" b="1" i="0">
                <a:solidFill>
                  <a:srgbClr val="FFFFFF"/>
                </a:solidFill>
                <a:latin typeface="Segoe UI"/>
              </a:rPr>
              <a:t>操作マニュアル ① — IDLE（待機）</a:t>
            </a:r>
          </a:p>
        </p:txBody>
      </p:sp>
      <p:sp>
        <p:nvSpPr>
          <p:cNvPr id="4" name="TextBox 3"/>
          <p:cNvSpPr txBox="1"/>
          <p:nvPr/>
        </p:nvSpPr>
        <p:spPr>
          <a:xfrm>
            <a:off x="274320" y="594360"/>
            <a:ext cx="11430000" cy="274320"/>
          </a:xfrm>
          <a:prstGeom prst="rect">
            <a:avLst/>
          </a:prstGeom>
          <a:noFill/>
        </p:spPr>
        <p:txBody>
          <a:bodyPr wrap="square">
            <a:spAutoFit/>
          </a:bodyPr>
          <a:lstStyle/>
          <a:p>
            <a:pPr algn="l"/>
            <a:r>
              <a:rPr sz="1200" b="0" i="0">
                <a:solidFill>
                  <a:srgbClr val="FF6D00"/>
                </a:solidFill>
                <a:latin typeface="游ゴシック"/>
              </a:rPr>
              <a:t>Section 4  操作マニュアル</a:t>
            </a:r>
          </a:p>
        </p:txBody>
      </p:sp>
      <p:sp>
        <p:nvSpPr>
          <p:cNvPr id="5" name="Rectangle 4"/>
          <p:cNvSpPr/>
          <p:nvPr/>
        </p:nvSpPr>
        <p:spPr>
          <a:xfrm>
            <a:off x="0" y="6309360"/>
            <a:ext cx="12188952" cy="548640"/>
          </a:xfrm>
          <a:prstGeom prst="rect">
            <a:avLst/>
          </a:prstGeom>
          <a:solidFill>
            <a:srgbClr val="0D477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74320" y="6336792"/>
            <a:ext cx="7315200" cy="320040"/>
          </a:xfrm>
          <a:prstGeom prst="rect">
            <a:avLst/>
          </a:prstGeom>
          <a:noFill/>
        </p:spPr>
        <p:txBody>
          <a:bodyPr wrap="square">
            <a:spAutoFit/>
          </a:bodyPr>
          <a:lstStyle/>
          <a:p>
            <a:pPr algn="l"/>
            <a:r>
              <a:rPr sz="1100" b="0" i="0">
                <a:solidFill>
                  <a:srgbClr val="FF6D00"/>
                </a:solidFill>
                <a:latin typeface="Segoe UI"/>
              </a:rPr>
              <a:t>Simple Temperature Evaluation Tool</a:t>
            </a:r>
          </a:p>
        </p:txBody>
      </p:sp>
      <p:sp>
        <p:nvSpPr>
          <p:cNvPr id="7" name="TextBox 6"/>
          <p:cNvSpPr txBox="1"/>
          <p:nvPr/>
        </p:nvSpPr>
        <p:spPr>
          <a:xfrm>
            <a:off x="10515600" y="6336792"/>
            <a:ext cx="1371600" cy="320040"/>
          </a:xfrm>
          <a:prstGeom prst="rect">
            <a:avLst/>
          </a:prstGeom>
          <a:noFill/>
        </p:spPr>
        <p:txBody>
          <a:bodyPr wrap="square">
            <a:spAutoFit/>
          </a:bodyPr>
          <a:lstStyle/>
          <a:p>
            <a:pPr algn="r"/>
            <a:r>
              <a:rPr sz="1100" b="0" i="0">
                <a:solidFill>
                  <a:srgbClr val="FFFFFF"/>
                </a:solidFill>
                <a:latin typeface="Segoe UI"/>
              </a:rPr>
              <a:t>11</a:t>
            </a:r>
          </a:p>
        </p:txBody>
      </p:sp>
      <p:sp>
        <p:nvSpPr>
          <p:cNvPr id="8" name="Rectangle 7"/>
          <p:cNvSpPr/>
          <p:nvPr/>
        </p:nvSpPr>
        <p:spPr>
          <a:xfrm>
            <a:off x="320040" y="1051560"/>
            <a:ext cx="5669280" cy="4572000"/>
          </a:xfrm>
          <a:prstGeom prst="rect">
            <a:avLst/>
          </a:prstGeom>
          <a:solidFill>
            <a:srgbClr val="000000"/>
          </a:solidFill>
          <a:ln w="25400">
            <a:solidFill>
              <a:srgbClr val="99999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29768" y="1161288"/>
            <a:ext cx="5449824" cy="4352544"/>
          </a:xfrm>
          <a:prstGeom prst="rect">
            <a:avLst/>
          </a:prstGeom>
          <a:noFill/>
        </p:spPr>
        <p:txBody>
          <a:bodyPr wrap="none">
            <a:spAutoFit/>
          </a:bodyPr>
          <a:lstStyle/>
          <a:p>
            <a:r>
              <a:rPr sz="1300">
                <a:solidFill>
                  <a:srgbClr val="FFFFFF"/>
                </a:solidFill>
                <a:latin typeface="Consolas"/>
              </a:rPr>
              <a:t>STATE: IDLE</a:t>
            </a:r>
          </a:p>
          <a:p>
            <a:r>
              <a:rPr sz="1300">
                <a:solidFill>
                  <a:srgbClr val="FFFFFF"/>
                </a:solidFill>
                <a:latin typeface="Consolas"/>
              </a:rPr>
              <a:t/>
            </a:r>
          </a:p>
          <a:p>
            <a:r>
              <a:rPr sz="1300">
                <a:solidFill>
                  <a:srgbClr val="FFFFFF"/>
                </a:solidFill>
                <a:latin typeface="Consolas"/>
              </a:rPr>
              <a:t>Temp:</a:t>
            </a:r>
          </a:p>
          <a:p>
            <a:r>
              <a:rPr sz="1300">
                <a:solidFill>
                  <a:srgbClr val="FFFFFF"/>
                </a:solidFill>
                <a:latin typeface="Consolas"/>
              </a:rPr>
              <a:t>  25.3  C</a:t>
            </a:r>
          </a:p>
          <a:p>
            <a:r>
              <a:rPr sz="1300">
                <a:solidFill>
                  <a:srgbClr val="FFFFFF"/>
                </a:solidFill>
                <a:latin typeface="Consolas"/>
              </a:rPr>
              <a:t/>
            </a:r>
          </a:p>
          <a:p>
            <a:r>
              <a:rPr sz="1300">
                <a:solidFill>
                  <a:srgbClr val="FFFFFF"/>
                </a:solidFill>
                <a:latin typeface="Consolas"/>
              </a:rPr>
              <a:t>SD Ready</a:t>
            </a:r>
          </a:p>
          <a:p>
            <a:r>
              <a:rPr sz="1300">
                <a:solidFill>
                  <a:srgbClr val="FFFFFF"/>
                </a:solidFill>
                <a:latin typeface="Consolas"/>
              </a:rPr>
              <a:t/>
            </a:r>
          </a:p>
          <a:p>
            <a:r>
              <a:rPr sz="1300">
                <a:solidFill>
                  <a:srgbClr val="FFFFFF"/>
                </a:solidFill>
                <a:latin typeface="Consolas"/>
              </a:rPr>
              <a:t>[BtnA] Start   [BtnB] Setting</a:t>
            </a:r>
          </a:p>
        </p:txBody>
      </p:sp>
      <p:sp>
        <p:nvSpPr>
          <p:cNvPr id="10" name="TextBox 9"/>
          <p:cNvSpPr txBox="1"/>
          <p:nvPr/>
        </p:nvSpPr>
        <p:spPr>
          <a:xfrm>
            <a:off x="6217920" y="1051560"/>
            <a:ext cx="5577840" cy="411480"/>
          </a:xfrm>
          <a:prstGeom prst="rect">
            <a:avLst/>
          </a:prstGeom>
          <a:noFill/>
        </p:spPr>
        <p:txBody>
          <a:bodyPr wrap="square">
            <a:spAutoFit/>
          </a:bodyPr>
          <a:lstStyle/>
          <a:p>
            <a:pPr algn="l"/>
            <a:r>
              <a:rPr sz="1600" b="1" i="0">
                <a:solidFill>
                  <a:srgbClr val="0D477F"/>
                </a:solidFill>
                <a:latin typeface="游ゴシック"/>
              </a:rPr>
              <a:t>IDLE 状態の動作仕様</a:t>
            </a:r>
          </a:p>
        </p:txBody>
      </p:sp>
      <p:graphicFrame>
        <p:nvGraphicFramePr>
          <p:cNvPr id="11" name="Table 10"/>
          <p:cNvGraphicFramePr>
            <a:graphicFrameLocks noGrp="1"/>
          </p:cNvGraphicFramePr>
          <p:nvPr/>
        </p:nvGraphicFramePr>
        <p:xfrm>
          <a:off x="6217920" y="1600200"/>
          <a:ext cx="5577840" cy="3008376"/>
        </p:xfrm>
        <a:graphic>
          <a:graphicData uri="http://schemas.openxmlformats.org/drawingml/2006/table">
            <a:tbl>
              <a:tblPr firstRow="1" bandRow="1">
                <a:tableStyleId>{5C22544A-7EE6-4342-B048-85BDC9FD1C3A}</a:tableStyleId>
              </a:tblPr>
              <a:tblGrid>
                <a:gridCol w="2011680"/>
                <a:gridCol w="3566160"/>
              </a:tblGrid>
              <a:tr h="429768">
                <a:tc>
                  <a:txBody>
                    <a:bodyPr/>
                    <a:lstStyle/>
                    <a:p>
                      <a:pPr algn="l"/>
                      <a:r>
                        <a:rPr sz="1300" b="1">
                          <a:solidFill>
                            <a:srgbClr val="FFFFFF"/>
                          </a:solidFill>
                          <a:latin typeface="Segoe UI"/>
                        </a:rPr>
                        <a:t>項目</a:t>
                      </a:r>
                    </a:p>
                  </a:txBody>
                  <a:tcPr>
                    <a:solidFill>
                      <a:srgbClr val="0D477F"/>
                    </a:solidFill>
                  </a:tcPr>
                </a:tc>
                <a:tc>
                  <a:txBody>
                    <a:bodyPr/>
                    <a:lstStyle/>
                    <a:p>
                      <a:pPr algn="l"/>
                      <a:r>
                        <a:rPr sz="1300" b="1">
                          <a:solidFill>
                            <a:srgbClr val="FFFFFF"/>
                          </a:solidFill>
                          <a:latin typeface="Segoe UI"/>
                        </a:rPr>
                        <a:t>内容</a:t>
                      </a:r>
                    </a:p>
                  </a:txBody>
                  <a:tcPr>
                    <a:solidFill>
                      <a:srgbClr val="0D477F"/>
                    </a:solidFill>
                  </a:tcPr>
                </a:tc>
              </a:tr>
              <a:tr h="429768">
                <a:tc>
                  <a:txBody>
                    <a:bodyPr/>
                    <a:lstStyle/>
                    <a:p>
                      <a:pPr algn="l"/>
                      <a:r>
                        <a:rPr sz="1200" b="0">
                          <a:solidFill>
                            <a:srgbClr val="1A1A2E"/>
                          </a:solidFill>
                          <a:latin typeface="游ゴシック"/>
                        </a:rPr>
                        <a:t>温度更新周期</a:t>
                      </a:r>
                    </a:p>
                  </a:txBody>
                  <a:tcPr>
                    <a:solidFill>
                      <a:srgbClr val="FFFFFF"/>
                    </a:solidFill>
                  </a:tcPr>
                </a:tc>
                <a:tc>
                  <a:txBody>
                    <a:bodyPr/>
                    <a:lstStyle/>
                    <a:p>
                      <a:pPr algn="l"/>
                      <a:r>
                        <a:rPr sz="1200" b="0">
                          <a:solidFill>
                            <a:srgbClr val="1A1A2E"/>
                          </a:solidFill>
                          <a:latin typeface="游ゴシック"/>
                        </a:rPr>
                        <a:t>500ms（TC_READ_INTERVAL_MS）</a:t>
                      </a:r>
                    </a:p>
                  </a:txBody>
                  <a:tcPr>
                    <a:solidFill>
                      <a:srgbClr val="FFFFFF"/>
                    </a:solidFill>
                  </a:tcPr>
                </a:tc>
              </a:tr>
              <a:tr h="429768">
                <a:tc>
                  <a:txBody>
                    <a:bodyPr/>
                    <a:lstStyle/>
                    <a:p>
                      <a:pPr algn="l"/>
                      <a:r>
                        <a:rPr sz="1200" b="0">
                          <a:solidFill>
                            <a:srgbClr val="1A1A2E"/>
                          </a:solidFill>
                          <a:latin typeface="游ゴシック"/>
                        </a:rPr>
                        <a:t>フィルタ</a:t>
                      </a:r>
                    </a:p>
                  </a:txBody>
                  <a:tcPr>
                    <a:solidFill>
                      <a:srgbClr val="F4F4F4"/>
                    </a:solidFill>
                  </a:tcPr>
                </a:tc>
                <a:tc>
                  <a:txBody>
                    <a:bodyPr/>
                    <a:lstStyle/>
                    <a:p>
                      <a:pPr algn="l"/>
                      <a:r>
                        <a:rPr sz="1200" b="0">
                          <a:solidFill>
                            <a:srgbClr val="1A1A2E"/>
                          </a:solidFill>
                          <a:latin typeface="游ゴシック"/>
                        </a:rPr>
                        <a:t>LPF  α=0.1（1次遅れ）</a:t>
                      </a:r>
                    </a:p>
                  </a:txBody>
                  <a:tcPr>
                    <a:solidFill>
                      <a:srgbClr val="F4F4F4"/>
                    </a:solidFill>
                  </a:tcPr>
                </a:tc>
              </a:tr>
              <a:tr h="429768">
                <a:tc>
                  <a:txBody>
                    <a:bodyPr/>
                    <a:lstStyle/>
                    <a:p>
                      <a:pPr algn="l"/>
                      <a:r>
                        <a:rPr sz="1200" b="0">
                          <a:solidFill>
                            <a:srgbClr val="1A1A2E"/>
                          </a:solidFill>
                          <a:latin typeface="游ゴシック"/>
                        </a:rPr>
                        <a:t>異常時表示</a:t>
                      </a:r>
                    </a:p>
                  </a:txBody>
                  <a:tcPr>
                    <a:solidFill>
                      <a:srgbClr val="FFFFFF"/>
                    </a:solidFill>
                  </a:tcPr>
                </a:tc>
                <a:tc>
                  <a:txBody>
                    <a:bodyPr/>
                    <a:lstStyle/>
                    <a:p>
                      <a:pPr algn="l"/>
                      <a:r>
                        <a:rPr sz="1200" b="0">
                          <a:solidFill>
                            <a:srgbClr val="1A1A2E"/>
                          </a:solidFill>
                          <a:latin typeface="游ゴシック"/>
                        </a:rPr>
                        <a:t>---.-- C（センサ未接続 / NaN）</a:t>
                      </a:r>
                    </a:p>
                  </a:txBody>
                  <a:tcPr>
                    <a:solidFill>
                      <a:srgbClr val="FFFFFF"/>
                    </a:solidFill>
                  </a:tcPr>
                </a:tc>
              </a:tr>
              <a:tr h="429768">
                <a:tc>
                  <a:txBody>
                    <a:bodyPr/>
                    <a:lstStyle/>
                    <a:p>
                      <a:pPr algn="l"/>
                      <a:r>
                        <a:rPr sz="1200" b="0">
                          <a:solidFill>
                            <a:srgbClr val="1A1A2E"/>
                          </a:solidFill>
                          <a:latin typeface="游ゴシック"/>
                        </a:rPr>
                        <a:t>アラーム表示</a:t>
                      </a:r>
                    </a:p>
                  </a:txBody>
                  <a:tcPr>
                    <a:solidFill>
                      <a:srgbClr val="F4F4F4"/>
                    </a:solidFill>
                  </a:tcPr>
                </a:tc>
                <a:tc>
                  <a:txBody>
                    <a:bodyPr/>
                    <a:lstStyle/>
                    <a:p>
                      <a:pPr algn="l"/>
                      <a:r>
                        <a:rPr sz="1200" b="0">
                          <a:solidFill>
                            <a:srgbClr val="1A1A2E"/>
                          </a:solidFill>
                          <a:latin typeface="游ゴシック"/>
                        </a:rPr>
                        <a:t>温度テキストを赤 (HI) / 青 (LO) に変色</a:t>
                      </a:r>
                    </a:p>
                  </a:txBody>
                  <a:tcPr>
                    <a:solidFill>
                      <a:srgbClr val="F4F4F4"/>
                    </a:solidFill>
                  </a:tcPr>
                </a:tc>
              </a:tr>
              <a:tr h="429768">
                <a:tc>
                  <a:txBody>
                    <a:bodyPr/>
                    <a:lstStyle/>
                    <a:p>
                      <a:pPr algn="l"/>
                      <a:r>
                        <a:rPr sz="1200" b="0">
                          <a:solidFill>
                            <a:srgbClr val="1A1A2E"/>
                          </a:solidFill>
                          <a:latin typeface="游ゴシック"/>
                        </a:rPr>
                        <a:t>SD 状態表示</a:t>
                      </a:r>
                    </a:p>
                  </a:txBody>
                  <a:tcPr>
                    <a:solidFill>
                      <a:srgbClr val="FFFFFF"/>
                    </a:solidFill>
                  </a:tcPr>
                </a:tc>
                <a:tc>
                  <a:txBody>
                    <a:bodyPr/>
                    <a:lstStyle/>
                    <a:p>
                      <a:pPr algn="l"/>
                      <a:r>
                        <a:rPr sz="1200" b="0">
                          <a:solidFill>
                            <a:srgbClr val="1A1A2E"/>
                          </a:solidFill>
                          <a:latin typeface="游ゴシック"/>
                        </a:rPr>
                        <a:t>GREEN=Ready, RED=Error, YELLOW=Not Ready</a:t>
                      </a:r>
                    </a:p>
                  </a:txBody>
                  <a:tcPr>
                    <a:solidFill>
                      <a:srgbClr val="FFFFFF"/>
                    </a:solidFill>
                  </a:tcPr>
                </a:tc>
              </a:tr>
              <a:tr h="429768">
                <a:tc>
                  <a:txBody>
                    <a:bodyPr/>
                    <a:lstStyle/>
                    <a:p>
                      <a:pPr algn="l"/>
                      <a:r>
                        <a:rPr sz="1200" b="0">
                          <a:solidFill>
                            <a:srgbClr val="1A1A2E"/>
                          </a:solidFill>
                          <a:latin typeface="游ゴシック"/>
                        </a:rPr>
                        <a:t>起動リトライ</a:t>
                      </a:r>
                    </a:p>
                  </a:txBody>
                  <a:tcPr>
                    <a:solidFill>
                      <a:srgbClr val="F4F4F4"/>
                    </a:solidFill>
                  </a:tcPr>
                </a:tc>
                <a:tc>
                  <a:txBody>
                    <a:bodyPr/>
                    <a:lstStyle/>
                    <a:p>
                      <a:pPr algn="l"/>
                      <a:r>
                        <a:rPr sz="1200" b="0">
                          <a:solidFill>
                            <a:srgbClr val="1A1A2E"/>
                          </a:solidFill>
                          <a:latin typeface="游ゴシック"/>
                        </a:rPr>
                        <a:t>センサ初期化を最大 5 回自動リトライ</a:t>
                      </a:r>
                    </a:p>
                  </a:txBody>
                  <a:tcPr>
                    <a:solidFill>
                      <a:srgbClr val="F4F4F4"/>
                    </a:solidFill>
                  </a:tcPr>
                </a:tc>
              </a:tr>
            </a:tbl>
          </a:graphicData>
        </a:graphic>
      </p:graphicFrame>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914400"/>
          </a:xfrm>
          <a:prstGeom prst="rect">
            <a:avLst/>
          </a:prstGeom>
          <a:solidFill>
            <a:srgbClr val="0D477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73152"/>
            <a:ext cx="11430000" cy="502920"/>
          </a:xfrm>
          <a:prstGeom prst="rect">
            <a:avLst/>
          </a:prstGeom>
          <a:noFill/>
        </p:spPr>
        <p:txBody>
          <a:bodyPr wrap="square">
            <a:spAutoFit/>
          </a:bodyPr>
          <a:lstStyle/>
          <a:p>
            <a:pPr algn="l"/>
            <a:r>
              <a:rPr sz="2400" b="1" i="0">
                <a:solidFill>
                  <a:srgbClr val="FFFFFF"/>
                </a:solidFill>
                <a:latin typeface="Segoe UI"/>
              </a:rPr>
              <a:t>操作マニュアル ② — RUN（計測中）</a:t>
            </a:r>
          </a:p>
        </p:txBody>
      </p:sp>
      <p:sp>
        <p:nvSpPr>
          <p:cNvPr id="4" name="TextBox 3"/>
          <p:cNvSpPr txBox="1"/>
          <p:nvPr/>
        </p:nvSpPr>
        <p:spPr>
          <a:xfrm>
            <a:off x="274320" y="594360"/>
            <a:ext cx="11430000" cy="274320"/>
          </a:xfrm>
          <a:prstGeom prst="rect">
            <a:avLst/>
          </a:prstGeom>
          <a:noFill/>
        </p:spPr>
        <p:txBody>
          <a:bodyPr wrap="square">
            <a:spAutoFit/>
          </a:bodyPr>
          <a:lstStyle/>
          <a:p>
            <a:pPr algn="l"/>
            <a:r>
              <a:rPr sz="1200" b="0" i="0">
                <a:solidFill>
                  <a:srgbClr val="FF6D00"/>
                </a:solidFill>
                <a:latin typeface="游ゴシック"/>
              </a:rPr>
              <a:t>Section 4  操作マニュアル</a:t>
            </a:r>
          </a:p>
        </p:txBody>
      </p:sp>
      <p:sp>
        <p:nvSpPr>
          <p:cNvPr id="5" name="Rectangle 4"/>
          <p:cNvSpPr/>
          <p:nvPr/>
        </p:nvSpPr>
        <p:spPr>
          <a:xfrm>
            <a:off x="0" y="6309360"/>
            <a:ext cx="12188952" cy="548640"/>
          </a:xfrm>
          <a:prstGeom prst="rect">
            <a:avLst/>
          </a:prstGeom>
          <a:solidFill>
            <a:srgbClr val="0D477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74320" y="6336792"/>
            <a:ext cx="7315200" cy="320040"/>
          </a:xfrm>
          <a:prstGeom prst="rect">
            <a:avLst/>
          </a:prstGeom>
          <a:noFill/>
        </p:spPr>
        <p:txBody>
          <a:bodyPr wrap="square">
            <a:spAutoFit/>
          </a:bodyPr>
          <a:lstStyle/>
          <a:p>
            <a:pPr algn="l"/>
            <a:r>
              <a:rPr sz="1100" b="0" i="0">
                <a:solidFill>
                  <a:srgbClr val="FF6D00"/>
                </a:solidFill>
                <a:latin typeface="Segoe UI"/>
              </a:rPr>
              <a:t>Simple Temperature Evaluation Tool</a:t>
            </a:r>
          </a:p>
        </p:txBody>
      </p:sp>
      <p:sp>
        <p:nvSpPr>
          <p:cNvPr id="7" name="TextBox 6"/>
          <p:cNvSpPr txBox="1"/>
          <p:nvPr/>
        </p:nvSpPr>
        <p:spPr>
          <a:xfrm>
            <a:off x="10515600" y="6336792"/>
            <a:ext cx="1371600" cy="320040"/>
          </a:xfrm>
          <a:prstGeom prst="rect">
            <a:avLst/>
          </a:prstGeom>
          <a:noFill/>
        </p:spPr>
        <p:txBody>
          <a:bodyPr wrap="square">
            <a:spAutoFit/>
          </a:bodyPr>
          <a:lstStyle/>
          <a:p>
            <a:pPr algn="r"/>
            <a:r>
              <a:rPr sz="1100" b="0" i="0">
                <a:solidFill>
                  <a:srgbClr val="FFFFFF"/>
                </a:solidFill>
                <a:latin typeface="Segoe UI"/>
              </a:rPr>
              <a:t>12</a:t>
            </a:r>
          </a:p>
        </p:txBody>
      </p:sp>
      <p:sp>
        <p:nvSpPr>
          <p:cNvPr id="8" name="Rectangle 7"/>
          <p:cNvSpPr/>
          <p:nvPr/>
        </p:nvSpPr>
        <p:spPr>
          <a:xfrm>
            <a:off x="320040" y="1051560"/>
            <a:ext cx="5669280" cy="4572000"/>
          </a:xfrm>
          <a:prstGeom prst="rect">
            <a:avLst/>
          </a:prstGeom>
          <a:solidFill>
            <a:srgbClr val="000000"/>
          </a:solidFill>
          <a:ln w="25400">
            <a:solidFill>
              <a:srgbClr val="FF6D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29768" y="1161288"/>
            <a:ext cx="5449824" cy="4352544"/>
          </a:xfrm>
          <a:prstGeom prst="rect">
            <a:avLst/>
          </a:prstGeom>
          <a:noFill/>
        </p:spPr>
        <p:txBody>
          <a:bodyPr wrap="none">
            <a:spAutoFit/>
          </a:bodyPr>
          <a:lstStyle/>
          <a:p>
            <a:r>
              <a:rPr sz="1300">
                <a:solidFill>
                  <a:srgbClr val="FFFFFF"/>
                </a:solidFill>
                <a:latin typeface="Consolas"/>
              </a:rPr>
              <a:t>STATE: RUN</a:t>
            </a:r>
          </a:p>
          <a:p>
            <a:r>
              <a:rPr sz="1300">
                <a:solidFill>
                  <a:srgbClr val="FFFFFF"/>
                </a:solidFill>
                <a:latin typeface="Consolas"/>
              </a:rPr>
              <a:t/>
            </a:r>
          </a:p>
          <a:p>
            <a:r>
              <a:rPr sz="1300">
                <a:solidFill>
                  <a:srgbClr val="FFFFFF"/>
                </a:solidFill>
                <a:latin typeface="Consolas"/>
              </a:rPr>
              <a:t>Temp:</a:t>
            </a:r>
          </a:p>
          <a:p>
            <a:r>
              <a:rPr sz="1300">
                <a:solidFill>
                  <a:srgbClr val="FFFFFF"/>
                </a:solidFill>
                <a:latin typeface="Consolas"/>
              </a:rPr>
              <a:t>  540.2  C</a:t>
            </a:r>
          </a:p>
          <a:p>
            <a:r>
              <a:rPr sz="1300">
                <a:solidFill>
                  <a:srgbClr val="FFFFFF"/>
                </a:solidFill>
                <a:latin typeface="Consolas"/>
              </a:rPr>
              <a:t/>
            </a:r>
          </a:p>
          <a:p>
            <a:r>
              <a:rPr sz="1300">
                <a:solidFill>
                  <a:srgbClr val="FFFFFF"/>
                </a:solidFill>
                <a:latin typeface="Consolas"/>
              </a:rPr>
              <a:t>Samples:   142</a:t>
            </a:r>
          </a:p>
          <a:p>
            <a:r>
              <a:rPr sz="1300">
                <a:solidFill>
                  <a:srgbClr val="FFFFFF"/>
                </a:solidFill>
                <a:latin typeface="Consolas"/>
              </a:rPr>
              <a:t>SD: /DATA_0000.csv</a:t>
            </a:r>
          </a:p>
          <a:p>
            <a:r>
              <a:rPr sz="1300">
                <a:solidFill>
                  <a:srgbClr val="FFFFFF"/>
                </a:solidFill>
                <a:latin typeface="Consolas"/>
              </a:rPr>
              <a:t/>
            </a:r>
          </a:p>
          <a:p>
            <a:r>
              <a:rPr sz="1300">
                <a:solidFill>
                  <a:srgbClr val="FFFFFF"/>
                </a:solidFill>
                <a:latin typeface="Consolas"/>
              </a:rPr>
              <a:t>[BtnA] Stop / Reset</a:t>
            </a:r>
          </a:p>
        </p:txBody>
      </p:sp>
      <p:sp>
        <p:nvSpPr>
          <p:cNvPr id="10" name="TextBox 9"/>
          <p:cNvSpPr txBox="1"/>
          <p:nvPr/>
        </p:nvSpPr>
        <p:spPr>
          <a:xfrm>
            <a:off x="6217920" y="1051560"/>
            <a:ext cx="5577840" cy="411480"/>
          </a:xfrm>
          <a:prstGeom prst="rect">
            <a:avLst/>
          </a:prstGeom>
          <a:noFill/>
        </p:spPr>
        <p:txBody>
          <a:bodyPr wrap="square">
            <a:spAutoFit/>
          </a:bodyPr>
          <a:lstStyle/>
          <a:p>
            <a:pPr algn="l"/>
            <a:r>
              <a:rPr sz="1600" b="1" i="0">
                <a:solidFill>
                  <a:srgbClr val="0D477F"/>
                </a:solidFill>
                <a:latin typeface="游ゴシック"/>
              </a:rPr>
              <a:t>RUN 状態の動作仕様</a:t>
            </a:r>
          </a:p>
        </p:txBody>
      </p:sp>
      <p:graphicFrame>
        <p:nvGraphicFramePr>
          <p:cNvPr id="11" name="Table 10"/>
          <p:cNvGraphicFramePr>
            <a:graphicFrameLocks noGrp="1"/>
          </p:cNvGraphicFramePr>
          <p:nvPr/>
        </p:nvGraphicFramePr>
        <p:xfrm>
          <a:off x="6217920" y="1600200"/>
          <a:ext cx="5577840" cy="3008376"/>
        </p:xfrm>
        <a:graphic>
          <a:graphicData uri="http://schemas.openxmlformats.org/drawingml/2006/table">
            <a:tbl>
              <a:tblPr firstRow="1" bandRow="1">
                <a:tableStyleId>{5C22544A-7EE6-4342-B048-85BDC9FD1C3A}</a:tableStyleId>
              </a:tblPr>
              <a:tblGrid>
                <a:gridCol w="2286000"/>
                <a:gridCol w="3291840"/>
              </a:tblGrid>
              <a:tr h="429768">
                <a:tc>
                  <a:txBody>
                    <a:bodyPr/>
                    <a:lstStyle/>
                    <a:p>
                      <a:pPr algn="l"/>
                      <a:r>
                        <a:rPr sz="1300" b="1">
                          <a:solidFill>
                            <a:srgbClr val="FFFFFF"/>
                          </a:solidFill>
                          <a:latin typeface="Segoe UI"/>
                        </a:rPr>
                        <a:t>項目</a:t>
                      </a:r>
                    </a:p>
                  </a:txBody>
                  <a:tcPr>
                    <a:solidFill>
                      <a:srgbClr val="0D477F"/>
                    </a:solidFill>
                  </a:tcPr>
                </a:tc>
                <a:tc>
                  <a:txBody>
                    <a:bodyPr/>
                    <a:lstStyle/>
                    <a:p>
                      <a:pPr algn="l"/>
                      <a:r>
                        <a:rPr sz="1300" b="1">
                          <a:solidFill>
                            <a:srgbClr val="FFFFFF"/>
                          </a:solidFill>
                          <a:latin typeface="Segoe UI"/>
                        </a:rPr>
                        <a:t>内容</a:t>
                      </a:r>
                    </a:p>
                  </a:txBody>
                  <a:tcPr>
                    <a:solidFill>
                      <a:srgbClr val="0D477F"/>
                    </a:solidFill>
                  </a:tcPr>
                </a:tc>
              </a:tr>
              <a:tr h="429768">
                <a:tc>
                  <a:txBody>
                    <a:bodyPr/>
                    <a:lstStyle/>
                    <a:p>
                      <a:pPr algn="l"/>
                      <a:r>
                        <a:rPr sz="1200" b="0">
                          <a:solidFill>
                            <a:srgbClr val="1A1A2E"/>
                          </a:solidFill>
                          <a:latin typeface="游ゴシック"/>
                        </a:rPr>
                        <a:t>計測開始時</a:t>
                      </a:r>
                    </a:p>
                  </a:txBody>
                  <a:tcPr>
                    <a:solidFill>
                      <a:srgbClr val="FFFFFF"/>
                    </a:solidFill>
                  </a:tcPr>
                </a:tc>
                <a:tc>
                  <a:txBody>
                    <a:bodyPr/>
                    <a:lstStyle/>
                    <a:p>
                      <a:pPr algn="l"/>
                      <a:r>
                        <a:rPr sz="1200" b="0">
                          <a:solidFill>
                            <a:srgbClr val="1A1A2E"/>
                          </a:solidFill>
                          <a:latin typeface="游ゴシック"/>
                        </a:rPr>
                        <a:t>統計値をリセット、CSV を DATA_0000.csv から採番</a:t>
                      </a:r>
                    </a:p>
                  </a:txBody>
                  <a:tcPr>
                    <a:solidFill>
                      <a:srgbClr val="FFFFFF"/>
                    </a:solidFill>
                  </a:tcPr>
                </a:tc>
              </a:tr>
              <a:tr h="429768">
                <a:tc>
                  <a:txBody>
                    <a:bodyPr/>
                    <a:lstStyle/>
                    <a:p>
                      <a:pPr algn="l"/>
                      <a:r>
                        <a:rPr sz="1200" b="0">
                          <a:solidFill>
                            <a:srgbClr val="1A1A2E"/>
                          </a:solidFill>
                          <a:latin typeface="游ゴシック"/>
                        </a:rPr>
                        <a:t>統計更新</a:t>
                      </a:r>
                    </a:p>
                  </a:txBody>
                  <a:tcPr>
                    <a:solidFill>
                      <a:srgbClr val="F4F4F4"/>
                    </a:solidFill>
                  </a:tcPr>
                </a:tc>
                <a:tc>
                  <a:txBody>
                    <a:bodyPr/>
                    <a:lstStyle/>
                    <a:p>
                      <a:pPr algn="l"/>
                      <a:r>
                        <a:rPr sz="1200" b="0">
                          <a:solidFill>
                            <a:srgbClr val="1A1A2E"/>
                          </a:solidFill>
                          <a:latin typeface="游ゴシック"/>
                        </a:rPr>
                        <a:t>Logic_Task 50ms 毎に Welford 法で逐次計算</a:t>
                      </a:r>
                    </a:p>
                  </a:txBody>
                  <a:tcPr>
                    <a:solidFill>
                      <a:srgbClr val="F4F4F4"/>
                    </a:solidFill>
                  </a:tcPr>
                </a:tc>
              </a:tr>
              <a:tr h="429768">
                <a:tc>
                  <a:txBody>
                    <a:bodyPr/>
                    <a:lstStyle/>
                    <a:p>
                      <a:pPr algn="l"/>
                      <a:r>
                        <a:rPr sz="1200" b="0">
                          <a:solidFill>
                            <a:srgbClr val="1A1A2E"/>
                          </a:solidFill>
                          <a:latin typeface="游ゴシック"/>
                        </a:rPr>
                        <a:t>CSV 書込</a:t>
                      </a:r>
                    </a:p>
                  </a:txBody>
                  <a:tcPr>
                    <a:solidFill>
                      <a:srgbClr val="FFFFFF"/>
                    </a:solidFill>
                  </a:tcPr>
                </a:tc>
                <a:tc>
                  <a:txBody>
                    <a:bodyPr/>
                    <a:lstStyle/>
                    <a:p>
                      <a:pPr algn="l"/>
                      <a:r>
                        <a:rPr sz="1200" b="0">
                          <a:solidFill>
                            <a:srgbClr val="1A1A2E"/>
                          </a:solidFill>
                          <a:latin typeface="游ゴシック"/>
                        </a:rPr>
                        <a:t>10 サンプル毎 (IO_Task の SD_WRITE_INTERVAL)</a:t>
                      </a:r>
                    </a:p>
                  </a:txBody>
                  <a:tcPr>
                    <a:solidFill>
                      <a:srgbClr val="FFFFFF"/>
                    </a:solidFill>
                  </a:tcPr>
                </a:tc>
              </a:tr>
              <a:tr h="429768">
                <a:tc>
                  <a:txBody>
                    <a:bodyPr/>
                    <a:lstStyle/>
                    <a:p>
                      <a:pPr algn="l"/>
                      <a:r>
                        <a:rPr sz="1200" b="0">
                          <a:solidFill>
                            <a:srgbClr val="1A1A2E"/>
                          </a:solidFill>
                          <a:latin typeface="游ゴシック"/>
                        </a:rPr>
                        <a:t>アラーム</a:t>
                      </a:r>
                    </a:p>
                  </a:txBody>
                  <a:tcPr>
                    <a:solidFill>
                      <a:srgbClr val="F4F4F4"/>
                    </a:solidFill>
                  </a:tcPr>
                </a:tc>
                <a:tc>
                  <a:txBody>
                    <a:bodyPr/>
                    <a:lstStyle/>
                    <a:p>
                      <a:pPr algn="l"/>
                      <a:r>
                        <a:rPr sz="1200" b="0">
                          <a:solidFill>
                            <a:srgbClr val="1A1A2E"/>
                          </a:solidFill>
                          <a:latin typeface="游ゴシック"/>
                        </a:rPr>
                        <a:t>HI/LO 超過で温度を赤/青表示 + ビープ音</a:t>
                      </a:r>
                    </a:p>
                  </a:txBody>
                  <a:tcPr>
                    <a:solidFill>
                      <a:srgbClr val="F4F4F4"/>
                    </a:solidFill>
                  </a:tcPr>
                </a:tc>
              </a:tr>
              <a:tr h="429768">
                <a:tc>
                  <a:txBody>
                    <a:bodyPr/>
                    <a:lstStyle/>
                    <a:p>
                      <a:pPr algn="l"/>
                      <a:r>
                        <a:rPr sz="1200" b="0">
                          <a:solidFill>
                            <a:srgbClr val="1A1A2E"/>
                          </a:solidFill>
                          <a:latin typeface="游ゴシック"/>
                        </a:rPr>
                        <a:t>Samples 行</a:t>
                      </a:r>
                    </a:p>
                  </a:txBody>
                  <a:tcPr>
                    <a:solidFill>
                      <a:srgbClr val="FFFFFF"/>
                    </a:solidFill>
                  </a:tcPr>
                </a:tc>
                <a:tc>
                  <a:txBody>
                    <a:bodyPr/>
                    <a:lstStyle/>
                    <a:p>
                      <a:pPr algn="l"/>
                      <a:r>
                        <a:rPr sz="1200" b="0">
                          <a:solidFill>
                            <a:srgbClr val="1A1A2E"/>
                          </a:solidFill>
                          <a:latin typeface="游ゴシック"/>
                        </a:rPr>
                        <a:t>G.D_Count = Logic_Task の積算回数</a:t>
                      </a:r>
                    </a:p>
                  </a:txBody>
                  <a:tcPr>
                    <a:solidFill>
                      <a:srgbClr val="FFFFFF"/>
                    </a:solidFill>
                  </a:tcPr>
                </a:tc>
              </a:tr>
              <a:tr h="429768">
                <a:tc>
                  <a:txBody>
                    <a:bodyPr/>
                    <a:lstStyle/>
                    <a:p>
                      <a:pPr algn="l"/>
                      <a:r>
                        <a:rPr sz="1200" b="0">
                          <a:solidFill>
                            <a:srgbClr val="1A1A2E"/>
                          </a:solidFill>
                          <a:latin typeface="游ゴシック"/>
                        </a:rPr>
                        <a:t>SD ファイル</a:t>
                      </a:r>
                    </a:p>
                  </a:txBody>
                  <a:tcPr>
                    <a:solidFill>
                      <a:srgbClr val="F4F4F4"/>
                    </a:solidFill>
                  </a:tcPr>
                </a:tc>
                <a:tc>
                  <a:txBody>
                    <a:bodyPr/>
                    <a:lstStyle/>
                    <a:p>
                      <a:pPr algn="l"/>
                      <a:r>
                        <a:rPr sz="1200" b="0">
                          <a:solidFill>
                            <a:srgbClr val="1A1A2E"/>
                          </a:solidFill>
                          <a:latin typeface="游ゴシック"/>
                        </a:rPr>
                        <a:t>/DATA_0000.csv（起動後の連番 0 始まり）</a:t>
                      </a:r>
                    </a:p>
                  </a:txBody>
                  <a:tcPr>
                    <a:solidFill>
                      <a:srgbClr val="F4F4F4"/>
                    </a:solidFill>
                  </a:tcPr>
                </a:tc>
              </a:tr>
            </a:tbl>
          </a:graphicData>
        </a:graphic>
      </p:graphicFrame>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914400"/>
          </a:xfrm>
          <a:prstGeom prst="rect">
            <a:avLst/>
          </a:prstGeom>
          <a:solidFill>
            <a:srgbClr val="0D477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73152"/>
            <a:ext cx="11430000" cy="502920"/>
          </a:xfrm>
          <a:prstGeom prst="rect">
            <a:avLst/>
          </a:prstGeom>
          <a:noFill/>
        </p:spPr>
        <p:txBody>
          <a:bodyPr wrap="square">
            <a:spAutoFit/>
          </a:bodyPr>
          <a:lstStyle/>
          <a:p>
            <a:pPr algn="l"/>
            <a:r>
              <a:rPr sz="2400" b="1" i="0">
                <a:solidFill>
                  <a:srgbClr val="FFFFFF"/>
                </a:solidFill>
                <a:latin typeface="Segoe UI"/>
              </a:rPr>
              <a:t>操作マニュアル ③ — RESULT（結果表示）</a:t>
            </a:r>
          </a:p>
        </p:txBody>
      </p:sp>
      <p:sp>
        <p:nvSpPr>
          <p:cNvPr id="4" name="TextBox 3"/>
          <p:cNvSpPr txBox="1"/>
          <p:nvPr/>
        </p:nvSpPr>
        <p:spPr>
          <a:xfrm>
            <a:off x="274320" y="594360"/>
            <a:ext cx="11430000" cy="274320"/>
          </a:xfrm>
          <a:prstGeom prst="rect">
            <a:avLst/>
          </a:prstGeom>
          <a:noFill/>
        </p:spPr>
        <p:txBody>
          <a:bodyPr wrap="square">
            <a:spAutoFit/>
          </a:bodyPr>
          <a:lstStyle/>
          <a:p>
            <a:pPr algn="l"/>
            <a:r>
              <a:rPr sz="1200" b="0" i="0">
                <a:solidFill>
                  <a:srgbClr val="FF6D00"/>
                </a:solidFill>
                <a:latin typeface="游ゴシック"/>
              </a:rPr>
              <a:t>Section 4  操作マニュアル</a:t>
            </a:r>
          </a:p>
        </p:txBody>
      </p:sp>
      <p:sp>
        <p:nvSpPr>
          <p:cNvPr id="5" name="Rectangle 4"/>
          <p:cNvSpPr/>
          <p:nvPr/>
        </p:nvSpPr>
        <p:spPr>
          <a:xfrm>
            <a:off x="0" y="6309360"/>
            <a:ext cx="12188952" cy="548640"/>
          </a:xfrm>
          <a:prstGeom prst="rect">
            <a:avLst/>
          </a:prstGeom>
          <a:solidFill>
            <a:srgbClr val="0D477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74320" y="6336792"/>
            <a:ext cx="7315200" cy="320040"/>
          </a:xfrm>
          <a:prstGeom prst="rect">
            <a:avLst/>
          </a:prstGeom>
          <a:noFill/>
        </p:spPr>
        <p:txBody>
          <a:bodyPr wrap="square">
            <a:spAutoFit/>
          </a:bodyPr>
          <a:lstStyle/>
          <a:p>
            <a:pPr algn="l"/>
            <a:r>
              <a:rPr sz="1100" b="0" i="0">
                <a:solidFill>
                  <a:srgbClr val="FF6D00"/>
                </a:solidFill>
                <a:latin typeface="Segoe UI"/>
              </a:rPr>
              <a:t>Simple Temperature Evaluation Tool</a:t>
            </a:r>
          </a:p>
        </p:txBody>
      </p:sp>
      <p:sp>
        <p:nvSpPr>
          <p:cNvPr id="7" name="TextBox 6"/>
          <p:cNvSpPr txBox="1"/>
          <p:nvPr/>
        </p:nvSpPr>
        <p:spPr>
          <a:xfrm>
            <a:off x="10515600" y="6336792"/>
            <a:ext cx="1371600" cy="320040"/>
          </a:xfrm>
          <a:prstGeom prst="rect">
            <a:avLst/>
          </a:prstGeom>
          <a:noFill/>
        </p:spPr>
        <p:txBody>
          <a:bodyPr wrap="square">
            <a:spAutoFit/>
          </a:bodyPr>
          <a:lstStyle/>
          <a:p>
            <a:pPr algn="r"/>
            <a:r>
              <a:rPr sz="1100" b="0" i="0">
                <a:solidFill>
                  <a:srgbClr val="FFFFFF"/>
                </a:solidFill>
                <a:latin typeface="Segoe UI"/>
              </a:rPr>
              <a:t>13</a:t>
            </a:r>
          </a:p>
        </p:txBody>
      </p:sp>
      <p:sp>
        <p:nvSpPr>
          <p:cNvPr id="8" name="Rectangle 7"/>
          <p:cNvSpPr/>
          <p:nvPr/>
        </p:nvSpPr>
        <p:spPr>
          <a:xfrm>
            <a:off x="320040" y="1051560"/>
            <a:ext cx="5303520" cy="4572000"/>
          </a:xfrm>
          <a:prstGeom prst="rect">
            <a:avLst/>
          </a:prstGeom>
          <a:solidFill>
            <a:srgbClr val="000000"/>
          </a:solidFill>
          <a:ln w="2540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29768" y="1161288"/>
            <a:ext cx="5084064" cy="4352544"/>
          </a:xfrm>
          <a:prstGeom prst="rect">
            <a:avLst/>
          </a:prstGeom>
          <a:noFill/>
        </p:spPr>
        <p:txBody>
          <a:bodyPr wrap="none">
            <a:spAutoFit/>
          </a:bodyPr>
          <a:lstStyle/>
          <a:p>
            <a:r>
              <a:rPr sz="1300">
                <a:solidFill>
                  <a:srgbClr val="FFFFFF"/>
                </a:solidFill>
                <a:latin typeface="Consolas"/>
              </a:rPr>
              <a:t>STATE: RESULT (1/2)</a:t>
            </a:r>
          </a:p>
          <a:p>
            <a:r>
              <a:rPr sz="1300">
                <a:solidFill>
                  <a:srgbClr val="FFFFFF"/>
                </a:solidFill>
                <a:latin typeface="Consolas"/>
              </a:rPr>
              <a:t/>
            </a:r>
          </a:p>
          <a:p>
            <a:r>
              <a:rPr sz="1300">
                <a:solidFill>
                  <a:srgbClr val="FFFFFF"/>
                </a:solidFill>
                <a:latin typeface="Consolas"/>
              </a:rPr>
              <a:t>Temp:</a:t>
            </a:r>
          </a:p>
          <a:p>
            <a:r>
              <a:rPr sz="1300">
                <a:solidFill>
                  <a:srgbClr val="FFFFFF"/>
                </a:solidFill>
                <a:latin typeface="Consolas"/>
              </a:rPr>
              <a:t>  540.2  C</a:t>
            </a:r>
          </a:p>
          <a:p>
            <a:r>
              <a:rPr sz="1300">
                <a:solidFill>
                  <a:srgbClr val="FFFFFF"/>
                </a:solidFill>
                <a:latin typeface="Consolas"/>
              </a:rPr>
              <a:t/>
            </a:r>
          </a:p>
          <a:p>
            <a:r>
              <a:rPr sz="1300">
                <a:solidFill>
                  <a:srgbClr val="FFFFFF"/>
                </a:solidFill>
                <a:latin typeface="Consolas"/>
              </a:rPr>
              <a:t>Avg:</a:t>
            </a:r>
          </a:p>
          <a:p>
            <a:r>
              <a:rPr sz="1300">
                <a:solidFill>
                  <a:srgbClr val="FFFFFF"/>
                </a:solidFill>
                <a:latin typeface="Consolas"/>
              </a:rPr>
              <a:t>  539.8  C</a:t>
            </a:r>
          </a:p>
          <a:p>
            <a:r>
              <a:rPr sz="1300">
                <a:solidFill>
                  <a:srgbClr val="FFFFFF"/>
                </a:solidFill>
                <a:latin typeface="Consolas"/>
              </a:rPr>
              <a:t/>
            </a:r>
          </a:p>
          <a:p>
            <a:r>
              <a:rPr sz="1300">
                <a:solidFill>
                  <a:srgbClr val="FFFFFF"/>
                </a:solidFill>
                <a:latin typeface="Consolas"/>
              </a:rPr>
              <a:t>[BtnA] Reset  [BtnB] Next</a:t>
            </a:r>
          </a:p>
        </p:txBody>
      </p:sp>
      <p:sp>
        <p:nvSpPr>
          <p:cNvPr id="10" name="TextBox 9"/>
          <p:cNvSpPr txBox="1"/>
          <p:nvPr/>
        </p:nvSpPr>
        <p:spPr>
          <a:xfrm>
            <a:off x="5669280" y="3017520"/>
            <a:ext cx="822960" cy="457200"/>
          </a:xfrm>
          <a:prstGeom prst="rect">
            <a:avLst/>
          </a:prstGeom>
          <a:noFill/>
        </p:spPr>
        <p:txBody>
          <a:bodyPr wrap="square">
            <a:spAutoFit/>
          </a:bodyPr>
          <a:lstStyle/>
          <a:p>
            <a:pPr algn="ctr"/>
            <a:r>
              <a:rPr sz="1600" b="1" i="0">
                <a:solidFill>
                  <a:srgbClr val="FF6D00"/>
                </a:solidFill>
                <a:latin typeface="Segoe UI"/>
              </a:rPr>
              <a:t>BtnB ▶</a:t>
            </a:r>
          </a:p>
        </p:txBody>
      </p:sp>
      <p:sp>
        <p:nvSpPr>
          <p:cNvPr id="11" name="Rectangle 10"/>
          <p:cNvSpPr/>
          <p:nvPr/>
        </p:nvSpPr>
        <p:spPr>
          <a:xfrm>
            <a:off x="6583680" y="1051560"/>
            <a:ext cx="5303520" cy="4572000"/>
          </a:xfrm>
          <a:prstGeom prst="rect">
            <a:avLst/>
          </a:prstGeom>
          <a:solidFill>
            <a:srgbClr val="000000"/>
          </a:solidFill>
          <a:ln w="2540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693408" y="1161288"/>
            <a:ext cx="5084064" cy="4352544"/>
          </a:xfrm>
          <a:prstGeom prst="rect">
            <a:avLst/>
          </a:prstGeom>
          <a:noFill/>
        </p:spPr>
        <p:txBody>
          <a:bodyPr wrap="none">
            <a:spAutoFit/>
          </a:bodyPr>
          <a:lstStyle/>
          <a:p>
            <a:r>
              <a:rPr sz="1300">
                <a:solidFill>
                  <a:srgbClr val="FFFFFF"/>
                </a:solidFill>
                <a:latin typeface="Consolas"/>
              </a:rPr>
              <a:t>STATE: RESULT (2/2)</a:t>
            </a:r>
          </a:p>
          <a:p>
            <a:r>
              <a:rPr sz="1300">
                <a:solidFill>
                  <a:srgbClr val="FFFFFF"/>
                </a:solidFill>
                <a:latin typeface="Consolas"/>
              </a:rPr>
              <a:t/>
            </a:r>
          </a:p>
          <a:p>
            <a:r>
              <a:rPr sz="1300">
                <a:solidFill>
                  <a:srgbClr val="FFFFFF"/>
                </a:solidFill>
                <a:latin typeface="Consolas"/>
              </a:rPr>
              <a:t>StdDev:</a:t>
            </a:r>
          </a:p>
          <a:p>
            <a:r>
              <a:rPr sz="1300">
                <a:solidFill>
                  <a:srgbClr val="FFFFFF"/>
                </a:solidFill>
                <a:latin typeface="Consolas"/>
              </a:rPr>
              <a:t>   0.8  C</a:t>
            </a:r>
          </a:p>
          <a:p>
            <a:r>
              <a:rPr sz="1300">
                <a:solidFill>
                  <a:srgbClr val="FFFFFF"/>
                </a:solidFill>
                <a:latin typeface="Consolas"/>
              </a:rPr>
              <a:t>Range:   10.0  C</a:t>
            </a:r>
          </a:p>
          <a:p>
            <a:r>
              <a:rPr sz="1300">
                <a:solidFill>
                  <a:srgbClr val="FFFFFF"/>
                </a:solidFill>
                <a:latin typeface="Consolas"/>
              </a:rPr>
              <a:t>Max:    550.0  C</a:t>
            </a:r>
          </a:p>
          <a:p>
            <a:r>
              <a:rPr sz="1300">
                <a:solidFill>
                  <a:srgbClr val="FFFFFF"/>
                </a:solidFill>
                <a:latin typeface="Consolas"/>
              </a:rPr>
              <a:t>Min:    530.0  C</a:t>
            </a:r>
          </a:p>
          <a:p>
            <a:r>
              <a:rPr sz="1300">
                <a:solidFill>
                  <a:srgbClr val="FFFFFF"/>
                </a:solidFill>
                <a:latin typeface="Consolas"/>
              </a:rPr>
              <a:t/>
            </a:r>
          </a:p>
          <a:p>
            <a:r>
              <a:rPr sz="1300">
                <a:solidFill>
                  <a:srgbClr val="FFFFFF"/>
                </a:solidFill>
                <a:latin typeface="Consolas"/>
              </a:rPr>
              <a:t>[BtnA] Reset  [BtnB] Prev</a:t>
            </a:r>
          </a:p>
        </p:txBody>
      </p:sp>
      <p:sp>
        <p:nvSpPr>
          <p:cNvPr id="13" name="TextBox 12"/>
          <p:cNvSpPr txBox="1"/>
          <p:nvPr/>
        </p:nvSpPr>
        <p:spPr>
          <a:xfrm>
            <a:off x="320040" y="5715000"/>
            <a:ext cx="11521440" cy="457200"/>
          </a:xfrm>
          <a:prstGeom prst="rect">
            <a:avLst/>
          </a:prstGeom>
          <a:noFill/>
        </p:spPr>
        <p:txBody>
          <a:bodyPr wrap="square">
            <a:spAutoFit/>
          </a:bodyPr>
          <a:lstStyle/>
          <a:p>
            <a:pPr algn="l"/>
            <a:r>
              <a:rPr sz="1200" b="0" i="0">
                <a:solidFill>
                  <a:srgbClr val="999999"/>
                </a:solidFill>
                <a:latin typeface="游ゴシック"/>
              </a:rPr>
              <a:t>BtnB でページを切り替え | SD ファイルは RUN→RESULT 遷移時に自動クローズ済み</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914400"/>
          </a:xfrm>
          <a:prstGeom prst="rect">
            <a:avLst/>
          </a:prstGeom>
          <a:solidFill>
            <a:srgbClr val="0D477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73152"/>
            <a:ext cx="11430000" cy="502920"/>
          </a:xfrm>
          <a:prstGeom prst="rect">
            <a:avLst/>
          </a:prstGeom>
          <a:noFill/>
        </p:spPr>
        <p:txBody>
          <a:bodyPr wrap="square">
            <a:spAutoFit/>
          </a:bodyPr>
          <a:lstStyle/>
          <a:p>
            <a:pPr algn="l"/>
            <a:r>
              <a:rPr sz="2400" b="1" i="0">
                <a:solidFill>
                  <a:srgbClr val="FFFFFF"/>
                </a:solidFill>
                <a:latin typeface="Segoe UI"/>
              </a:rPr>
              <a:t>操作マニュアル ④ — ALARM_SETTING（アラーム設定）</a:t>
            </a:r>
          </a:p>
        </p:txBody>
      </p:sp>
      <p:sp>
        <p:nvSpPr>
          <p:cNvPr id="4" name="TextBox 3"/>
          <p:cNvSpPr txBox="1"/>
          <p:nvPr/>
        </p:nvSpPr>
        <p:spPr>
          <a:xfrm>
            <a:off x="274320" y="594360"/>
            <a:ext cx="11430000" cy="274320"/>
          </a:xfrm>
          <a:prstGeom prst="rect">
            <a:avLst/>
          </a:prstGeom>
          <a:noFill/>
        </p:spPr>
        <p:txBody>
          <a:bodyPr wrap="square">
            <a:spAutoFit/>
          </a:bodyPr>
          <a:lstStyle/>
          <a:p>
            <a:pPr algn="l"/>
            <a:r>
              <a:rPr sz="1200" b="0" i="0">
                <a:solidFill>
                  <a:srgbClr val="FF6D00"/>
                </a:solidFill>
                <a:latin typeface="游ゴシック"/>
              </a:rPr>
              <a:t>Section 4  操作マニュアル</a:t>
            </a:r>
          </a:p>
        </p:txBody>
      </p:sp>
      <p:sp>
        <p:nvSpPr>
          <p:cNvPr id="5" name="Rectangle 4"/>
          <p:cNvSpPr/>
          <p:nvPr/>
        </p:nvSpPr>
        <p:spPr>
          <a:xfrm>
            <a:off x="0" y="6309360"/>
            <a:ext cx="12188952" cy="548640"/>
          </a:xfrm>
          <a:prstGeom prst="rect">
            <a:avLst/>
          </a:prstGeom>
          <a:solidFill>
            <a:srgbClr val="0D477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74320" y="6336792"/>
            <a:ext cx="7315200" cy="320040"/>
          </a:xfrm>
          <a:prstGeom prst="rect">
            <a:avLst/>
          </a:prstGeom>
          <a:noFill/>
        </p:spPr>
        <p:txBody>
          <a:bodyPr wrap="square">
            <a:spAutoFit/>
          </a:bodyPr>
          <a:lstStyle/>
          <a:p>
            <a:pPr algn="l"/>
            <a:r>
              <a:rPr sz="1100" b="0" i="0">
                <a:solidFill>
                  <a:srgbClr val="FF6D00"/>
                </a:solidFill>
                <a:latin typeface="Segoe UI"/>
              </a:rPr>
              <a:t>Simple Temperature Evaluation Tool</a:t>
            </a:r>
          </a:p>
        </p:txBody>
      </p:sp>
      <p:sp>
        <p:nvSpPr>
          <p:cNvPr id="7" name="TextBox 6"/>
          <p:cNvSpPr txBox="1"/>
          <p:nvPr/>
        </p:nvSpPr>
        <p:spPr>
          <a:xfrm>
            <a:off x="10515600" y="6336792"/>
            <a:ext cx="1371600" cy="320040"/>
          </a:xfrm>
          <a:prstGeom prst="rect">
            <a:avLst/>
          </a:prstGeom>
          <a:noFill/>
        </p:spPr>
        <p:txBody>
          <a:bodyPr wrap="square">
            <a:spAutoFit/>
          </a:bodyPr>
          <a:lstStyle/>
          <a:p>
            <a:pPr algn="r"/>
            <a:r>
              <a:rPr sz="1100" b="0" i="0">
                <a:solidFill>
                  <a:srgbClr val="FFFFFF"/>
                </a:solidFill>
                <a:latin typeface="Segoe UI"/>
              </a:rPr>
              <a:t>14</a:t>
            </a:r>
          </a:p>
        </p:txBody>
      </p:sp>
      <p:sp>
        <p:nvSpPr>
          <p:cNvPr id="8" name="Rectangle 7"/>
          <p:cNvSpPr/>
          <p:nvPr/>
        </p:nvSpPr>
        <p:spPr>
          <a:xfrm>
            <a:off x="320040" y="1051560"/>
            <a:ext cx="5303520" cy="4572000"/>
          </a:xfrm>
          <a:prstGeom prst="rect">
            <a:avLst/>
          </a:prstGeom>
          <a:solidFill>
            <a:srgbClr val="000000"/>
          </a:solidFill>
          <a:ln w="25400">
            <a:solidFill>
              <a:srgbClr val="7B278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29768" y="1161288"/>
            <a:ext cx="5084064" cy="4352544"/>
          </a:xfrm>
          <a:prstGeom prst="rect">
            <a:avLst/>
          </a:prstGeom>
          <a:noFill/>
        </p:spPr>
        <p:txBody>
          <a:bodyPr wrap="none">
            <a:spAutoFit/>
          </a:bodyPr>
          <a:lstStyle/>
          <a:p>
            <a:r>
              <a:rPr sz="1300">
                <a:solidFill>
                  <a:srgbClr val="FFFFFF"/>
                </a:solidFill>
                <a:latin typeface="Consolas"/>
              </a:rPr>
              <a:t>STATE: HI_ALARM SETTING</a:t>
            </a:r>
          </a:p>
          <a:p>
            <a:r>
              <a:rPr sz="1300">
                <a:solidFill>
                  <a:srgbClr val="FFFFFF"/>
                </a:solidFill>
                <a:latin typeface="Consolas"/>
              </a:rPr>
              <a:t/>
            </a:r>
          </a:p>
          <a:p>
            <a:r>
              <a:rPr sz="1300">
                <a:solidFill>
                  <a:srgbClr val="FFFFFF"/>
                </a:solidFill>
                <a:latin typeface="Consolas"/>
              </a:rPr>
              <a:t>Current:</a:t>
            </a:r>
          </a:p>
          <a:p>
            <a:r>
              <a:rPr sz="1300">
                <a:solidFill>
                  <a:srgbClr val="FFFFFF"/>
                </a:solidFill>
                <a:latin typeface="Consolas"/>
              </a:rPr>
              <a:t>  600.0  C</a:t>
            </a:r>
          </a:p>
          <a:p>
            <a:r>
              <a:rPr sz="1300">
                <a:solidFill>
                  <a:srgbClr val="FFFFFF"/>
                </a:solidFill>
                <a:latin typeface="Consolas"/>
              </a:rPr>
              <a:t/>
            </a:r>
          </a:p>
          <a:p>
            <a:r>
              <a:rPr sz="1300">
                <a:solidFill>
                  <a:srgbClr val="FFFFFF"/>
                </a:solidFill>
                <a:latin typeface="Consolas"/>
              </a:rPr>
              <a:t>[BtnA] Next</a:t>
            </a:r>
          </a:p>
          <a:p>
            <a:r>
              <a:rPr sz="1300">
                <a:solidFill>
                  <a:srgbClr val="FFFFFF"/>
                </a:solidFill>
                <a:latin typeface="Consolas"/>
              </a:rPr>
              <a:t>[BtnB] +5C  [BtnC] -5C</a:t>
            </a:r>
          </a:p>
        </p:txBody>
      </p:sp>
      <p:sp>
        <p:nvSpPr>
          <p:cNvPr id="10" name="TextBox 9"/>
          <p:cNvSpPr txBox="1"/>
          <p:nvPr/>
        </p:nvSpPr>
        <p:spPr>
          <a:xfrm>
            <a:off x="5669280" y="3017520"/>
            <a:ext cx="822960" cy="457200"/>
          </a:xfrm>
          <a:prstGeom prst="rect">
            <a:avLst/>
          </a:prstGeom>
          <a:noFill/>
        </p:spPr>
        <p:txBody>
          <a:bodyPr wrap="square">
            <a:spAutoFit/>
          </a:bodyPr>
          <a:lstStyle/>
          <a:p>
            <a:pPr algn="ctr"/>
            <a:r>
              <a:rPr sz="1600" b="1" i="0">
                <a:solidFill>
                  <a:srgbClr val="FF6D00"/>
                </a:solidFill>
                <a:latin typeface="Segoe UI"/>
              </a:rPr>
              <a:t>BtnA ▶</a:t>
            </a:r>
          </a:p>
        </p:txBody>
      </p:sp>
      <p:sp>
        <p:nvSpPr>
          <p:cNvPr id="11" name="Rectangle 10"/>
          <p:cNvSpPr/>
          <p:nvPr/>
        </p:nvSpPr>
        <p:spPr>
          <a:xfrm>
            <a:off x="6583680" y="1051560"/>
            <a:ext cx="5303520" cy="4572000"/>
          </a:xfrm>
          <a:prstGeom prst="rect">
            <a:avLst/>
          </a:prstGeom>
          <a:solidFill>
            <a:srgbClr val="000000"/>
          </a:solidFill>
          <a:ln w="25400">
            <a:solidFill>
              <a:srgbClr val="7B278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693408" y="1161288"/>
            <a:ext cx="5084064" cy="4352544"/>
          </a:xfrm>
          <a:prstGeom prst="rect">
            <a:avLst/>
          </a:prstGeom>
          <a:noFill/>
        </p:spPr>
        <p:txBody>
          <a:bodyPr wrap="none">
            <a:spAutoFit/>
          </a:bodyPr>
          <a:lstStyle/>
          <a:p>
            <a:r>
              <a:rPr sz="1300">
                <a:solidFill>
                  <a:srgbClr val="FFFFFF"/>
                </a:solidFill>
                <a:latin typeface="Consolas"/>
              </a:rPr>
              <a:t>STATE: LO_ALARM SETTING</a:t>
            </a:r>
          </a:p>
          <a:p>
            <a:r>
              <a:rPr sz="1300">
                <a:solidFill>
                  <a:srgbClr val="FFFFFF"/>
                </a:solidFill>
                <a:latin typeface="Consolas"/>
              </a:rPr>
              <a:t/>
            </a:r>
          </a:p>
          <a:p>
            <a:r>
              <a:rPr sz="1300">
                <a:solidFill>
                  <a:srgbClr val="FFFFFF"/>
                </a:solidFill>
                <a:latin typeface="Consolas"/>
              </a:rPr>
              <a:t>Current:</a:t>
            </a:r>
          </a:p>
          <a:p>
            <a:r>
              <a:rPr sz="1300">
                <a:solidFill>
                  <a:srgbClr val="FFFFFF"/>
                </a:solidFill>
                <a:latin typeface="Consolas"/>
              </a:rPr>
              <a:t>  400.0  C</a:t>
            </a:r>
          </a:p>
          <a:p>
            <a:r>
              <a:rPr sz="1300">
                <a:solidFill>
                  <a:srgbClr val="FFFFFF"/>
                </a:solidFill>
                <a:latin typeface="Consolas"/>
              </a:rPr>
              <a:t/>
            </a:r>
          </a:p>
          <a:p>
            <a:r>
              <a:rPr sz="1300">
                <a:solidFill>
                  <a:srgbClr val="FFFFFF"/>
                </a:solidFill>
                <a:latin typeface="Consolas"/>
              </a:rPr>
              <a:t>[BtnA] Save &amp; Exit</a:t>
            </a:r>
          </a:p>
          <a:p>
            <a:r>
              <a:rPr sz="1300">
                <a:solidFill>
                  <a:srgbClr val="FFFFFF"/>
                </a:solidFill>
                <a:latin typeface="Consolas"/>
              </a:rPr>
              <a:t>[BtnB] +5C  [BtnC] -5C</a:t>
            </a:r>
          </a:p>
        </p:txBody>
      </p:sp>
      <p:sp>
        <p:nvSpPr>
          <p:cNvPr id="13" name="TextBox 12"/>
          <p:cNvSpPr txBox="1"/>
          <p:nvPr/>
        </p:nvSpPr>
        <p:spPr>
          <a:xfrm>
            <a:off x="320040" y="5760720"/>
            <a:ext cx="11521440" cy="457200"/>
          </a:xfrm>
          <a:prstGeom prst="rect">
            <a:avLst/>
          </a:prstGeom>
          <a:noFill/>
        </p:spPr>
        <p:txBody>
          <a:bodyPr wrap="square">
            <a:spAutoFit/>
          </a:bodyPr>
          <a:lstStyle/>
          <a:p>
            <a:pPr algn="l"/>
            <a:r>
              <a:rPr sz="1200" b="0" i="0">
                <a:solidFill>
                  <a:srgbClr val="1A1A2E"/>
                </a:solidFill>
                <a:latin typeface="游ゴシック"/>
              </a:rPr>
              <a:t>① IDLE で BtnB → ② HI 設定 → ③ BtnA で LO へ → ④ LO 設定 → ⑤ BtnA で EEPROM 保存・IDLE 復帰</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914400"/>
          </a:xfrm>
          <a:prstGeom prst="rect">
            <a:avLst/>
          </a:prstGeom>
          <a:solidFill>
            <a:srgbClr val="0D477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73152"/>
            <a:ext cx="11430000" cy="502920"/>
          </a:xfrm>
          <a:prstGeom prst="rect">
            <a:avLst/>
          </a:prstGeom>
          <a:noFill/>
        </p:spPr>
        <p:txBody>
          <a:bodyPr wrap="square">
            <a:spAutoFit/>
          </a:bodyPr>
          <a:lstStyle/>
          <a:p>
            <a:pPr algn="l"/>
            <a:r>
              <a:rPr sz="2400" b="1" i="0">
                <a:solidFill>
                  <a:srgbClr val="FFFFFF"/>
                </a:solidFill>
                <a:latin typeface="Segoe UI"/>
              </a:rPr>
              <a:t>データ管理 — CSV ファイル仕様</a:t>
            </a:r>
          </a:p>
        </p:txBody>
      </p:sp>
      <p:sp>
        <p:nvSpPr>
          <p:cNvPr id="4" name="TextBox 3"/>
          <p:cNvSpPr txBox="1"/>
          <p:nvPr/>
        </p:nvSpPr>
        <p:spPr>
          <a:xfrm>
            <a:off x="274320" y="594360"/>
            <a:ext cx="11430000" cy="274320"/>
          </a:xfrm>
          <a:prstGeom prst="rect">
            <a:avLst/>
          </a:prstGeom>
          <a:noFill/>
        </p:spPr>
        <p:txBody>
          <a:bodyPr wrap="square">
            <a:spAutoFit/>
          </a:bodyPr>
          <a:lstStyle/>
          <a:p>
            <a:pPr algn="l"/>
            <a:r>
              <a:rPr sz="1200" b="0" i="0">
                <a:solidFill>
                  <a:srgbClr val="FF6D00"/>
                </a:solidFill>
                <a:latin typeface="游ゴシック"/>
              </a:rPr>
              <a:t>Section 5  データ管理</a:t>
            </a:r>
          </a:p>
        </p:txBody>
      </p:sp>
      <p:sp>
        <p:nvSpPr>
          <p:cNvPr id="5" name="Rectangle 4"/>
          <p:cNvSpPr/>
          <p:nvPr/>
        </p:nvSpPr>
        <p:spPr>
          <a:xfrm>
            <a:off x="0" y="6309360"/>
            <a:ext cx="12188952" cy="548640"/>
          </a:xfrm>
          <a:prstGeom prst="rect">
            <a:avLst/>
          </a:prstGeom>
          <a:solidFill>
            <a:srgbClr val="0D477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74320" y="6336792"/>
            <a:ext cx="7315200" cy="320040"/>
          </a:xfrm>
          <a:prstGeom prst="rect">
            <a:avLst/>
          </a:prstGeom>
          <a:noFill/>
        </p:spPr>
        <p:txBody>
          <a:bodyPr wrap="square">
            <a:spAutoFit/>
          </a:bodyPr>
          <a:lstStyle/>
          <a:p>
            <a:pPr algn="l"/>
            <a:r>
              <a:rPr sz="1100" b="0" i="0">
                <a:solidFill>
                  <a:srgbClr val="FF6D00"/>
                </a:solidFill>
                <a:latin typeface="Segoe UI"/>
              </a:rPr>
              <a:t>Simple Temperature Evaluation Tool</a:t>
            </a:r>
          </a:p>
        </p:txBody>
      </p:sp>
      <p:sp>
        <p:nvSpPr>
          <p:cNvPr id="7" name="TextBox 6"/>
          <p:cNvSpPr txBox="1"/>
          <p:nvPr/>
        </p:nvSpPr>
        <p:spPr>
          <a:xfrm>
            <a:off x="10515600" y="6336792"/>
            <a:ext cx="1371600" cy="320040"/>
          </a:xfrm>
          <a:prstGeom prst="rect">
            <a:avLst/>
          </a:prstGeom>
          <a:noFill/>
        </p:spPr>
        <p:txBody>
          <a:bodyPr wrap="square">
            <a:spAutoFit/>
          </a:bodyPr>
          <a:lstStyle/>
          <a:p>
            <a:pPr algn="r"/>
            <a:r>
              <a:rPr sz="1100" b="0" i="0">
                <a:solidFill>
                  <a:srgbClr val="FFFFFF"/>
                </a:solidFill>
                <a:latin typeface="Segoe UI"/>
              </a:rPr>
              <a:t>15</a:t>
            </a:r>
          </a:p>
        </p:txBody>
      </p:sp>
      <p:sp>
        <p:nvSpPr>
          <p:cNvPr id="8" name="TextBox 7"/>
          <p:cNvSpPr txBox="1"/>
          <p:nvPr/>
        </p:nvSpPr>
        <p:spPr>
          <a:xfrm>
            <a:off x="320040" y="1051560"/>
            <a:ext cx="11521440" cy="365760"/>
          </a:xfrm>
          <a:prstGeom prst="rect">
            <a:avLst/>
          </a:prstGeom>
          <a:noFill/>
        </p:spPr>
        <p:txBody>
          <a:bodyPr wrap="square">
            <a:spAutoFit/>
          </a:bodyPr>
          <a:lstStyle/>
          <a:p>
            <a:pPr algn="l"/>
            <a:r>
              <a:rPr sz="1400" b="0" i="0">
                <a:solidFill>
                  <a:srgbClr val="1A1A2E"/>
                </a:solidFill>
                <a:latin typeface="游ゴシック"/>
              </a:rPr>
              <a:t>ファイル名: /DATA_0000.csv（0 始まり連番）　形式: UTF-8 テキスト、CRLF 改行、先頭ヘッダ行あり</a:t>
            </a:r>
          </a:p>
        </p:txBody>
      </p:sp>
      <p:graphicFrame>
        <p:nvGraphicFramePr>
          <p:cNvPr id="9" name="Table 8"/>
          <p:cNvGraphicFramePr>
            <a:graphicFrameLocks noGrp="1"/>
          </p:cNvGraphicFramePr>
          <p:nvPr/>
        </p:nvGraphicFramePr>
        <p:xfrm>
          <a:off x="320040" y="1554480"/>
          <a:ext cx="11521440" cy="4425696"/>
        </p:xfrm>
        <a:graphic>
          <a:graphicData uri="http://schemas.openxmlformats.org/drawingml/2006/table">
            <a:tbl>
              <a:tblPr firstRow="1" bandRow="1">
                <a:tableStyleId>{5C22544A-7EE6-4342-B048-85BDC9FD1C3A}</a:tableStyleId>
              </a:tblPr>
              <a:tblGrid>
                <a:gridCol w="731520"/>
                <a:gridCol w="2103120"/>
                <a:gridCol w="1828800"/>
                <a:gridCol w="6858000"/>
              </a:tblGrid>
              <a:tr h="402336">
                <a:tc>
                  <a:txBody>
                    <a:bodyPr/>
                    <a:lstStyle/>
                    <a:p>
                      <a:pPr algn="l"/>
                      <a:r>
                        <a:rPr sz="1300" b="1">
                          <a:solidFill>
                            <a:srgbClr val="FFFFFF"/>
                          </a:solidFill>
                          <a:latin typeface="Segoe UI"/>
                        </a:rPr>
                        <a:t>#</a:t>
                      </a:r>
                    </a:p>
                  </a:txBody>
                  <a:tcPr>
                    <a:solidFill>
                      <a:srgbClr val="0D477F"/>
                    </a:solidFill>
                  </a:tcPr>
                </a:tc>
                <a:tc>
                  <a:txBody>
                    <a:bodyPr/>
                    <a:lstStyle/>
                    <a:p>
                      <a:pPr algn="l"/>
                      <a:r>
                        <a:rPr sz="1300" b="1">
                          <a:solidFill>
                            <a:srgbClr val="FFFFFF"/>
                          </a:solidFill>
                          <a:latin typeface="Segoe UI"/>
                        </a:rPr>
                        <a:t>列名（ヘッダ）</a:t>
                      </a:r>
                    </a:p>
                  </a:txBody>
                  <a:tcPr>
                    <a:solidFill>
                      <a:srgbClr val="0D477F"/>
                    </a:solidFill>
                  </a:tcPr>
                </a:tc>
                <a:tc>
                  <a:txBody>
                    <a:bodyPr/>
                    <a:lstStyle/>
                    <a:p>
                      <a:pPr algn="l"/>
                      <a:r>
                        <a:rPr sz="1300" b="1">
                          <a:solidFill>
                            <a:srgbClr val="FFFFFF"/>
                          </a:solidFill>
                          <a:latin typeface="Segoe UI"/>
                        </a:rPr>
                        <a:t>型・単位</a:t>
                      </a:r>
                    </a:p>
                  </a:txBody>
                  <a:tcPr>
                    <a:solidFill>
                      <a:srgbClr val="0D477F"/>
                    </a:solidFill>
                  </a:tcPr>
                </a:tc>
                <a:tc>
                  <a:txBody>
                    <a:bodyPr/>
                    <a:lstStyle/>
                    <a:p>
                      <a:pPr algn="l"/>
                      <a:r>
                        <a:rPr sz="1300" b="1">
                          <a:solidFill>
                            <a:srgbClr val="FFFFFF"/>
                          </a:solidFill>
                          <a:latin typeface="Segoe UI"/>
                        </a:rPr>
                        <a:t>内容</a:t>
                      </a:r>
                    </a:p>
                  </a:txBody>
                  <a:tcPr>
                    <a:solidFill>
                      <a:srgbClr val="0D477F"/>
                    </a:solidFill>
                  </a:tcPr>
                </a:tc>
              </a:tr>
              <a:tr h="402336">
                <a:tc>
                  <a:txBody>
                    <a:bodyPr/>
                    <a:lstStyle/>
                    <a:p>
                      <a:pPr algn="l"/>
                      <a:r>
                        <a:rPr sz="1200" b="0">
                          <a:solidFill>
                            <a:srgbClr val="1A1A2E"/>
                          </a:solidFill>
                          <a:latin typeface="游ゴシック"/>
                        </a:rPr>
                        <a:t>1</a:t>
                      </a:r>
                    </a:p>
                  </a:txBody>
                  <a:tcPr>
                    <a:solidFill>
                      <a:srgbClr val="FFFFFF"/>
                    </a:solidFill>
                  </a:tcPr>
                </a:tc>
                <a:tc>
                  <a:txBody>
                    <a:bodyPr/>
                    <a:lstStyle/>
                    <a:p>
                      <a:pPr algn="l"/>
                      <a:r>
                        <a:rPr sz="1200" b="0">
                          <a:solidFill>
                            <a:srgbClr val="1A1A2E"/>
                          </a:solidFill>
                          <a:latin typeface="游ゴシック"/>
                        </a:rPr>
                        <a:t>ElapsedSec</a:t>
                      </a:r>
                    </a:p>
                  </a:txBody>
                  <a:tcPr>
                    <a:solidFill>
                      <a:srgbClr val="FFFFFF"/>
                    </a:solidFill>
                  </a:tcPr>
                </a:tc>
                <a:tc>
                  <a:txBody>
                    <a:bodyPr/>
                    <a:lstStyle/>
                    <a:p>
                      <a:pPr algn="l"/>
                      <a:r>
                        <a:rPr sz="1200" b="0">
                          <a:solidFill>
                            <a:srgbClr val="1A1A2E"/>
                          </a:solidFill>
                          <a:latin typeface="游ゴシック"/>
                        </a:rPr>
                        <a:t>uint32 / 秒</a:t>
                      </a:r>
                    </a:p>
                  </a:txBody>
                  <a:tcPr>
                    <a:solidFill>
                      <a:srgbClr val="FFFFFF"/>
                    </a:solidFill>
                  </a:tcPr>
                </a:tc>
                <a:tc>
                  <a:txBody>
                    <a:bodyPr/>
                    <a:lstStyle/>
                    <a:p>
                      <a:pPr algn="l"/>
                      <a:r>
                        <a:rPr sz="1200" b="0">
                          <a:solidFill>
                            <a:srgbClr val="1A1A2E"/>
                          </a:solidFill>
                          <a:latin typeface="游ゴシック"/>
                        </a:rPr>
                        <a:t>RUN 開始からの経過秒数 (millis/1000)</a:t>
                      </a:r>
                    </a:p>
                  </a:txBody>
                  <a:tcPr>
                    <a:solidFill>
                      <a:srgbClr val="FFFFFF"/>
                    </a:solidFill>
                  </a:tcPr>
                </a:tc>
              </a:tr>
              <a:tr h="402336">
                <a:tc>
                  <a:txBody>
                    <a:bodyPr/>
                    <a:lstStyle/>
                    <a:p>
                      <a:pPr algn="l"/>
                      <a:r>
                        <a:rPr sz="1200" b="0">
                          <a:solidFill>
                            <a:srgbClr val="1A1A2E"/>
                          </a:solidFill>
                          <a:latin typeface="游ゴシック"/>
                        </a:rPr>
                        <a:t>2</a:t>
                      </a:r>
                    </a:p>
                  </a:txBody>
                  <a:tcPr>
                    <a:solidFill>
                      <a:srgbClr val="F4F4F4"/>
                    </a:solidFill>
                  </a:tcPr>
                </a:tc>
                <a:tc>
                  <a:txBody>
                    <a:bodyPr/>
                    <a:lstStyle/>
                    <a:p>
                      <a:pPr algn="l"/>
                      <a:r>
                        <a:rPr sz="1200" b="0">
                          <a:solidFill>
                            <a:srgbClr val="1A1A2E"/>
                          </a:solidFill>
                          <a:latin typeface="游ゴシック"/>
                        </a:rPr>
                        <a:t>Temp_C</a:t>
                      </a:r>
                    </a:p>
                  </a:txBody>
                  <a:tcPr>
                    <a:solidFill>
                      <a:srgbClr val="F4F4F4"/>
                    </a:solidFill>
                  </a:tcPr>
                </a:tc>
                <a:tc>
                  <a:txBody>
                    <a:bodyPr/>
                    <a:lstStyle/>
                    <a:p>
                      <a:pPr algn="l"/>
                      <a:r>
                        <a:rPr sz="1200" b="0">
                          <a:solidFill>
                            <a:srgbClr val="1A1A2E"/>
                          </a:solidFill>
                          <a:latin typeface="游ゴシック"/>
                        </a:rPr>
                        <a:t>float / °C</a:t>
                      </a:r>
                    </a:p>
                  </a:txBody>
                  <a:tcPr>
                    <a:solidFill>
                      <a:srgbClr val="F4F4F4"/>
                    </a:solidFill>
                  </a:tcPr>
                </a:tc>
                <a:tc>
                  <a:txBody>
                    <a:bodyPr/>
                    <a:lstStyle/>
                    <a:p>
                      <a:pPr algn="l"/>
                      <a:r>
                        <a:rPr sz="1200" b="0">
                          <a:solidFill>
                            <a:srgbClr val="1A1A2E"/>
                          </a:solidFill>
                          <a:latin typeface="游ゴシック"/>
                        </a:rPr>
                        <a:t>LPF フィルタ後の温度値</a:t>
                      </a:r>
                    </a:p>
                  </a:txBody>
                  <a:tcPr>
                    <a:solidFill>
                      <a:srgbClr val="F4F4F4"/>
                    </a:solidFill>
                  </a:tcPr>
                </a:tc>
              </a:tr>
              <a:tr h="402336">
                <a:tc>
                  <a:txBody>
                    <a:bodyPr/>
                    <a:lstStyle/>
                    <a:p>
                      <a:pPr algn="l"/>
                      <a:r>
                        <a:rPr sz="1200" b="0">
                          <a:solidFill>
                            <a:srgbClr val="1A1A2E"/>
                          </a:solidFill>
                          <a:latin typeface="游ゴシック"/>
                        </a:rPr>
                        <a:t>3</a:t>
                      </a:r>
                    </a:p>
                  </a:txBody>
                  <a:tcPr>
                    <a:solidFill>
                      <a:srgbClr val="FFFFFF"/>
                    </a:solidFill>
                  </a:tcPr>
                </a:tc>
                <a:tc>
                  <a:txBody>
                    <a:bodyPr/>
                    <a:lstStyle/>
                    <a:p>
                      <a:pPr algn="l"/>
                      <a:r>
                        <a:rPr sz="1200" b="0">
                          <a:solidFill>
                            <a:srgbClr val="1A1A2E"/>
                          </a:solidFill>
                          <a:latin typeface="游ゴシック"/>
                        </a:rPr>
                        <a:t>State</a:t>
                      </a:r>
                    </a:p>
                  </a:txBody>
                  <a:tcPr>
                    <a:solidFill>
                      <a:srgbClr val="FFFFFF"/>
                    </a:solidFill>
                  </a:tcPr>
                </a:tc>
                <a:tc>
                  <a:txBody>
                    <a:bodyPr/>
                    <a:lstStyle/>
                    <a:p>
                      <a:pPr algn="l"/>
                      <a:r>
                        <a:rPr sz="1200" b="0">
                          <a:solidFill>
                            <a:srgbClr val="1A1A2E"/>
                          </a:solidFill>
                          <a:latin typeface="游ゴシック"/>
                        </a:rPr>
                        <a:t>文字列</a:t>
                      </a:r>
                    </a:p>
                  </a:txBody>
                  <a:tcPr>
                    <a:solidFill>
                      <a:srgbClr val="FFFFFF"/>
                    </a:solidFill>
                  </a:tcPr>
                </a:tc>
                <a:tc>
                  <a:txBody>
                    <a:bodyPr/>
                    <a:lstStyle/>
                    <a:p>
                      <a:pPr algn="l"/>
                      <a:r>
                        <a:rPr sz="1200" b="0">
                          <a:solidFill>
                            <a:srgbClr val="1A1A2E"/>
                          </a:solidFill>
                          <a:latin typeface="游ゴシック"/>
                        </a:rPr>
                        <a:t>現在の状態名（"RUN" 固定）</a:t>
                      </a:r>
                    </a:p>
                  </a:txBody>
                  <a:tcPr>
                    <a:solidFill>
                      <a:srgbClr val="FFFFFF"/>
                    </a:solidFill>
                  </a:tcPr>
                </a:tc>
              </a:tr>
              <a:tr h="402336">
                <a:tc>
                  <a:txBody>
                    <a:bodyPr/>
                    <a:lstStyle/>
                    <a:p>
                      <a:pPr algn="l"/>
                      <a:r>
                        <a:rPr sz="1200" b="0">
                          <a:solidFill>
                            <a:srgbClr val="1A1A2E"/>
                          </a:solidFill>
                          <a:latin typeface="游ゴシック"/>
                        </a:rPr>
                        <a:t>4</a:t>
                      </a:r>
                    </a:p>
                  </a:txBody>
                  <a:tcPr>
                    <a:solidFill>
                      <a:srgbClr val="F4F4F4"/>
                    </a:solidFill>
                  </a:tcPr>
                </a:tc>
                <a:tc>
                  <a:txBody>
                    <a:bodyPr/>
                    <a:lstStyle/>
                    <a:p>
                      <a:pPr algn="l"/>
                      <a:r>
                        <a:rPr sz="1200" b="0">
                          <a:solidFill>
                            <a:srgbClr val="1A1A2E"/>
                          </a:solidFill>
                          <a:latin typeface="游ゴシック"/>
                        </a:rPr>
                        <a:t>Samples</a:t>
                      </a:r>
                    </a:p>
                  </a:txBody>
                  <a:tcPr>
                    <a:solidFill>
                      <a:srgbClr val="F4F4F4"/>
                    </a:solidFill>
                  </a:tcPr>
                </a:tc>
                <a:tc>
                  <a:txBody>
                    <a:bodyPr/>
                    <a:lstStyle/>
                    <a:p>
                      <a:pPr algn="l"/>
                      <a:r>
                        <a:rPr sz="1200" b="0">
                          <a:solidFill>
                            <a:srgbClr val="1A1A2E"/>
                          </a:solidFill>
                          <a:latin typeface="游ゴシック"/>
                        </a:rPr>
                        <a:t>uint32</a:t>
                      </a:r>
                    </a:p>
                  </a:txBody>
                  <a:tcPr>
                    <a:solidFill>
                      <a:srgbClr val="F4F4F4"/>
                    </a:solidFill>
                  </a:tcPr>
                </a:tc>
                <a:tc>
                  <a:txBody>
                    <a:bodyPr/>
                    <a:lstStyle/>
                    <a:p>
                      <a:pPr algn="l"/>
                      <a:r>
                        <a:rPr sz="1200" b="0">
                          <a:solidFill>
                            <a:srgbClr val="1A1A2E"/>
                          </a:solidFill>
                          <a:latin typeface="游ゴシック"/>
                        </a:rPr>
                        <a:t>累積サンプル数（Welford のカウント）</a:t>
                      </a:r>
                    </a:p>
                  </a:txBody>
                  <a:tcPr>
                    <a:solidFill>
                      <a:srgbClr val="F4F4F4"/>
                    </a:solidFill>
                  </a:tcPr>
                </a:tc>
              </a:tr>
              <a:tr h="402336">
                <a:tc>
                  <a:txBody>
                    <a:bodyPr/>
                    <a:lstStyle/>
                    <a:p>
                      <a:pPr algn="l"/>
                      <a:r>
                        <a:rPr sz="1200" b="0">
                          <a:solidFill>
                            <a:srgbClr val="1A1A2E"/>
                          </a:solidFill>
                          <a:latin typeface="游ゴシック"/>
                        </a:rPr>
                        <a:t>5</a:t>
                      </a:r>
                    </a:p>
                  </a:txBody>
                  <a:tcPr>
                    <a:solidFill>
                      <a:srgbClr val="FFFFFF"/>
                    </a:solidFill>
                  </a:tcPr>
                </a:tc>
                <a:tc>
                  <a:txBody>
                    <a:bodyPr/>
                    <a:lstStyle/>
                    <a:p>
                      <a:pPr algn="l"/>
                      <a:r>
                        <a:rPr sz="1200" b="0">
                          <a:solidFill>
                            <a:srgbClr val="1A1A2E"/>
                          </a:solidFill>
                          <a:latin typeface="游ゴシック"/>
                        </a:rPr>
                        <a:t>Average_C</a:t>
                      </a:r>
                    </a:p>
                  </a:txBody>
                  <a:tcPr>
                    <a:solidFill>
                      <a:srgbClr val="FFFFFF"/>
                    </a:solidFill>
                  </a:tcPr>
                </a:tc>
                <a:tc>
                  <a:txBody>
                    <a:bodyPr/>
                    <a:lstStyle/>
                    <a:p>
                      <a:pPr algn="l"/>
                      <a:r>
                        <a:rPr sz="1200" b="0">
                          <a:solidFill>
                            <a:srgbClr val="1A1A2E"/>
                          </a:solidFill>
                          <a:latin typeface="游ゴシック"/>
                        </a:rPr>
                        <a:t>float / °C</a:t>
                      </a:r>
                    </a:p>
                  </a:txBody>
                  <a:tcPr>
                    <a:solidFill>
                      <a:srgbClr val="FFFFFF"/>
                    </a:solidFill>
                  </a:tcPr>
                </a:tc>
                <a:tc>
                  <a:txBody>
                    <a:bodyPr/>
                    <a:lstStyle/>
                    <a:p>
                      <a:pPr algn="l"/>
                      <a:r>
                        <a:rPr sz="1200" b="0">
                          <a:solidFill>
                            <a:srgbClr val="1A1A2E"/>
                          </a:solidFill>
                          <a:latin typeface="游ゴシック"/>
                        </a:rPr>
                        <a:t>累積平均温度</a:t>
                      </a:r>
                    </a:p>
                  </a:txBody>
                  <a:tcPr>
                    <a:solidFill>
                      <a:srgbClr val="FFFFFF"/>
                    </a:solidFill>
                  </a:tcPr>
                </a:tc>
              </a:tr>
              <a:tr h="402336">
                <a:tc>
                  <a:txBody>
                    <a:bodyPr/>
                    <a:lstStyle/>
                    <a:p>
                      <a:pPr algn="l"/>
                      <a:r>
                        <a:rPr sz="1200" b="0">
                          <a:solidFill>
                            <a:srgbClr val="1A1A2E"/>
                          </a:solidFill>
                          <a:latin typeface="游ゴシック"/>
                        </a:rPr>
                        <a:t>6</a:t>
                      </a:r>
                    </a:p>
                  </a:txBody>
                  <a:tcPr>
                    <a:solidFill>
                      <a:srgbClr val="F4F4F4"/>
                    </a:solidFill>
                  </a:tcPr>
                </a:tc>
                <a:tc>
                  <a:txBody>
                    <a:bodyPr/>
                    <a:lstStyle/>
                    <a:p>
                      <a:pPr algn="l"/>
                      <a:r>
                        <a:rPr sz="1200" b="0">
                          <a:solidFill>
                            <a:srgbClr val="1A1A2E"/>
                          </a:solidFill>
                          <a:latin typeface="游ゴシック"/>
                        </a:rPr>
                        <a:t>StdDev_C</a:t>
                      </a:r>
                    </a:p>
                  </a:txBody>
                  <a:tcPr>
                    <a:solidFill>
                      <a:srgbClr val="F4F4F4"/>
                    </a:solidFill>
                  </a:tcPr>
                </a:tc>
                <a:tc>
                  <a:txBody>
                    <a:bodyPr/>
                    <a:lstStyle/>
                    <a:p>
                      <a:pPr algn="l"/>
                      <a:r>
                        <a:rPr sz="1200" b="0">
                          <a:solidFill>
                            <a:srgbClr val="1A1A2E"/>
                          </a:solidFill>
                          <a:latin typeface="游ゴシック"/>
                        </a:rPr>
                        <a:t>float / °C</a:t>
                      </a:r>
                    </a:p>
                  </a:txBody>
                  <a:tcPr>
                    <a:solidFill>
                      <a:srgbClr val="F4F4F4"/>
                    </a:solidFill>
                  </a:tcPr>
                </a:tc>
                <a:tc>
                  <a:txBody>
                    <a:bodyPr/>
                    <a:lstStyle/>
                    <a:p>
                      <a:pPr algn="l"/>
                      <a:r>
                        <a:rPr sz="1200" b="0">
                          <a:solidFill>
                            <a:srgbClr val="1A1A2E"/>
                          </a:solidFill>
                          <a:latin typeface="游ゴシック"/>
                        </a:rPr>
                        <a:t>累積標準偏差</a:t>
                      </a:r>
                    </a:p>
                  </a:txBody>
                  <a:tcPr>
                    <a:solidFill>
                      <a:srgbClr val="F4F4F4"/>
                    </a:solidFill>
                  </a:tcPr>
                </a:tc>
              </a:tr>
              <a:tr h="402336">
                <a:tc>
                  <a:txBody>
                    <a:bodyPr/>
                    <a:lstStyle/>
                    <a:p>
                      <a:pPr algn="l"/>
                      <a:r>
                        <a:rPr sz="1200" b="0">
                          <a:solidFill>
                            <a:srgbClr val="1A1A2E"/>
                          </a:solidFill>
                          <a:latin typeface="游ゴシック"/>
                        </a:rPr>
                        <a:t>7</a:t>
                      </a:r>
                    </a:p>
                  </a:txBody>
                  <a:tcPr>
                    <a:solidFill>
                      <a:srgbClr val="FFFFFF"/>
                    </a:solidFill>
                  </a:tcPr>
                </a:tc>
                <a:tc>
                  <a:txBody>
                    <a:bodyPr/>
                    <a:lstStyle/>
                    <a:p>
                      <a:pPr algn="l"/>
                      <a:r>
                        <a:rPr sz="1200" b="0">
                          <a:solidFill>
                            <a:srgbClr val="1A1A2E"/>
                          </a:solidFill>
                          <a:latin typeface="游ゴシック"/>
                        </a:rPr>
                        <a:t>Max_C</a:t>
                      </a:r>
                    </a:p>
                  </a:txBody>
                  <a:tcPr>
                    <a:solidFill>
                      <a:srgbClr val="FFFFFF"/>
                    </a:solidFill>
                  </a:tcPr>
                </a:tc>
                <a:tc>
                  <a:txBody>
                    <a:bodyPr/>
                    <a:lstStyle/>
                    <a:p>
                      <a:pPr algn="l"/>
                      <a:r>
                        <a:rPr sz="1200" b="0">
                          <a:solidFill>
                            <a:srgbClr val="1A1A2E"/>
                          </a:solidFill>
                          <a:latin typeface="游ゴシック"/>
                        </a:rPr>
                        <a:t>float / °C</a:t>
                      </a:r>
                    </a:p>
                  </a:txBody>
                  <a:tcPr>
                    <a:solidFill>
                      <a:srgbClr val="FFFFFF"/>
                    </a:solidFill>
                  </a:tcPr>
                </a:tc>
                <a:tc>
                  <a:txBody>
                    <a:bodyPr/>
                    <a:lstStyle/>
                    <a:p>
                      <a:pPr algn="l"/>
                      <a:r>
                        <a:rPr sz="1200" b="0">
                          <a:solidFill>
                            <a:srgbClr val="1A1A2E"/>
                          </a:solidFill>
                          <a:latin typeface="游ゴシック"/>
                        </a:rPr>
                        <a:t>計測開始からの最大温度</a:t>
                      </a:r>
                    </a:p>
                  </a:txBody>
                  <a:tcPr>
                    <a:solidFill>
                      <a:srgbClr val="FFFFFF"/>
                    </a:solidFill>
                  </a:tcPr>
                </a:tc>
              </a:tr>
              <a:tr h="402336">
                <a:tc>
                  <a:txBody>
                    <a:bodyPr/>
                    <a:lstStyle/>
                    <a:p>
                      <a:pPr algn="l"/>
                      <a:r>
                        <a:rPr sz="1200" b="0">
                          <a:solidFill>
                            <a:srgbClr val="1A1A2E"/>
                          </a:solidFill>
                          <a:latin typeface="游ゴシック"/>
                        </a:rPr>
                        <a:t>8</a:t>
                      </a:r>
                    </a:p>
                  </a:txBody>
                  <a:tcPr>
                    <a:solidFill>
                      <a:srgbClr val="F4F4F4"/>
                    </a:solidFill>
                  </a:tcPr>
                </a:tc>
                <a:tc>
                  <a:txBody>
                    <a:bodyPr/>
                    <a:lstStyle/>
                    <a:p>
                      <a:pPr algn="l"/>
                      <a:r>
                        <a:rPr sz="1200" b="0">
                          <a:solidFill>
                            <a:srgbClr val="1A1A2E"/>
                          </a:solidFill>
                          <a:latin typeface="游ゴシック"/>
                        </a:rPr>
                        <a:t>Min_C</a:t>
                      </a:r>
                    </a:p>
                  </a:txBody>
                  <a:tcPr>
                    <a:solidFill>
                      <a:srgbClr val="F4F4F4"/>
                    </a:solidFill>
                  </a:tcPr>
                </a:tc>
                <a:tc>
                  <a:txBody>
                    <a:bodyPr/>
                    <a:lstStyle/>
                    <a:p>
                      <a:pPr algn="l"/>
                      <a:r>
                        <a:rPr sz="1200" b="0">
                          <a:solidFill>
                            <a:srgbClr val="1A1A2E"/>
                          </a:solidFill>
                          <a:latin typeface="游ゴシック"/>
                        </a:rPr>
                        <a:t>float / °C</a:t>
                      </a:r>
                    </a:p>
                  </a:txBody>
                  <a:tcPr>
                    <a:solidFill>
                      <a:srgbClr val="F4F4F4"/>
                    </a:solidFill>
                  </a:tcPr>
                </a:tc>
                <a:tc>
                  <a:txBody>
                    <a:bodyPr/>
                    <a:lstStyle/>
                    <a:p>
                      <a:pPr algn="l"/>
                      <a:r>
                        <a:rPr sz="1200" b="0">
                          <a:solidFill>
                            <a:srgbClr val="1A1A2E"/>
                          </a:solidFill>
                          <a:latin typeface="游ゴシック"/>
                        </a:rPr>
                        <a:t>計測開始からの最小温度</a:t>
                      </a:r>
                    </a:p>
                  </a:txBody>
                  <a:tcPr>
                    <a:solidFill>
                      <a:srgbClr val="F4F4F4"/>
                    </a:solidFill>
                  </a:tcPr>
                </a:tc>
              </a:tr>
              <a:tr h="402336">
                <a:tc>
                  <a:txBody>
                    <a:bodyPr/>
                    <a:lstStyle/>
                    <a:p>
                      <a:pPr algn="l"/>
                      <a:r>
                        <a:rPr sz="1200" b="0">
                          <a:solidFill>
                            <a:srgbClr val="1A1A2E"/>
                          </a:solidFill>
                          <a:latin typeface="游ゴシック"/>
                        </a:rPr>
                        <a:t>9</a:t>
                      </a:r>
                    </a:p>
                  </a:txBody>
                  <a:tcPr>
                    <a:solidFill>
                      <a:srgbClr val="FFFFFF"/>
                    </a:solidFill>
                  </a:tcPr>
                </a:tc>
                <a:tc>
                  <a:txBody>
                    <a:bodyPr/>
                    <a:lstStyle/>
                    <a:p>
                      <a:pPr algn="l"/>
                      <a:r>
                        <a:rPr sz="1200" b="0">
                          <a:solidFill>
                            <a:srgbClr val="1A1A2E"/>
                          </a:solidFill>
                          <a:latin typeface="游ゴシック"/>
                        </a:rPr>
                        <a:t>HI_ALARM</a:t>
                      </a:r>
                    </a:p>
                  </a:txBody>
                  <a:tcPr>
                    <a:solidFill>
                      <a:srgbClr val="FFFFFF"/>
                    </a:solidFill>
                  </a:tcPr>
                </a:tc>
                <a:tc>
                  <a:txBody>
                    <a:bodyPr/>
                    <a:lstStyle/>
                    <a:p>
                      <a:pPr algn="l"/>
                      <a:r>
                        <a:rPr sz="1200" b="0">
                          <a:solidFill>
                            <a:srgbClr val="1A1A2E"/>
                          </a:solidFill>
                          <a:latin typeface="游ゴシック"/>
                        </a:rPr>
                        <a:t>"true"/"false"</a:t>
                      </a:r>
                    </a:p>
                  </a:txBody>
                  <a:tcPr>
                    <a:solidFill>
                      <a:srgbClr val="FFFFFF"/>
                    </a:solidFill>
                  </a:tcPr>
                </a:tc>
                <a:tc>
                  <a:txBody>
                    <a:bodyPr/>
                    <a:lstStyle/>
                    <a:p>
                      <a:pPr algn="l"/>
                      <a:r>
                        <a:rPr sz="1200" b="0">
                          <a:solidFill>
                            <a:srgbClr val="1A1A2E"/>
                          </a:solidFill>
                          <a:latin typeface="游ゴシック"/>
                        </a:rPr>
                        <a:t>上限アラームフラグ</a:t>
                      </a:r>
                    </a:p>
                  </a:txBody>
                  <a:tcPr>
                    <a:solidFill>
                      <a:srgbClr val="FFFFFF"/>
                    </a:solidFill>
                  </a:tcPr>
                </a:tc>
              </a:tr>
              <a:tr h="402336">
                <a:tc>
                  <a:txBody>
                    <a:bodyPr/>
                    <a:lstStyle/>
                    <a:p>
                      <a:pPr algn="l"/>
                      <a:r>
                        <a:rPr sz="1200" b="0">
                          <a:solidFill>
                            <a:srgbClr val="1A1A2E"/>
                          </a:solidFill>
                          <a:latin typeface="游ゴシック"/>
                        </a:rPr>
                        <a:t>10</a:t>
                      </a:r>
                    </a:p>
                  </a:txBody>
                  <a:tcPr>
                    <a:solidFill>
                      <a:srgbClr val="F4F4F4"/>
                    </a:solidFill>
                  </a:tcPr>
                </a:tc>
                <a:tc>
                  <a:txBody>
                    <a:bodyPr/>
                    <a:lstStyle/>
                    <a:p>
                      <a:pPr algn="l"/>
                      <a:r>
                        <a:rPr sz="1200" b="0">
                          <a:solidFill>
                            <a:srgbClr val="1A1A2E"/>
                          </a:solidFill>
                          <a:latin typeface="游ゴシック"/>
                        </a:rPr>
                        <a:t>LO_ALARM</a:t>
                      </a:r>
                    </a:p>
                  </a:txBody>
                  <a:tcPr>
                    <a:solidFill>
                      <a:srgbClr val="F4F4F4"/>
                    </a:solidFill>
                  </a:tcPr>
                </a:tc>
                <a:tc>
                  <a:txBody>
                    <a:bodyPr/>
                    <a:lstStyle/>
                    <a:p>
                      <a:pPr algn="l"/>
                      <a:r>
                        <a:rPr sz="1200" b="0">
                          <a:solidFill>
                            <a:srgbClr val="1A1A2E"/>
                          </a:solidFill>
                          <a:latin typeface="游ゴシック"/>
                        </a:rPr>
                        <a:t>"true"/"false"</a:t>
                      </a:r>
                    </a:p>
                  </a:txBody>
                  <a:tcPr>
                    <a:solidFill>
                      <a:srgbClr val="F4F4F4"/>
                    </a:solidFill>
                  </a:tcPr>
                </a:tc>
                <a:tc>
                  <a:txBody>
                    <a:bodyPr/>
                    <a:lstStyle/>
                    <a:p>
                      <a:pPr algn="l"/>
                      <a:r>
                        <a:rPr sz="1200" b="0">
                          <a:solidFill>
                            <a:srgbClr val="1A1A2E"/>
                          </a:solidFill>
                          <a:latin typeface="游ゴシック"/>
                        </a:rPr>
                        <a:t>下限アラームフラグ</a:t>
                      </a:r>
                    </a:p>
                  </a:txBody>
                  <a:tcPr>
                    <a:solidFill>
                      <a:srgbClr val="F4F4F4"/>
                    </a:solidFill>
                  </a:tcPr>
                </a:tc>
              </a:tr>
            </a:tbl>
          </a:graphicData>
        </a:graphic>
      </p:graphicFrame>
      <p:sp>
        <p:nvSpPr>
          <p:cNvPr id="10" name="TextBox 9"/>
          <p:cNvSpPr txBox="1"/>
          <p:nvPr/>
        </p:nvSpPr>
        <p:spPr>
          <a:xfrm>
            <a:off x="320040" y="5806440"/>
            <a:ext cx="10972800" cy="365760"/>
          </a:xfrm>
          <a:prstGeom prst="rect">
            <a:avLst/>
          </a:prstGeom>
          <a:noFill/>
        </p:spPr>
        <p:txBody>
          <a:bodyPr wrap="square">
            <a:spAutoFit/>
          </a:bodyPr>
          <a:lstStyle/>
          <a:p>
            <a:pPr algn="l"/>
            <a:r>
              <a:rPr sz="1100" b="0" i="0">
                <a:solidFill>
                  <a:srgbClr val="999999"/>
                </a:solidFill>
                <a:latin typeface="Consolas"/>
              </a:rPr>
              <a:t>例: 60,540.2,RUN,120,539.8,0.8,550.0,530.0,false,false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914400"/>
          </a:xfrm>
          <a:prstGeom prst="rect">
            <a:avLst/>
          </a:prstGeom>
          <a:solidFill>
            <a:srgbClr val="0D477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73152"/>
            <a:ext cx="11430000" cy="502920"/>
          </a:xfrm>
          <a:prstGeom prst="rect">
            <a:avLst/>
          </a:prstGeom>
          <a:noFill/>
        </p:spPr>
        <p:txBody>
          <a:bodyPr wrap="square">
            <a:spAutoFit/>
          </a:bodyPr>
          <a:lstStyle/>
          <a:p>
            <a:pPr algn="l"/>
            <a:r>
              <a:rPr sz="2400" b="1" i="0">
                <a:solidFill>
                  <a:srgbClr val="FFFFFF"/>
                </a:solidFill>
                <a:latin typeface="Segoe UI"/>
              </a:rPr>
              <a:t>データ管理 — Excel での活用</a:t>
            </a:r>
          </a:p>
        </p:txBody>
      </p:sp>
      <p:sp>
        <p:nvSpPr>
          <p:cNvPr id="4" name="TextBox 3"/>
          <p:cNvSpPr txBox="1"/>
          <p:nvPr/>
        </p:nvSpPr>
        <p:spPr>
          <a:xfrm>
            <a:off x="274320" y="594360"/>
            <a:ext cx="11430000" cy="274320"/>
          </a:xfrm>
          <a:prstGeom prst="rect">
            <a:avLst/>
          </a:prstGeom>
          <a:noFill/>
        </p:spPr>
        <p:txBody>
          <a:bodyPr wrap="square">
            <a:spAutoFit/>
          </a:bodyPr>
          <a:lstStyle/>
          <a:p>
            <a:pPr algn="l"/>
            <a:r>
              <a:rPr sz="1200" b="0" i="0">
                <a:solidFill>
                  <a:srgbClr val="FF6D00"/>
                </a:solidFill>
                <a:latin typeface="游ゴシック"/>
              </a:rPr>
              <a:t>Section 5  データ管理</a:t>
            </a:r>
          </a:p>
        </p:txBody>
      </p:sp>
      <p:sp>
        <p:nvSpPr>
          <p:cNvPr id="5" name="Rectangle 4"/>
          <p:cNvSpPr/>
          <p:nvPr/>
        </p:nvSpPr>
        <p:spPr>
          <a:xfrm>
            <a:off x="0" y="6309360"/>
            <a:ext cx="12188952" cy="548640"/>
          </a:xfrm>
          <a:prstGeom prst="rect">
            <a:avLst/>
          </a:prstGeom>
          <a:solidFill>
            <a:srgbClr val="0D477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74320" y="6336792"/>
            <a:ext cx="7315200" cy="320040"/>
          </a:xfrm>
          <a:prstGeom prst="rect">
            <a:avLst/>
          </a:prstGeom>
          <a:noFill/>
        </p:spPr>
        <p:txBody>
          <a:bodyPr wrap="square">
            <a:spAutoFit/>
          </a:bodyPr>
          <a:lstStyle/>
          <a:p>
            <a:pPr algn="l"/>
            <a:r>
              <a:rPr sz="1100" b="0" i="0">
                <a:solidFill>
                  <a:srgbClr val="FF6D00"/>
                </a:solidFill>
                <a:latin typeface="Segoe UI"/>
              </a:rPr>
              <a:t>Simple Temperature Evaluation Tool</a:t>
            </a:r>
          </a:p>
        </p:txBody>
      </p:sp>
      <p:sp>
        <p:nvSpPr>
          <p:cNvPr id="7" name="TextBox 6"/>
          <p:cNvSpPr txBox="1"/>
          <p:nvPr/>
        </p:nvSpPr>
        <p:spPr>
          <a:xfrm>
            <a:off x="10515600" y="6336792"/>
            <a:ext cx="1371600" cy="320040"/>
          </a:xfrm>
          <a:prstGeom prst="rect">
            <a:avLst/>
          </a:prstGeom>
          <a:noFill/>
        </p:spPr>
        <p:txBody>
          <a:bodyPr wrap="square">
            <a:spAutoFit/>
          </a:bodyPr>
          <a:lstStyle/>
          <a:p>
            <a:pPr algn="r"/>
            <a:r>
              <a:rPr sz="1100" b="0" i="0">
                <a:solidFill>
                  <a:srgbClr val="FFFFFF"/>
                </a:solidFill>
                <a:latin typeface="Segoe UI"/>
              </a:rPr>
              <a:t>16</a:t>
            </a:r>
          </a:p>
        </p:txBody>
      </p:sp>
      <p:graphicFrame>
        <p:nvGraphicFramePr>
          <p:cNvPr id="8" name="Table 7"/>
          <p:cNvGraphicFramePr>
            <a:graphicFrameLocks noGrp="1"/>
          </p:cNvGraphicFramePr>
          <p:nvPr/>
        </p:nvGraphicFramePr>
        <p:xfrm>
          <a:off x="320040" y="1051560"/>
          <a:ext cx="11521440" cy="2743200"/>
        </p:xfrm>
        <a:graphic>
          <a:graphicData uri="http://schemas.openxmlformats.org/drawingml/2006/table">
            <a:tbl>
              <a:tblPr firstRow="1" bandRow="1">
                <a:tableStyleId>{5C22544A-7EE6-4342-B048-85BDC9FD1C3A}</a:tableStyleId>
              </a:tblPr>
              <a:tblGrid>
                <a:gridCol w="731520"/>
                <a:gridCol w="4114800"/>
                <a:gridCol w="6675120"/>
              </a:tblGrid>
              <a:tr h="457200">
                <a:tc>
                  <a:txBody>
                    <a:bodyPr/>
                    <a:lstStyle/>
                    <a:p>
                      <a:pPr algn="l"/>
                      <a:r>
                        <a:rPr sz="1300" b="1">
                          <a:solidFill>
                            <a:srgbClr val="FFFFFF"/>
                          </a:solidFill>
                          <a:latin typeface="Segoe UI"/>
                        </a:rPr>
                        <a:t>手順</a:t>
                      </a:r>
                    </a:p>
                  </a:txBody>
                  <a:tcPr>
                    <a:solidFill>
                      <a:srgbClr val="0D477F"/>
                    </a:solidFill>
                  </a:tcPr>
                </a:tc>
                <a:tc>
                  <a:txBody>
                    <a:bodyPr/>
                    <a:lstStyle/>
                    <a:p>
                      <a:pPr algn="l"/>
                      <a:r>
                        <a:rPr sz="1300" b="1">
                          <a:solidFill>
                            <a:srgbClr val="FFFFFF"/>
                          </a:solidFill>
                          <a:latin typeface="Segoe UI"/>
                        </a:rPr>
                        <a:t>操作</a:t>
                      </a:r>
                    </a:p>
                  </a:txBody>
                  <a:tcPr>
                    <a:solidFill>
                      <a:srgbClr val="0D477F"/>
                    </a:solidFill>
                  </a:tcPr>
                </a:tc>
                <a:tc>
                  <a:txBody>
                    <a:bodyPr/>
                    <a:lstStyle/>
                    <a:p>
                      <a:pPr algn="l"/>
                      <a:r>
                        <a:rPr sz="1300" b="1">
                          <a:solidFill>
                            <a:srgbClr val="FFFFFF"/>
                          </a:solidFill>
                          <a:latin typeface="Segoe UI"/>
                        </a:rPr>
                        <a:t>備考</a:t>
                      </a:r>
                    </a:p>
                  </a:txBody>
                  <a:tcPr>
                    <a:solidFill>
                      <a:srgbClr val="0D477F"/>
                    </a:solidFill>
                  </a:tcPr>
                </a:tc>
              </a:tr>
              <a:tr h="457200">
                <a:tc>
                  <a:txBody>
                    <a:bodyPr/>
                    <a:lstStyle/>
                    <a:p>
                      <a:pPr algn="l"/>
                      <a:r>
                        <a:rPr sz="1200" b="0">
                          <a:solidFill>
                            <a:srgbClr val="1A1A2E"/>
                          </a:solidFill>
                          <a:latin typeface="游ゴシック"/>
                        </a:rPr>
                        <a:t>①</a:t>
                      </a:r>
                    </a:p>
                  </a:txBody>
                  <a:tcPr>
                    <a:solidFill>
                      <a:srgbClr val="FFFFFF"/>
                    </a:solidFill>
                  </a:tcPr>
                </a:tc>
                <a:tc>
                  <a:txBody>
                    <a:bodyPr/>
                    <a:lstStyle/>
                    <a:p>
                      <a:pPr algn="l"/>
                      <a:r>
                        <a:rPr sz="1200" b="0">
                          <a:solidFill>
                            <a:srgbClr val="1A1A2E"/>
                          </a:solidFill>
                          <a:latin typeface="游ゴシック"/>
                        </a:rPr>
                        <a:t>BtnA を押して RESULT 状態へ</a:t>
                      </a:r>
                    </a:p>
                  </a:txBody>
                  <a:tcPr>
                    <a:solidFill>
                      <a:srgbClr val="FFFFFF"/>
                    </a:solidFill>
                  </a:tcPr>
                </a:tc>
                <a:tc>
                  <a:txBody>
                    <a:bodyPr/>
                    <a:lstStyle/>
                    <a:p>
                      <a:pPr algn="l"/>
                      <a:r>
                        <a:rPr sz="1200" b="0">
                          <a:solidFill>
                            <a:srgbClr val="1A1A2E"/>
                          </a:solidFill>
                          <a:latin typeface="游ゴシック"/>
                        </a:rPr>
                        <a:t>SD ファイルが自動クローズされる</a:t>
                      </a:r>
                    </a:p>
                  </a:txBody>
                  <a:tcPr>
                    <a:solidFill>
                      <a:srgbClr val="FFFFFF"/>
                    </a:solidFill>
                  </a:tcPr>
                </a:tc>
              </a:tr>
              <a:tr h="457200">
                <a:tc>
                  <a:txBody>
                    <a:bodyPr/>
                    <a:lstStyle/>
                    <a:p>
                      <a:pPr algn="l"/>
                      <a:r>
                        <a:rPr sz="1200" b="0">
                          <a:solidFill>
                            <a:srgbClr val="1A1A2E"/>
                          </a:solidFill>
                          <a:latin typeface="游ゴシック"/>
                        </a:rPr>
                        <a:t>②</a:t>
                      </a:r>
                    </a:p>
                  </a:txBody>
                  <a:tcPr>
                    <a:solidFill>
                      <a:srgbClr val="F4F4F4"/>
                    </a:solidFill>
                  </a:tcPr>
                </a:tc>
                <a:tc>
                  <a:txBody>
                    <a:bodyPr/>
                    <a:lstStyle/>
                    <a:p>
                      <a:pPr algn="l"/>
                      <a:r>
                        <a:rPr sz="1200" b="0">
                          <a:solidFill>
                            <a:srgbClr val="1A1A2E"/>
                          </a:solidFill>
                          <a:latin typeface="游ゴシック"/>
                        </a:rPr>
                        <a:t>MicroSD を PC へ挿入</a:t>
                      </a:r>
                    </a:p>
                  </a:txBody>
                  <a:tcPr>
                    <a:solidFill>
                      <a:srgbClr val="F4F4F4"/>
                    </a:solidFill>
                  </a:tcPr>
                </a:tc>
                <a:tc>
                  <a:txBody>
                    <a:bodyPr/>
                    <a:lstStyle/>
                    <a:p>
                      <a:pPr algn="l"/>
                      <a:r>
                        <a:rPr sz="1200" b="0">
                          <a:solidFill>
                            <a:srgbClr val="1A1A2E"/>
                          </a:solidFill>
                          <a:latin typeface="游ゴシック"/>
                        </a:rPr>
                        <a:t>カードリーダー経由</a:t>
                      </a:r>
                    </a:p>
                  </a:txBody>
                  <a:tcPr>
                    <a:solidFill>
                      <a:srgbClr val="F4F4F4"/>
                    </a:solidFill>
                  </a:tcPr>
                </a:tc>
              </a:tr>
              <a:tr h="457200">
                <a:tc>
                  <a:txBody>
                    <a:bodyPr/>
                    <a:lstStyle/>
                    <a:p>
                      <a:pPr algn="l"/>
                      <a:r>
                        <a:rPr sz="1200" b="0">
                          <a:solidFill>
                            <a:srgbClr val="1A1A2E"/>
                          </a:solidFill>
                          <a:latin typeface="游ゴシック"/>
                        </a:rPr>
                        <a:t>③</a:t>
                      </a:r>
                    </a:p>
                  </a:txBody>
                  <a:tcPr>
                    <a:solidFill>
                      <a:srgbClr val="FFFFFF"/>
                    </a:solidFill>
                  </a:tcPr>
                </a:tc>
                <a:tc>
                  <a:txBody>
                    <a:bodyPr/>
                    <a:lstStyle/>
                    <a:p>
                      <a:pPr algn="l"/>
                      <a:r>
                        <a:rPr sz="1200" b="0">
                          <a:solidFill>
                            <a:srgbClr val="1A1A2E"/>
                          </a:solidFill>
                          <a:latin typeface="游ゴシック"/>
                        </a:rPr>
                        <a:t>DATA_0000.csv を Excel で開く</a:t>
                      </a:r>
                    </a:p>
                  </a:txBody>
                  <a:tcPr>
                    <a:solidFill>
                      <a:srgbClr val="FFFFFF"/>
                    </a:solidFill>
                  </a:tcPr>
                </a:tc>
                <a:tc>
                  <a:txBody>
                    <a:bodyPr/>
                    <a:lstStyle/>
                    <a:p>
                      <a:pPr algn="l"/>
                      <a:r>
                        <a:rPr sz="1200" b="0">
                          <a:solidFill>
                            <a:srgbClr val="1A1A2E"/>
                          </a:solidFill>
                          <a:latin typeface="游ゴシック"/>
                        </a:rPr>
                        <a:t>[ファイル→開く] でカンマ区切り選択</a:t>
                      </a:r>
                    </a:p>
                  </a:txBody>
                  <a:tcPr>
                    <a:solidFill>
                      <a:srgbClr val="FFFFFF"/>
                    </a:solidFill>
                  </a:tcPr>
                </a:tc>
              </a:tr>
              <a:tr h="457200">
                <a:tc>
                  <a:txBody>
                    <a:bodyPr/>
                    <a:lstStyle/>
                    <a:p>
                      <a:pPr algn="l"/>
                      <a:r>
                        <a:rPr sz="1200" b="0">
                          <a:solidFill>
                            <a:srgbClr val="1A1A2E"/>
                          </a:solidFill>
                          <a:latin typeface="游ゴシック"/>
                        </a:rPr>
                        <a:t>④</a:t>
                      </a:r>
                    </a:p>
                  </a:txBody>
                  <a:tcPr>
                    <a:solidFill>
                      <a:srgbClr val="F4F4F4"/>
                    </a:solidFill>
                  </a:tcPr>
                </a:tc>
                <a:tc>
                  <a:txBody>
                    <a:bodyPr/>
                    <a:lstStyle/>
                    <a:p>
                      <a:pPr algn="l"/>
                      <a:r>
                        <a:rPr sz="1200" b="0">
                          <a:solidFill>
                            <a:srgbClr val="1A1A2E"/>
                          </a:solidFill>
                          <a:latin typeface="游ゴシック"/>
                        </a:rPr>
                        <a:t>ElapsedSec 列を横軸に折れ線グラフ</a:t>
                      </a:r>
                    </a:p>
                  </a:txBody>
                  <a:tcPr>
                    <a:solidFill>
                      <a:srgbClr val="F4F4F4"/>
                    </a:solidFill>
                  </a:tcPr>
                </a:tc>
                <a:tc>
                  <a:txBody>
                    <a:bodyPr/>
                    <a:lstStyle/>
                    <a:p>
                      <a:pPr algn="l"/>
                      <a:r>
                        <a:rPr sz="1200" b="0">
                          <a:solidFill>
                            <a:srgbClr val="1A1A2E"/>
                          </a:solidFill>
                          <a:latin typeface="游ゴシック"/>
                        </a:rPr>
                        <a:t>Temp_C, Average_C を Y 軸に追加</a:t>
                      </a:r>
                    </a:p>
                  </a:txBody>
                  <a:tcPr>
                    <a:solidFill>
                      <a:srgbClr val="F4F4F4"/>
                    </a:solidFill>
                  </a:tcPr>
                </a:tc>
              </a:tr>
              <a:tr h="457200">
                <a:tc>
                  <a:txBody>
                    <a:bodyPr/>
                    <a:lstStyle/>
                    <a:p>
                      <a:pPr algn="l"/>
                      <a:r>
                        <a:rPr sz="1200" b="0">
                          <a:solidFill>
                            <a:srgbClr val="1A1A2E"/>
                          </a:solidFill>
                          <a:latin typeface="游ゴシック"/>
                        </a:rPr>
                        <a:t>⑤</a:t>
                      </a:r>
                    </a:p>
                  </a:txBody>
                  <a:tcPr>
                    <a:solidFill>
                      <a:srgbClr val="FFFFFF"/>
                    </a:solidFill>
                  </a:tcPr>
                </a:tc>
                <a:tc>
                  <a:txBody>
                    <a:bodyPr/>
                    <a:lstStyle/>
                    <a:p>
                      <a:pPr algn="l"/>
                      <a:r>
                        <a:rPr sz="1200" b="0">
                          <a:solidFill>
                            <a:srgbClr val="1A1A2E"/>
                          </a:solidFill>
                          <a:latin typeface="游ゴシック"/>
                        </a:rPr>
                        <a:t>HI_ALARM = "true" の行を条件付き書式</a:t>
                      </a:r>
                    </a:p>
                  </a:txBody>
                  <a:tcPr>
                    <a:solidFill>
                      <a:srgbClr val="FFFFFF"/>
                    </a:solidFill>
                  </a:tcPr>
                </a:tc>
                <a:tc>
                  <a:txBody>
                    <a:bodyPr/>
                    <a:lstStyle/>
                    <a:p>
                      <a:pPr algn="l"/>
                      <a:r>
                        <a:rPr sz="1200" b="0">
                          <a:solidFill>
                            <a:srgbClr val="1A1A2E"/>
                          </a:solidFill>
                          <a:latin typeface="游ゴシック"/>
                        </a:rPr>
                        <a:t>赤背景でハイライト表示</a:t>
                      </a:r>
                    </a:p>
                  </a:txBody>
                  <a:tcPr>
                    <a:solidFill>
                      <a:srgbClr val="FFFFFF"/>
                    </a:solidFill>
                  </a:tcPr>
                </a:tc>
              </a:tr>
            </a:tbl>
          </a:graphicData>
        </a:graphic>
      </p:graphicFrame>
      <p:sp>
        <p:nvSpPr>
          <p:cNvPr id="9" name="Rectangle 8"/>
          <p:cNvSpPr/>
          <p:nvPr/>
        </p:nvSpPr>
        <p:spPr>
          <a:xfrm>
            <a:off x="320040" y="4389120"/>
            <a:ext cx="11521440" cy="1463040"/>
          </a:xfrm>
          <a:prstGeom prst="rect">
            <a:avLst/>
          </a:prstGeom>
          <a:solidFill>
            <a:srgbClr val="F4F4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02920" y="4480560"/>
            <a:ext cx="11155680" cy="1280160"/>
          </a:xfrm>
          <a:prstGeom prst="rect">
            <a:avLst/>
          </a:prstGeom>
          <a:noFill/>
        </p:spPr>
        <p:txBody>
          <a:bodyPr wrap="square">
            <a:spAutoFit/>
          </a:bodyPr>
          <a:lstStyle/>
          <a:p>
            <a:pPr algn="l"/>
            <a:r>
              <a:rPr sz="1300" b="0" i="0">
                <a:solidFill>
                  <a:srgbClr val="1A1A2E"/>
                </a:solidFill>
                <a:latin typeface="游ゴシック"/>
              </a:rPr>
              <a:t>・StdDev と Range を見ることで温度ばらつきの傾向が分かる</a:t>
            </a:r>
          </a:p>
          <a:p>
            <a:pPr algn="l"/>
            <a:r>
              <a:rPr sz="1300" b="0" i="0">
                <a:solidFill>
                  <a:srgbClr val="1A1A2E"/>
                </a:solidFill>
                <a:latin typeface="游ゴシック"/>
              </a:rPr>
              <a:t>・ファイルは毎計測ごとに連番で新規作成されるため上書きによるデータ消失なし</a:t>
            </a:r>
          </a:p>
          <a:p>
            <a:pPr algn="l"/>
            <a:r>
              <a:rPr sz="1300" b="0" i="0">
                <a:solidFill>
                  <a:srgbClr val="1A1A2E"/>
                </a:solidFill>
                <a:latin typeface="游ゴシック"/>
              </a:rPr>
              <a:t>・NaN 値（センサ異常時）は Excel フィルタで除外可能</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914400"/>
          </a:xfrm>
          <a:prstGeom prst="rect">
            <a:avLst/>
          </a:prstGeom>
          <a:solidFill>
            <a:srgbClr val="0D477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73152"/>
            <a:ext cx="11430000" cy="502920"/>
          </a:xfrm>
          <a:prstGeom prst="rect">
            <a:avLst/>
          </a:prstGeom>
          <a:noFill/>
        </p:spPr>
        <p:txBody>
          <a:bodyPr wrap="square">
            <a:spAutoFit/>
          </a:bodyPr>
          <a:lstStyle/>
          <a:p>
            <a:pPr algn="l"/>
            <a:r>
              <a:rPr sz="2400" b="1" i="0">
                <a:solidFill>
                  <a:srgbClr val="FFFFFF"/>
                </a:solidFill>
                <a:latin typeface="Segoe UI"/>
              </a:rPr>
              <a:t>技術詳細 — タスク設計（3 タスク周期分割）</a:t>
            </a:r>
          </a:p>
        </p:txBody>
      </p:sp>
      <p:sp>
        <p:nvSpPr>
          <p:cNvPr id="4" name="TextBox 3"/>
          <p:cNvSpPr txBox="1"/>
          <p:nvPr/>
        </p:nvSpPr>
        <p:spPr>
          <a:xfrm>
            <a:off x="274320" y="594360"/>
            <a:ext cx="11430000" cy="274320"/>
          </a:xfrm>
          <a:prstGeom prst="rect">
            <a:avLst/>
          </a:prstGeom>
          <a:noFill/>
        </p:spPr>
        <p:txBody>
          <a:bodyPr wrap="square">
            <a:spAutoFit/>
          </a:bodyPr>
          <a:lstStyle/>
          <a:p>
            <a:pPr algn="l"/>
            <a:r>
              <a:rPr sz="1200" b="0" i="0">
                <a:solidFill>
                  <a:srgbClr val="FF6D00"/>
                </a:solidFill>
                <a:latin typeface="游ゴシック"/>
              </a:rPr>
              <a:t>Section 6  技術詳細</a:t>
            </a:r>
          </a:p>
        </p:txBody>
      </p:sp>
      <p:sp>
        <p:nvSpPr>
          <p:cNvPr id="5" name="Rectangle 4"/>
          <p:cNvSpPr/>
          <p:nvPr/>
        </p:nvSpPr>
        <p:spPr>
          <a:xfrm>
            <a:off x="0" y="6309360"/>
            <a:ext cx="12188952" cy="548640"/>
          </a:xfrm>
          <a:prstGeom prst="rect">
            <a:avLst/>
          </a:prstGeom>
          <a:solidFill>
            <a:srgbClr val="0D477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74320" y="6336792"/>
            <a:ext cx="7315200" cy="320040"/>
          </a:xfrm>
          <a:prstGeom prst="rect">
            <a:avLst/>
          </a:prstGeom>
          <a:noFill/>
        </p:spPr>
        <p:txBody>
          <a:bodyPr wrap="square">
            <a:spAutoFit/>
          </a:bodyPr>
          <a:lstStyle/>
          <a:p>
            <a:pPr algn="l"/>
            <a:r>
              <a:rPr sz="1100" b="0" i="0">
                <a:solidFill>
                  <a:srgbClr val="FF6D00"/>
                </a:solidFill>
                <a:latin typeface="Segoe UI"/>
              </a:rPr>
              <a:t>Simple Temperature Evaluation Tool</a:t>
            </a:r>
          </a:p>
        </p:txBody>
      </p:sp>
      <p:sp>
        <p:nvSpPr>
          <p:cNvPr id="7" name="TextBox 6"/>
          <p:cNvSpPr txBox="1"/>
          <p:nvPr/>
        </p:nvSpPr>
        <p:spPr>
          <a:xfrm>
            <a:off x="10515600" y="6336792"/>
            <a:ext cx="1371600" cy="320040"/>
          </a:xfrm>
          <a:prstGeom prst="rect">
            <a:avLst/>
          </a:prstGeom>
          <a:noFill/>
        </p:spPr>
        <p:txBody>
          <a:bodyPr wrap="square">
            <a:spAutoFit/>
          </a:bodyPr>
          <a:lstStyle/>
          <a:p>
            <a:pPr algn="r"/>
            <a:r>
              <a:rPr sz="1100" b="0" i="0">
                <a:solidFill>
                  <a:srgbClr val="FFFFFF"/>
                </a:solidFill>
                <a:latin typeface="Segoe UI"/>
              </a:rPr>
              <a:t>17</a:t>
            </a:r>
          </a:p>
        </p:txBody>
      </p:sp>
      <p:sp>
        <p:nvSpPr>
          <p:cNvPr id="8" name="TextBox 7"/>
          <p:cNvSpPr txBox="1"/>
          <p:nvPr/>
        </p:nvSpPr>
        <p:spPr>
          <a:xfrm>
            <a:off x="320040" y="1051560"/>
            <a:ext cx="11521440" cy="411480"/>
          </a:xfrm>
          <a:prstGeom prst="rect">
            <a:avLst/>
          </a:prstGeom>
          <a:noFill/>
        </p:spPr>
        <p:txBody>
          <a:bodyPr wrap="square">
            <a:spAutoFit/>
          </a:bodyPr>
          <a:lstStyle/>
          <a:p>
            <a:pPr algn="l"/>
            <a:r>
              <a:rPr sz="1300" b="0" i="0">
                <a:solidFill>
                  <a:srgbClr val="1A1A2E"/>
                </a:solidFill>
                <a:latin typeface="游ゴシック"/>
              </a:rPr>
              <a:t>loop() 内で millis() のオーバーフロー安全な計算（unsigned 演算）で 3 つの独立した周期タスクを実現。スレッドなし・RTOS なし。</a:t>
            </a:r>
          </a:p>
        </p:txBody>
      </p:sp>
      <p:sp>
        <p:nvSpPr>
          <p:cNvPr id="9" name="Rectangle 8"/>
          <p:cNvSpPr/>
          <p:nvPr/>
        </p:nvSpPr>
        <p:spPr>
          <a:xfrm>
            <a:off x="320040" y="1554480"/>
            <a:ext cx="3566160" cy="4206240"/>
          </a:xfrm>
          <a:prstGeom prst="rect">
            <a:avLst/>
          </a:prstGeom>
          <a:solidFill>
            <a:srgbClr val="FFFFFF"/>
          </a:solidFill>
          <a:ln w="19050">
            <a:solidFill>
              <a:srgbClr val="0D477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320040" y="1554480"/>
            <a:ext cx="3566160" cy="64008"/>
          </a:xfrm>
          <a:prstGeom prst="rect">
            <a:avLst/>
          </a:prstGeom>
          <a:solidFill>
            <a:srgbClr val="FF6D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11480" y="1664208"/>
            <a:ext cx="3383280" cy="457200"/>
          </a:xfrm>
          <a:prstGeom prst="rect">
            <a:avLst/>
          </a:prstGeom>
          <a:noFill/>
        </p:spPr>
        <p:txBody>
          <a:bodyPr wrap="square">
            <a:spAutoFit/>
          </a:bodyPr>
          <a:lstStyle/>
          <a:p>
            <a:pPr algn="ctr"/>
            <a:r>
              <a:rPr sz="1800" b="1" i="0">
                <a:solidFill>
                  <a:srgbClr val="0D477F"/>
                </a:solidFill>
                <a:latin typeface="Segoe UI"/>
              </a:rPr>
              <a:t>IO_Task</a:t>
            </a:r>
          </a:p>
        </p:txBody>
      </p:sp>
      <p:sp>
        <p:nvSpPr>
          <p:cNvPr id="12" name="TextBox 11"/>
          <p:cNvSpPr txBox="1"/>
          <p:nvPr/>
        </p:nvSpPr>
        <p:spPr>
          <a:xfrm>
            <a:off x="411480" y="2148840"/>
            <a:ext cx="3383280" cy="365760"/>
          </a:xfrm>
          <a:prstGeom prst="rect">
            <a:avLst/>
          </a:prstGeom>
          <a:noFill/>
        </p:spPr>
        <p:txBody>
          <a:bodyPr wrap="square">
            <a:spAutoFit/>
          </a:bodyPr>
          <a:lstStyle/>
          <a:p>
            <a:pPr algn="ctr"/>
            <a:r>
              <a:rPr sz="1400" b="1" i="0">
                <a:solidFill>
                  <a:srgbClr val="FF6D00"/>
                </a:solidFill>
                <a:latin typeface="Segoe UI"/>
              </a:rPr>
              <a:t>10 ms</a:t>
            </a:r>
          </a:p>
        </p:txBody>
      </p:sp>
      <p:sp>
        <p:nvSpPr>
          <p:cNvPr id="13" name="TextBox 12"/>
          <p:cNvSpPr txBox="1"/>
          <p:nvPr/>
        </p:nvSpPr>
        <p:spPr>
          <a:xfrm>
            <a:off x="411480" y="2514600"/>
            <a:ext cx="3383280" cy="274320"/>
          </a:xfrm>
          <a:prstGeom prst="rect">
            <a:avLst/>
          </a:prstGeom>
          <a:noFill/>
        </p:spPr>
        <p:txBody>
          <a:bodyPr wrap="square">
            <a:spAutoFit/>
          </a:bodyPr>
          <a:lstStyle/>
          <a:p>
            <a:pPr algn="ctr"/>
            <a:r>
              <a:rPr sz="1200" b="0" i="0">
                <a:solidFill>
                  <a:srgbClr val="27AE60"/>
                </a:solidFill>
                <a:latin typeface="游ゴシック"/>
              </a:rPr>
              <a:t>実行余裕: 95%</a:t>
            </a:r>
          </a:p>
        </p:txBody>
      </p:sp>
      <p:sp>
        <p:nvSpPr>
          <p:cNvPr id="14" name="TextBox 13"/>
          <p:cNvSpPr txBox="1"/>
          <p:nvPr/>
        </p:nvSpPr>
        <p:spPr>
          <a:xfrm>
            <a:off x="457200" y="2852928"/>
            <a:ext cx="3291840" cy="2651760"/>
          </a:xfrm>
          <a:prstGeom prst="rect">
            <a:avLst/>
          </a:prstGeom>
          <a:noFill/>
        </p:spPr>
        <p:txBody>
          <a:bodyPr wrap="square">
            <a:spAutoFit/>
          </a:bodyPr>
          <a:lstStyle/>
          <a:p>
            <a:pPr algn="l"/>
            <a:r>
              <a:rPr sz="1200" b="0" i="0">
                <a:solidFill>
                  <a:srgbClr val="1A1A2E"/>
                </a:solidFill>
                <a:latin typeface="游ゴシック"/>
              </a:rPr>
              <a:t>・MAX31855 センサ読取</a:t>
            </a:r>
          </a:p>
          <a:p>
            <a:pPr algn="l"/>
            <a:r>
              <a:rPr sz="1200" b="0" i="0">
                <a:solidFill>
                  <a:srgbClr val="1A1A2E"/>
                </a:solidFill>
                <a:latin typeface="游ゴシック"/>
              </a:rPr>
              <a:t>・（実際は 500ms 毎）</a:t>
            </a:r>
          </a:p>
          <a:p>
            <a:pPr algn="l"/>
            <a:r>
              <a:rPr sz="1200" b="0" i="0">
                <a:solidFill>
                  <a:srgbClr val="1A1A2E"/>
                </a:solidFill>
                <a:latin typeface="游ゴシック"/>
              </a:rPr>
              <a:t>・LPF フィルタ適用 (α=0.1)</a:t>
            </a:r>
          </a:p>
          <a:p>
            <a:pPr algn="l"/>
            <a:r>
              <a:rPr sz="1200" b="0" i="0">
                <a:solidFill>
                  <a:srgbClr val="1A1A2E"/>
                </a:solidFill>
                <a:latin typeface="游ゴシック"/>
              </a:rPr>
              <a:t>・BtnA/B/C エッジ検出</a:t>
            </a:r>
          </a:p>
          <a:p>
            <a:pPr algn="l"/>
            <a:r>
              <a:rPr sz="1200" b="0" i="0">
                <a:solidFill>
                  <a:srgbClr val="1A1A2E"/>
                </a:solidFill>
                <a:latin typeface="游ゴシック"/>
              </a:rPr>
              <a:t>・ヒステリシス付きアラーム判定</a:t>
            </a:r>
          </a:p>
          <a:p>
            <a:pPr algn="l"/>
            <a:r>
              <a:rPr sz="1200" b="0" i="0">
                <a:solidFill>
                  <a:srgbClr val="1A1A2E"/>
                </a:solidFill>
                <a:latin typeface="游ゴシック"/>
              </a:rPr>
              <a:t>・SD カード書込 (10サンプル毎)</a:t>
            </a:r>
          </a:p>
        </p:txBody>
      </p:sp>
      <p:sp>
        <p:nvSpPr>
          <p:cNvPr id="15" name="Rectangle 14"/>
          <p:cNvSpPr/>
          <p:nvPr/>
        </p:nvSpPr>
        <p:spPr>
          <a:xfrm>
            <a:off x="4160520" y="1554480"/>
            <a:ext cx="3566160" cy="4206240"/>
          </a:xfrm>
          <a:prstGeom prst="rect">
            <a:avLst/>
          </a:prstGeom>
          <a:solidFill>
            <a:srgbClr val="FFFFFF"/>
          </a:solidFill>
          <a:ln w="19050">
            <a:solidFill>
              <a:srgbClr val="0D477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160520" y="1554480"/>
            <a:ext cx="3566160" cy="64008"/>
          </a:xfrm>
          <a:prstGeom prst="rect">
            <a:avLst/>
          </a:prstGeom>
          <a:solidFill>
            <a:srgbClr val="FF6D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251960" y="1664208"/>
            <a:ext cx="3383280" cy="457200"/>
          </a:xfrm>
          <a:prstGeom prst="rect">
            <a:avLst/>
          </a:prstGeom>
          <a:noFill/>
        </p:spPr>
        <p:txBody>
          <a:bodyPr wrap="square">
            <a:spAutoFit/>
          </a:bodyPr>
          <a:lstStyle/>
          <a:p>
            <a:pPr algn="ctr"/>
            <a:r>
              <a:rPr sz="1800" b="1" i="0">
                <a:solidFill>
                  <a:srgbClr val="0D477F"/>
                </a:solidFill>
                <a:latin typeface="Segoe UI"/>
              </a:rPr>
              <a:t>Logic_Task</a:t>
            </a:r>
          </a:p>
        </p:txBody>
      </p:sp>
      <p:sp>
        <p:nvSpPr>
          <p:cNvPr id="18" name="TextBox 17"/>
          <p:cNvSpPr txBox="1"/>
          <p:nvPr/>
        </p:nvSpPr>
        <p:spPr>
          <a:xfrm>
            <a:off x="4251960" y="2148840"/>
            <a:ext cx="3383280" cy="365760"/>
          </a:xfrm>
          <a:prstGeom prst="rect">
            <a:avLst/>
          </a:prstGeom>
          <a:noFill/>
        </p:spPr>
        <p:txBody>
          <a:bodyPr wrap="square">
            <a:spAutoFit/>
          </a:bodyPr>
          <a:lstStyle/>
          <a:p>
            <a:pPr algn="ctr"/>
            <a:r>
              <a:rPr sz="1400" b="1" i="0">
                <a:solidFill>
                  <a:srgbClr val="FF6D00"/>
                </a:solidFill>
                <a:latin typeface="Segoe UI"/>
              </a:rPr>
              <a:t>50 ms</a:t>
            </a:r>
          </a:p>
        </p:txBody>
      </p:sp>
      <p:sp>
        <p:nvSpPr>
          <p:cNvPr id="19" name="TextBox 18"/>
          <p:cNvSpPr txBox="1"/>
          <p:nvPr/>
        </p:nvSpPr>
        <p:spPr>
          <a:xfrm>
            <a:off x="4251960" y="2514600"/>
            <a:ext cx="3383280" cy="274320"/>
          </a:xfrm>
          <a:prstGeom prst="rect">
            <a:avLst/>
          </a:prstGeom>
          <a:noFill/>
        </p:spPr>
        <p:txBody>
          <a:bodyPr wrap="square">
            <a:spAutoFit/>
          </a:bodyPr>
          <a:lstStyle/>
          <a:p>
            <a:pPr algn="ctr"/>
            <a:r>
              <a:rPr sz="1200" b="0" i="0">
                <a:solidFill>
                  <a:srgbClr val="27AE60"/>
                </a:solidFill>
                <a:latin typeface="游ゴシック"/>
              </a:rPr>
              <a:t>実行余裕: 98%</a:t>
            </a:r>
          </a:p>
        </p:txBody>
      </p:sp>
      <p:sp>
        <p:nvSpPr>
          <p:cNvPr id="20" name="TextBox 19"/>
          <p:cNvSpPr txBox="1"/>
          <p:nvPr/>
        </p:nvSpPr>
        <p:spPr>
          <a:xfrm>
            <a:off x="4297680" y="2852928"/>
            <a:ext cx="3291840" cy="2651760"/>
          </a:xfrm>
          <a:prstGeom prst="rect">
            <a:avLst/>
          </a:prstGeom>
          <a:noFill/>
        </p:spPr>
        <p:txBody>
          <a:bodyPr wrap="square">
            <a:spAutoFit/>
          </a:bodyPr>
          <a:lstStyle/>
          <a:p>
            <a:pPr algn="l"/>
            <a:r>
              <a:rPr sz="1200" b="0" i="0">
                <a:solidFill>
                  <a:srgbClr val="1A1A2E"/>
                </a:solidFill>
                <a:latin typeface="游ゴシック"/>
              </a:rPr>
              <a:t>・Welford 法による逐次統計更新</a:t>
            </a:r>
          </a:p>
          <a:p>
            <a:pPr algn="l"/>
            <a:r>
              <a:rPr sz="1200" b="0" i="0">
                <a:solidFill>
                  <a:srgbClr val="1A1A2E"/>
                </a:solidFill>
                <a:latin typeface="游ゴシック"/>
              </a:rPr>
              <a:t>・BtnA/B/C イベント処理</a:t>
            </a:r>
          </a:p>
          <a:p>
            <a:pPr algn="l"/>
            <a:r>
              <a:rPr sz="1200" b="0" i="0">
                <a:solidFill>
                  <a:srgbClr val="1A1A2E"/>
                </a:solidFill>
                <a:latin typeface="游ゴシック"/>
              </a:rPr>
              <a:t>・状態遷移制御</a:t>
            </a:r>
          </a:p>
          <a:p>
            <a:pPr algn="l"/>
            <a:r>
              <a:rPr sz="1200" b="0" i="0">
                <a:solidFill>
                  <a:srgbClr val="1A1A2E"/>
                </a:solidFill>
                <a:latin typeface="游ゴシック"/>
              </a:rPr>
              <a:t>・EEPROM 保存処理</a:t>
            </a:r>
          </a:p>
        </p:txBody>
      </p:sp>
      <p:sp>
        <p:nvSpPr>
          <p:cNvPr id="21" name="Rectangle 20"/>
          <p:cNvSpPr/>
          <p:nvPr/>
        </p:nvSpPr>
        <p:spPr>
          <a:xfrm>
            <a:off x="8001000" y="1554480"/>
            <a:ext cx="3566160" cy="4206240"/>
          </a:xfrm>
          <a:prstGeom prst="rect">
            <a:avLst/>
          </a:prstGeom>
          <a:solidFill>
            <a:srgbClr val="FFFFFF"/>
          </a:solidFill>
          <a:ln w="19050">
            <a:solidFill>
              <a:srgbClr val="0D477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001000" y="1554480"/>
            <a:ext cx="3566160" cy="64008"/>
          </a:xfrm>
          <a:prstGeom prst="rect">
            <a:avLst/>
          </a:prstGeom>
          <a:solidFill>
            <a:srgbClr val="FF6D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092440" y="1664208"/>
            <a:ext cx="3383280" cy="457200"/>
          </a:xfrm>
          <a:prstGeom prst="rect">
            <a:avLst/>
          </a:prstGeom>
          <a:noFill/>
        </p:spPr>
        <p:txBody>
          <a:bodyPr wrap="square">
            <a:spAutoFit/>
          </a:bodyPr>
          <a:lstStyle/>
          <a:p>
            <a:pPr algn="ctr"/>
            <a:r>
              <a:rPr sz="1800" b="1" i="0">
                <a:solidFill>
                  <a:srgbClr val="0D477F"/>
                </a:solidFill>
                <a:latin typeface="Segoe UI"/>
              </a:rPr>
              <a:t>UI_Task</a:t>
            </a:r>
          </a:p>
        </p:txBody>
      </p:sp>
      <p:sp>
        <p:nvSpPr>
          <p:cNvPr id="24" name="TextBox 23"/>
          <p:cNvSpPr txBox="1"/>
          <p:nvPr/>
        </p:nvSpPr>
        <p:spPr>
          <a:xfrm>
            <a:off x="8092440" y="2148840"/>
            <a:ext cx="3383280" cy="365760"/>
          </a:xfrm>
          <a:prstGeom prst="rect">
            <a:avLst/>
          </a:prstGeom>
          <a:noFill/>
        </p:spPr>
        <p:txBody>
          <a:bodyPr wrap="square">
            <a:spAutoFit/>
          </a:bodyPr>
          <a:lstStyle/>
          <a:p>
            <a:pPr algn="ctr"/>
            <a:r>
              <a:rPr sz="1400" b="1" i="0">
                <a:solidFill>
                  <a:srgbClr val="FF6D00"/>
                </a:solidFill>
                <a:latin typeface="Segoe UI"/>
              </a:rPr>
              <a:t>200 ms</a:t>
            </a:r>
          </a:p>
        </p:txBody>
      </p:sp>
      <p:sp>
        <p:nvSpPr>
          <p:cNvPr id="25" name="TextBox 24"/>
          <p:cNvSpPr txBox="1"/>
          <p:nvPr/>
        </p:nvSpPr>
        <p:spPr>
          <a:xfrm>
            <a:off x="8092440" y="2514600"/>
            <a:ext cx="3383280" cy="274320"/>
          </a:xfrm>
          <a:prstGeom prst="rect">
            <a:avLst/>
          </a:prstGeom>
          <a:noFill/>
        </p:spPr>
        <p:txBody>
          <a:bodyPr wrap="square">
            <a:spAutoFit/>
          </a:bodyPr>
          <a:lstStyle/>
          <a:p>
            <a:pPr algn="ctr"/>
            <a:r>
              <a:rPr sz="1200" b="0" i="0">
                <a:solidFill>
                  <a:srgbClr val="27AE60"/>
                </a:solidFill>
                <a:latin typeface="游ゴシック"/>
              </a:rPr>
              <a:t>実行余裕: 97.5%</a:t>
            </a:r>
          </a:p>
        </p:txBody>
      </p:sp>
      <p:sp>
        <p:nvSpPr>
          <p:cNvPr id="26" name="TextBox 25"/>
          <p:cNvSpPr txBox="1"/>
          <p:nvPr/>
        </p:nvSpPr>
        <p:spPr>
          <a:xfrm>
            <a:off x="8138160" y="2852928"/>
            <a:ext cx="3291840" cy="2651760"/>
          </a:xfrm>
          <a:prstGeom prst="rect">
            <a:avLst/>
          </a:prstGeom>
          <a:noFill/>
        </p:spPr>
        <p:txBody>
          <a:bodyPr wrap="square">
            <a:spAutoFit/>
          </a:bodyPr>
          <a:lstStyle/>
          <a:p>
            <a:pPr algn="l"/>
            <a:r>
              <a:rPr sz="1200" b="0" i="0">
                <a:solidFill>
                  <a:srgbClr val="1A1A2E"/>
                </a:solidFill>
                <a:latin typeface="游ゴシック"/>
              </a:rPr>
              <a:t>・状態別 LCD 描画</a:t>
            </a:r>
          </a:p>
          <a:p>
            <a:pPr algn="l"/>
            <a:r>
              <a:rPr sz="1200" b="0" i="0">
                <a:solidFill>
                  <a:srgbClr val="1A1A2E"/>
                </a:solidFill>
                <a:latin typeface="游ゴシック"/>
              </a:rPr>
              <a:t>・差分更新（全画面消去は遷移時のみ）</a:t>
            </a:r>
          </a:p>
          <a:p>
            <a:pPr algn="l"/>
            <a:r>
              <a:rPr sz="1200" b="0" i="0">
                <a:solidFill>
                  <a:srgbClr val="1A1A2E"/>
                </a:solidFill>
                <a:latin typeface="游ゴシック"/>
              </a:rPr>
              <a:t>・RESULT 2 ページ描画</a:t>
            </a:r>
          </a:p>
          <a:p>
            <a:pPr algn="l"/>
            <a:r>
              <a:rPr sz="1200" b="0" i="0">
                <a:solidFill>
                  <a:srgbClr val="1A1A2E"/>
                </a:solidFill>
                <a:latin typeface="游ゴシック"/>
              </a:rPr>
              <a:t>・ALARM_SETTING HI/LO 描画</a:t>
            </a:r>
          </a:p>
        </p:txBody>
      </p:sp>
      <p:sp>
        <p:nvSpPr>
          <p:cNvPr id="27" name="TextBox 26"/>
          <p:cNvSpPr txBox="1"/>
          <p:nvPr/>
        </p:nvSpPr>
        <p:spPr>
          <a:xfrm>
            <a:off x="320040" y="5852160"/>
            <a:ext cx="11521440" cy="365760"/>
          </a:xfrm>
          <a:prstGeom prst="rect">
            <a:avLst/>
          </a:prstGeom>
          <a:noFill/>
        </p:spPr>
        <p:txBody>
          <a:bodyPr wrap="square">
            <a:spAutoFit/>
          </a:bodyPr>
          <a:lstStyle/>
          <a:p>
            <a:pPr algn="l"/>
            <a:r>
              <a:rPr sz="1200" b="0" i="0">
                <a:solidFill>
                  <a:srgbClr val="0D477F"/>
                </a:solidFill>
                <a:latin typeface="游ゴシック"/>
              </a:rPr>
              <a:t>IO_Task は 10ms で起動するが、センサ実読取は TC_READ_INTERVAL_MS = 500ms ごとに制限（MAX31855 変換完了待ち）</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914400"/>
          </a:xfrm>
          <a:prstGeom prst="rect">
            <a:avLst/>
          </a:prstGeom>
          <a:solidFill>
            <a:srgbClr val="0D477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73152"/>
            <a:ext cx="11430000" cy="502920"/>
          </a:xfrm>
          <a:prstGeom prst="rect">
            <a:avLst/>
          </a:prstGeom>
          <a:noFill/>
        </p:spPr>
        <p:txBody>
          <a:bodyPr wrap="square">
            <a:spAutoFit/>
          </a:bodyPr>
          <a:lstStyle/>
          <a:p>
            <a:pPr algn="l"/>
            <a:r>
              <a:rPr sz="2400" b="1" i="0">
                <a:solidFill>
                  <a:srgbClr val="FFFFFF"/>
                </a:solidFill>
                <a:latin typeface="Segoe UI"/>
              </a:rPr>
              <a:t>技術詳細 — センサ読取と LPF フィルタ</a:t>
            </a:r>
          </a:p>
        </p:txBody>
      </p:sp>
      <p:sp>
        <p:nvSpPr>
          <p:cNvPr id="4" name="TextBox 3"/>
          <p:cNvSpPr txBox="1"/>
          <p:nvPr/>
        </p:nvSpPr>
        <p:spPr>
          <a:xfrm>
            <a:off x="274320" y="594360"/>
            <a:ext cx="11430000" cy="274320"/>
          </a:xfrm>
          <a:prstGeom prst="rect">
            <a:avLst/>
          </a:prstGeom>
          <a:noFill/>
        </p:spPr>
        <p:txBody>
          <a:bodyPr wrap="square">
            <a:spAutoFit/>
          </a:bodyPr>
          <a:lstStyle/>
          <a:p>
            <a:pPr algn="l"/>
            <a:r>
              <a:rPr sz="1200" b="0" i="0">
                <a:solidFill>
                  <a:srgbClr val="FF6D00"/>
                </a:solidFill>
                <a:latin typeface="游ゴシック"/>
              </a:rPr>
              <a:t>Section 6  技術詳細</a:t>
            </a:r>
          </a:p>
        </p:txBody>
      </p:sp>
      <p:sp>
        <p:nvSpPr>
          <p:cNvPr id="5" name="Rectangle 4"/>
          <p:cNvSpPr/>
          <p:nvPr/>
        </p:nvSpPr>
        <p:spPr>
          <a:xfrm>
            <a:off x="0" y="6309360"/>
            <a:ext cx="12188952" cy="548640"/>
          </a:xfrm>
          <a:prstGeom prst="rect">
            <a:avLst/>
          </a:prstGeom>
          <a:solidFill>
            <a:srgbClr val="0D477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74320" y="6336792"/>
            <a:ext cx="7315200" cy="320040"/>
          </a:xfrm>
          <a:prstGeom prst="rect">
            <a:avLst/>
          </a:prstGeom>
          <a:noFill/>
        </p:spPr>
        <p:txBody>
          <a:bodyPr wrap="square">
            <a:spAutoFit/>
          </a:bodyPr>
          <a:lstStyle/>
          <a:p>
            <a:pPr algn="l"/>
            <a:r>
              <a:rPr sz="1100" b="0" i="0">
                <a:solidFill>
                  <a:srgbClr val="FF6D00"/>
                </a:solidFill>
                <a:latin typeface="Segoe UI"/>
              </a:rPr>
              <a:t>Simple Temperature Evaluation Tool</a:t>
            </a:r>
          </a:p>
        </p:txBody>
      </p:sp>
      <p:sp>
        <p:nvSpPr>
          <p:cNvPr id="7" name="TextBox 6"/>
          <p:cNvSpPr txBox="1"/>
          <p:nvPr/>
        </p:nvSpPr>
        <p:spPr>
          <a:xfrm>
            <a:off x="10515600" y="6336792"/>
            <a:ext cx="1371600" cy="320040"/>
          </a:xfrm>
          <a:prstGeom prst="rect">
            <a:avLst/>
          </a:prstGeom>
          <a:noFill/>
        </p:spPr>
        <p:txBody>
          <a:bodyPr wrap="square">
            <a:spAutoFit/>
          </a:bodyPr>
          <a:lstStyle/>
          <a:p>
            <a:pPr algn="r"/>
            <a:r>
              <a:rPr sz="1100" b="0" i="0">
                <a:solidFill>
                  <a:srgbClr val="FFFFFF"/>
                </a:solidFill>
                <a:latin typeface="Segoe UI"/>
              </a:rPr>
              <a:t>18</a:t>
            </a:r>
          </a:p>
        </p:txBody>
      </p:sp>
      <p:sp>
        <p:nvSpPr>
          <p:cNvPr id="8" name="TextBox 7"/>
          <p:cNvSpPr txBox="1"/>
          <p:nvPr/>
        </p:nvSpPr>
        <p:spPr>
          <a:xfrm>
            <a:off x="320040" y="1051560"/>
            <a:ext cx="5394960" cy="411480"/>
          </a:xfrm>
          <a:prstGeom prst="rect">
            <a:avLst/>
          </a:prstGeom>
          <a:noFill/>
        </p:spPr>
        <p:txBody>
          <a:bodyPr wrap="square">
            <a:spAutoFit/>
          </a:bodyPr>
          <a:lstStyle/>
          <a:p>
            <a:pPr algn="l"/>
            <a:r>
              <a:rPr sz="1600" b="1" i="0">
                <a:solidFill>
                  <a:srgbClr val="0D477F"/>
                </a:solidFill>
                <a:latin typeface="游ゴシック"/>
              </a:rPr>
              <a:t>センサ読取シーケンス</a:t>
            </a:r>
          </a:p>
        </p:txBody>
      </p:sp>
      <p:graphicFrame>
        <p:nvGraphicFramePr>
          <p:cNvPr id="9" name="Table 8"/>
          <p:cNvGraphicFramePr>
            <a:graphicFrameLocks noGrp="1"/>
          </p:cNvGraphicFramePr>
          <p:nvPr/>
        </p:nvGraphicFramePr>
        <p:xfrm>
          <a:off x="320040" y="1508760"/>
          <a:ext cx="5394960" cy="2578608"/>
        </p:xfrm>
        <a:graphic>
          <a:graphicData uri="http://schemas.openxmlformats.org/drawingml/2006/table">
            <a:tbl>
              <a:tblPr firstRow="1" bandRow="1">
                <a:tableStyleId>{5C22544A-7EE6-4342-B048-85BDC9FD1C3A}</a:tableStyleId>
              </a:tblPr>
              <a:tblGrid>
                <a:gridCol w="2011680"/>
                <a:gridCol w="3383280"/>
              </a:tblGrid>
              <a:tr h="429768">
                <a:tc>
                  <a:txBody>
                    <a:bodyPr/>
                    <a:lstStyle/>
                    <a:p>
                      <a:pPr algn="l"/>
                      <a:r>
                        <a:rPr sz="1300" b="1">
                          <a:solidFill>
                            <a:srgbClr val="FFFFFF"/>
                          </a:solidFill>
                          <a:latin typeface="Segoe UI"/>
                        </a:rPr>
                        <a:t>項目</a:t>
                      </a:r>
                    </a:p>
                  </a:txBody>
                  <a:tcPr>
                    <a:solidFill>
                      <a:srgbClr val="0D477F"/>
                    </a:solidFill>
                  </a:tcPr>
                </a:tc>
                <a:tc>
                  <a:txBody>
                    <a:bodyPr/>
                    <a:lstStyle/>
                    <a:p>
                      <a:pPr algn="l"/>
                      <a:r>
                        <a:rPr sz="1300" b="1">
                          <a:solidFill>
                            <a:srgbClr val="FFFFFF"/>
                          </a:solidFill>
                          <a:latin typeface="Segoe UI"/>
                        </a:rPr>
                        <a:t>値/内容</a:t>
                      </a:r>
                    </a:p>
                  </a:txBody>
                  <a:tcPr>
                    <a:solidFill>
                      <a:srgbClr val="0D477F"/>
                    </a:solidFill>
                  </a:tcPr>
                </a:tc>
              </a:tr>
              <a:tr h="429768">
                <a:tc>
                  <a:txBody>
                    <a:bodyPr/>
                    <a:lstStyle/>
                    <a:p>
                      <a:pPr algn="l"/>
                      <a:r>
                        <a:rPr sz="1200" b="0">
                          <a:solidFill>
                            <a:srgbClr val="1A1A2E"/>
                          </a:solidFill>
                          <a:latin typeface="游ゴシック"/>
                        </a:rPr>
                        <a:t>IC</a:t>
                      </a:r>
                    </a:p>
                  </a:txBody>
                  <a:tcPr>
                    <a:solidFill>
                      <a:srgbClr val="FFFFFF"/>
                    </a:solidFill>
                  </a:tcPr>
                </a:tc>
                <a:tc>
                  <a:txBody>
                    <a:bodyPr/>
                    <a:lstStyle/>
                    <a:p>
                      <a:pPr algn="l"/>
                      <a:r>
                        <a:rPr sz="1200" b="0">
                          <a:solidFill>
                            <a:srgbClr val="1A1A2E"/>
                          </a:solidFill>
                          <a:latin typeface="游ゴシック"/>
                        </a:rPr>
                        <a:t>Adafruit MAX31855</a:t>
                      </a:r>
                    </a:p>
                  </a:txBody>
                  <a:tcPr>
                    <a:solidFill>
                      <a:srgbClr val="FFFFFF"/>
                    </a:solidFill>
                  </a:tcPr>
                </a:tc>
              </a:tr>
              <a:tr h="429768">
                <a:tc>
                  <a:txBody>
                    <a:bodyPr/>
                    <a:lstStyle/>
                    <a:p>
                      <a:pPr algn="l"/>
                      <a:r>
                        <a:rPr sz="1200" b="0">
                          <a:solidFill>
                            <a:srgbClr val="1A1A2E"/>
                          </a:solidFill>
                          <a:latin typeface="游ゴシック"/>
                        </a:rPr>
                        <a:t>通信</a:t>
                      </a:r>
                    </a:p>
                  </a:txBody>
                  <a:tcPr>
                    <a:solidFill>
                      <a:srgbClr val="F4F4F4"/>
                    </a:solidFill>
                  </a:tcPr>
                </a:tc>
                <a:tc>
                  <a:txBody>
                    <a:bodyPr/>
                    <a:lstStyle/>
                    <a:p>
                      <a:pPr algn="l"/>
                      <a:r>
                        <a:rPr sz="1200" b="0">
                          <a:solidFill>
                            <a:srgbClr val="1A1A2E"/>
                          </a:solidFill>
                          <a:latin typeface="游ゴシック"/>
                        </a:rPr>
                        <a:t>ハードウェア SPI (SPI.h)</a:t>
                      </a:r>
                    </a:p>
                  </a:txBody>
                  <a:tcPr>
                    <a:solidFill>
                      <a:srgbClr val="F4F4F4"/>
                    </a:solidFill>
                  </a:tcPr>
                </a:tc>
              </a:tr>
              <a:tr h="429768">
                <a:tc>
                  <a:txBody>
                    <a:bodyPr/>
                    <a:lstStyle/>
                    <a:p>
                      <a:pPr algn="l"/>
                      <a:r>
                        <a:rPr sz="1200" b="0">
                          <a:solidFill>
                            <a:srgbClr val="1A1A2E"/>
                          </a:solidFill>
                          <a:latin typeface="游ゴシック"/>
                        </a:rPr>
                        <a:t>変換時間</a:t>
                      </a:r>
                    </a:p>
                  </a:txBody>
                  <a:tcPr>
                    <a:solidFill>
                      <a:srgbClr val="FFFFFF"/>
                    </a:solidFill>
                  </a:tcPr>
                </a:tc>
                <a:tc>
                  <a:txBody>
                    <a:bodyPr/>
                    <a:lstStyle/>
                    <a:p>
                      <a:pPr algn="l"/>
                      <a:r>
                        <a:rPr sz="1200" b="0">
                          <a:solidFill>
                            <a:srgbClr val="1A1A2E"/>
                          </a:solidFill>
                          <a:latin typeface="游ゴシック"/>
                        </a:rPr>
                        <a:t>最大 100ms (データシート)</a:t>
                      </a:r>
                    </a:p>
                  </a:txBody>
                  <a:tcPr>
                    <a:solidFill>
                      <a:srgbClr val="FFFFFF"/>
                    </a:solidFill>
                  </a:tcPr>
                </a:tc>
              </a:tr>
              <a:tr h="429768">
                <a:tc>
                  <a:txBody>
                    <a:bodyPr/>
                    <a:lstStyle/>
                    <a:p>
                      <a:pPr algn="l"/>
                      <a:r>
                        <a:rPr sz="1200" b="0">
                          <a:solidFill>
                            <a:srgbClr val="1A1A2E"/>
                          </a:solidFill>
                          <a:latin typeface="游ゴシック"/>
                        </a:rPr>
                        <a:t>読取間隔</a:t>
                      </a:r>
                    </a:p>
                  </a:txBody>
                  <a:tcPr>
                    <a:solidFill>
                      <a:srgbClr val="F4F4F4"/>
                    </a:solidFill>
                  </a:tcPr>
                </a:tc>
                <a:tc>
                  <a:txBody>
                    <a:bodyPr/>
                    <a:lstStyle/>
                    <a:p>
                      <a:pPr algn="l"/>
                      <a:r>
                        <a:rPr sz="1200" b="0">
                          <a:solidFill>
                            <a:srgbClr val="1A1A2E"/>
                          </a:solidFill>
                          <a:latin typeface="游ゴシック"/>
                        </a:rPr>
                        <a:t>500ms (TC_READ_INTERVAL_MS)</a:t>
                      </a:r>
                    </a:p>
                  </a:txBody>
                  <a:tcPr>
                    <a:solidFill>
                      <a:srgbClr val="F4F4F4"/>
                    </a:solidFill>
                  </a:tcPr>
                </a:tc>
              </a:tr>
              <a:tr h="429768">
                <a:tc>
                  <a:txBody>
                    <a:bodyPr/>
                    <a:lstStyle/>
                    <a:p>
                      <a:pPr algn="l"/>
                      <a:r>
                        <a:rPr sz="1200" b="0">
                          <a:solidFill>
                            <a:srgbClr val="1A1A2E"/>
                          </a:solidFill>
                          <a:latin typeface="游ゴシック"/>
                        </a:rPr>
                        <a:t>失敗時</a:t>
                      </a:r>
                    </a:p>
                  </a:txBody>
                  <a:tcPr>
                    <a:solidFill>
                      <a:srgbClr val="FFFFFF"/>
                    </a:solidFill>
                  </a:tcPr>
                </a:tc>
                <a:tc>
                  <a:txBody>
                    <a:bodyPr/>
                    <a:lstStyle/>
                    <a:p>
                      <a:pPr algn="l"/>
                      <a:r>
                        <a:rPr sz="1200" b="0">
                          <a:solidFill>
                            <a:srgbClr val="1A1A2E"/>
                          </a:solidFill>
                          <a:latin typeface="游ゴシック"/>
                        </a:rPr>
                        <a:t>最大 3 回リトライ (readThermocouple())</a:t>
                      </a:r>
                    </a:p>
                  </a:txBody>
                  <a:tcPr>
                    <a:solidFill>
                      <a:srgbClr val="FFFFFF"/>
                    </a:solidFill>
                  </a:tcPr>
                </a:tc>
              </a:tr>
            </a:tbl>
          </a:graphicData>
        </a:graphic>
      </p:graphicFrame>
      <p:sp>
        <p:nvSpPr>
          <p:cNvPr id="10" name="TextBox 9"/>
          <p:cNvSpPr txBox="1"/>
          <p:nvPr/>
        </p:nvSpPr>
        <p:spPr>
          <a:xfrm>
            <a:off x="5989320" y="1051560"/>
            <a:ext cx="5577840" cy="411480"/>
          </a:xfrm>
          <a:prstGeom prst="rect">
            <a:avLst/>
          </a:prstGeom>
          <a:noFill/>
        </p:spPr>
        <p:txBody>
          <a:bodyPr wrap="square">
            <a:spAutoFit/>
          </a:bodyPr>
          <a:lstStyle/>
          <a:p>
            <a:pPr algn="l"/>
            <a:r>
              <a:rPr sz="1600" b="1" i="0">
                <a:solidFill>
                  <a:srgbClr val="0D477F"/>
                </a:solidFill>
                <a:latin typeface="游ゴシック"/>
              </a:rPr>
              <a:t>LPF（1次遅れフィルタ）</a:t>
            </a:r>
          </a:p>
        </p:txBody>
      </p:sp>
      <p:sp>
        <p:nvSpPr>
          <p:cNvPr id="11" name="Rectangle 10"/>
          <p:cNvSpPr/>
          <p:nvPr/>
        </p:nvSpPr>
        <p:spPr>
          <a:xfrm>
            <a:off x="5989320" y="1508760"/>
            <a:ext cx="5577840" cy="1097280"/>
          </a:xfrm>
          <a:prstGeom prst="rect">
            <a:avLst/>
          </a:prstGeom>
          <a:solidFill>
            <a:srgbClr val="F4F4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26480" y="1600200"/>
            <a:ext cx="5303520" cy="914400"/>
          </a:xfrm>
          <a:prstGeom prst="rect">
            <a:avLst/>
          </a:prstGeom>
          <a:noFill/>
        </p:spPr>
        <p:txBody>
          <a:bodyPr wrap="square">
            <a:spAutoFit/>
          </a:bodyPr>
          <a:lstStyle/>
          <a:p>
            <a:pPr algn="ctr"/>
            <a:r>
              <a:rPr sz="1400" b="0" i="0">
                <a:solidFill>
                  <a:srgbClr val="1A1A2E"/>
                </a:solidFill>
                <a:latin typeface="Consolas"/>
              </a:rPr>
              <a:t>y[n] = y[n-1] × (1 − α) + x[n] × α</a:t>
            </a:r>
          </a:p>
          <a:p>
            <a:pPr algn="ctr"/>
            <a:r>
              <a:rPr sz="1400" b="0" i="0">
                <a:solidFill>
                  <a:srgbClr val="1A1A2E"/>
                </a:solidFill>
                <a:latin typeface="Consolas"/>
              </a:rPr>
              <a:t>α = FILTER_ALPHA = 0.1</a:t>
            </a:r>
          </a:p>
        </p:txBody>
      </p:sp>
      <p:graphicFrame>
        <p:nvGraphicFramePr>
          <p:cNvPr id="13" name="Table 12"/>
          <p:cNvGraphicFramePr>
            <a:graphicFrameLocks noGrp="1"/>
          </p:cNvGraphicFramePr>
          <p:nvPr/>
        </p:nvGraphicFramePr>
        <p:xfrm>
          <a:off x="5989320" y="2697480"/>
          <a:ext cx="5577840" cy="1719072"/>
        </p:xfrm>
        <a:graphic>
          <a:graphicData uri="http://schemas.openxmlformats.org/drawingml/2006/table">
            <a:tbl>
              <a:tblPr firstRow="1" bandRow="1">
                <a:tableStyleId>{5C22544A-7EE6-4342-B048-85BDC9FD1C3A}</a:tableStyleId>
              </a:tblPr>
              <a:tblGrid>
                <a:gridCol w="2286000"/>
                <a:gridCol w="3291840"/>
              </a:tblGrid>
              <a:tr h="429768">
                <a:tc>
                  <a:txBody>
                    <a:bodyPr/>
                    <a:lstStyle/>
                    <a:p>
                      <a:pPr algn="l"/>
                      <a:r>
                        <a:rPr sz="1300" b="1">
                          <a:solidFill>
                            <a:srgbClr val="FFFFFF"/>
                          </a:solidFill>
                          <a:latin typeface="Segoe UI"/>
                        </a:rPr>
                        <a:t>項目</a:t>
                      </a:r>
                    </a:p>
                  </a:txBody>
                  <a:tcPr>
                    <a:solidFill>
                      <a:srgbClr val="0D477F"/>
                    </a:solidFill>
                  </a:tcPr>
                </a:tc>
                <a:tc>
                  <a:txBody>
                    <a:bodyPr/>
                    <a:lstStyle/>
                    <a:p>
                      <a:pPr algn="l"/>
                      <a:r>
                        <a:rPr sz="1300" b="1">
                          <a:solidFill>
                            <a:srgbClr val="FFFFFF"/>
                          </a:solidFill>
                          <a:latin typeface="Segoe UI"/>
                        </a:rPr>
                        <a:t>値</a:t>
                      </a:r>
                    </a:p>
                  </a:txBody>
                  <a:tcPr>
                    <a:solidFill>
                      <a:srgbClr val="0D477F"/>
                    </a:solidFill>
                  </a:tcPr>
                </a:tc>
              </a:tr>
              <a:tr h="429768">
                <a:tc>
                  <a:txBody>
                    <a:bodyPr/>
                    <a:lstStyle/>
                    <a:p>
                      <a:pPr algn="l"/>
                      <a:r>
                        <a:rPr sz="1200" b="0">
                          <a:solidFill>
                            <a:srgbClr val="1A1A2E"/>
                          </a:solidFill>
                          <a:latin typeface="游ゴシック"/>
                        </a:rPr>
                        <a:t>収束サンプル数 (新値 90%)</a:t>
                      </a:r>
                    </a:p>
                  </a:txBody>
                  <a:tcPr>
                    <a:solidFill>
                      <a:srgbClr val="FFFFFF"/>
                    </a:solidFill>
                  </a:tcPr>
                </a:tc>
                <a:tc>
                  <a:txBody>
                    <a:bodyPr/>
                    <a:lstStyle/>
                    <a:p>
                      <a:pPr algn="l"/>
                      <a:r>
                        <a:rPr sz="1200" b="0">
                          <a:solidFill>
                            <a:srgbClr val="1A1A2E"/>
                          </a:solidFill>
                          <a:latin typeface="游ゴシック"/>
                        </a:rPr>
                        <a:t>約 22 サンプル（≈ 11 秒）</a:t>
                      </a:r>
                    </a:p>
                  </a:txBody>
                  <a:tcPr>
                    <a:solidFill>
                      <a:srgbClr val="FFFFFF"/>
                    </a:solidFill>
                  </a:tcPr>
                </a:tc>
              </a:tr>
              <a:tr h="429768">
                <a:tc>
                  <a:txBody>
                    <a:bodyPr/>
                    <a:lstStyle/>
                    <a:p>
                      <a:pPr algn="l"/>
                      <a:r>
                        <a:rPr sz="1200" b="0">
                          <a:solidFill>
                            <a:srgbClr val="1A1A2E"/>
                          </a:solidFill>
                          <a:latin typeface="游ゴシック"/>
                        </a:rPr>
                        <a:t>初回起動時</a:t>
                      </a:r>
                    </a:p>
                  </a:txBody>
                  <a:tcPr>
                    <a:solidFill>
                      <a:srgbClr val="F4F4F4"/>
                    </a:solidFill>
                  </a:tcPr>
                </a:tc>
                <a:tc>
                  <a:txBody>
                    <a:bodyPr/>
                    <a:lstStyle/>
                    <a:p>
                      <a:pPr algn="l"/>
                      <a:r>
                        <a:rPr sz="1200" b="0">
                          <a:solidFill>
                            <a:srgbClr val="1A1A2E"/>
                          </a:solidFill>
                          <a:latin typeface="游ゴシック"/>
                        </a:rPr>
                        <a:t>raw 値をそのまま初期値に設定 (NaN 収束待ち回避)</a:t>
                      </a:r>
                    </a:p>
                  </a:txBody>
                  <a:tcPr>
                    <a:solidFill>
                      <a:srgbClr val="F4F4F4"/>
                    </a:solidFill>
                  </a:tcPr>
                </a:tc>
              </a:tr>
              <a:tr h="429768">
                <a:tc>
                  <a:txBody>
                    <a:bodyPr/>
                    <a:lstStyle/>
                    <a:p>
                      <a:pPr algn="l"/>
                      <a:r>
                        <a:rPr sz="1200" b="0">
                          <a:solidFill>
                            <a:srgbClr val="1A1A2E"/>
                          </a:solidFill>
                          <a:latin typeface="游ゴシック"/>
                        </a:rPr>
                        <a:t>適用タイミング</a:t>
                      </a:r>
                    </a:p>
                  </a:txBody>
                  <a:tcPr>
                    <a:solidFill>
                      <a:srgbClr val="FFFFFF"/>
                    </a:solidFill>
                  </a:tcPr>
                </a:tc>
                <a:tc>
                  <a:txBody>
                    <a:bodyPr/>
                    <a:lstStyle/>
                    <a:p>
                      <a:pPr algn="l"/>
                      <a:r>
                        <a:rPr sz="1200" b="0">
                          <a:solidFill>
                            <a:srgbClr val="1A1A2E"/>
                          </a:solidFill>
                          <a:latin typeface="游ゴシック"/>
                        </a:rPr>
                        <a:t>新データ到着時のみ（同値での重複適用なし）</a:t>
                      </a:r>
                    </a:p>
                  </a:txBody>
                  <a:tcPr>
                    <a:solidFill>
                      <a:srgbClr val="FFFFFF"/>
                    </a:solidFill>
                  </a:tcPr>
                </a:tc>
              </a:tr>
            </a:tbl>
          </a:graphicData>
        </a:graphic>
      </p:graphicFrame>
      <p:sp>
        <p:nvSpPr>
          <p:cNvPr id="14" name="TextBox 13"/>
          <p:cNvSpPr txBox="1"/>
          <p:nvPr/>
        </p:nvSpPr>
        <p:spPr>
          <a:xfrm>
            <a:off x="320040" y="5760720"/>
            <a:ext cx="11521440" cy="365760"/>
          </a:xfrm>
          <a:prstGeom prst="rect">
            <a:avLst/>
          </a:prstGeom>
          <a:noFill/>
        </p:spPr>
        <p:txBody>
          <a:bodyPr wrap="square">
            <a:spAutoFit/>
          </a:bodyPr>
          <a:lstStyle/>
          <a:p>
            <a:pPr algn="l"/>
            <a:r>
              <a:rPr sz="1200" b="0" i="0">
                <a:solidFill>
                  <a:srgbClr val="999999"/>
                </a:solidFill>
                <a:latin typeface="游ゴシック"/>
              </a:rPr>
              <a:t>α=0.1 は実機検証と CSV データ分析で決定。値が大きいほど応答速、小さいほど平滑</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914400"/>
          </a:xfrm>
          <a:prstGeom prst="rect">
            <a:avLst/>
          </a:prstGeom>
          <a:solidFill>
            <a:srgbClr val="0D477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73152"/>
            <a:ext cx="11430000" cy="502920"/>
          </a:xfrm>
          <a:prstGeom prst="rect">
            <a:avLst/>
          </a:prstGeom>
          <a:noFill/>
        </p:spPr>
        <p:txBody>
          <a:bodyPr wrap="square">
            <a:spAutoFit/>
          </a:bodyPr>
          <a:lstStyle/>
          <a:p>
            <a:pPr algn="l"/>
            <a:r>
              <a:rPr sz="2400" b="1" i="0">
                <a:solidFill>
                  <a:srgbClr val="FFFFFF"/>
                </a:solidFill>
                <a:latin typeface="Segoe UI"/>
              </a:rPr>
              <a:t>技術詳細 — Welford 法による逐次統計</a:t>
            </a:r>
          </a:p>
        </p:txBody>
      </p:sp>
      <p:sp>
        <p:nvSpPr>
          <p:cNvPr id="4" name="TextBox 3"/>
          <p:cNvSpPr txBox="1"/>
          <p:nvPr/>
        </p:nvSpPr>
        <p:spPr>
          <a:xfrm>
            <a:off x="274320" y="594360"/>
            <a:ext cx="11430000" cy="274320"/>
          </a:xfrm>
          <a:prstGeom prst="rect">
            <a:avLst/>
          </a:prstGeom>
          <a:noFill/>
        </p:spPr>
        <p:txBody>
          <a:bodyPr wrap="square">
            <a:spAutoFit/>
          </a:bodyPr>
          <a:lstStyle/>
          <a:p>
            <a:pPr algn="l"/>
            <a:r>
              <a:rPr sz="1200" b="0" i="0">
                <a:solidFill>
                  <a:srgbClr val="FF6D00"/>
                </a:solidFill>
                <a:latin typeface="游ゴシック"/>
              </a:rPr>
              <a:t>Section 6  技術詳細</a:t>
            </a:r>
          </a:p>
        </p:txBody>
      </p:sp>
      <p:sp>
        <p:nvSpPr>
          <p:cNvPr id="5" name="Rectangle 4"/>
          <p:cNvSpPr/>
          <p:nvPr/>
        </p:nvSpPr>
        <p:spPr>
          <a:xfrm>
            <a:off x="0" y="6309360"/>
            <a:ext cx="12188952" cy="548640"/>
          </a:xfrm>
          <a:prstGeom prst="rect">
            <a:avLst/>
          </a:prstGeom>
          <a:solidFill>
            <a:srgbClr val="0D477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74320" y="6336792"/>
            <a:ext cx="7315200" cy="320040"/>
          </a:xfrm>
          <a:prstGeom prst="rect">
            <a:avLst/>
          </a:prstGeom>
          <a:noFill/>
        </p:spPr>
        <p:txBody>
          <a:bodyPr wrap="square">
            <a:spAutoFit/>
          </a:bodyPr>
          <a:lstStyle/>
          <a:p>
            <a:pPr algn="l"/>
            <a:r>
              <a:rPr sz="1100" b="0" i="0">
                <a:solidFill>
                  <a:srgbClr val="FF6D00"/>
                </a:solidFill>
                <a:latin typeface="Segoe UI"/>
              </a:rPr>
              <a:t>Simple Temperature Evaluation Tool</a:t>
            </a:r>
          </a:p>
        </p:txBody>
      </p:sp>
      <p:sp>
        <p:nvSpPr>
          <p:cNvPr id="7" name="TextBox 6"/>
          <p:cNvSpPr txBox="1"/>
          <p:nvPr/>
        </p:nvSpPr>
        <p:spPr>
          <a:xfrm>
            <a:off x="10515600" y="6336792"/>
            <a:ext cx="1371600" cy="320040"/>
          </a:xfrm>
          <a:prstGeom prst="rect">
            <a:avLst/>
          </a:prstGeom>
          <a:noFill/>
        </p:spPr>
        <p:txBody>
          <a:bodyPr wrap="square">
            <a:spAutoFit/>
          </a:bodyPr>
          <a:lstStyle/>
          <a:p>
            <a:pPr algn="r"/>
            <a:r>
              <a:rPr sz="1100" b="0" i="0">
                <a:solidFill>
                  <a:srgbClr val="FFFFFF"/>
                </a:solidFill>
                <a:latin typeface="Segoe UI"/>
              </a:rPr>
              <a:t>19</a:t>
            </a:r>
          </a:p>
        </p:txBody>
      </p:sp>
      <p:sp>
        <p:nvSpPr>
          <p:cNvPr id="8" name="TextBox 7"/>
          <p:cNvSpPr txBox="1"/>
          <p:nvPr/>
        </p:nvSpPr>
        <p:spPr>
          <a:xfrm>
            <a:off x="320040" y="1051560"/>
            <a:ext cx="6949440" cy="365760"/>
          </a:xfrm>
          <a:prstGeom prst="rect">
            <a:avLst/>
          </a:prstGeom>
          <a:noFill/>
        </p:spPr>
        <p:txBody>
          <a:bodyPr wrap="square">
            <a:spAutoFit/>
          </a:bodyPr>
          <a:lstStyle/>
          <a:p>
            <a:pPr algn="l"/>
            <a:r>
              <a:rPr sz="1600" b="1" i="0">
                <a:solidFill>
                  <a:srgbClr val="0D477F"/>
                </a:solidFill>
                <a:latin typeface="游ゴシック"/>
              </a:rPr>
              <a:t>Welford 法とは</a:t>
            </a:r>
          </a:p>
        </p:txBody>
      </p:sp>
      <p:sp>
        <p:nvSpPr>
          <p:cNvPr id="9" name="Rectangle 8"/>
          <p:cNvSpPr/>
          <p:nvPr/>
        </p:nvSpPr>
        <p:spPr>
          <a:xfrm>
            <a:off x="320040" y="1463040"/>
            <a:ext cx="6949440" cy="1645920"/>
          </a:xfrm>
          <a:prstGeom prst="rect">
            <a:avLst/>
          </a:prstGeom>
          <a:solidFill>
            <a:srgbClr val="F4F4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7200" y="1554480"/>
            <a:ext cx="6675120" cy="1463040"/>
          </a:xfrm>
          <a:prstGeom prst="rect">
            <a:avLst/>
          </a:prstGeom>
          <a:noFill/>
        </p:spPr>
        <p:txBody>
          <a:bodyPr wrap="square">
            <a:spAutoFit/>
          </a:bodyPr>
          <a:lstStyle/>
          <a:p>
            <a:pPr algn="l"/>
            <a:r>
              <a:rPr sz="1300" b="0" i="0">
                <a:solidFill>
                  <a:srgbClr val="1A1A2E"/>
                </a:solidFill>
                <a:latin typeface="游ゴシック"/>
              </a:rPr>
              <a:t>全データを保存せずに「1 サンプルずつ受け取るたびに」平均・分散・標準偏差を更新するアルゴリズム。メモリ O(1) で長時間計測に最適。</a:t>
            </a:r>
          </a:p>
        </p:txBody>
      </p:sp>
      <p:sp>
        <p:nvSpPr>
          <p:cNvPr id="11" name="Rectangle 10"/>
          <p:cNvSpPr/>
          <p:nvPr/>
        </p:nvSpPr>
        <p:spPr>
          <a:xfrm>
            <a:off x="320040" y="3200400"/>
            <a:ext cx="6949440" cy="2011680"/>
          </a:xfrm>
          <a:prstGeom prst="rect">
            <a:avLst/>
          </a:prstGeom>
          <a:solidFill>
            <a:srgbClr val="FFFFFF"/>
          </a:solidFill>
          <a:ln w="12700">
            <a:solidFill>
              <a:srgbClr val="0D477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7200" y="3273552"/>
            <a:ext cx="6675120" cy="347472"/>
          </a:xfrm>
          <a:prstGeom prst="rect">
            <a:avLst/>
          </a:prstGeom>
          <a:noFill/>
        </p:spPr>
        <p:txBody>
          <a:bodyPr wrap="square">
            <a:spAutoFit/>
          </a:bodyPr>
          <a:lstStyle/>
          <a:p>
            <a:pPr algn="l"/>
            <a:r>
              <a:rPr sz="1300" b="1" i="0">
                <a:solidFill>
                  <a:srgbClr val="0D477F"/>
                </a:solidFill>
                <a:latin typeface="游ゴシック"/>
              </a:rPr>
              <a:t>更新式（Logic_Task 内）</a:t>
            </a:r>
          </a:p>
        </p:txBody>
      </p:sp>
      <p:sp>
        <p:nvSpPr>
          <p:cNvPr id="13" name="TextBox 12"/>
          <p:cNvSpPr txBox="1"/>
          <p:nvPr/>
        </p:nvSpPr>
        <p:spPr>
          <a:xfrm>
            <a:off x="457200" y="3657600"/>
            <a:ext cx="6583680" cy="1463040"/>
          </a:xfrm>
          <a:prstGeom prst="rect">
            <a:avLst/>
          </a:prstGeom>
          <a:noFill/>
        </p:spPr>
        <p:txBody>
          <a:bodyPr wrap="square">
            <a:spAutoFit/>
          </a:bodyPr>
          <a:lstStyle/>
          <a:p>
            <a:pPr algn="l"/>
            <a:r>
              <a:rPr sz="1200" b="0" i="0">
                <a:solidFill>
                  <a:srgbClr val="1A1A2E"/>
                </a:solidFill>
                <a:latin typeface="Consolas"/>
              </a:rPr>
              <a:t>1. delta = x[n] - prevMean</a:t>
            </a:r>
          </a:p>
          <a:p>
            <a:pPr algn="l"/>
            <a:r>
              <a:rPr sz="1200" b="0" i="0">
                <a:solidFill>
                  <a:srgbClr val="1A1A2E"/>
                </a:solidFill>
                <a:latin typeface="Consolas"/>
              </a:rPr>
              <a:t>2. Sum  += x[n]</a:t>
            </a:r>
          </a:p>
          <a:p>
            <a:pPr algn="l"/>
            <a:r>
              <a:rPr sz="1200" b="0" i="0">
                <a:solidFill>
                  <a:srgbClr val="1A1A2E"/>
                </a:solidFill>
                <a:latin typeface="Consolas"/>
              </a:rPr>
              <a:t>3. newMean = Sum / Count</a:t>
            </a:r>
          </a:p>
          <a:p>
            <a:pPr algn="l"/>
            <a:r>
              <a:rPr sz="1200" b="0" i="0">
                <a:solidFill>
                  <a:srgbClr val="1A1A2E"/>
                </a:solidFill>
                <a:latin typeface="Consolas"/>
              </a:rPr>
              <a:t>4. delta2 = x[n] - newMean</a:t>
            </a:r>
          </a:p>
          <a:p>
            <a:pPr algn="l"/>
            <a:r>
              <a:rPr sz="1200" b="0" i="0">
                <a:solidFill>
                  <a:srgbClr val="1A1A2E"/>
                </a:solidFill>
                <a:latin typeface="Consolas"/>
              </a:rPr>
              <a:t>5. M2 += delta * delta2</a:t>
            </a:r>
          </a:p>
          <a:p>
            <a:pPr algn="l"/>
            <a:r>
              <a:rPr sz="1200" b="0" i="0">
                <a:solidFill>
                  <a:srgbClr val="1A1A2E"/>
                </a:solidFill>
                <a:latin typeface="Consolas"/>
              </a:rPr>
              <a:t>6. StdDev = sqrt(M2 / Count)</a:t>
            </a:r>
          </a:p>
        </p:txBody>
      </p:sp>
      <p:sp>
        <p:nvSpPr>
          <p:cNvPr id="14" name="Rectangle 13"/>
          <p:cNvSpPr/>
          <p:nvPr/>
        </p:nvSpPr>
        <p:spPr>
          <a:xfrm>
            <a:off x="7589520" y="1051560"/>
            <a:ext cx="4297680" cy="2743200"/>
          </a:xfrm>
          <a:prstGeom prst="rect">
            <a:avLst/>
          </a:prstGeom>
          <a:solidFill>
            <a:srgbClr val="FFFFFF"/>
          </a:solidFill>
          <a:ln w="1905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26679" y="1143000"/>
            <a:ext cx="4023360" cy="365760"/>
          </a:xfrm>
          <a:prstGeom prst="rect">
            <a:avLst/>
          </a:prstGeom>
          <a:noFill/>
        </p:spPr>
        <p:txBody>
          <a:bodyPr wrap="square">
            <a:spAutoFit/>
          </a:bodyPr>
          <a:lstStyle/>
          <a:p>
            <a:pPr algn="l"/>
            <a:r>
              <a:rPr sz="1500" b="1" i="0">
                <a:solidFill>
                  <a:srgbClr val="27AE60"/>
                </a:solidFill>
                <a:latin typeface="游ゴシック"/>
              </a:rPr>
              <a:t>採用理由</a:t>
            </a:r>
          </a:p>
        </p:txBody>
      </p:sp>
      <p:sp>
        <p:nvSpPr>
          <p:cNvPr id="16" name="TextBox 15"/>
          <p:cNvSpPr txBox="1"/>
          <p:nvPr/>
        </p:nvSpPr>
        <p:spPr>
          <a:xfrm>
            <a:off x="7726679" y="1600200"/>
            <a:ext cx="4023360" cy="2011680"/>
          </a:xfrm>
          <a:prstGeom prst="rect">
            <a:avLst/>
          </a:prstGeom>
          <a:noFill/>
        </p:spPr>
        <p:txBody>
          <a:bodyPr wrap="square">
            <a:spAutoFit/>
          </a:bodyPr>
          <a:lstStyle/>
          <a:p>
            <a:pPr algn="l"/>
            <a:r>
              <a:rPr sz="1300" b="0" i="0">
                <a:solidFill>
                  <a:srgbClr val="1A1A2E"/>
                </a:solidFill>
                <a:latin typeface="游ゴシック"/>
              </a:rPr>
              <a:t>・メモリ使用量 O(1)（計測時間に依存しない）</a:t>
            </a:r>
          </a:p>
          <a:p>
            <a:pPr algn="l"/>
            <a:r>
              <a:rPr sz="1300" b="0" i="0">
                <a:solidFill>
                  <a:srgbClr val="1A1A2E"/>
                </a:solidFill>
                <a:latin typeface="游ゴシック"/>
              </a:rPr>
              <a:t>・数値安定性: double 型で丸め誤差を最小化</a:t>
            </a:r>
          </a:p>
          <a:p>
            <a:pPr algn="l"/>
            <a:r>
              <a:rPr sz="1300" b="0" i="0">
                <a:solidFill>
                  <a:srgbClr val="1A1A2E"/>
                </a:solidFill>
                <a:latin typeface="游ゴシック"/>
              </a:rPr>
              <a:t>・リアルタイム更新可能（50ms 毎に再計算）</a:t>
            </a:r>
          </a:p>
          <a:p>
            <a:pPr algn="l"/>
            <a:r>
              <a:rPr sz="1300" b="0" i="0">
                <a:solidFill>
                  <a:srgbClr val="1A1A2E"/>
                </a:solidFill>
                <a:latin typeface="游ゴシック"/>
              </a:rPr>
              <a:t>・RAM 使用率: 7.2% を計測時間によらず維持</a:t>
            </a:r>
          </a:p>
        </p:txBody>
      </p:sp>
      <p:sp>
        <p:nvSpPr>
          <p:cNvPr id="17" name="Rectangle 16"/>
          <p:cNvSpPr/>
          <p:nvPr/>
        </p:nvSpPr>
        <p:spPr>
          <a:xfrm>
            <a:off x="7589520" y="3886200"/>
            <a:ext cx="4297680" cy="1645920"/>
          </a:xfrm>
          <a:prstGeom prst="rect">
            <a:avLst/>
          </a:prstGeom>
          <a:solidFill>
            <a:srgbClr val="F4F4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726679" y="3959352"/>
            <a:ext cx="4023360" cy="347472"/>
          </a:xfrm>
          <a:prstGeom prst="rect">
            <a:avLst/>
          </a:prstGeom>
          <a:noFill/>
        </p:spPr>
        <p:txBody>
          <a:bodyPr wrap="square">
            <a:spAutoFit/>
          </a:bodyPr>
          <a:lstStyle/>
          <a:p>
            <a:pPr algn="l"/>
            <a:r>
              <a:rPr sz="1300" b="1" i="0">
                <a:solidFill>
                  <a:srgbClr val="0D477F"/>
                </a:solidFill>
                <a:latin typeface="游ゴシック"/>
              </a:rPr>
              <a:t>実装ポイント</a:t>
            </a:r>
          </a:p>
        </p:txBody>
      </p:sp>
      <p:sp>
        <p:nvSpPr>
          <p:cNvPr id="19" name="TextBox 18"/>
          <p:cNvSpPr txBox="1"/>
          <p:nvPr/>
        </p:nvSpPr>
        <p:spPr>
          <a:xfrm>
            <a:off x="7726679" y="4315968"/>
            <a:ext cx="4023360" cy="1097280"/>
          </a:xfrm>
          <a:prstGeom prst="rect">
            <a:avLst/>
          </a:prstGeom>
          <a:noFill/>
        </p:spPr>
        <p:txBody>
          <a:bodyPr wrap="square">
            <a:spAutoFit/>
          </a:bodyPr>
          <a:lstStyle/>
          <a:p>
            <a:pPr algn="l"/>
            <a:r>
              <a:rPr sz="1200" b="0" i="0">
                <a:solidFill>
                  <a:srgbClr val="1A1A2E"/>
                </a:solidFill>
                <a:latin typeface="游ゴシック"/>
              </a:rPr>
              <a:t>・D_M2, D_Sum は double 型（精度確保）</a:t>
            </a:r>
          </a:p>
          <a:p>
            <a:pPr algn="l"/>
            <a:r>
              <a:rPr sz="1200" b="0" i="0">
                <a:solidFill>
                  <a:srgbClr val="1A1A2E"/>
                </a:solidFill>
                <a:latin typeface="游ゴシック"/>
              </a:rPr>
              <a:t>・最終値は handleButtonA() で RUN→RESULT</a:t>
            </a:r>
          </a:p>
          <a:p>
            <a:pPr algn="l"/>
            <a:r>
              <a:rPr sz="1200" b="0" i="0">
                <a:solidFill>
                  <a:srgbClr val="1A1A2E"/>
                </a:solidFill>
                <a:latin typeface="游ゴシック"/>
              </a:rPr>
              <a:t>  遷移時にも再計算</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914400"/>
          </a:xfrm>
          <a:prstGeom prst="rect">
            <a:avLst/>
          </a:prstGeom>
          <a:solidFill>
            <a:srgbClr val="0D477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73152"/>
            <a:ext cx="11430000" cy="502920"/>
          </a:xfrm>
          <a:prstGeom prst="rect">
            <a:avLst/>
          </a:prstGeom>
          <a:noFill/>
        </p:spPr>
        <p:txBody>
          <a:bodyPr wrap="square">
            <a:spAutoFit/>
          </a:bodyPr>
          <a:lstStyle/>
          <a:p>
            <a:pPr algn="l"/>
            <a:r>
              <a:rPr sz="2400" b="1" i="0">
                <a:solidFill>
                  <a:srgbClr val="FFFFFF"/>
                </a:solidFill>
                <a:latin typeface="Segoe UI"/>
              </a:rPr>
              <a:t>技術詳細 — ヒステリシス付きアラーム判定</a:t>
            </a:r>
          </a:p>
        </p:txBody>
      </p:sp>
      <p:sp>
        <p:nvSpPr>
          <p:cNvPr id="4" name="TextBox 3"/>
          <p:cNvSpPr txBox="1"/>
          <p:nvPr/>
        </p:nvSpPr>
        <p:spPr>
          <a:xfrm>
            <a:off x="274320" y="594360"/>
            <a:ext cx="11430000" cy="274320"/>
          </a:xfrm>
          <a:prstGeom prst="rect">
            <a:avLst/>
          </a:prstGeom>
          <a:noFill/>
        </p:spPr>
        <p:txBody>
          <a:bodyPr wrap="square">
            <a:spAutoFit/>
          </a:bodyPr>
          <a:lstStyle/>
          <a:p>
            <a:pPr algn="l"/>
            <a:r>
              <a:rPr sz="1200" b="0" i="0">
                <a:solidFill>
                  <a:srgbClr val="FF6D00"/>
                </a:solidFill>
                <a:latin typeface="游ゴシック"/>
              </a:rPr>
              <a:t>Section 6  技術詳細</a:t>
            </a:r>
          </a:p>
        </p:txBody>
      </p:sp>
      <p:sp>
        <p:nvSpPr>
          <p:cNvPr id="5" name="Rectangle 4"/>
          <p:cNvSpPr/>
          <p:nvPr/>
        </p:nvSpPr>
        <p:spPr>
          <a:xfrm>
            <a:off x="0" y="6309360"/>
            <a:ext cx="12188952" cy="548640"/>
          </a:xfrm>
          <a:prstGeom prst="rect">
            <a:avLst/>
          </a:prstGeom>
          <a:solidFill>
            <a:srgbClr val="0D477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74320" y="6336792"/>
            <a:ext cx="7315200" cy="320040"/>
          </a:xfrm>
          <a:prstGeom prst="rect">
            <a:avLst/>
          </a:prstGeom>
          <a:noFill/>
        </p:spPr>
        <p:txBody>
          <a:bodyPr wrap="square">
            <a:spAutoFit/>
          </a:bodyPr>
          <a:lstStyle/>
          <a:p>
            <a:pPr algn="l"/>
            <a:r>
              <a:rPr sz="1100" b="0" i="0">
                <a:solidFill>
                  <a:srgbClr val="FF6D00"/>
                </a:solidFill>
                <a:latin typeface="Segoe UI"/>
              </a:rPr>
              <a:t>Simple Temperature Evaluation Tool</a:t>
            </a:r>
          </a:p>
        </p:txBody>
      </p:sp>
      <p:sp>
        <p:nvSpPr>
          <p:cNvPr id="7" name="TextBox 6"/>
          <p:cNvSpPr txBox="1"/>
          <p:nvPr/>
        </p:nvSpPr>
        <p:spPr>
          <a:xfrm>
            <a:off x="10515600" y="6336792"/>
            <a:ext cx="1371600" cy="320040"/>
          </a:xfrm>
          <a:prstGeom prst="rect">
            <a:avLst/>
          </a:prstGeom>
          <a:noFill/>
        </p:spPr>
        <p:txBody>
          <a:bodyPr wrap="square">
            <a:spAutoFit/>
          </a:bodyPr>
          <a:lstStyle/>
          <a:p>
            <a:pPr algn="r"/>
            <a:r>
              <a:rPr sz="1100" b="0" i="0">
                <a:solidFill>
                  <a:srgbClr val="FFFFFF"/>
                </a:solidFill>
                <a:latin typeface="Segoe UI"/>
              </a:rPr>
              <a:t>20</a:t>
            </a:r>
          </a:p>
        </p:txBody>
      </p:sp>
      <p:sp>
        <p:nvSpPr>
          <p:cNvPr id="8" name="Rectangle 7"/>
          <p:cNvSpPr/>
          <p:nvPr/>
        </p:nvSpPr>
        <p:spPr>
          <a:xfrm>
            <a:off x="320040" y="1051560"/>
            <a:ext cx="11521440" cy="502920"/>
          </a:xfrm>
          <a:prstGeom prst="rect">
            <a:avLst/>
          </a:prstGeom>
          <a:solidFill>
            <a:srgbClr val="F4F4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1115568"/>
            <a:ext cx="11155680" cy="365760"/>
          </a:xfrm>
          <a:prstGeom prst="rect">
            <a:avLst/>
          </a:prstGeom>
          <a:noFill/>
        </p:spPr>
        <p:txBody>
          <a:bodyPr wrap="square">
            <a:spAutoFit/>
          </a:bodyPr>
          <a:lstStyle/>
          <a:p>
            <a:pPr algn="l"/>
            <a:r>
              <a:rPr sz="1400" b="0" i="0">
                <a:solidFill>
                  <a:srgbClr val="1A1A2E"/>
                </a:solidFill>
                <a:latin typeface="游ゴシック"/>
              </a:rPr>
              <a:t>デフォルト: HI = 600.0°C ／ LO = 400.0°C ／ ヒステリシス = 5.0°C  ※ EEPROM 保存・電源 OFF 後も保持</a:t>
            </a:r>
          </a:p>
        </p:txBody>
      </p:sp>
      <p:graphicFrame>
        <p:nvGraphicFramePr>
          <p:cNvPr id="10" name="Table 9"/>
          <p:cNvGraphicFramePr>
            <a:graphicFrameLocks noGrp="1"/>
          </p:cNvGraphicFramePr>
          <p:nvPr/>
        </p:nvGraphicFramePr>
        <p:xfrm>
          <a:off x="320040" y="1645920"/>
          <a:ext cx="11521440" cy="1828800"/>
        </p:xfrm>
        <a:graphic>
          <a:graphicData uri="http://schemas.openxmlformats.org/drawingml/2006/table">
            <a:tbl>
              <a:tblPr firstRow="1" bandRow="1">
                <a:tableStyleId>{5C22544A-7EE6-4342-B048-85BDC9FD1C3A}</a:tableStyleId>
              </a:tblPr>
              <a:tblGrid>
                <a:gridCol w="1371600"/>
                <a:gridCol w="3200400"/>
                <a:gridCol w="3200400"/>
                <a:gridCol w="1554480"/>
                <a:gridCol w="2194560"/>
              </a:tblGrid>
              <a:tr h="457200">
                <a:tc>
                  <a:txBody>
                    <a:bodyPr/>
                    <a:lstStyle/>
                    <a:p>
                      <a:pPr algn="l"/>
                      <a:r>
                        <a:rPr sz="1300" b="1">
                          <a:solidFill>
                            <a:srgbClr val="FFFFFF"/>
                          </a:solidFill>
                          <a:latin typeface="Segoe UI"/>
                        </a:rPr>
                        <a:t>種別</a:t>
                      </a:r>
                    </a:p>
                  </a:txBody>
                  <a:tcPr>
                    <a:solidFill>
                      <a:srgbClr val="0D477F"/>
                    </a:solidFill>
                  </a:tcPr>
                </a:tc>
                <a:tc>
                  <a:txBody>
                    <a:bodyPr/>
                    <a:lstStyle/>
                    <a:p>
                      <a:pPr algn="l"/>
                      <a:r>
                        <a:rPr sz="1300" b="1">
                          <a:solidFill>
                            <a:srgbClr val="FFFFFF"/>
                          </a:solidFill>
                          <a:latin typeface="Segoe UI"/>
                        </a:rPr>
                        <a:t>トリガー条件</a:t>
                      </a:r>
                    </a:p>
                  </a:txBody>
                  <a:tcPr>
                    <a:solidFill>
                      <a:srgbClr val="0D477F"/>
                    </a:solidFill>
                  </a:tcPr>
                </a:tc>
                <a:tc>
                  <a:txBody>
                    <a:bodyPr/>
                    <a:lstStyle/>
                    <a:p>
                      <a:pPr algn="l"/>
                      <a:r>
                        <a:rPr sz="1300" b="1">
                          <a:solidFill>
                            <a:srgbClr val="FFFFFF"/>
                          </a:solidFill>
                          <a:latin typeface="Segoe UI"/>
                        </a:rPr>
                        <a:t>クリア条件</a:t>
                      </a:r>
                    </a:p>
                  </a:txBody>
                  <a:tcPr>
                    <a:solidFill>
                      <a:srgbClr val="0D477F"/>
                    </a:solidFill>
                  </a:tcPr>
                </a:tc>
                <a:tc>
                  <a:txBody>
                    <a:bodyPr/>
                    <a:lstStyle/>
                    <a:p>
                      <a:pPr algn="l"/>
                      <a:r>
                        <a:rPr sz="1300" b="1">
                          <a:solidFill>
                            <a:srgbClr val="FFFFFF"/>
                          </a:solidFill>
                          <a:latin typeface="Segoe UI"/>
                        </a:rPr>
                        <a:t>音</a:t>
                      </a:r>
                    </a:p>
                  </a:txBody>
                  <a:tcPr>
                    <a:solidFill>
                      <a:srgbClr val="0D477F"/>
                    </a:solidFill>
                  </a:tcPr>
                </a:tc>
                <a:tc>
                  <a:txBody>
                    <a:bodyPr/>
                    <a:lstStyle/>
                    <a:p>
                      <a:pPr algn="l"/>
                      <a:r>
                        <a:rPr sz="1300" b="1">
                          <a:solidFill>
                            <a:srgbClr val="FFFFFF"/>
                          </a:solidFill>
                          <a:latin typeface="Segoe UI"/>
                        </a:rPr>
                        <a:t>LCD 色</a:t>
                      </a:r>
                    </a:p>
                  </a:txBody>
                  <a:tcPr>
                    <a:solidFill>
                      <a:srgbClr val="0D477F"/>
                    </a:solidFill>
                  </a:tcPr>
                </a:tc>
              </a:tr>
              <a:tr h="457200">
                <a:tc>
                  <a:txBody>
                    <a:bodyPr/>
                    <a:lstStyle/>
                    <a:p>
                      <a:pPr algn="l"/>
                      <a:r>
                        <a:rPr sz="1200" b="0">
                          <a:solidFill>
                            <a:srgbClr val="1A1A2E"/>
                          </a:solidFill>
                          <a:latin typeface="游ゴシック"/>
                        </a:rPr>
                        <a:t>HI アラーム</a:t>
                      </a:r>
                    </a:p>
                  </a:txBody>
                  <a:tcPr>
                    <a:solidFill>
                      <a:srgbClr val="FFFFFF"/>
                    </a:solidFill>
                  </a:tcPr>
                </a:tc>
                <a:tc>
                  <a:txBody>
                    <a:bodyPr/>
                    <a:lstStyle/>
                    <a:p>
                      <a:pPr algn="l"/>
                      <a:r>
                        <a:rPr sz="1200" b="0">
                          <a:solidFill>
                            <a:srgbClr val="1A1A2E"/>
                          </a:solidFill>
                          <a:latin typeface="游ゴシック"/>
                        </a:rPr>
                        <a:t>温度 ≥ HI しきい値</a:t>
                      </a:r>
                    </a:p>
                  </a:txBody>
                  <a:tcPr>
                    <a:solidFill>
                      <a:srgbClr val="FFFFFF"/>
                    </a:solidFill>
                  </a:tcPr>
                </a:tc>
                <a:tc>
                  <a:txBody>
                    <a:bodyPr/>
                    <a:lstStyle/>
                    <a:p>
                      <a:pPr algn="l"/>
                      <a:r>
                        <a:rPr sz="1200" b="0">
                          <a:solidFill>
                            <a:srgbClr val="1A1A2E"/>
                          </a:solidFill>
                          <a:latin typeface="游ゴシック"/>
                        </a:rPr>
                        <a:t>温度 &lt; HI − 5°C</a:t>
                      </a:r>
                    </a:p>
                  </a:txBody>
                  <a:tcPr>
                    <a:solidFill>
                      <a:srgbClr val="FFFFFF"/>
                    </a:solidFill>
                  </a:tcPr>
                </a:tc>
                <a:tc>
                  <a:txBody>
                    <a:bodyPr/>
                    <a:lstStyle/>
                    <a:p>
                      <a:pPr algn="l"/>
                      <a:r>
                        <a:rPr sz="1200" b="0">
                          <a:solidFill>
                            <a:srgbClr val="1A1A2E"/>
                          </a:solidFill>
                          <a:latin typeface="游ゴシック"/>
                        </a:rPr>
                        <a:t>2kHz, 500ms</a:t>
                      </a:r>
                    </a:p>
                  </a:txBody>
                  <a:tcPr>
                    <a:solidFill>
                      <a:srgbClr val="FFFFFF"/>
                    </a:solidFill>
                  </a:tcPr>
                </a:tc>
                <a:tc>
                  <a:txBody>
                    <a:bodyPr/>
                    <a:lstStyle/>
                    <a:p>
                      <a:pPr algn="l"/>
                      <a:r>
                        <a:rPr sz="1200" b="0">
                          <a:solidFill>
                            <a:srgbClr val="1A1A2E"/>
                          </a:solidFill>
                          <a:latin typeface="游ゴシック"/>
                        </a:rPr>
                        <a:t>赤 (RED)</a:t>
                      </a:r>
                    </a:p>
                  </a:txBody>
                  <a:tcPr>
                    <a:solidFill>
                      <a:srgbClr val="FFFFFF"/>
                    </a:solidFill>
                  </a:tcPr>
                </a:tc>
              </a:tr>
              <a:tr h="457200">
                <a:tc>
                  <a:txBody>
                    <a:bodyPr/>
                    <a:lstStyle/>
                    <a:p>
                      <a:pPr algn="l"/>
                      <a:r>
                        <a:rPr sz="1200" b="0">
                          <a:solidFill>
                            <a:srgbClr val="1A1A2E"/>
                          </a:solidFill>
                          <a:latin typeface="游ゴシック"/>
                        </a:rPr>
                        <a:t>LO アラーム</a:t>
                      </a:r>
                    </a:p>
                  </a:txBody>
                  <a:tcPr>
                    <a:solidFill>
                      <a:srgbClr val="F4F4F4"/>
                    </a:solidFill>
                  </a:tcPr>
                </a:tc>
                <a:tc>
                  <a:txBody>
                    <a:bodyPr/>
                    <a:lstStyle/>
                    <a:p>
                      <a:pPr algn="l"/>
                      <a:r>
                        <a:rPr sz="1200" b="0">
                          <a:solidFill>
                            <a:srgbClr val="1A1A2E"/>
                          </a:solidFill>
                          <a:latin typeface="游ゴシック"/>
                        </a:rPr>
                        <a:t>温度 ≤ LO しきい値</a:t>
                      </a:r>
                    </a:p>
                  </a:txBody>
                  <a:tcPr>
                    <a:solidFill>
                      <a:srgbClr val="F4F4F4"/>
                    </a:solidFill>
                  </a:tcPr>
                </a:tc>
                <a:tc>
                  <a:txBody>
                    <a:bodyPr/>
                    <a:lstStyle/>
                    <a:p>
                      <a:pPr algn="l"/>
                      <a:r>
                        <a:rPr sz="1200" b="0">
                          <a:solidFill>
                            <a:srgbClr val="1A1A2E"/>
                          </a:solidFill>
                          <a:latin typeface="游ゴシック"/>
                        </a:rPr>
                        <a:t>温度 &gt; LO + 5°C</a:t>
                      </a:r>
                    </a:p>
                  </a:txBody>
                  <a:tcPr>
                    <a:solidFill>
                      <a:srgbClr val="F4F4F4"/>
                    </a:solidFill>
                  </a:tcPr>
                </a:tc>
                <a:tc>
                  <a:txBody>
                    <a:bodyPr/>
                    <a:lstStyle/>
                    <a:p>
                      <a:pPr algn="l"/>
                      <a:r>
                        <a:rPr sz="1200" b="0">
                          <a:solidFill>
                            <a:srgbClr val="1A1A2E"/>
                          </a:solidFill>
                          <a:latin typeface="游ゴシック"/>
                        </a:rPr>
                        <a:t>1kHz, 500ms</a:t>
                      </a:r>
                    </a:p>
                  </a:txBody>
                  <a:tcPr>
                    <a:solidFill>
                      <a:srgbClr val="F4F4F4"/>
                    </a:solidFill>
                  </a:tcPr>
                </a:tc>
                <a:tc>
                  <a:txBody>
                    <a:bodyPr/>
                    <a:lstStyle/>
                    <a:p>
                      <a:pPr algn="l"/>
                      <a:r>
                        <a:rPr sz="1200" b="0">
                          <a:solidFill>
                            <a:srgbClr val="1A1A2E"/>
                          </a:solidFill>
                          <a:latin typeface="游ゴシック"/>
                        </a:rPr>
                        <a:t>青 (BLUE)</a:t>
                      </a:r>
                    </a:p>
                  </a:txBody>
                  <a:tcPr>
                    <a:solidFill>
                      <a:srgbClr val="F4F4F4"/>
                    </a:solidFill>
                  </a:tcPr>
                </a:tc>
              </a:tr>
              <a:tr h="457200">
                <a:tc>
                  <a:txBody>
                    <a:bodyPr/>
                    <a:lstStyle/>
                    <a:p>
                      <a:pPr algn="l"/>
                      <a:r>
                        <a:rPr sz="1200" b="0">
                          <a:solidFill>
                            <a:srgbClr val="1A1A2E"/>
                          </a:solidFill>
                          <a:latin typeface="游ゴシック"/>
                        </a:rPr>
                        <a:t>非アラーム</a:t>
                      </a:r>
                    </a:p>
                  </a:txBody>
                  <a:tcPr>
                    <a:solidFill>
                      <a:srgbClr val="FFFFFF"/>
                    </a:solidFill>
                  </a:tcPr>
                </a:tc>
                <a:tc>
                  <a:txBody>
                    <a:bodyPr/>
                    <a:lstStyle/>
                    <a:p>
                      <a:pPr algn="l"/>
                      <a:r>
                        <a:rPr sz="1200" b="0">
                          <a:solidFill>
                            <a:srgbClr val="1A1A2E"/>
                          </a:solidFill>
                          <a:latin typeface="游ゴシック"/>
                        </a:rPr>
                        <a:t>—</a:t>
                      </a:r>
                    </a:p>
                  </a:txBody>
                  <a:tcPr>
                    <a:solidFill>
                      <a:srgbClr val="FFFFFF"/>
                    </a:solidFill>
                  </a:tcPr>
                </a:tc>
                <a:tc>
                  <a:txBody>
                    <a:bodyPr/>
                    <a:lstStyle/>
                    <a:p>
                      <a:pPr algn="l"/>
                      <a:r>
                        <a:rPr sz="1200" b="0">
                          <a:solidFill>
                            <a:srgbClr val="1A1A2E"/>
                          </a:solidFill>
                          <a:latin typeface="游ゴシック"/>
                        </a:rPr>
                        <a:t>—</a:t>
                      </a:r>
                    </a:p>
                  </a:txBody>
                  <a:tcPr>
                    <a:solidFill>
                      <a:srgbClr val="FFFFFF"/>
                    </a:solidFill>
                  </a:tcPr>
                </a:tc>
                <a:tc>
                  <a:txBody>
                    <a:bodyPr/>
                    <a:lstStyle/>
                    <a:p>
                      <a:pPr algn="l"/>
                      <a:r>
                        <a:rPr sz="1200" b="0">
                          <a:solidFill>
                            <a:srgbClr val="1A1A2E"/>
                          </a:solidFill>
                          <a:latin typeface="游ゴシック"/>
                        </a:rPr>
                        <a:t>なし</a:t>
                      </a:r>
                    </a:p>
                  </a:txBody>
                  <a:tcPr>
                    <a:solidFill>
                      <a:srgbClr val="FFFFFF"/>
                    </a:solidFill>
                  </a:tcPr>
                </a:tc>
                <a:tc>
                  <a:txBody>
                    <a:bodyPr/>
                    <a:lstStyle/>
                    <a:p>
                      <a:pPr algn="l"/>
                      <a:r>
                        <a:rPr sz="1200" b="0">
                          <a:solidFill>
                            <a:srgbClr val="1A1A2E"/>
                          </a:solidFill>
                          <a:latin typeface="游ゴシック"/>
                        </a:rPr>
                        <a:t>白 (WHITE)</a:t>
                      </a:r>
                    </a:p>
                  </a:txBody>
                  <a:tcPr>
                    <a:solidFill>
                      <a:srgbClr val="FFFFFF"/>
                    </a:solidFill>
                  </a:tcPr>
                </a:tc>
              </a:tr>
            </a:tbl>
          </a:graphicData>
        </a:graphic>
      </p:graphicFrame>
      <p:sp>
        <p:nvSpPr>
          <p:cNvPr id="11" name="Rectangle 10"/>
          <p:cNvSpPr/>
          <p:nvPr/>
        </p:nvSpPr>
        <p:spPr>
          <a:xfrm>
            <a:off x="320040" y="3657600"/>
            <a:ext cx="6217920" cy="2286000"/>
          </a:xfrm>
          <a:prstGeom prst="rect">
            <a:avLst/>
          </a:prstGeom>
          <a:solidFill>
            <a:srgbClr val="F4F4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7200" y="3749039"/>
            <a:ext cx="5943600" cy="365760"/>
          </a:xfrm>
          <a:prstGeom prst="rect">
            <a:avLst/>
          </a:prstGeom>
          <a:noFill/>
        </p:spPr>
        <p:txBody>
          <a:bodyPr wrap="square">
            <a:spAutoFit/>
          </a:bodyPr>
          <a:lstStyle/>
          <a:p>
            <a:pPr algn="l"/>
            <a:r>
              <a:rPr sz="1400" b="1" i="0">
                <a:solidFill>
                  <a:srgbClr val="0D477F"/>
                </a:solidFill>
                <a:latin typeface="游ゴシック"/>
              </a:rPr>
              <a:t>ヒステリシスの効果</a:t>
            </a:r>
          </a:p>
        </p:txBody>
      </p:sp>
      <p:sp>
        <p:nvSpPr>
          <p:cNvPr id="13" name="TextBox 12"/>
          <p:cNvSpPr txBox="1"/>
          <p:nvPr/>
        </p:nvSpPr>
        <p:spPr>
          <a:xfrm>
            <a:off x="457200" y="4160520"/>
            <a:ext cx="5943600" cy="1600200"/>
          </a:xfrm>
          <a:prstGeom prst="rect">
            <a:avLst/>
          </a:prstGeom>
          <a:noFill/>
        </p:spPr>
        <p:txBody>
          <a:bodyPr wrap="square">
            <a:spAutoFit/>
          </a:bodyPr>
          <a:lstStyle/>
          <a:p>
            <a:pPr algn="l"/>
            <a:r>
              <a:rPr sz="1300" b="0" i="0">
                <a:solidFill>
                  <a:srgbClr val="1A1A2E"/>
                </a:solidFill>
                <a:latin typeface="Consolas"/>
              </a:rPr>
              <a:t>温度   601°C → [HI 発報] ビープ</a:t>
            </a:r>
          </a:p>
          <a:p>
            <a:pPr algn="l"/>
            <a:r>
              <a:rPr sz="1300" b="0" i="0">
                <a:solidFill>
                  <a:srgbClr val="1A1A2E"/>
                </a:solidFill>
                <a:latin typeface="Consolas"/>
              </a:rPr>
              <a:t>       600°C → [継続]（まだクリアされない）</a:t>
            </a:r>
          </a:p>
          <a:p>
            <a:pPr algn="l"/>
            <a:r>
              <a:rPr sz="1300" b="0" i="0">
                <a:solidFill>
                  <a:srgbClr val="1A1A2E"/>
                </a:solidFill>
                <a:latin typeface="Consolas"/>
              </a:rPr>
              <a:t>       596°C → [継続]（&lt; 595°C まで待機）</a:t>
            </a:r>
          </a:p>
          <a:p>
            <a:pPr algn="l"/>
            <a:r>
              <a:rPr sz="1300" b="0" i="0">
                <a:solidFill>
                  <a:srgbClr val="1A1A2E"/>
                </a:solidFill>
                <a:latin typeface="Consolas"/>
              </a:rPr>
              <a:t>       594°C → [HI クリア]</a:t>
            </a:r>
          </a:p>
        </p:txBody>
      </p:sp>
      <p:sp>
        <p:nvSpPr>
          <p:cNvPr id="14" name="Rectangle 13"/>
          <p:cNvSpPr/>
          <p:nvPr/>
        </p:nvSpPr>
        <p:spPr>
          <a:xfrm>
            <a:off x="6858000" y="3657600"/>
            <a:ext cx="5029200" cy="2286000"/>
          </a:xfrm>
          <a:prstGeom prst="rect">
            <a:avLst/>
          </a:prstGeom>
          <a:solidFill>
            <a:srgbClr val="FFFFFF"/>
          </a:solidFill>
          <a:ln w="12700">
            <a:solidFill>
              <a:srgbClr val="0D477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995160" y="3749039"/>
            <a:ext cx="4754880" cy="365760"/>
          </a:xfrm>
          <a:prstGeom prst="rect">
            <a:avLst/>
          </a:prstGeom>
          <a:noFill/>
        </p:spPr>
        <p:txBody>
          <a:bodyPr wrap="square">
            <a:spAutoFit/>
          </a:bodyPr>
          <a:lstStyle/>
          <a:p>
            <a:pPr algn="l"/>
            <a:r>
              <a:rPr sz="1400" b="1" i="0">
                <a:solidFill>
                  <a:srgbClr val="0D477F"/>
                </a:solidFill>
                <a:latin typeface="游ゴシック"/>
              </a:rPr>
              <a:t>実装のポイント</a:t>
            </a:r>
          </a:p>
        </p:txBody>
      </p:sp>
      <p:sp>
        <p:nvSpPr>
          <p:cNvPr id="16" name="TextBox 15"/>
          <p:cNvSpPr txBox="1"/>
          <p:nvPr/>
        </p:nvSpPr>
        <p:spPr>
          <a:xfrm>
            <a:off x="6995160" y="4160520"/>
            <a:ext cx="4754880" cy="1600200"/>
          </a:xfrm>
          <a:prstGeom prst="rect">
            <a:avLst/>
          </a:prstGeom>
          <a:noFill/>
        </p:spPr>
        <p:txBody>
          <a:bodyPr wrap="square">
            <a:spAutoFit/>
          </a:bodyPr>
          <a:lstStyle/>
          <a:p>
            <a:pPr algn="l"/>
            <a:r>
              <a:rPr sz="1200" b="0" i="0">
                <a:solidFill>
                  <a:srgbClr val="1A1A2E"/>
                </a:solidFill>
                <a:latin typeface="游ゴシック"/>
              </a:rPr>
              <a:t>・チラつき防止: しきい値近辺での誤発報を抑制</a:t>
            </a:r>
          </a:p>
          <a:p>
            <a:pPr algn="l"/>
            <a:r>
              <a:rPr sz="1200" b="0" i="0">
                <a:solidFill>
                  <a:srgbClr val="1A1A2E"/>
                </a:solidFill>
                <a:latin typeface="游ゴシック"/>
              </a:rPr>
              <a:t>・NaN 値ガード: isnan() で無効値をスキップ</a:t>
            </a:r>
          </a:p>
          <a:p>
            <a:pPr algn="l"/>
            <a:r>
              <a:rPr sz="1200" b="0" i="0">
                <a:solidFill>
                  <a:srgbClr val="1A1A2E"/>
                </a:solidFill>
                <a:latin typeface="游ゴシック"/>
              </a:rPr>
              <a:t>・updateAlarmFlags() は独立関数</a:t>
            </a:r>
          </a:p>
          <a:p>
            <a:pPr algn="l"/>
            <a:r>
              <a:rPr sz="1200" b="0" i="0">
                <a:solidFill>
                  <a:srgbClr val="1A1A2E"/>
                </a:solidFill>
                <a:latin typeface="游ゴシック"/>
              </a:rPr>
              <a:t>  → ユニットテスト可能</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914400"/>
          </a:xfrm>
          <a:prstGeom prst="rect">
            <a:avLst/>
          </a:prstGeom>
          <a:solidFill>
            <a:srgbClr val="0D477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73152"/>
            <a:ext cx="11430000" cy="502920"/>
          </a:xfrm>
          <a:prstGeom prst="rect">
            <a:avLst/>
          </a:prstGeom>
          <a:noFill/>
        </p:spPr>
        <p:txBody>
          <a:bodyPr wrap="square">
            <a:spAutoFit/>
          </a:bodyPr>
          <a:lstStyle/>
          <a:p>
            <a:pPr algn="l"/>
            <a:r>
              <a:rPr sz="2400" b="1" i="0">
                <a:solidFill>
                  <a:srgbClr val="FFFFFF"/>
                </a:solidFill>
                <a:latin typeface="Segoe UI"/>
              </a:rPr>
              <a:t>品質・テスト — デバッグ対応事例</a:t>
            </a:r>
          </a:p>
        </p:txBody>
      </p:sp>
      <p:sp>
        <p:nvSpPr>
          <p:cNvPr id="4" name="TextBox 3"/>
          <p:cNvSpPr txBox="1"/>
          <p:nvPr/>
        </p:nvSpPr>
        <p:spPr>
          <a:xfrm>
            <a:off x="274320" y="594360"/>
            <a:ext cx="11430000" cy="274320"/>
          </a:xfrm>
          <a:prstGeom prst="rect">
            <a:avLst/>
          </a:prstGeom>
          <a:noFill/>
        </p:spPr>
        <p:txBody>
          <a:bodyPr wrap="square">
            <a:spAutoFit/>
          </a:bodyPr>
          <a:lstStyle/>
          <a:p>
            <a:pPr algn="l"/>
            <a:r>
              <a:rPr sz="1200" b="0" i="0">
                <a:solidFill>
                  <a:srgbClr val="FF6D00"/>
                </a:solidFill>
                <a:latin typeface="游ゴシック"/>
              </a:rPr>
              <a:t>Section 7  品質・テスト</a:t>
            </a:r>
          </a:p>
        </p:txBody>
      </p:sp>
      <p:sp>
        <p:nvSpPr>
          <p:cNvPr id="5" name="Rectangle 4"/>
          <p:cNvSpPr/>
          <p:nvPr/>
        </p:nvSpPr>
        <p:spPr>
          <a:xfrm>
            <a:off x="0" y="6309360"/>
            <a:ext cx="12188952" cy="548640"/>
          </a:xfrm>
          <a:prstGeom prst="rect">
            <a:avLst/>
          </a:prstGeom>
          <a:solidFill>
            <a:srgbClr val="0D477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74320" y="6336792"/>
            <a:ext cx="7315200" cy="320040"/>
          </a:xfrm>
          <a:prstGeom prst="rect">
            <a:avLst/>
          </a:prstGeom>
          <a:noFill/>
        </p:spPr>
        <p:txBody>
          <a:bodyPr wrap="square">
            <a:spAutoFit/>
          </a:bodyPr>
          <a:lstStyle/>
          <a:p>
            <a:pPr algn="l"/>
            <a:r>
              <a:rPr sz="1100" b="0" i="0">
                <a:solidFill>
                  <a:srgbClr val="FF6D00"/>
                </a:solidFill>
                <a:latin typeface="Segoe UI"/>
              </a:rPr>
              <a:t>Simple Temperature Evaluation Tool</a:t>
            </a:r>
          </a:p>
        </p:txBody>
      </p:sp>
      <p:sp>
        <p:nvSpPr>
          <p:cNvPr id="7" name="TextBox 6"/>
          <p:cNvSpPr txBox="1"/>
          <p:nvPr/>
        </p:nvSpPr>
        <p:spPr>
          <a:xfrm>
            <a:off x="10515600" y="6336792"/>
            <a:ext cx="1371600" cy="320040"/>
          </a:xfrm>
          <a:prstGeom prst="rect">
            <a:avLst/>
          </a:prstGeom>
          <a:noFill/>
        </p:spPr>
        <p:txBody>
          <a:bodyPr wrap="square">
            <a:spAutoFit/>
          </a:bodyPr>
          <a:lstStyle/>
          <a:p>
            <a:pPr algn="r"/>
            <a:r>
              <a:rPr sz="1100" b="0" i="0">
                <a:solidFill>
                  <a:srgbClr val="FFFFFF"/>
                </a:solidFill>
                <a:latin typeface="Segoe UI"/>
              </a:rPr>
              <a:t>21</a:t>
            </a:r>
          </a:p>
        </p:txBody>
      </p:sp>
      <p:graphicFrame>
        <p:nvGraphicFramePr>
          <p:cNvPr id="8" name="Table 7"/>
          <p:cNvGraphicFramePr>
            <a:graphicFrameLocks noGrp="1"/>
          </p:cNvGraphicFramePr>
          <p:nvPr/>
        </p:nvGraphicFramePr>
        <p:xfrm>
          <a:off x="320040" y="1051560"/>
          <a:ext cx="11521440" cy="2743200"/>
        </p:xfrm>
        <a:graphic>
          <a:graphicData uri="http://schemas.openxmlformats.org/drawingml/2006/table">
            <a:tbl>
              <a:tblPr firstRow="1" bandRow="1">
                <a:tableStyleId>{5C22544A-7EE6-4342-B048-85BDC9FD1C3A}</a:tableStyleId>
              </a:tblPr>
              <a:tblGrid>
                <a:gridCol w="457200"/>
                <a:gridCol w="3200400"/>
                <a:gridCol w="3200400"/>
                <a:gridCol w="4663440"/>
              </a:tblGrid>
              <a:tr h="457200">
                <a:tc>
                  <a:txBody>
                    <a:bodyPr/>
                    <a:lstStyle/>
                    <a:p>
                      <a:pPr algn="l"/>
                      <a:r>
                        <a:rPr sz="1300" b="1">
                          <a:solidFill>
                            <a:srgbClr val="FFFFFF"/>
                          </a:solidFill>
                          <a:latin typeface="Segoe UI"/>
                        </a:rPr>
                        <a:t>#</a:t>
                      </a:r>
                    </a:p>
                  </a:txBody>
                  <a:tcPr>
                    <a:solidFill>
                      <a:srgbClr val="0D477F"/>
                    </a:solidFill>
                  </a:tcPr>
                </a:tc>
                <a:tc>
                  <a:txBody>
                    <a:bodyPr/>
                    <a:lstStyle/>
                    <a:p>
                      <a:pPr algn="l"/>
                      <a:r>
                        <a:rPr sz="1300" b="1">
                          <a:solidFill>
                            <a:srgbClr val="FFFFFF"/>
                          </a:solidFill>
                          <a:latin typeface="Segoe UI"/>
                        </a:rPr>
                        <a:t>症状</a:t>
                      </a:r>
                    </a:p>
                  </a:txBody>
                  <a:tcPr>
                    <a:solidFill>
                      <a:srgbClr val="0D477F"/>
                    </a:solidFill>
                  </a:tcPr>
                </a:tc>
                <a:tc>
                  <a:txBody>
                    <a:bodyPr/>
                    <a:lstStyle/>
                    <a:p>
                      <a:pPr algn="l"/>
                      <a:r>
                        <a:rPr sz="1300" b="1">
                          <a:solidFill>
                            <a:srgbClr val="FFFFFF"/>
                          </a:solidFill>
                          <a:latin typeface="Segoe UI"/>
                        </a:rPr>
                        <a:t>原因</a:t>
                      </a:r>
                    </a:p>
                  </a:txBody>
                  <a:tcPr>
                    <a:solidFill>
                      <a:srgbClr val="0D477F"/>
                    </a:solidFill>
                  </a:tcPr>
                </a:tc>
                <a:tc>
                  <a:txBody>
                    <a:bodyPr/>
                    <a:lstStyle/>
                    <a:p>
                      <a:pPr algn="l"/>
                      <a:r>
                        <a:rPr sz="1300" b="1">
                          <a:solidFill>
                            <a:srgbClr val="FFFFFF"/>
                          </a:solidFill>
                          <a:latin typeface="Segoe UI"/>
                        </a:rPr>
                        <a:t>対策</a:t>
                      </a:r>
                    </a:p>
                  </a:txBody>
                  <a:tcPr>
                    <a:solidFill>
                      <a:srgbClr val="0D477F"/>
                    </a:solidFill>
                  </a:tcPr>
                </a:tc>
              </a:tr>
              <a:tr h="457200">
                <a:tc>
                  <a:txBody>
                    <a:bodyPr/>
                    <a:lstStyle/>
                    <a:p>
                      <a:pPr algn="l"/>
                      <a:r>
                        <a:rPr sz="1200" b="0">
                          <a:solidFill>
                            <a:srgbClr val="1A1A2E"/>
                          </a:solidFill>
                          <a:latin typeface="游ゴシック"/>
                        </a:rPr>
                        <a:t>01</a:t>
                      </a:r>
                    </a:p>
                  </a:txBody>
                  <a:tcPr>
                    <a:solidFill>
                      <a:srgbClr val="FFFFFF"/>
                    </a:solidFill>
                  </a:tcPr>
                </a:tc>
                <a:tc>
                  <a:txBody>
                    <a:bodyPr/>
                    <a:lstStyle/>
                    <a:p>
                      <a:pPr algn="l"/>
                      <a:r>
                        <a:rPr sz="1200" b="0">
                          <a:solidFill>
                            <a:srgbClr val="1A1A2E"/>
                          </a:solidFill>
                          <a:latin typeface="游ゴシック"/>
                        </a:rPr>
                        <a:t>温度が全て 0.0°C になる</a:t>
                      </a:r>
                    </a:p>
                  </a:txBody>
                  <a:tcPr>
                    <a:solidFill>
                      <a:srgbClr val="FFFFFF"/>
                    </a:solidFill>
                  </a:tcPr>
                </a:tc>
                <a:tc>
                  <a:txBody>
                    <a:bodyPr/>
                    <a:lstStyle/>
                    <a:p>
                      <a:pPr algn="l"/>
                      <a:r>
                        <a:rPr sz="1200" b="0">
                          <a:solidFill>
                            <a:srgbClr val="1A1A2E"/>
                          </a:solidFill>
                          <a:latin typeface="游ゴシック"/>
                        </a:rPr>
                        <a:t>SD.begin() が GPIO5 既定 → MAX31855 と CS 衝突</a:t>
                      </a:r>
                    </a:p>
                  </a:txBody>
                  <a:tcPr>
                    <a:solidFill>
                      <a:srgbClr val="FFFFFF"/>
                    </a:solidFill>
                  </a:tcPr>
                </a:tc>
                <a:tc>
                  <a:txBody>
                    <a:bodyPr/>
                    <a:lstStyle/>
                    <a:p>
                      <a:pPr algn="l"/>
                      <a:r>
                        <a:rPr sz="1200" b="0">
                          <a:solidFill>
                            <a:srgbClr val="1A1A2E"/>
                          </a:solidFill>
                          <a:latin typeface="游ゴシック"/>
                        </a:rPr>
                        <a:t>SD.begin(TFCARD_CS_PIN, SPI, 40000000) で GPIO4 を明示</a:t>
                      </a:r>
                    </a:p>
                  </a:txBody>
                  <a:tcPr>
                    <a:solidFill>
                      <a:srgbClr val="FFFFFF"/>
                    </a:solidFill>
                  </a:tcPr>
                </a:tc>
              </a:tr>
              <a:tr h="457200">
                <a:tc>
                  <a:txBody>
                    <a:bodyPr/>
                    <a:lstStyle/>
                    <a:p>
                      <a:pPr algn="l"/>
                      <a:r>
                        <a:rPr sz="1200" b="0">
                          <a:solidFill>
                            <a:srgbClr val="1A1A2E"/>
                          </a:solidFill>
                          <a:latin typeface="游ゴシック"/>
                        </a:rPr>
                        <a:t>02</a:t>
                      </a:r>
                    </a:p>
                  </a:txBody>
                  <a:tcPr>
                    <a:solidFill>
                      <a:srgbClr val="F4F4F4"/>
                    </a:solidFill>
                  </a:tcPr>
                </a:tc>
                <a:tc>
                  <a:txBody>
                    <a:bodyPr/>
                    <a:lstStyle/>
                    <a:p>
                      <a:pPr algn="l"/>
                      <a:r>
                        <a:rPr sz="1200" b="0">
                          <a:solidFill>
                            <a:srgbClr val="1A1A2E"/>
                          </a:solidFill>
                          <a:latin typeface="游ゴシック"/>
                        </a:rPr>
                        <a:t>起動直後にアラームが誤発報</a:t>
                      </a:r>
                    </a:p>
                  </a:txBody>
                  <a:tcPr>
                    <a:solidFill>
                      <a:srgbClr val="F4F4F4"/>
                    </a:solidFill>
                  </a:tcPr>
                </a:tc>
                <a:tc>
                  <a:txBody>
                    <a:bodyPr/>
                    <a:lstStyle/>
                    <a:p>
                      <a:pPr algn="l"/>
                      <a:r>
                        <a:rPr sz="1200" b="0">
                          <a:solidFill>
                            <a:srgbClr val="1A1A2E"/>
                          </a:solidFill>
                          <a:latin typeface="游ゴシック"/>
                        </a:rPr>
                        <a:t>setup() 中の IO_Task 呼び出しが閾値を超える値を一時読取</a:t>
                      </a:r>
                    </a:p>
                  </a:txBody>
                  <a:tcPr>
                    <a:solidFill>
                      <a:srgbClr val="F4F4F4"/>
                    </a:solidFill>
                  </a:tcPr>
                </a:tc>
                <a:tc>
                  <a:txBody>
                    <a:bodyPr/>
                    <a:lstStyle/>
                    <a:p>
                      <a:pPr algn="l"/>
                      <a:r>
                        <a:rPr sz="1200" b="0">
                          <a:solidFill>
                            <a:srgbClr val="1A1A2E"/>
                          </a:solidFill>
                          <a:latin typeface="游ゴシック"/>
                        </a:rPr>
                        <a:t>setup() 末尾でアラームフラグを強制リセット</a:t>
                      </a:r>
                    </a:p>
                  </a:txBody>
                  <a:tcPr>
                    <a:solidFill>
                      <a:srgbClr val="F4F4F4"/>
                    </a:solidFill>
                  </a:tcPr>
                </a:tc>
              </a:tr>
              <a:tr h="457200">
                <a:tc>
                  <a:txBody>
                    <a:bodyPr/>
                    <a:lstStyle/>
                    <a:p>
                      <a:pPr algn="l"/>
                      <a:r>
                        <a:rPr sz="1200" b="0">
                          <a:solidFill>
                            <a:srgbClr val="1A1A2E"/>
                          </a:solidFill>
                          <a:latin typeface="游ゴシック"/>
                        </a:rPr>
                        <a:t>03</a:t>
                      </a:r>
                    </a:p>
                  </a:txBody>
                  <a:tcPr>
                    <a:solidFill>
                      <a:srgbClr val="FFFFFF"/>
                    </a:solidFill>
                  </a:tcPr>
                </a:tc>
                <a:tc>
                  <a:txBody>
                    <a:bodyPr/>
                    <a:lstStyle/>
                    <a:p>
                      <a:pPr algn="l"/>
                      <a:r>
                        <a:rPr sz="1200" b="0">
                          <a:solidFill>
                            <a:srgbClr val="1A1A2E"/>
                          </a:solidFill>
                          <a:latin typeface="游ゴシック"/>
                        </a:rPr>
                        <a:t>RUN 中の CSV に Average=0.0 が続く</a:t>
                      </a:r>
                    </a:p>
                  </a:txBody>
                  <a:tcPr>
                    <a:solidFill>
                      <a:srgbClr val="FFFFFF"/>
                    </a:solidFill>
                  </a:tcPr>
                </a:tc>
                <a:tc>
                  <a:txBody>
                    <a:bodyPr/>
                    <a:lstStyle/>
                    <a:p>
                      <a:pPr algn="l"/>
                      <a:r>
                        <a:rPr sz="1200" b="0">
                          <a:solidFill>
                            <a:srgbClr val="1A1A2E"/>
                          </a:solidFill>
                          <a:latin typeface="游ゴシック"/>
                        </a:rPr>
                        <a:t>D_Count&lt;2 のタイミングで書込 → Welford 未完了</a:t>
                      </a:r>
                    </a:p>
                  </a:txBody>
                  <a:tcPr>
                    <a:solidFill>
                      <a:srgbClr val="FFFFFF"/>
                    </a:solidFill>
                  </a:tcPr>
                </a:tc>
                <a:tc>
                  <a:txBody>
                    <a:bodyPr/>
                    <a:lstStyle/>
                    <a:p>
                      <a:pPr algn="l"/>
                      <a:r>
                        <a:rPr sz="1200" b="0">
                          <a:solidFill>
                            <a:srgbClr val="1A1A2E"/>
                          </a:solidFill>
                          <a:latin typeface="游ゴシック"/>
                        </a:rPr>
                        <a:t>SD 書込条件を D_Count≥10 に変更</a:t>
                      </a:r>
                    </a:p>
                  </a:txBody>
                  <a:tcPr>
                    <a:solidFill>
                      <a:srgbClr val="FFFFFF"/>
                    </a:solidFill>
                  </a:tcPr>
                </a:tc>
              </a:tr>
              <a:tr h="457200">
                <a:tc>
                  <a:txBody>
                    <a:bodyPr/>
                    <a:lstStyle/>
                    <a:p>
                      <a:pPr algn="l"/>
                      <a:r>
                        <a:rPr sz="1200" b="0">
                          <a:solidFill>
                            <a:srgbClr val="1A1A2E"/>
                          </a:solidFill>
                          <a:latin typeface="游ゴシック"/>
                        </a:rPr>
                        <a:t>04</a:t>
                      </a:r>
                    </a:p>
                  </a:txBody>
                  <a:tcPr>
                    <a:solidFill>
                      <a:srgbClr val="F4F4F4"/>
                    </a:solidFill>
                  </a:tcPr>
                </a:tc>
                <a:tc>
                  <a:txBody>
                    <a:bodyPr/>
                    <a:lstStyle/>
                    <a:p>
                      <a:pPr algn="l"/>
                      <a:r>
                        <a:rPr sz="1200" b="0">
                          <a:solidFill>
                            <a:srgbClr val="1A1A2E"/>
                          </a:solidFill>
                          <a:latin typeface="游ゴシック"/>
                        </a:rPr>
                        <a:t>SD 書込後に温度が NaN になる</a:t>
                      </a:r>
                    </a:p>
                  </a:txBody>
                  <a:tcPr>
                    <a:solidFill>
                      <a:srgbClr val="F4F4F4"/>
                    </a:solidFill>
                  </a:tcPr>
                </a:tc>
                <a:tc>
                  <a:txBody>
                    <a:bodyPr/>
                    <a:lstStyle/>
                    <a:p>
                      <a:pPr algn="l"/>
                      <a:r>
                        <a:rPr sz="1200" b="0">
                          <a:solidFill>
                            <a:srgbClr val="1A1A2E"/>
                          </a:solidFill>
                          <a:latin typeface="游ゴシック"/>
                        </a:rPr>
                        <a:t>SPI バスが SD 書込後に解放されない</a:t>
                      </a:r>
                    </a:p>
                  </a:txBody>
                  <a:tcPr>
                    <a:solidFill>
                      <a:srgbClr val="F4F4F4"/>
                    </a:solidFill>
                  </a:tcPr>
                </a:tc>
                <a:tc>
                  <a:txBody>
                    <a:bodyPr/>
                    <a:lstStyle/>
                    <a:p>
                      <a:pPr algn="l"/>
                      <a:r>
                        <a:rPr sz="1200" b="0">
                          <a:solidFill>
                            <a:srgbClr val="1A1A2E"/>
                          </a:solidFill>
                          <a:latin typeface="游ゴシック"/>
                        </a:rPr>
                        <a:t>writeData() 後に SPI.end(); SPI.begin() を実行</a:t>
                      </a:r>
                    </a:p>
                  </a:txBody>
                  <a:tcPr>
                    <a:solidFill>
                      <a:srgbClr val="F4F4F4"/>
                    </a:solidFill>
                  </a:tcPr>
                </a:tc>
              </a:tr>
              <a:tr h="457200">
                <a:tc>
                  <a:txBody>
                    <a:bodyPr/>
                    <a:lstStyle/>
                    <a:p>
                      <a:pPr algn="l"/>
                      <a:r>
                        <a:rPr sz="1200" b="0">
                          <a:solidFill>
                            <a:srgbClr val="1A1A2E"/>
                          </a:solidFill>
                          <a:latin typeface="游ゴシック"/>
                        </a:rPr>
                        <a:t>05</a:t>
                      </a:r>
                    </a:p>
                  </a:txBody>
                  <a:tcPr>
                    <a:solidFill>
                      <a:srgbClr val="FFFFFF"/>
                    </a:solidFill>
                  </a:tcPr>
                </a:tc>
                <a:tc>
                  <a:txBody>
                    <a:bodyPr/>
                    <a:lstStyle/>
                    <a:p>
                      <a:pPr algn="l"/>
                      <a:r>
                        <a:rPr sz="1200" b="0">
                          <a:solidFill>
                            <a:srgbClr val="1A1A2E"/>
                          </a:solidFill>
                          <a:latin typeface="游ゴシック"/>
                        </a:rPr>
                        <a:t>フィルタが NaN にはまったまま収束しない</a:t>
                      </a:r>
                    </a:p>
                  </a:txBody>
                  <a:tcPr>
                    <a:solidFill>
                      <a:srgbClr val="FFFFFF"/>
                    </a:solidFill>
                  </a:tcPr>
                </a:tc>
                <a:tc>
                  <a:txBody>
                    <a:bodyPr/>
                    <a:lstStyle/>
                    <a:p>
                      <a:pPr algn="l"/>
                      <a:r>
                        <a:rPr sz="1200" b="0">
                          <a:solidFill>
                            <a:srgbClr val="1A1A2E"/>
                          </a:solidFill>
                          <a:latin typeface="游ゴシック"/>
                        </a:rPr>
                        <a:t>初回読取 NaN を前回値に適用してしまう</a:t>
                      </a:r>
                    </a:p>
                  </a:txBody>
                  <a:tcPr>
                    <a:solidFill>
                      <a:srgbClr val="FFFFFF"/>
                    </a:solidFill>
                  </a:tcPr>
                </a:tc>
                <a:tc>
                  <a:txBody>
                    <a:bodyPr/>
                    <a:lstStyle/>
                    <a:p>
                      <a:pPr algn="l"/>
                      <a:r>
                        <a:rPr sz="1200" b="0">
                          <a:solidFill>
                            <a:srgbClr val="1A1A2E"/>
                          </a:solidFill>
                          <a:latin typeface="游ゴシック"/>
                        </a:rPr>
                        <a:t>初回は raw 値をそのまま代入（isnan チェック追加）</a:t>
                      </a:r>
                    </a:p>
                  </a:txBody>
                  <a:tcPr>
                    <a:solidFill>
                      <a:srgbClr val="FFFFFF"/>
                    </a:solidFill>
                  </a:tcPr>
                </a:tc>
              </a:tr>
            </a:tbl>
          </a:graphicData>
        </a:graphic>
      </p:graphicFrame>
      <p:sp>
        <p:nvSpPr>
          <p:cNvPr id="9" name="Rectangle 8"/>
          <p:cNvSpPr/>
          <p:nvPr/>
        </p:nvSpPr>
        <p:spPr>
          <a:xfrm>
            <a:off x="320040" y="5349240"/>
            <a:ext cx="11521440" cy="640080"/>
          </a:xfrm>
          <a:prstGeom prst="rect">
            <a:avLst/>
          </a:prstGeom>
          <a:solidFill>
            <a:srgbClr val="F4F4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02920" y="5422392"/>
            <a:ext cx="11155680" cy="530352"/>
          </a:xfrm>
          <a:prstGeom prst="rect">
            <a:avLst/>
          </a:prstGeom>
          <a:noFill/>
        </p:spPr>
        <p:txBody>
          <a:bodyPr wrap="square">
            <a:spAutoFit/>
          </a:bodyPr>
          <a:lstStyle/>
          <a:p>
            <a:pPr algn="l"/>
            <a:r>
              <a:rPr sz="1300" b="0" i="0">
                <a:solidFill>
                  <a:srgbClr val="1A1A2E"/>
                </a:solidFill>
                <a:latin typeface="游ゴシック"/>
              </a:rPr>
              <a:t>共通パターン: ハードウェアリソース（SPI/GPIO）の競合は CS 指定の明示化で解決。ソフトウェア状態は単体テスト可能な関数に分離することで早期発見。</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914400"/>
          </a:xfrm>
          <a:prstGeom prst="rect">
            <a:avLst/>
          </a:prstGeom>
          <a:solidFill>
            <a:srgbClr val="0D477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73152"/>
            <a:ext cx="11430000" cy="502920"/>
          </a:xfrm>
          <a:prstGeom prst="rect">
            <a:avLst/>
          </a:prstGeom>
          <a:noFill/>
        </p:spPr>
        <p:txBody>
          <a:bodyPr wrap="square">
            <a:spAutoFit/>
          </a:bodyPr>
          <a:lstStyle/>
          <a:p>
            <a:pPr algn="l"/>
            <a:r>
              <a:rPr sz="2400" b="1" i="0">
                <a:solidFill>
                  <a:srgbClr val="FFFFFF"/>
                </a:solidFill>
                <a:latin typeface="Segoe UI"/>
              </a:rPr>
              <a:t>品質・テスト — テスト実績</a:t>
            </a:r>
          </a:p>
        </p:txBody>
      </p:sp>
      <p:sp>
        <p:nvSpPr>
          <p:cNvPr id="4" name="TextBox 3"/>
          <p:cNvSpPr txBox="1"/>
          <p:nvPr/>
        </p:nvSpPr>
        <p:spPr>
          <a:xfrm>
            <a:off x="274320" y="594360"/>
            <a:ext cx="11430000" cy="274320"/>
          </a:xfrm>
          <a:prstGeom prst="rect">
            <a:avLst/>
          </a:prstGeom>
          <a:noFill/>
        </p:spPr>
        <p:txBody>
          <a:bodyPr wrap="square">
            <a:spAutoFit/>
          </a:bodyPr>
          <a:lstStyle/>
          <a:p>
            <a:pPr algn="l"/>
            <a:r>
              <a:rPr sz="1200" b="0" i="0">
                <a:solidFill>
                  <a:srgbClr val="FF6D00"/>
                </a:solidFill>
                <a:latin typeface="游ゴシック"/>
              </a:rPr>
              <a:t>Section 7  品質・テスト</a:t>
            </a:r>
          </a:p>
        </p:txBody>
      </p:sp>
      <p:sp>
        <p:nvSpPr>
          <p:cNvPr id="5" name="Rectangle 4"/>
          <p:cNvSpPr/>
          <p:nvPr/>
        </p:nvSpPr>
        <p:spPr>
          <a:xfrm>
            <a:off x="0" y="6309360"/>
            <a:ext cx="12188952" cy="548640"/>
          </a:xfrm>
          <a:prstGeom prst="rect">
            <a:avLst/>
          </a:prstGeom>
          <a:solidFill>
            <a:srgbClr val="0D477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74320" y="6336792"/>
            <a:ext cx="7315200" cy="320040"/>
          </a:xfrm>
          <a:prstGeom prst="rect">
            <a:avLst/>
          </a:prstGeom>
          <a:noFill/>
        </p:spPr>
        <p:txBody>
          <a:bodyPr wrap="square">
            <a:spAutoFit/>
          </a:bodyPr>
          <a:lstStyle/>
          <a:p>
            <a:pPr algn="l"/>
            <a:r>
              <a:rPr sz="1100" b="0" i="0">
                <a:solidFill>
                  <a:srgbClr val="FF6D00"/>
                </a:solidFill>
                <a:latin typeface="Segoe UI"/>
              </a:rPr>
              <a:t>Simple Temperature Evaluation Tool</a:t>
            </a:r>
          </a:p>
        </p:txBody>
      </p:sp>
      <p:sp>
        <p:nvSpPr>
          <p:cNvPr id="7" name="TextBox 6"/>
          <p:cNvSpPr txBox="1"/>
          <p:nvPr/>
        </p:nvSpPr>
        <p:spPr>
          <a:xfrm>
            <a:off x="10515600" y="6336792"/>
            <a:ext cx="1371600" cy="320040"/>
          </a:xfrm>
          <a:prstGeom prst="rect">
            <a:avLst/>
          </a:prstGeom>
          <a:noFill/>
        </p:spPr>
        <p:txBody>
          <a:bodyPr wrap="square">
            <a:spAutoFit/>
          </a:bodyPr>
          <a:lstStyle/>
          <a:p>
            <a:pPr algn="r"/>
            <a:r>
              <a:rPr sz="1100" b="0" i="0">
                <a:solidFill>
                  <a:srgbClr val="FFFFFF"/>
                </a:solidFill>
                <a:latin typeface="Segoe UI"/>
              </a:rPr>
              <a:t>22</a:t>
            </a:r>
          </a:p>
        </p:txBody>
      </p:sp>
      <p:sp>
        <p:nvSpPr>
          <p:cNvPr id="8" name="TextBox 7"/>
          <p:cNvSpPr txBox="1"/>
          <p:nvPr/>
        </p:nvSpPr>
        <p:spPr>
          <a:xfrm>
            <a:off x="320040" y="1051560"/>
            <a:ext cx="11521440" cy="411480"/>
          </a:xfrm>
          <a:prstGeom prst="rect">
            <a:avLst/>
          </a:prstGeom>
          <a:noFill/>
        </p:spPr>
        <p:txBody>
          <a:bodyPr wrap="square">
            <a:spAutoFit/>
          </a:bodyPr>
          <a:lstStyle/>
          <a:p>
            <a:pPr algn="l"/>
            <a:r>
              <a:rPr sz="1400" b="0" i="0">
                <a:solidFill>
                  <a:srgbClr val="1A1A2E"/>
                </a:solidFill>
                <a:latin typeface="游ゴシック"/>
              </a:rPr>
              <a:t>PlatformIO native テストにより 33 件すべて合格（test_measurement_core.cpp）</a:t>
            </a:r>
          </a:p>
        </p:txBody>
      </p:sp>
      <p:graphicFrame>
        <p:nvGraphicFramePr>
          <p:cNvPr id="9" name="Table 8"/>
          <p:cNvGraphicFramePr>
            <a:graphicFrameLocks noGrp="1"/>
          </p:cNvGraphicFramePr>
          <p:nvPr/>
        </p:nvGraphicFramePr>
        <p:xfrm>
          <a:off x="320040" y="1645920"/>
          <a:ext cx="8229600" cy="3364992"/>
        </p:xfrm>
        <a:graphic>
          <a:graphicData uri="http://schemas.openxmlformats.org/drawingml/2006/table">
            <a:tbl>
              <a:tblPr firstRow="1" bandRow="1">
                <a:tableStyleId>{5C22544A-7EE6-4342-B048-85BDC9FD1C3A}</a:tableStyleId>
              </a:tblPr>
              <a:tblGrid>
                <a:gridCol w="1645920"/>
                <a:gridCol w="4114800"/>
                <a:gridCol w="685800"/>
                <a:gridCol w="1783080"/>
              </a:tblGrid>
              <a:tr h="420624">
                <a:tc>
                  <a:txBody>
                    <a:bodyPr/>
                    <a:lstStyle/>
                    <a:p>
                      <a:pPr algn="l"/>
                      <a:r>
                        <a:rPr sz="1300" b="1">
                          <a:solidFill>
                            <a:srgbClr val="FFFFFF"/>
                          </a:solidFill>
                          <a:latin typeface="Segoe UI"/>
                        </a:rPr>
                        <a:t>テスト対象</a:t>
                      </a:r>
                    </a:p>
                  </a:txBody>
                  <a:tcPr>
                    <a:solidFill>
                      <a:srgbClr val="0D477F"/>
                    </a:solidFill>
                  </a:tcPr>
                </a:tc>
                <a:tc>
                  <a:txBody>
                    <a:bodyPr/>
                    <a:lstStyle/>
                    <a:p>
                      <a:pPr algn="l"/>
                      <a:r>
                        <a:rPr sz="1300" b="1">
                          <a:solidFill>
                            <a:srgbClr val="FFFFFF"/>
                          </a:solidFill>
                          <a:latin typeface="Segoe UI"/>
                        </a:rPr>
                        <a:t>テストケース概要</a:t>
                      </a:r>
                    </a:p>
                  </a:txBody>
                  <a:tcPr>
                    <a:solidFill>
                      <a:srgbClr val="0D477F"/>
                    </a:solidFill>
                  </a:tcPr>
                </a:tc>
                <a:tc>
                  <a:txBody>
                    <a:bodyPr/>
                    <a:lstStyle/>
                    <a:p>
                      <a:pPr algn="l"/>
                      <a:r>
                        <a:rPr sz="1300" b="1">
                          <a:solidFill>
                            <a:srgbClr val="FFFFFF"/>
                          </a:solidFill>
                          <a:latin typeface="Segoe UI"/>
                        </a:rPr>
                        <a:t>件数</a:t>
                      </a:r>
                    </a:p>
                  </a:txBody>
                  <a:tcPr>
                    <a:solidFill>
                      <a:srgbClr val="0D477F"/>
                    </a:solidFill>
                  </a:tcPr>
                </a:tc>
                <a:tc>
                  <a:txBody>
                    <a:bodyPr/>
                    <a:lstStyle/>
                    <a:p>
                      <a:pPr algn="l"/>
                      <a:r>
                        <a:rPr sz="1300" b="1">
                          <a:solidFill>
                            <a:srgbClr val="FFFFFF"/>
                          </a:solidFill>
                          <a:latin typeface="Segoe UI"/>
                        </a:rPr>
                        <a:t>結果</a:t>
                      </a:r>
                    </a:p>
                  </a:txBody>
                  <a:tcPr>
                    <a:solidFill>
                      <a:srgbClr val="0D477F"/>
                    </a:solidFill>
                  </a:tcPr>
                </a:tc>
              </a:tr>
              <a:tr h="420624">
                <a:tc>
                  <a:txBody>
                    <a:bodyPr/>
                    <a:lstStyle/>
                    <a:p>
                      <a:pPr algn="l"/>
                      <a:r>
                        <a:rPr sz="1200" b="0">
                          <a:solidFill>
                            <a:srgbClr val="1A1A2E"/>
                          </a:solidFill>
                          <a:latin typeface="游ゴシック"/>
                        </a:rPr>
                        <a:t>状態遷移</a:t>
                      </a:r>
                    </a:p>
                  </a:txBody>
                  <a:tcPr>
                    <a:solidFill>
                      <a:srgbClr val="FFFFFF"/>
                    </a:solidFill>
                  </a:tcPr>
                </a:tc>
                <a:tc>
                  <a:txBody>
                    <a:bodyPr/>
                    <a:lstStyle/>
                    <a:p>
                      <a:pPr algn="l"/>
                      <a:r>
                        <a:rPr sz="1200" b="0">
                          <a:solidFill>
                            <a:srgbClr val="1A1A2E"/>
                          </a:solidFill>
                          <a:latin typeface="游ゴシック"/>
                        </a:rPr>
                        <a:t>IDLE→RUN→RESULT→IDLE の連続遷移が仕様通り動作</a:t>
                      </a:r>
                    </a:p>
                  </a:txBody>
                  <a:tcPr>
                    <a:solidFill>
                      <a:srgbClr val="FFFFFF"/>
                    </a:solidFill>
                  </a:tcPr>
                </a:tc>
                <a:tc>
                  <a:txBody>
                    <a:bodyPr/>
                    <a:lstStyle/>
                    <a:p>
                      <a:pPr algn="l"/>
                      <a:r>
                        <a:rPr sz="1200" b="0">
                          <a:solidFill>
                            <a:srgbClr val="1A1A2E"/>
                          </a:solidFill>
                          <a:latin typeface="游ゴシック"/>
                        </a:rPr>
                        <a:t>5 件</a:t>
                      </a:r>
                    </a:p>
                  </a:txBody>
                  <a:tcPr>
                    <a:solidFill>
                      <a:srgbClr val="FFFFFF"/>
                    </a:solidFill>
                  </a:tcPr>
                </a:tc>
                <a:tc>
                  <a:txBody>
                    <a:bodyPr/>
                    <a:lstStyle/>
                    <a:p>
                      <a:pPr algn="l"/>
                      <a:r>
                        <a:rPr sz="1200" b="0">
                          <a:solidFill>
                            <a:srgbClr val="1A1A2E"/>
                          </a:solidFill>
                          <a:latin typeface="游ゴシック"/>
                        </a:rPr>
                        <a:t>✓ 全合格</a:t>
                      </a:r>
                    </a:p>
                  </a:txBody>
                  <a:tcPr>
                    <a:solidFill>
                      <a:srgbClr val="FFFFFF"/>
                    </a:solidFill>
                  </a:tcPr>
                </a:tc>
              </a:tr>
              <a:tr h="420624">
                <a:tc>
                  <a:txBody>
                    <a:bodyPr/>
                    <a:lstStyle/>
                    <a:p>
                      <a:pPr algn="l"/>
                      <a:r>
                        <a:rPr sz="1200" b="0">
                          <a:solidFill>
                            <a:srgbClr val="1A1A2E"/>
                          </a:solidFill>
                          <a:latin typeface="游ゴシック"/>
                        </a:rPr>
                        <a:t>統計計算</a:t>
                      </a:r>
                    </a:p>
                  </a:txBody>
                  <a:tcPr>
                    <a:solidFill>
                      <a:srgbClr val="F4F4F4"/>
                    </a:solidFill>
                  </a:tcPr>
                </a:tc>
                <a:tc>
                  <a:txBody>
                    <a:bodyPr/>
                    <a:lstStyle/>
                    <a:p>
                      <a:pPr algn="l"/>
                      <a:r>
                        <a:rPr sz="1200" b="0">
                          <a:solidFill>
                            <a:srgbClr val="1A1A2E"/>
                          </a:solidFill>
                          <a:latin typeface="游ゴシック"/>
                        </a:rPr>
                        <a:t>既知値での Average / StdDev が期待値に一致</a:t>
                      </a:r>
                    </a:p>
                  </a:txBody>
                  <a:tcPr>
                    <a:solidFill>
                      <a:srgbClr val="F4F4F4"/>
                    </a:solidFill>
                  </a:tcPr>
                </a:tc>
                <a:tc>
                  <a:txBody>
                    <a:bodyPr/>
                    <a:lstStyle/>
                    <a:p>
                      <a:pPr algn="l"/>
                      <a:r>
                        <a:rPr sz="1200" b="0">
                          <a:solidFill>
                            <a:srgbClr val="1A1A2E"/>
                          </a:solidFill>
                          <a:latin typeface="游ゴシック"/>
                        </a:rPr>
                        <a:t>8 件</a:t>
                      </a:r>
                    </a:p>
                  </a:txBody>
                  <a:tcPr>
                    <a:solidFill>
                      <a:srgbClr val="F4F4F4"/>
                    </a:solidFill>
                  </a:tcPr>
                </a:tc>
                <a:tc>
                  <a:txBody>
                    <a:bodyPr/>
                    <a:lstStyle/>
                    <a:p>
                      <a:pPr algn="l"/>
                      <a:r>
                        <a:rPr sz="1200" b="0">
                          <a:solidFill>
                            <a:srgbClr val="1A1A2E"/>
                          </a:solidFill>
                          <a:latin typeface="游ゴシック"/>
                        </a:rPr>
                        <a:t>✓ 全合格</a:t>
                      </a:r>
                    </a:p>
                  </a:txBody>
                  <a:tcPr>
                    <a:solidFill>
                      <a:srgbClr val="F4F4F4"/>
                    </a:solidFill>
                  </a:tcPr>
                </a:tc>
              </a:tr>
              <a:tr h="420624">
                <a:tc>
                  <a:txBody>
                    <a:bodyPr/>
                    <a:lstStyle/>
                    <a:p>
                      <a:pPr algn="l"/>
                      <a:r>
                        <a:rPr sz="1200" b="0">
                          <a:solidFill>
                            <a:srgbClr val="1A1A2E"/>
                          </a:solidFill>
                          <a:latin typeface="游ゴシック"/>
                        </a:rPr>
                        <a:t>アラーム判定</a:t>
                      </a:r>
                    </a:p>
                  </a:txBody>
                  <a:tcPr>
                    <a:solidFill>
                      <a:srgbClr val="FFFFFF"/>
                    </a:solidFill>
                  </a:tcPr>
                </a:tc>
                <a:tc>
                  <a:txBody>
                    <a:bodyPr/>
                    <a:lstStyle/>
                    <a:p>
                      <a:pPr algn="l"/>
                      <a:r>
                        <a:rPr sz="1200" b="0">
                          <a:solidFill>
                            <a:srgbClr val="1A1A2E"/>
                          </a:solidFill>
                          <a:latin typeface="游ゴシック"/>
                        </a:rPr>
                        <a:t>ヒステリシス境界値での HI/LO フラグ挙動</a:t>
                      </a:r>
                    </a:p>
                  </a:txBody>
                  <a:tcPr>
                    <a:solidFill>
                      <a:srgbClr val="FFFFFF"/>
                    </a:solidFill>
                  </a:tcPr>
                </a:tc>
                <a:tc>
                  <a:txBody>
                    <a:bodyPr/>
                    <a:lstStyle/>
                    <a:p>
                      <a:pPr algn="l"/>
                      <a:r>
                        <a:rPr sz="1200" b="0">
                          <a:solidFill>
                            <a:srgbClr val="1A1A2E"/>
                          </a:solidFill>
                          <a:latin typeface="游ゴシック"/>
                        </a:rPr>
                        <a:t>6 件</a:t>
                      </a:r>
                    </a:p>
                  </a:txBody>
                  <a:tcPr>
                    <a:solidFill>
                      <a:srgbClr val="FFFFFF"/>
                    </a:solidFill>
                  </a:tcPr>
                </a:tc>
                <a:tc>
                  <a:txBody>
                    <a:bodyPr/>
                    <a:lstStyle/>
                    <a:p>
                      <a:pPr algn="l"/>
                      <a:r>
                        <a:rPr sz="1200" b="0">
                          <a:solidFill>
                            <a:srgbClr val="1A1A2E"/>
                          </a:solidFill>
                          <a:latin typeface="游ゴシック"/>
                        </a:rPr>
                        <a:t>✓ 全合格</a:t>
                      </a:r>
                    </a:p>
                  </a:txBody>
                  <a:tcPr>
                    <a:solidFill>
                      <a:srgbClr val="FFFFFF"/>
                    </a:solidFill>
                  </a:tcPr>
                </a:tc>
              </a:tr>
              <a:tr h="420624">
                <a:tc>
                  <a:txBody>
                    <a:bodyPr/>
                    <a:lstStyle/>
                    <a:p>
                      <a:pPr algn="l"/>
                      <a:r>
                        <a:rPr sz="1200" b="0">
                          <a:solidFill>
                            <a:srgbClr val="1A1A2E"/>
                          </a:solidFill>
                          <a:latin typeface="游ゴシック"/>
                        </a:rPr>
                        <a:t>EEPROM 操作</a:t>
                      </a:r>
                    </a:p>
                  </a:txBody>
                  <a:tcPr>
                    <a:solidFill>
                      <a:srgbClr val="F4F4F4"/>
                    </a:solidFill>
                  </a:tcPr>
                </a:tc>
                <a:tc>
                  <a:txBody>
                    <a:bodyPr/>
                    <a:lstStyle/>
                    <a:p>
                      <a:pPr algn="l"/>
                      <a:r>
                        <a:rPr sz="1200" b="0">
                          <a:solidFill>
                            <a:srgbClr val="1A1A2E"/>
                          </a:solidFill>
                          <a:latin typeface="游ゴシック"/>
                        </a:rPr>
                        <a:t>書込→読込の一致、NaN/Inf の拒否</a:t>
                      </a:r>
                    </a:p>
                  </a:txBody>
                  <a:tcPr>
                    <a:solidFill>
                      <a:srgbClr val="F4F4F4"/>
                    </a:solidFill>
                  </a:tcPr>
                </a:tc>
                <a:tc>
                  <a:txBody>
                    <a:bodyPr/>
                    <a:lstStyle/>
                    <a:p>
                      <a:pPr algn="l"/>
                      <a:r>
                        <a:rPr sz="1200" b="0">
                          <a:solidFill>
                            <a:srgbClr val="1A1A2E"/>
                          </a:solidFill>
                          <a:latin typeface="游ゴシック"/>
                        </a:rPr>
                        <a:t>4 件</a:t>
                      </a:r>
                    </a:p>
                  </a:txBody>
                  <a:tcPr>
                    <a:solidFill>
                      <a:srgbClr val="F4F4F4"/>
                    </a:solidFill>
                  </a:tcPr>
                </a:tc>
                <a:tc>
                  <a:txBody>
                    <a:bodyPr/>
                    <a:lstStyle/>
                    <a:p>
                      <a:pPr algn="l"/>
                      <a:r>
                        <a:rPr sz="1200" b="0">
                          <a:solidFill>
                            <a:srgbClr val="1A1A2E"/>
                          </a:solidFill>
                          <a:latin typeface="游ゴシック"/>
                        </a:rPr>
                        <a:t>✓ 全合格</a:t>
                      </a:r>
                    </a:p>
                  </a:txBody>
                  <a:tcPr>
                    <a:solidFill>
                      <a:srgbClr val="F4F4F4"/>
                    </a:solidFill>
                  </a:tcPr>
                </a:tc>
              </a:tr>
              <a:tr h="420624">
                <a:tc>
                  <a:txBody>
                    <a:bodyPr/>
                    <a:lstStyle/>
                    <a:p>
                      <a:pPr algn="l"/>
                      <a:r>
                        <a:rPr sz="1200" b="0">
                          <a:solidFill>
                            <a:srgbClr val="1A1A2E"/>
                          </a:solidFill>
                          <a:latin typeface="游ゴシック"/>
                        </a:rPr>
                        <a:t>フィルタ</a:t>
                      </a:r>
                    </a:p>
                  </a:txBody>
                  <a:tcPr>
                    <a:solidFill>
                      <a:srgbClr val="FFFFFF"/>
                    </a:solidFill>
                  </a:tcPr>
                </a:tc>
                <a:tc>
                  <a:txBody>
                    <a:bodyPr/>
                    <a:lstStyle/>
                    <a:p>
                      <a:pPr algn="l"/>
                      <a:r>
                        <a:rPr sz="1200" b="0">
                          <a:solidFill>
                            <a:srgbClr val="1A1A2E"/>
                          </a:solidFill>
                          <a:latin typeface="游ゴシック"/>
                        </a:rPr>
                        <a:t>初回 NaN 時の raw 代入, α=0.1 の収束特性</a:t>
                      </a:r>
                    </a:p>
                  </a:txBody>
                  <a:tcPr>
                    <a:solidFill>
                      <a:srgbClr val="FFFFFF"/>
                    </a:solidFill>
                  </a:tcPr>
                </a:tc>
                <a:tc>
                  <a:txBody>
                    <a:bodyPr/>
                    <a:lstStyle/>
                    <a:p>
                      <a:pPr algn="l"/>
                      <a:r>
                        <a:rPr sz="1200" b="0">
                          <a:solidFill>
                            <a:srgbClr val="1A1A2E"/>
                          </a:solidFill>
                          <a:latin typeface="游ゴシック"/>
                        </a:rPr>
                        <a:t>4 件</a:t>
                      </a:r>
                    </a:p>
                  </a:txBody>
                  <a:tcPr>
                    <a:solidFill>
                      <a:srgbClr val="FFFFFF"/>
                    </a:solidFill>
                  </a:tcPr>
                </a:tc>
                <a:tc>
                  <a:txBody>
                    <a:bodyPr/>
                    <a:lstStyle/>
                    <a:p>
                      <a:pPr algn="l"/>
                      <a:r>
                        <a:rPr sz="1200" b="0">
                          <a:solidFill>
                            <a:srgbClr val="1A1A2E"/>
                          </a:solidFill>
                          <a:latin typeface="游ゴシック"/>
                        </a:rPr>
                        <a:t>✓ 全合格</a:t>
                      </a:r>
                    </a:p>
                  </a:txBody>
                  <a:tcPr>
                    <a:solidFill>
                      <a:srgbClr val="FFFFFF"/>
                    </a:solidFill>
                  </a:tcPr>
                </a:tc>
              </a:tr>
              <a:tr h="420624">
                <a:tc>
                  <a:txBody>
                    <a:bodyPr/>
                    <a:lstStyle/>
                    <a:p>
                      <a:pPr algn="l"/>
                      <a:r>
                        <a:rPr sz="1200" b="0">
                          <a:solidFill>
                            <a:srgbClr val="1A1A2E"/>
                          </a:solidFill>
                          <a:latin typeface="游ゴシック"/>
                        </a:rPr>
                        <a:t>CSV 出力</a:t>
                      </a:r>
                    </a:p>
                  </a:txBody>
                  <a:tcPr>
                    <a:solidFill>
                      <a:srgbClr val="F4F4F4"/>
                    </a:solidFill>
                  </a:tcPr>
                </a:tc>
                <a:tc>
                  <a:txBody>
                    <a:bodyPr/>
                    <a:lstStyle/>
                    <a:p>
                      <a:pPr algn="l"/>
                      <a:r>
                        <a:rPr sz="1200" b="0">
                          <a:solidFill>
                            <a:srgbClr val="1A1A2E"/>
                          </a:solidFill>
                          <a:latin typeface="游ゴシック"/>
                        </a:rPr>
                        <a:t>NaN データ行の "NaN" 文字列出力</a:t>
                      </a:r>
                    </a:p>
                  </a:txBody>
                  <a:tcPr>
                    <a:solidFill>
                      <a:srgbClr val="F4F4F4"/>
                    </a:solidFill>
                  </a:tcPr>
                </a:tc>
                <a:tc>
                  <a:txBody>
                    <a:bodyPr/>
                    <a:lstStyle/>
                    <a:p>
                      <a:pPr algn="l"/>
                      <a:r>
                        <a:rPr sz="1200" b="0">
                          <a:solidFill>
                            <a:srgbClr val="1A1A2E"/>
                          </a:solidFill>
                          <a:latin typeface="游ゴシック"/>
                        </a:rPr>
                        <a:t>3 件</a:t>
                      </a:r>
                    </a:p>
                  </a:txBody>
                  <a:tcPr>
                    <a:solidFill>
                      <a:srgbClr val="F4F4F4"/>
                    </a:solidFill>
                  </a:tcPr>
                </a:tc>
                <a:tc>
                  <a:txBody>
                    <a:bodyPr/>
                    <a:lstStyle/>
                    <a:p>
                      <a:pPr algn="l"/>
                      <a:r>
                        <a:rPr sz="1200" b="0">
                          <a:solidFill>
                            <a:srgbClr val="1A1A2E"/>
                          </a:solidFill>
                          <a:latin typeface="游ゴシック"/>
                        </a:rPr>
                        <a:t>✓ 全合格</a:t>
                      </a:r>
                    </a:p>
                  </a:txBody>
                  <a:tcPr>
                    <a:solidFill>
                      <a:srgbClr val="F4F4F4"/>
                    </a:solidFill>
                  </a:tcPr>
                </a:tc>
              </a:tr>
              <a:tr h="420624">
                <a:tc>
                  <a:txBody>
                    <a:bodyPr/>
                    <a:lstStyle/>
                    <a:p>
                      <a:pPr algn="l"/>
                      <a:r>
                        <a:rPr sz="1200" b="0">
                          <a:solidFill>
                            <a:srgbClr val="1A1A2E"/>
                          </a:solidFill>
                          <a:latin typeface="游ゴシック"/>
                        </a:rPr>
                        <a:t>ボタン操作</a:t>
                      </a:r>
                    </a:p>
                  </a:txBody>
                  <a:tcPr>
                    <a:solidFill>
                      <a:srgbClr val="FFFFFF"/>
                    </a:solidFill>
                  </a:tcPr>
                </a:tc>
                <a:tc>
                  <a:txBody>
                    <a:bodyPr/>
                    <a:lstStyle/>
                    <a:p>
                      <a:pPr algn="l"/>
                      <a:r>
                        <a:rPr sz="1200" b="0">
                          <a:solidFill>
                            <a:srgbClr val="1A1A2E"/>
                          </a:solidFill>
                          <a:latin typeface="游ゴシック"/>
                        </a:rPr>
                        <a:t>ALARM_SETTING の BtnB +5°C / BtnC -5°C</a:t>
                      </a:r>
                    </a:p>
                  </a:txBody>
                  <a:tcPr>
                    <a:solidFill>
                      <a:srgbClr val="FFFFFF"/>
                    </a:solidFill>
                  </a:tcPr>
                </a:tc>
                <a:tc>
                  <a:txBody>
                    <a:bodyPr/>
                    <a:lstStyle/>
                    <a:p>
                      <a:pPr algn="l"/>
                      <a:r>
                        <a:rPr sz="1200" b="0">
                          <a:solidFill>
                            <a:srgbClr val="1A1A2E"/>
                          </a:solidFill>
                          <a:latin typeface="游ゴシック"/>
                        </a:rPr>
                        <a:t>3 件</a:t>
                      </a:r>
                    </a:p>
                  </a:txBody>
                  <a:tcPr>
                    <a:solidFill>
                      <a:srgbClr val="FFFFFF"/>
                    </a:solidFill>
                  </a:tcPr>
                </a:tc>
                <a:tc>
                  <a:txBody>
                    <a:bodyPr/>
                    <a:lstStyle/>
                    <a:p>
                      <a:pPr algn="l"/>
                      <a:r>
                        <a:rPr sz="1200" b="0">
                          <a:solidFill>
                            <a:srgbClr val="1A1A2E"/>
                          </a:solidFill>
                          <a:latin typeface="游ゴシック"/>
                        </a:rPr>
                        <a:t>✓ 全合格</a:t>
                      </a:r>
                    </a:p>
                  </a:txBody>
                  <a:tcPr>
                    <a:solidFill>
                      <a:srgbClr val="FFFFFF"/>
                    </a:solidFill>
                  </a:tcPr>
                </a:tc>
              </a:tr>
            </a:tbl>
          </a:graphicData>
        </a:graphic>
      </p:graphicFrame>
      <p:sp>
        <p:nvSpPr>
          <p:cNvPr id="10" name="Rectangle 9"/>
          <p:cNvSpPr/>
          <p:nvPr/>
        </p:nvSpPr>
        <p:spPr>
          <a:xfrm>
            <a:off x="8686800" y="4983480"/>
            <a:ext cx="2862072" cy="1051560"/>
          </a:xfrm>
          <a:prstGeom prst="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86800" y="5047488"/>
            <a:ext cx="2862072" cy="594360"/>
          </a:xfrm>
          <a:prstGeom prst="rect">
            <a:avLst/>
          </a:prstGeom>
          <a:noFill/>
        </p:spPr>
        <p:txBody>
          <a:bodyPr wrap="square">
            <a:spAutoFit/>
          </a:bodyPr>
          <a:lstStyle/>
          <a:p>
            <a:pPr algn="ctr"/>
            <a:r>
              <a:rPr sz="2800" b="1" i="0">
                <a:solidFill>
                  <a:srgbClr val="FFFFFF"/>
                </a:solidFill>
                <a:latin typeface="Segoe UI"/>
              </a:rPr>
              <a:t>33 / 33</a:t>
            </a:r>
          </a:p>
        </p:txBody>
      </p:sp>
      <p:sp>
        <p:nvSpPr>
          <p:cNvPr id="12" name="TextBox 11"/>
          <p:cNvSpPr txBox="1"/>
          <p:nvPr/>
        </p:nvSpPr>
        <p:spPr>
          <a:xfrm>
            <a:off x="8686800" y="5641848"/>
            <a:ext cx="2862072" cy="320040"/>
          </a:xfrm>
          <a:prstGeom prst="rect">
            <a:avLst/>
          </a:prstGeom>
          <a:noFill/>
        </p:spPr>
        <p:txBody>
          <a:bodyPr wrap="square">
            <a:spAutoFit/>
          </a:bodyPr>
          <a:lstStyle/>
          <a:p>
            <a:pPr algn="ctr"/>
            <a:r>
              <a:rPr sz="1400" b="0" i="0">
                <a:solidFill>
                  <a:srgbClr val="FFFFFF"/>
                </a:solidFill>
                <a:latin typeface="游ゴシック"/>
              </a:rPr>
              <a:t>100%合格</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914400"/>
          </a:xfrm>
          <a:prstGeom prst="rect">
            <a:avLst/>
          </a:prstGeom>
          <a:solidFill>
            <a:srgbClr val="0D477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73152"/>
            <a:ext cx="11430000" cy="502920"/>
          </a:xfrm>
          <a:prstGeom prst="rect">
            <a:avLst/>
          </a:prstGeom>
          <a:noFill/>
        </p:spPr>
        <p:txBody>
          <a:bodyPr wrap="square">
            <a:spAutoFit/>
          </a:bodyPr>
          <a:lstStyle/>
          <a:p>
            <a:pPr algn="l"/>
            <a:r>
              <a:rPr sz="2400" b="1" i="0">
                <a:solidFill>
                  <a:srgbClr val="FFFFFF"/>
                </a:solidFill>
                <a:latin typeface="Segoe UI"/>
              </a:rPr>
              <a:t>まとめ</a:t>
            </a:r>
          </a:p>
        </p:txBody>
      </p:sp>
      <p:sp>
        <p:nvSpPr>
          <p:cNvPr id="4" name="TextBox 3"/>
          <p:cNvSpPr txBox="1"/>
          <p:nvPr/>
        </p:nvSpPr>
        <p:spPr>
          <a:xfrm>
            <a:off x="274320" y="594360"/>
            <a:ext cx="11430000" cy="274320"/>
          </a:xfrm>
          <a:prstGeom prst="rect">
            <a:avLst/>
          </a:prstGeom>
          <a:noFill/>
        </p:spPr>
        <p:txBody>
          <a:bodyPr wrap="square">
            <a:spAutoFit/>
          </a:bodyPr>
          <a:lstStyle/>
          <a:p>
            <a:pPr algn="l"/>
            <a:r>
              <a:rPr sz="1200" b="0" i="0">
                <a:solidFill>
                  <a:srgbClr val="FF6D00"/>
                </a:solidFill>
                <a:latin typeface="游ゴシック"/>
              </a:rPr>
              <a:t>Summary</a:t>
            </a:r>
          </a:p>
        </p:txBody>
      </p:sp>
      <p:sp>
        <p:nvSpPr>
          <p:cNvPr id="5" name="Rectangle 4"/>
          <p:cNvSpPr/>
          <p:nvPr/>
        </p:nvSpPr>
        <p:spPr>
          <a:xfrm>
            <a:off x="0" y="6309360"/>
            <a:ext cx="12188952" cy="548640"/>
          </a:xfrm>
          <a:prstGeom prst="rect">
            <a:avLst/>
          </a:prstGeom>
          <a:solidFill>
            <a:srgbClr val="0D477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74320" y="6336792"/>
            <a:ext cx="7315200" cy="320040"/>
          </a:xfrm>
          <a:prstGeom prst="rect">
            <a:avLst/>
          </a:prstGeom>
          <a:noFill/>
        </p:spPr>
        <p:txBody>
          <a:bodyPr wrap="square">
            <a:spAutoFit/>
          </a:bodyPr>
          <a:lstStyle/>
          <a:p>
            <a:pPr algn="l"/>
            <a:r>
              <a:rPr sz="1100" b="0" i="0">
                <a:solidFill>
                  <a:srgbClr val="FF6D00"/>
                </a:solidFill>
                <a:latin typeface="Segoe UI"/>
              </a:rPr>
              <a:t>Simple Temperature Evaluation Tool</a:t>
            </a:r>
          </a:p>
        </p:txBody>
      </p:sp>
      <p:sp>
        <p:nvSpPr>
          <p:cNvPr id="7" name="TextBox 6"/>
          <p:cNvSpPr txBox="1"/>
          <p:nvPr/>
        </p:nvSpPr>
        <p:spPr>
          <a:xfrm>
            <a:off x="10515600" y="6336792"/>
            <a:ext cx="1371600" cy="320040"/>
          </a:xfrm>
          <a:prstGeom prst="rect">
            <a:avLst/>
          </a:prstGeom>
          <a:noFill/>
        </p:spPr>
        <p:txBody>
          <a:bodyPr wrap="square">
            <a:spAutoFit/>
          </a:bodyPr>
          <a:lstStyle/>
          <a:p>
            <a:pPr algn="r"/>
            <a:r>
              <a:rPr sz="1100" b="0" i="0">
                <a:solidFill>
                  <a:srgbClr val="FFFFFF"/>
                </a:solidFill>
                <a:latin typeface="Segoe UI"/>
              </a:rPr>
              <a:t>23</a:t>
            </a:r>
          </a:p>
        </p:txBody>
      </p:sp>
      <p:sp>
        <p:nvSpPr>
          <p:cNvPr id="8" name="Rectangle 7"/>
          <p:cNvSpPr/>
          <p:nvPr/>
        </p:nvSpPr>
        <p:spPr>
          <a:xfrm>
            <a:off x="320040" y="1051560"/>
            <a:ext cx="11521440" cy="2194560"/>
          </a:xfrm>
          <a:prstGeom prst="rect">
            <a:avLst/>
          </a:prstGeom>
          <a:solidFill>
            <a:srgbClr val="0D477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1115568"/>
            <a:ext cx="11155680" cy="365760"/>
          </a:xfrm>
          <a:prstGeom prst="rect">
            <a:avLst/>
          </a:prstGeom>
          <a:noFill/>
        </p:spPr>
        <p:txBody>
          <a:bodyPr wrap="square">
            <a:spAutoFit/>
          </a:bodyPr>
          <a:lstStyle/>
          <a:p>
            <a:pPr algn="l"/>
            <a:r>
              <a:rPr sz="1800" b="1" i="0">
                <a:solidFill>
                  <a:srgbClr val="FFFFFF"/>
                </a:solidFill>
                <a:latin typeface="游ゴシック"/>
              </a:rPr>
              <a:t>実現したこと</a:t>
            </a:r>
          </a:p>
        </p:txBody>
      </p:sp>
      <p:sp>
        <p:nvSpPr>
          <p:cNvPr id="10" name="TextBox 9"/>
          <p:cNvSpPr txBox="1"/>
          <p:nvPr/>
        </p:nvSpPr>
        <p:spPr>
          <a:xfrm>
            <a:off x="502920" y="1536192"/>
            <a:ext cx="11155680" cy="1600200"/>
          </a:xfrm>
          <a:prstGeom prst="rect">
            <a:avLst/>
          </a:prstGeom>
          <a:noFill/>
        </p:spPr>
        <p:txBody>
          <a:bodyPr wrap="square">
            <a:spAutoFit/>
          </a:bodyPr>
          <a:lstStyle/>
          <a:p>
            <a:pPr algn="l"/>
            <a:r>
              <a:rPr sz="1400" b="0" i="0">
                <a:solidFill>
                  <a:srgbClr val="FFFFFF"/>
                </a:solidFill>
                <a:latin typeface="游ゴシック"/>
              </a:rPr>
              <a:t>・PLC 設計手法（D/M デバイス）を C++ に応用した状態機械の実装</a:t>
            </a:r>
          </a:p>
          <a:p>
            <a:pPr algn="l"/>
            <a:r>
              <a:rPr sz="1400" b="0" i="0">
                <a:solidFill>
                  <a:srgbClr val="FFFFFF"/>
                </a:solidFill>
                <a:latin typeface="游ゴシック"/>
              </a:rPr>
              <a:t>・3 タスク（10 / 50 / 200 ms）のノン・プリエンプティブ周期スケジューリング</a:t>
            </a:r>
          </a:p>
          <a:p>
            <a:pPr algn="l"/>
            <a:r>
              <a:rPr sz="1400" b="0" i="0">
                <a:solidFill>
                  <a:srgbClr val="FFFFFF"/>
                </a:solidFill>
                <a:latin typeface="游ゴシック"/>
              </a:rPr>
              <a:t>・Welford 法によるリアルタイム統計（RAM O(1)、計測時間に無依存）</a:t>
            </a:r>
          </a:p>
          <a:p>
            <a:pPr algn="l"/>
            <a:r>
              <a:rPr sz="1400" b="0" i="0">
                <a:solidFill>
                  <a:srgbClr val="FFFFFF"/>
                </a:solidFill>
                <a:latin typeface="游ゴシック"/>
              </a:rPr>
              <a:t>・SPI バス競合・CS 衝突などハードウェア固有バグの特定と対策</a:t>
            </a:r>
          </a:p>
          <a:p>
            <a:pPr algn="l"/>
            <a:r>
              <a:rPr sz="1400" b="0" i="0">
                <a:solidFill>
                  <a:srgbClr val="FFFFFF"/>
                </a:solidFill>
                <a:latin typeface="游ゴシック"/>
              </a:rPr>
              <a:t>・native テスト 33 件 100% 合格で品質担保</a:t>
            </a:r>
          </a:p>
        </p:txBody>
      </p:sp>
      <p:sp>
        <p:nvSpPr>
          <p:cNvPr id="11" name="Rectangle 10"/>
          <p:cNvSpPr/>
          <p:nvPr/>
        </p:nvSpPr>
        <p:spPr>
          <a:xfrm>
            <a:off x="320040" y="3383280"/>
            <a:ext cx="5394960" cy="2560320"/>
          </a:xfrm>
          <a:prstGeom prst="rect">
            <a:avLst/>
          </a:prstGeom>
          <a:solidFill>
            <a:srgbClr val="FFFFFF"/>
          </a:solidFill>
          <a:ln w="19050">
            <a:solidFill>
              <a:srgbClr val="FF6D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02920" y="3474720"/>
            <a:ext cx="5029200" cy="365760"/>
          </a:xfrm>
          <a:prstGeom prst="rect">
            <a:avLst/>
          </a:prstGeom>
          <a:noFill/>
        </p:spPr>
        <p:txBody>
          <a:bodyPr wrap="square">
            <a:spAutoFit/>
          </a:bodyPr>
          <a:lstStyle/>
          <a:p>
            <a:pPr algn="l"/>
            <a:r>
              <a:rPr sz="1600" b="1" i="0">
                <a:solidFill>
                  <a:srgbClr val="FF6D00"/>
                </a:solidFill>
                <a:latin typeface="游ゴシック"/>
              </a:rPr>
              <a:t>学んだこと</a:t>
            </a:r>
          </a:p>
        </p:txBody>
      </p:sp>
      <p:sp>
        <p:nvSpPr>
          <p:cNvPr id="13" name="TextBox 12"/>
          <p:cNvSpPr txBox="1"/>
          <p:nvPr/>
        </p:nvSpPr>
        <p:spPr>
          <a:xfrm>
            <a:off x="502920" y="3913632"/>
            <a:ext cx="5212080" cy="1920240"/>
          </a:xfrm>
          <a:prstGeom prst="rect">
            <a:avLst/>
          </a:prstGeom>
          <a:noFill/>
        </p:spPr>
        <p:txBody>
          <a:bodyPr wrap="square">
            <a:spAutoFit/>
          </a:bodyPr>
          <a:lstStyle/>
          <a:p>
            <a:pPr algn="l"/>
            <a:r>
              <a:rPr sz="1300" b="0" i="0">
                <a:solidFill>
                  <a:srgbClr val="1A1A2E"/>
                </a:solidFill>
                <a:latin typeface="游ゴシック"/>
              </a:rPr>
              <a:t>・ハードウェアとソフトウェアの境界を意識した設計の重要性</a:t>
            </a:r>
          </a:p>
          <a:p>
            <a:pPr algn="l"/>
            <a:r>
              <a:rPr sz="1300" b="0" i="0">
                <a:solidFill>
                  <a:srgbClr val="1A1A2E"/>
                </a:solidFill>
                <a:latin typeface="游ゴシック"/>
              </a:rPr>
              <a:t>・デバッグは再現性・ログ出力から始める</a:t>
            </a:r>
          </a:p>
          <a:p>
            <a:pPr algn="l"/>
            <a:r>
              <a:rPr sz="1300" b="0" i="0">
                <a:solidFill>
                  <a:srgbClr val="1A1A2E"/>
                </a:solidFill>
                <a:latin typeface="游ゴシック"/>
              </a:rPr>
              <a:t>・「小さなテスト可能な関数」に分割することで不具合が減る</a:t>
            </a:r>
          </a:p>
          <a:p>
            <a:pPr algn="l"/>
            <a:r>
              <a:rPr sz="1300" b="0" i="0">
                <a:solidFill>
                  <a:srgbClr val="1A1A2E"/>
                </a:solidFill>
                <a:latin typeface="游ゴシック"/>
              </a:rPr>
              <a:t>・NaN / 初期化の扱いは想定外の動作の温床になる</a:t>
            </a:r>
          </a:p>
        </p:txBody>
      </p:sp>
      <p:sp>
        <p:nvSpPr>
          <p:cNvPr id="14" name="Rectangle 13"/>
          <p:cNvSpPr/>
          <p:nvPr/>
        </p:nvSpPr>
        <p:spPr>
          <a:xfrm>
            <a:off x="6035040" y="3383280"/>
            <a:ext cx="5532120" cy="2560320"/>
          </a:xfrm>
          <a:prstGeom prst="rect">
            <a:avLst/>
          </a:prstGeom>
          <a:solidFill>
            <a:srgbClr val="FFFFFF"/>
          </a:solidFill>
          <a:ln w="1905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172200" y="3474720"/>
            <a:ext cx="5212080" cy="365760"/>
          </a:xfrm>
          <a:prstGeom prst="rect">
            <a:avLst/>
          </a:prstGeom>
          <a:noFill/>
        </p:spPr>
        <p:txBody>
          <a:bodyPr wrap="square">
            <a:spAutoFit/>
          </a:bodyPr>
          <a:lstStyle/>
          <a:p>
            <a:pPr algn="l"/>
            <a:r>
              <a:rPr sz="1600" b="1" i="0">
                <a:solidFill>
                  <a:srgbClr val="27AE60"/>
                </a:solidFill>
                <a:latin typeface="游ゴシック"/>
              </a:rPr>
              <a:t>次のステップ</a:t>
            </a:r>
          </a:p>
        </p:txBody>
      </p:sp>
      <p:sp>
        <p:nvSpPr>
          <p:cNvPr id="16" name="TextBox 15"/>
          <p:cNvSpPr txBox="1"/>
          <p:nvPr/>
        </p:nvSpPr>
        <p:spPr>
          <a:xfrm>
            <a:off x="6172200" y="3913632"/>
            <a:ext cx="5212080" cy="1920240"/>
          </a:xfrm>
          <a:prstGeom prst="rect">
            <a:avLst/>
          </a:prstGeom>
          <a:noFill/>
        </p:spPr>
        <p:txBody>
          <a:bodyPr wrap="square">
            <a:spAutoFit/>
          </a:bodyPr>
          <a:lstStyle/>
          <a:p>
            <a:pPr algn="l"/>
            <a:r>
              <a:rPr sz="1300" b="0" i="0">
                <a:solidFill>
                  <a:srgbClr val="1A1A2E"/>
                </a:solidFill>
                <a:latin typeface="游ゴシック"/>
              </a:rPr>
              <a:t>・RTC（DS3231）追加でファイル名を YYYYMMDD_HHMMSS 形式に</a:t>
            </a:r>
          </a:p>
          <a:p>
            <a:pPr algn="l"/>
            <a:r>
              <a:rPr sz="1300" b="0" i="0">
                <a:solidFill>
                  <a:srgbClr val="1A1A2E"/>
                </a:solidFill>
                <a:latin typeface="游ゴシック"/>
              </a:rPr>
              <a:t>・多チャネル化（同時 8ch 計測）</a:t>
            </a:r>
          </a:p>
          <a:p>
            <a:pPr algn="l"/>
            <a:r>
              <a:rPr sz="1300" b="0" i="0">
                <a:solidFill>
                  <a:srgbClr val="1A1A2E"/>
                </a:solidFill>
                <a:latin typeface="游ゴシック"/>
              </a:rPr>
              <a:t>・WiFi / MQTT でクラウド送信</a:t>
            </a:r>
          </a:p>
          <a:p>
            <a:pPr algn="l"/>
            <a:r>
              <a:rPr sz="1300" b="0" i="0">
                <a:solidFill>
                  <a:srgbClr val="1A1A2E"/>
                </a:solidFill>
                <a:latin typeface="游ゴシック"/>
              </a:rPr>
              <a:t>・FreeRTOS 移行でより精密なタスク管理</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