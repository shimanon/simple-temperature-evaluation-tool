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477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Segoe UI"/>
              </a:rPr>
              <a:t>Hello World PPTX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651760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游ゴシック"/>
              </a:rPr>
              <a:t>spec_to_pptx.py — 最小構成デモ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3310128"/>
            <a:ext cx="10332720" cy="36576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47472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FF6D00"/>
                </a:solidFill>
                <a:latin typeface="游ゴシック"/>
              </a:rPr>
              <a:t>5スライドで全基本レイアウトを体験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93192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999999"/>
                </a:solidFill>
                <a:latin typeface="Segoe UI"/>
              </a:rPr>
              <a:t>tools/pptx_tool/examples/hello_world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75488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游ゴシック"/>
              </a:rPr>
              <a:t>2026年3月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D47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Segoe UI"/>
              </a:rPr>
              <a:t>目次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9436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6D00"/>
                </a:solidFill>
                <a:latin typeface="游ゴシック"/>
              </a:rPr>
              <a:t>Table of Contents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0D47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33679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6D00"/>
                </a:solidFill>
                <a:latin typeface="Segoe UI"/>
              </a:rPr>
              <a:t>Hello World PPTX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33679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097280"/>
            <a:ext cx="822960" cy="320040"/>
          </a:xfrm>
          <a:prstGeom prst="rect">
            <a:avLst/>
          </a:prstGeom>
          <a:solidFill>
            <a:srgbClr val="0D47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115568"/>
            <a:ext cx="731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S1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10972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  <a:latin typeface="游ゴシック"/>
              </a:rPr>
              <a:t>はじめに（このスライド）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109728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999999"/>
                </a:solidFill>
                <a:latin typeface="Segoe UI"/>
              </a:rPr>
              <a:t>p.2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1737360"/>
            <a:ext cx="822960" cy="320040"/>
          </a:xfrm>
          <a:prstGeom prst="rect">
            <a:avLst/>
          </a:prstGeom>
          <a:solidFill>
            <a:srgbClr val="0D47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1755648"/>
            <a:ext cx="731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S2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17373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  <a:latin typeface="游ゴシック"/>
              </a:rPr>
              <a:t>箇条書きレイアウト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173736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999999"/>
                </a:solidFill>
                <a:latin typeface="Segoe UI"/>
              </a:rPr>
              <a:t>p.3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377440"/>
            <a:ext cx="822960" cy="320040"/>
          </a:xfrm>
          <a:prstGeom prst="rect">
            <a:avLst/>
          </a:prstGeom>
          <a:solidFill>
            <a:srgbClr val="0D47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2395728"/>
            <a:ext cx="731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S3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23774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  <a:latin typeface="游ゴシック"/>
              </a:rPr>
              <a:t>テーブルレイアウト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6280" y="237744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999999"/>
                </a:solidFill>
                <a:latin typeface="Segoe UI"/>
              </a:rPr>
              <a:t>p.4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3017520"/>
            <a:ext cx="822960" cy="320040"/>
          </a:xfrm>
          <a:prstGeom prst="rect">
            <a:avLst/>
          </a:prstGeom>
          <a:solidFill>
            <a:srgbClr val="0D47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3035808"/>
            <a:ext cx="731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S4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34440" y="30175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  <a:latin typeface="游ゴシック"/>
              </a:rPr>
              <a:t>2カラムレイアウト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6280" y="301752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999999"/>
                </a:solidFill>
                <a:latin typeface="Segoe UI"/>
              </a:rPr>
              <a:t>p.5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26480" y="1097280"/>
            <a:ext cx="822960" cy="320040"/>
          </a:xfrm>
          <a:prstGeom prst="rect">
            <a:avLst/>
          </a:prstGeom>
          <a:solidFill>
            <a:srgbClr val="0D47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72200" y="1115568"/>
            <a:ext cx="731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S5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40880" y="10972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  <a:latin typeface="游ゴシック"/>
              </a:rPr>
              <a:t>まとめ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32720" y="109728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999999"/>
                </a:solidFill>
                <a:latin typeface="Segoe UI"/>
              </a:rPr>
              <a:t>p.6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D47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Segoe UI"/>
              </a:rPr>
              <a:t>spec_to_pptx.py とは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9436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6D00"/>
                </a:solidFill>
                <a:latin typeface="游ゴシック"/>
              </a:rPr>
              <a:t>Section 1  はじめに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0D47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33679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6D00"/>
                </a:solidFill>
                <a:latin typeface="Segoe UI"/>
              </a:rPr>
              <a:t>Hello World PPTX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33679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1005840"/>
            <a:ext cx="1154887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  <a:latin typeface="游ゴシック"/>
              </a:rPr>
              <a:t>・Markdown の spec ファイルを読み込んで PPTX を自動生成するツール</a:t>
            </a:r>
          </a:p>
          <a:p>
            <a:pPr algn="l"/>
            <a:r>
              <a:rPr sz="1400" b="0" i="0">
                <a:solidFill>
                  <a:srgbClr val="1A1A2E"/>
                </a:solidFill>
                <a:latin typeface="游ゴシック"/>
              </a:rPr>
              <a:t>・18 種類のレイアウトを YAML で指定するだけで高品質スライドが完成</a:t>
            </a:r>
          </a:p>
          <a:p>
            <a:pPr algn="l"/>
            <a:r>
              <a:rPr sz="1400" b="0" i="0">
                <a:solidFill>
                  <a:srgbClr val="1A1A2E"/>
                </a:solidFill>
                <a:latin typeface="游ゴシック"/>
              </a:rPr>
              <a:t>・実行時にフッター/スライド幅のオーバーフローを自動検出・警告</a:t>
            </a:r>
          </a:p>
          <a:p>
            <a:pPr algn="l"/>
            <a:r>
              <a:rPr sz="1400" b="0" i="0">
                <a:solidFill>
                  <a:srgbClr val="1A1A2E"/>
                </a:solidFill>
                <a:latin typeface="游ゴシック"/>
              </a:rPr>
              <a:t>・Front Matter の {{key}} 変数で繰り返し値を一元管理</a:t>
            </a:r>
          </a:p>
          <a:p>
            <a:pPr algn="l"/>
            <a:r>
              <a:rPr sz="1400" b="0" i="0">
                <a:solidFill>
                  <a:srgbClr val="1A1A2E"/>
                </a:solidFill>
                <a:latin typeface="游ゴシック"/>
              </a:rPr>
              <a:t>・python-pptx + pyyaml のみで動作（外部サービス不要）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5029200"/>
            <a:ext cx="11548872" cy="1051560"/>
          </a:xfrm>
          <a:prstGeom prst="rect">
            <a:avLst/>
          </a:prstGeom>
          <a:solidFill>
            <a:srgbClr val="0D47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5102352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游ゴシック"/>
              </a:rPr>
              <a:t>コードを書かずに、YAML の設定だけでプロフェッショナルな PPTX を生成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623560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6D00"/>
                </a:solidFill>
                <a:latin typeface="游ゴシック"/>
              </a:rPr>
              <a:t>AI が spec を下書き → 人間がレビュー → spec_to_pptx.py で PPTX 生成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D47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Segoe UI"/>
              </a:rPr>
              <a:t>対応レイアウト一覧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9436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6D00"/>
                </a:solidFill>
                <a:latin typeface="游ゴシック"/>
              </a:rPr>
              <a:t>Section 2  レイアウトサンプル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0D47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33679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6D00"/>
                </a:solidFill>
                <a:latin typeface="Segoe UI"/>
              </a:rPr>
              <a:t>Hello World PPTX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33679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1005840"/>
            <a:ext cx="115488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  <a:latin typeface="游ゴシック"/>
              </a:rPr>
              <a:t>現在 18 種類のレイアウトをサポート。目的に応じて選択してください。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508760"/>
          <a:ext cx="1152144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4389120"/>
                <a:gridCol w="4572000"/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レイアウト名</a:t>
                      </a:r>
                    </a:p>
                  </a:txBody>
                  <a:tcPr>
                    <a:solidFill>
                      <a:srgbClr val="0D477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用途</a:t>
                      </a:r>
                    </a:p>
                  </a:txBody>
                  <a:tcPr>
                    <a:solidFill>
                      <a:srgbClr val="0D477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主なフィールド</a:t>
                      </a:r>
                    </a:p>
                  </a:txBody>
                  <a:tcPr>
                    <a:solidFill>
                      <a:srgbClr val="0D477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2E"/>
                          </a:solidFill>
                          <a:latin typeface="游ゴシック"/>
                        </a:rPr>
                        <a:t>title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2E"/>
                          </a:solidFill>
                          <a:latin typeface="游ゴシック"/>
                        </a:rPr>
                        <a:t>タイトルスライド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2E"/>
                          </a:solidFill>
                          <a:latin typeface="游ゴシック"/>
                        </a:rPr>
                        <a:t>title, subtitle, tagline, meta, date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2E"/>
                          </a:solidFill>
                          <a:latin typeface="游ゴシック"/>
                        </a:rPr>
                        <a:t>toc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2E"/>
                          </a:solidFill>
                          <a:latin typeface="游ゴシック"/>
                        </a:rPr>
                        <a:t>目次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2E"/>
                          </a:solidFill>
                          <a:latin typeface="游ゴシック"/>
                        </a:rPr>
                        <a:t>items[]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2E"/>
                          </a:solidFill>
                          <a:latin typeface="游ゴシック"/>
                        </a:rPr>
                        <a:t>section_divider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2E"/>
                          </a:solidFill>
                          <a:latin typeface="游ゴシック"/>
                        </a:rPr>
                        <a:t>章区切り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2E"/>
                          </a:solidFill>
                          <a:latin typeface="游ゴシック"/>
                        </a:rPr>
                        <a:t>section_num, section_title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2E"/>
                          </a:solidFill>
                          <a:latin typeface="游ゴシック"/>
                        </a:rPr>
                        <a:t>bullet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2E"/>
                          </a:solidFill>
                          <a:latin typeface="游ゴシック"/>
                        </a:rPr>
                        <a:t>箇条書き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2E"/>
                          </a:solidFill>
                          <a:latin typeface="游ゴシック"/>
                        </a:rPr>
                        <a:t>bullets[], highlight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2E"/>
                          </a:solidFill>
                          <a:latin typeface="游ゴシック"/>
                        </a:rPr>
                        <a:t>table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2E"/>
                          </a:solidFill>
                          <a:latin typeface="游ゴシック"/>
                        </a:rPr>
                        <a:t>単一テーブル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2E"/>
                          </a:solidFill>
                          <a:latin typeface="游ゴシック"/>
                        </a:rPr>
                        <a:t>columns[], rows[[]], col_widths[]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2E"/>
                          </a:solidFill>
                          <a:latin typeface="游ゴシック"/>
                        </a:rPr>
                        <a:t>two_column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2E"/>
                          </a:solidFill>
                          <a:latin typeface="游ゴシック"/>
                        </a:rPr>
                        <a:t>2カラムテキスト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2E"/>
                          </a:solidFill>
                          <a:latin typeface="游ゴシック"/>
                        </a:rPr>
                        <a:t>left_items[], right_items[]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2E"/>
                          </a:solidFill>
                          <a:latin typeface="游ゴシック"/>
                        </a:rPr>
                        <a:t>dual_table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2E"/>
                          </a:solidFill>
                          <a:latin typeface="游ゴシック"/>
                        </a:rPr>
                        <a:t>2テーブル並列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2E"/>
                          </a:solidFill>
                          <a:latin typeface="游ゴシック"/>
                        </a:rPr>
                        <a:t>left_rows[[]], right_rows[[]]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2E"/>
                          </a:solidFill>
                          <a:latin typeface="游ゴシック"/>
                        </a:rPr>
                        <a:t>comparison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2E"/>
                          </a:solidFill>
                          <a:latin typeface="游ゴシック"/>
                        </a:rPr>
                        <a:t>課題 vs 解決策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2E"/>
                          </a:solidFill>
                          <a:latin typeface="游ゴシック"/>
                        </a:rPr>
                        <a:t>left_items[], right_items[]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2E"/>
                          </a:solidFill>
                          <a:latin typeface="游ゴシック"/>
                        </a:rPr>
                        <a:t>system_diagram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2E"/>
                          </a:solidFill>
                          <a:latin typeface="游ゴシック"/>
                        </a:rPr>
                        <a:t>入力→処理→出力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2E"/>
                          </a:solidFill>
                          <a:latin typeface="游ゴシック"/>
                        </a:rPr>
                        <a:t>left_items[], center_items[], right_items[]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2E"/>
                          </a:solidFill>
                          <a:latin typeface="游ゴシック"/>
                        </a:rPr>
                        <a:t>state_cards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2E"/>
                          </a:solidFill>
                          <a:latin typeface="游ゴシック"/>
                        </a:rPr>
                        <a:t>状態機械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2E"/>
                          </a:solidFill>
                          <a:latin typeface="游ゴシック"/>
                        </a:rPr>
                        <a:t>cards[], transitions[[]]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320040" y="5669280"/>
            <a:ext cx="11548872" cy="50292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5733288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游ゴシック"/>
              </a:rPr>
              <a:t>詳細は tools/pptx_tool/PPTX_CREATION_WORKFLOW.md を参照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D47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Segoe UI"/>
              </a:rPr>
              <a:t>まとめ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9436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6D00"/>
                </a:solidFill>
                <a:latin typeface="游ゴシック"/>
              </a:rPr>
              <a:t>Summary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0D47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33679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6D00"/>
                </a:solidFill>
                <a:latin typeface="Segoe UI"/>
              </a:rPr>
              <a:t>Hello World PPTX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33679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051560"/>
            <a:ext cx="11548872" cy="2194560"/>
          </a:xfrm>
          <a:prstGeom prst="rect">
            <a:avLst/>
          </a:prstGeom>
          <a:solidFill>
            <a:srgbClr val="0D47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115568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游ゴシック"/>
              </a:rPr>
              <a:t>実現したこと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536192"/>
            <a:ext cx="1115568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游ゴシック"/>
              </a:rPr>
              <a:t>・Markdown spec → PPTX の自動生成フローを体験</a:t>
            </a:r>
          </a:p>
          <a:p>
            <a:pPr algn="l"/>
            <a:r>
              <a:rPr sz="1400" b="0" i="0">
                <a:solidFill>
                  <a:srgbClr val="FFFFFF"/>
                </a:solidFill>
                <a:latin typeface="游ゴシック"/>
              </a:rPr>
              <a:t>・title / toc / bullet / table / summary の基本 5 レイアウトを使用</a:t>
            </a:r>
          </a:p>
          <a:p>
            <a:pPr algn="l"/>
            <a:r>
              <a:rPr sz="1400" b="0" i="0">
                <a:solidFill>
                  <a:srgbClr val="FFFFFF"/>
                </a:solidFill>
                <a:latin typeface="游ゴシック"/>
              </a:rPr>
              <a:t>・Front Matter の {{key}} 変数で値を一元管理</a:t>
            </a:r>
          </a:p>
          <a:p>
            <a:pPr algn="l"/>
            <a:r>
              <a:rPr sz="1400" b="0" i="0">
                <a:solidFill>
                  <a:srgbClr val="FFFFFF"/>
                </a:solidFill>
                <a:latin typeface="游ゴシック"/>
              </a:rPr>
              <a:t>・レイアウト衝突検出により予防的品質管理を実現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3383280"/>
            <a:ext cx="5394960" cy="2560320"/>
          </a:xfrm>
          <a:prstGeom prst="rect">
            <a:avLst/>
          </a:prstGeom>
          <a:solidFill>
            <a:srgbClr val="FFFFFF"/>
          </a:solidFill>
          <a:ln w="19050">
            <a:solidFill>
              <a:srgbClr val="FF6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3474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6D00"/>
                </a:solidFill>
                <a:latin typeface="游ゴシック"/>
              </a:rPr>
              <a:t>学んだこと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913632"/>
            <a:ext cx="52120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游ゴシック"/>
              </a:rPr>
              <a:t>・spec_to_pptx.py は編集不要、spec ファイルのみ管理する</a:t>
            </a:r>
          </a:p>
          <a:p>
            <a:pPr algn="l"/>
            <a:r>
              <a:rPr sz="1300" b="0" i="0">
                <a:solidFill>
                  <a:srgbClr val="1A1A2E"/>
                </a:solidFill>
                <a:latin typeface="游ゴシック"/>
              </a:rPr>
              <a:t>・col_widths の合計は CW=12.63" 以内に収める</a:t>
            </a:r>
          </a:p>
          <a:p>
            <a:pPr algn="l"/>
            <a:r>
              <a:rPr sz="1300" b="0" i="0">
                <a:solidFill>
                  <a:srgbClr val="1A1A2E"/>
                </a:solidFill>
                <a:latin typeface="游ゴシック"/>
              </a:rPr>
              <a:t>・row_height を調整することで行数オーバーフローを防止</a:t>
            </a:r>
          </a:p>
          <a:p>
            <a:pPr algn="l"/>
            <a:r>
              <a:rPr sz="1300" b="0" i="0">
                <a:solidFill>
                  <a:srgbClr val="1A1A2E"/>
                </a:solidFill>
                <a:latin typeface="游ゴシック"/>
              </a:rPr>
              <a:t>・PPTX_CREATION_WORKFLOW.md が全レイアウトの完全リファレンス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35040" y="3383280"/>
            <a:ext cx="5532120" cy="2560320"/>
          </a:xfrm>
          <a:prstGeom prst="rect">
            <a:avLst/>
          </a:prstGeom>
          <a:solidFill>
            <a:srgbClr val="FFFFFF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72200" y="347472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7AE60"/>
                </a:solidFill>
                <a:latin typeface="游ゴシック"/>
              </a:rPr>
              <a:t>次のステップ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72200" y="3913632"/>
            <a:ext cx="52120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游ゴシック"/>
              </a:rPr>
              <a:t>・PPTX_CREATION_WORKFLOW.md で全 18 レイアウトを確認</a:t>
            </a:r>
          </a:p>
          <a:p>
            <a:pPr algn="l"/>
            <a:r>
              <a:rPr sz="1300" b="0" i="0">
                <a:solidFill>
                  <a:srgbClr val="1A1A2E"/>
                </a:solidFill>
                <a:latin typeface="游ゴシック"/>
              </a:rPr>
              <a:t>・simple_temperature_tool の 23 スライド例を参考に実プロジェクトへ応用</a:t>
            </a:r>
          </a:p>
          <a:p>
            <a:pPr algn="l"/>
            <a:r>
              <a:rPr sz="1300" b="0" i="0">
                <a:solidFill>
                  <a:srgbClr val="1A1A2E"/>
                </a:solidFill>
                <a:latin typeface="游ゴシック"/>
              </a:rPr>
              <a:t>・新しいプロジェクト用の presentation_spec.md を作成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