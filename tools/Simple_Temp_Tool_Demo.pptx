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Simple Temperature Evaluation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游ゴシック"/>
              </a:rPr>
              <a:t>M5Stack Basic V2.7 × MAX31855  熱電対温度計測システム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310128"/>
            <a:ext cx="10332720" cy="36576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6D00"/>
                </a:solidFill>
                <a:latin typeface="游ゴシック"/>
              </a:rPr>
              <a:t>リアルタイム計測 ／ 統計解析 ／ SD カード記録 ／ アラーム機能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Segoe UI"/>
              </a:rPr>
              <a:t>ESP32  /  C++ (Arduino)  /  PlatformIO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游ゴシック"/>
              </a:rPr>
              <a:t>v1.0.0  ｜  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游ゴシック"/>
              </a:rPr>
              <a:t>目次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Segoe UI"/>
              </a:rPr>
              <a:t>Simple Temperature Evaluation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" cy="38404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游ゴシック"/>
              </a:rPr>
              <a:t>1.  プロジェクト概要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01368"/>
            <a:ext cx="54864" cy="38404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游ゴシック"/>
              </a:rPr>
              <a:t>2.  コストメリット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68296"/>
            <a:ext cx="54864" cy="38404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682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游ゴシック"/>
              </a:rPr>
              <a:t>3.  ハードウェア構成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35224"/>
            <a:ext cx="54864" cy="38404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93522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游ゴシック"/>
              </a:rPr>
              <a:t>4.  ソフトウェア設計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02152"/>
            <a:ext cx="54864" cy="38404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02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游ゴシック"/>
              </a:rPr>
              <a:t>5.  実装のポイント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D00"/>
                </a:solidFill>
                <a:latin typeface="Segoe UI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游ゴシック"/>
              </a:rPr>
              <a:t>プロジェクト概要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20440"/>
            <a:ext cx="5760720" cy="36576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99999"/>
                </a:solidFill>
                <a:latin typeface="游ゴシック"/>
              </a:rPr>
              <a:t>開発背景・目的・解決した課題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Segoe UI"/>
              </a:rPr>
              <a:t>Simple Temperature Evaluation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游ゴシック"/>
              </a:rPr>
              <a:t>開発の背景と目的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D00"/>
                </a:solidFill>
                <a:latin typeface="游ゴシック"/>
              </a:rPr>
              <a:t>Section 1  プロジェクト概要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Segoe UI"/>
              </a:rPr>
              <a:t>Simple Temperature Evaluation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07007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現場で手軽に使える熱電対温度ロガーが高価（市販品 ¥30,000〜）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82495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ESP32 + K 型熱電対による自作でコストを大幅削減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57984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4825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リアルタイム表示・SD 記録・アラームを単一デバイスで実現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33472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237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PlatformIO によるモジュール設計でコードの保守性を確保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82112"/>
            <a:ext cx="11548872" cy="50292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ゴシック"/>
              </a:rPr>
              <a:t>¥9,570 の自作ツールで ¥30,000 超の市販品と同等機能を実現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游ゴシック"/>
              </a:rPr>
              <a:t>スタンドアロン動作・EEPROM 設定保存・統計解析（平均・σ・Max/Min）まで完全実装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游ゴシック"/>
              </a:rPr>
              <a:t>コストメリット — 自作 vs. 市販品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D00"/>
                </a:solidFill>
                <a:latin typeface="游ゴシック"/>
              </a:rPr>
              <a:t>Section 1  プロジェクト概要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Segoe UI"/>
              </a:rPr>
              <a:t>Simple Temperature Evaluation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F"/>
                </a:solidFill>
                <a:latin typeface="游ゴシック"/>
              </a:rPr>
              <a:t>本ツール 品目別コスト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37160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371600"/>
                <a:gridCol w="1280160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游ゴシック"/>
                        </a:rPr>
                        <a:t>部品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游ゴシック"/>
                        </a:rPr>
                        <a:t>購入先目安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游ゴシック"/>
                        </a:rPr>
                        <a:t>価格（税込）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M5Stack Basic V2.7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Amazon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¥7,990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MAX31855 ブレークアウト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秋月電子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¥980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K型熱電対 (1m)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Amazon 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¥700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MicroSD (16GB)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量販店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¥600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ジャンパワイヤ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秋月電子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¥200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</a:rPr>
                        <a:t>合計</a:t>
                      </a:r>
                    </a:p>
                  </a:txBody>
                  <a:tcPr>
                    <a:solidFill>
                      <a:srgbClr val="FF6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</a:rPr>
                        <a:t>—</a:t>
                      </a:r>
                    </a:p>
                  </a:txBody>
                  <a:tcPr>
                    <a:solidFill>
                      <a:srgbClr val="FF6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</a:rPr>
                        <a:t>¥9,570</a:t>
                      </a:r>
                    </a:p>
                  </a:txBody>
                  <a:tcPr>
                    <a:solidFill>
                      <a:srgbClr val="FF6D0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0" y="1005840"/>
            <a:ext cx="5925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F"/>
                </a:solidFill>
                <a:latin typeface="游ゴシック"/>
              </a:rPr>
              <a:t>市販温度ロガーとの価格比較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0" y="1371600"/>
          <a:ext cx="592531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993392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游ゴシック"/>
                        </a:rPr>
                        <a:t>カテゴリ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游ゴシック"/>
                        </a:rPr>
                        <a:t>代表製品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游ゴシック"/>
                        </a:rPr>
                        <a:t>概算価格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</a:rPr>
                        <a:t>本ツール（自作）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</a:rPr>
                        <a:t>M5Stack + MAX31855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</a:rPr>
                        <a:t>¥9,570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標準製品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USB データロガー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¥30,000〜¥50,000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プロフェッショナル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産業用データロガー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¥100,000〜¥250,000+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20040" y="4041648"/>
            <a:ext cx="11521440" cy="91440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游ゴシック"/>
              </a:rPr>
              <a:t>標準製品の 1/3.1 の価格で同等機能を実現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537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6D00"/>
                </a:solidFill>
                <a:latin typeface="游ゴシック"/>
              </a:rPr>
              <a:t>本ツール ¥9,570 vs 標準ロガー ¥30,000〜 → 最大 ¥20,000 以上削減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047488"/>
            <a:ext cx="11521440" cy="82295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111496"/>
            <a:ext cx="111556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游ゴシック"/>
              </a:rPr>
              <a:t>✓ SD 自動記録  ✓ LCD リアルタイム表示  ✓ 上下限アラーム（ビープ音）</a:t>
            </a:r>
          </a:p>
          <a:p>
            <a:pPr algn="ctr"/>
            <a:r>
              <a:rPr sz="1200" b="0">
                <a:solidFill>
                  <a:srgbClr val="1A1A2E"/>
                </a:solidFill>
                <a:latin typeface="游ゴシック"/>
              </a:rPr>
              <a:t>✓ スタンドアロン動作  ✓ EEPROM 設定保存  ✓ 統計解析（平均・σ・Max/Min）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D00"/>
                </a:solidFill>
                <a:latin typeface="Segoe UI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游ゴシック"/>
              </a:rPr>
              <a:t>ハードウェア構成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20440"/>
            <a:ext cx="5760720" cy="36576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99999"/>
                </a:solidFill>
                <a:latin typeface="游ゴシック"/>
              </a:rPr>
              <a:t>M5Stack Basic V2.7 と MAX31855 の SPI 接続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Segoe UI"/>
              </a:rPr>
              <a:t>Simple Temperature Evaluation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游ゴシック"/>
              </a:rPr>
              <a:t>ハードウェア構成概要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D00"/>
                </a:solidFill>
                <a:latin typeface="游ゴシック"/>
              </a:rPr>
              <a:t>Section 2  ハードウェア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Segoe UI"/>
              </a:rPr>
              <a:t>Simple Temperature Evaluation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3328" y="1051560"/>
            <a:ext cx="36576" cy="50749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7F"/>
                </a:solidFill>
                <a:latin typeface="游ゴシック"/>
              </a:rPr>
              <a:t>主要コンポーネント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64207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M5Stack Basic V2.7（ESP32 内蔵、LCD、ボタン）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39696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029967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MAX31855 K 型熱電対デジタルコンバーター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15184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5054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K 型熱電対（1m、-200〜1350°C 対応）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90672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9809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MicroSD カード（CSV ログ記録用）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10972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7F"/>
                </a:solidFill>
                <a:latin typeface="游ゴシック"/>
              </a:rPr>
              <a:t>インターフェース仕様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64207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通信: SPI（LCD と MAX31855 でバス共有）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2139696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2029967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電源: USB-C 5V（M5Stack 内蔵バッテリー対応）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615184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25054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表示: 2.0" IPS LCD 320×240 px（TFT_eSPI）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3090672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29809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設定保存: ESP32 内蔵フラッシュ仮想 EEPROM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669280"/>
            <a:ext cx="11548872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7332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游ゴシック"/>
              </a:rPr>
              <a:t>EEPROM: 外部配線不要。Preferences ライブラリで上下限しきい値・単位を永続保存。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游ゴシック"/>
              </a:rPr>
              <a:t>SPI バス共有（LCD + MAX31855）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D00"/>
                </a:solidFill>
                <a:latin typeface="游ゴシック"/>
              </a:rPr>
              <a:t>Section 2  ハードウェア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Segoe UI"/>
              </a:rPr>
              <a:t>Simple Temperature Evaluation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417320"/>
          <a:ext cx="115214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3657600"/>
                <a:gridCol w="3749039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游ゴシック"/>
                        </a:rPr>
                        <a:t>GPIO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游ゴシック"/>
                        </a:rPr>
                        <a:t>信号名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游ゴシック"/>
                        </a:rPr>
                        <a:t>接続先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游ゴシック"/>
                        </a:rPr>
                        <a:t>備考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GPIO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SCK (SPI Clock)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MAX31855 CLK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LCD と共有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GPIO 19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MISO (SPI Data in)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MAX31855 DO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LCD と共有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GPIO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MOSI (SPI Data out)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(LCD のみ)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MAX31855 は MOSI 不要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GPIO 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CS (Chip Select)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MAX31855 CS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MAX31855_CS 定数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GPIO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CS (SD Card)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MicroSD 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游ゴシック"/>
                        </a:rPr>
                        <a:t>TFCARD_CS_PIN 定数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3721608"/>
            <a:ext cx="11548872" cy="914400"/>
          </a:xfrm>
          <a:prstGeom prst="rect">
            <a:avLst/>
          </a:prstGeom>
          <a:solidFill>
            <a:srgbClr val="FFE0E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764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游ゴシック"/>
              </a:rPr>
              <a:t>SD カードの CS は GPIO4 (TFCARD_CS_PIN) を明示指定すること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onsolas"/>
              </a:rPr>
              <a:t>SD.begin(TFCARD_CS_PIN, SPI, 40000000);  // GPIO5 デフォルトでは MAX31855 と衝突！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745736"/>
            <a:ext cx="11548872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80974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游ゴシック"/>
              </a:rPr>
              <a:t>EEPROM: ESP32 内蔵フラッシュを仮想 EEPROM として使用（外部配線なし）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游ゴシック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D00"/>
                </a:solidFill>
                <a:latin typeface="游ゴシック"/>
              </a:rPr>
              <a:t>Section 4  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Segoe UI"/>
              </a:rPr>
              <a:t>Simple Temperature Evaluation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07007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¥9,570 で構築した熱電対温度計測システム（市販品比 1/3.1 の価格）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82495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SD 自動記録・LCD リアルタイム表示・上下限アラームを完全実装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57984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4825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PlatformIO × C++ によるモジュール設計で保守性・拡張性を確保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33472"/>
            <a:ext cx="54864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237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EEPROM 永続設定・統計解析（σ・Max/Min）まで実装済み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82112"/>
            <a:ext cx="11548872" cy="50292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ゴシック"/>
              </a:rPr>
              <a:t>組込み C++ / ESP32 / センサーインターフェース設計の実践経験を実証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